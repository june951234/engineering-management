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vsdx" ContentType="application/vnd.ms-visio.drawing"/>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48" r:id="rId1"/>
  </p:sldMasterIdLst>
  <p:notesMasterIdLst>
    <p:notesMasterId r:id="rId42"/>
  </p:notesMasterIdLst>
  <p:sldIdLst>
    <p:sldId id="623" r:id="rId2"/>
    <p:sldId id="633" r:id="rId3"/>
    <p:sldId id="1596" r:id="rId4"/>
    <p:sldId id="1650" r:id="rId5"/>
    <p:sldId id="1605" r:id="rId6"/>
    <p:sldId id="1644" r:id="rId7"/>
    <p:sldId id="1645" r:id="rId8"/>
    <p:sldId id="1646" r:id="rId9"/>
    <p:sldId id="1638" r:id="rId10"/>
    <p:sldId id="1651" r:id="rId11"/>
    <p:sldId id="1652" r:id="rId12"/>
    <p:sldId id="1653" r:id="rId13"/>
    <p:sldId id="1654" r:id="rId14"/>
    <p:sldId id="1655" r:id="rId15"/>
    <p:sldId id="1656" r:id="rId16"/>
    <p:sldId id="1639" r:id="rId17"/>
    <p:sldId id="1658" r:id="rId18"/>
    <p:sldId id="1663" r:id="rId19"/>
    <p:sldId id="1662" r:id="rId20"/>
    <p:sldId id="1664" r:id="rId21"/>
    <p:sldId id="1665" r:id="rId22"/>
    <p:sldId id="1666" r:id="rId23"/>
    <p:sldId id="1667" r:id="rId24"/>
    <p:sldId id="1668" r:id="rId25"/>
    <p:sldId id="1669" r:id="rId26"/>
    <p:sldId id="1670" r:id="rId27"/>
    <p:sldId id="1671" r:id="rId28"/>
    <p:sldId id="1672" r:id="rId29"/>
    <p:sldId id="1673" r:id="rId30"/>
    <p:sldId id="1674" r:id="rId31"/>
    <p:sldId id="1675" r:id="rId32"/>
    <p:sldId id="1676" r:id="rId33"/>
    <p:sldId id="1677" r:id="rId34"/>
    <p:sldId id="1678" r:id="rId35"/>
    <p:sldId id="1679" r:id="rId36"/>
    <p:sldId id="1636" r:id="rId37"/>
    <p:sldId id="306" r:id="rId38"/>
    <p:sldId id="1607" r:id="rId39"/>
    <p:sldId id="1606" r:id="rId40"/>
    <p:sldId id="1649" r:id="rId4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944" autoAdjust="0"/>
    <p:restoredTop sz="94558" autoAdjust="0"/>
  </p:normalViewPr>
  <p:slideViewPr>
    <p:cSldViewPr snapToGrid="0">
      <p:cViewPr varScale="1">
        <p:scale>
          <a:sx n="72" d="100"/>
          <a:sy n="72" d="100"/>
        </p:scale>
        <p:origin x="2390" y="65"/>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6c5e2e04bbef42de" providerId="LiveId" clId="{4EF7E63E-484D-466B-B111-0D0DB5E8D422}"/>
    <pc:docChg chg="custSel delSld modSld">
      <pc:chgData name="" userId="6c5e2e04bbef42de" providerId="LiveId" clId="{4EF7E63E-484D-466B-B111-0D0DB5E8D422}" dt="2025-02-28T01:54:19.686" v="6" actId="2696"/>
      <pc:docMkLst>
        <pc:docMk/>
      </pc:docMkLst>
      <pc:sldChg chg="addSp delSp modSp">
        <pc:chgData name="" userId="6c5e2e04bbef42de" providerId="LiveId" clId="{4EF7E63E-484D-466B-B111-0D0DB5E8D422}" dt="2025-02-28T01:54:08.640" v="3" actId="478"/>
        <pc:sldMkLst>
          <pc:docMk/>
          <pc:sldMk cId="0" sldId="623"/>
        </pc:sldMkLst>
        <pc:spChg chg="del">
          <ac:chgData name="" userId="6c5e2e04bbef42de" providerId="LiveId" clId="{4EF7E63E-484D-466B-B111-0D0DB5E8D422}" dt="2025-02-28T01:54:07.139" v="2" actId="478"/>
          <ac:spMkLst>
            <pc:docMk/>
            <pc:sldMk cId="0" sldId="623"/>
            <ac:spMk id="3" creationId="{00000000-0000-0000-0000-000000000000}"/>
          </ac:spMkLst>
        </pc:spChg>
        <pc:spChg chg="add del mod">
          <ac:chgData name="" userId="6c5e2e04bbef42de" providerId="LiveId" clId="{4EF7E63E-484D-466B-B111-0D0DB5E8D422}" dt="2025-02-28T01:54:08.640" v="3" actId="478"/>
          <ac:spMkLst>
            <pc:docMk/>
            <pc:sldMk cId="0" sldId="623"/>
            <ac:spMk id="5" creationId="{37B520BD-CED4-45C5-8CDB-C298BE09CE7D}"/>
          </ac:spMkLst>
        </pc:spChg>
        <pc:spChg chg="del">
          <ac:chgData name="" userId="6c5e2e04bbef42de" providerId="LiveId" clId="{4EF7E63E-484D-466B-B111-0D0DB5E8D422}" dt="2025-02-28T01:54:05.572" v="1" actId="478"/>
          <ac:spMkLst>
            <pc:docMk/>
            <pc:sldMk cId="0" sldId="623"/>
            <ac:spMk id="10" creationId="{00000000-0000-0000-0000-000000000000}"/>
          </ac:spMkLst>
        </pc:spChg>
        <pc:picChg chg="del">
          <ac:chgData name="" userId="6c5e2e04bbef42de" providerId="LiveId" clId="{4EF7E63E-484D-466B-B111-0D0DB5E8D422}" dt="2025-02-28T01:54:03.662" v="0" actId="478"/>
          <ac:picMkLst>
            <pc:docMk/>
            <pc:sldMk cId="0" sldId="623"/>
            <ac:picMk id="9" creationId="{00000000-0000-0000-0000-000000000000}"/>
          </ac:picMkLst>
        </pc:picChg>
      </pc:sldChg>
      <pc:sldChg chg="del">
        <pc:chgData name="" userId="6c5e2e04bbef42de" providerId="LiveId" clId="{4EF7E63E-484D-466B-B111-0D0DB5E8D422}" dt="2025-02-28T01:54:18.010" v="5" actId="2696"/>
        <pc:sldMkLst>
          <pc:docMk/>
          <pc:sldMk cId="2406334423" sldId="1640"/>
        </pc:sldMkLst>
      </pc:sldChg>
      <pc:sldChg chg="del">
        <pc:chgData name="" userId="6c5e2e04bbef42de" providerId="LiveId" clId="{4EF7E63E-484D-466B-B111-0D0DB5E8D422}" dt="2025-02-28T01:54:19.686" v="6" actId="2696"/>
        <pc:sldMkLst>
          <pc:docMk/>
          <pc:sldMk cId="1597781394" sldId="1641"/>
        </pc:sldMkLst>
      </pc:sldChg>
      <pc:sldChg chg="del">
        <pc:chgData name="" userId="6c5e2e04bbef42de" providerId="LiveId" clId="{4EF7E63E-484D-466B-B111-0D0DB5E8D422}" dt="2025-02-28T01:54:16.920" v="4" actId="2696"/>
        <pc:sldMkLst>
          <pc:docMk/>
          <pc:sldMk cId="388578991" sldId="1642"/>
        </pc:sldMkLst>
      </pc:sldChg>
    </pc:docChg>
  </pc:docChgLst>
  <pc:docChgLst>
    <pc:chgData name=" " userId="1d39a4fa-c76e-4be0-a329-cd20bca6ab88" providerId="ADAL" clId="{68221AA6-1D9C-334C-8CB4-3CBC8D7E16FB}"/>
    <pc:docChg chg="modSld sldOrd">
      <pc:chgData name=" " userId="1d39a4fa-c76e-4be0-a329-cd20bca6ab88" providerId="ADAL" clId="{68221AA6-1D9C-334C-8CB4-3CBC8D7E16FB}" dt="2025-02-27T15:07:45.736" v="43" actId="20577"/>
      <pc:docMkLst>
        <pc:docMk/>
      </pc:docMkLst>
      <pc:sldChg chg="ord">
        <pc:chgData name=" " userId="1d39a4fa-c76e-4be0-a329-cd20bca6ab88" providerId="ADAL" clId="{68221AA6-1D9C-334C-8CB4-3CBC8D7E16FB}" dt="2025-02-17T13:28:13.952" v="27" actId="20578"/>
        <pc:sldMkLst>
          <pc:docMk/>
          <pc:sldMk cId="2739990871" sldId="306"/>
        </pc:sldMkLst>
      </pc:sldChg>
      <pc:sldChg chg="modSp mod">
        <pc:chgData name=" " userId="1d39a4fa-c76e-4be0-a329-cd20bca6ab88" providerId="ADAL" clId="{68221AA6-1D9C-334C-8CB4-3CBC8D7E16FB}" dt="2025-02-27T15:07:45.736" v="43" actId="20577"/>
        <pc:sldMkLst>
          <pc:docMk/>
          <pc:sldMk cId="2352349251" sldId="1649"/>
        </pc:sldMkLst>
        <pc:spChg chg="mod">
          <ac:chgData name=" " userId="1d39a4fa-c76e-4be0-a329-cd20bca6ab88" providerId="ADAL" clId="{68221AA6-1D9C-334C-8CB4-3CBC8D7E16FB}" dt="2025-02-27T15:07:45.736" v="43" actId="20577"/>
          <ac:spMkLst>
            <pc:docMk/>
            <pc:sldMk cId="2352349251" sldId="1649"/>
            <ac:spMk id="3" creationId="{5A685659-C2B9-4471-84CA-1D9497BDA9E8}"/>
          </ac:spMkLst>
        </pc:spChg>
      </pc:sldChg>
    </pc:docChg>
  </pc:docChgLst>
  <pc:docChgLst>
    <pc:chgData userId="6c5e2e04bbef42de" providerId="LiveId" clId="{DB3FC667-8C65-4D3F-B993-F9484EA82CFE}"/>
    <pc:docChg chg="delSld">
      <pc:chgData name="" userId="6c5e2e04bbef42de" providerId="LiveId" clId="{DB3FC667-8C65-4D3F-B993-F9484EA82CFE}" dt="2025-02-28T02:08:51.323" v="0" actId="2696"/>
      <pc:docMkLst>
        <pc:docMk/>
      </pc:docMkLst>
      <pc:sldChg chg="del">
        <pc:chgData name="" userId="6c5e2e04bbef42de" providerId="LiveId" clId="{DB3FC667-8C65-4D3F-B993-F9484EA82CFE}" dt="2025-02-28T02:08:51.323" v="0" actId="2696"/>
        <pc:sldMkLst>
          <pc:docMk/>
          <pc:sldMk cId="2206270119" sldId="1648"/>
        </pc:sldMkLst>
      </pc:sldChg>
    </pc:docChg>
  </pc:docChgLst>
  <pc:docChgLst>
    <pc:chgData name=" " userId="1d39a4fa-c76e-4be0-a329-cd20bca6ab88" providerId="ADAL" clId="{1DDB5592-D360-6A48-9010-2705FBFD73A7}"/>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45255C-18F3-4DDB-BBD7-6518A0AFC2C0}" type="datetimeFigureOut">
              <a:rPr lang="zh-CN" altLang="en-US" smtClean="0"/>
              <a:t>2025/2/28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A55024-9D59-46C3-A0DB-ED02D2144145}" type="slidenum">
              <a:rPr lang="zh-CN" altLang="en-US" smtClean="0"/>
              <a:t>‹#›</a:t>
            </a:fld>
            <a:endParaRPr lang="zh-CN" altLang="en-US"/>
          </a:p>
        </p:txBody>
      </p:sp>
    </p:spTree>
    <p:extLst>
      <p:ext uri="{BB962C8B-B14F-4D97-AF65-F5344CB8AC3E}">
        <p14:creationId xmlns:p14="http://schemas.microsoft.com/office/powerpoint/2010/main" val="3536544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D103FD-515C-42D9-AF72-56D52BA7B651}"/>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A752415A-CA51-47E8-831A-9B7FA56563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27AC152F-EA3D-466D-8166-2512400AB678}"/>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9E9156A4-88C8-4661-8F3F-81808A5A95B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67E36A7-D454-414F-A7CB-CA9B6FB8FD83}"/>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40436680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5066BBD-445B-4307-8404-3C9E55B3C9D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9D068DA-3777-43E3-B7F5-87BD9F7DDE84}"/>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37E6E70B-04E4-4787-93CA-4EEA57185260}"/>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0C0E928D-BC94-4F2D-B53A-3180E1102BA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7CAB707-2271-4F55-B227-95FA6DE280F9}"/>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5844773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2B1197-E440-4AF4-BC8B-C4B1845650C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7FFCB6E-07BC-4035-87FE-67B6D5AE336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FAB9FDF8-176C-413E-9AE9-D3DD22929885}"/>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8E1E3DBA-C1DC-4FDE-B897-D715B0ED941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95C9068-B7C5-4E02-8706-68F732E25223}"/>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2110479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4DC88F-1F41-4ABA-B8AE-64E8758BF99B}"/>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A1C596E-186D-4E06-BE39-819ECA4228F5}"/>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2DD0014C-9470-4359-8795-896B4457EDBE}"/>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4B32816E-1329-4A7C-83F4-D211A908AC0B}"/>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6" name="页脚占位符 5">
            <a:extLst>
              <a:ext uri="{FF2B5EF4-FFF2-40B4-BE49-F238E27FC236}">
                <a16:creationId xmlns:a16="http://schemas.microsoft.com/office/drawing/2014/main" id="{5E9A8283-12FB-42A2-B184-382079576252}"/>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24BA166-08CB-4F4C-A82A-6A54DDBC7043}"/>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4959163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907D4A-718B-46FB-9811-CD73BEDD13D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140F18E6-DD1F-4427-9E70-B443C1EE81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34CA2D10-8BE2-484B-BA12-2FDE393856D2}"/>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7A1C370B-FEA8-40FC-982D-1CFA1C5B5C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A0B43256-EAAE-489B-89B2-EB0EBD29855C}"/>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EC2B2BF0-982E-4DCC-9CC1-5E73E8EA94A6}"/>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8" name="页脚占位符 7">
            <a:extLst>
              <a:ext uri="{FF2B5EF4-FFF2-40B4-BE49-F238E27FC236}">
                <a16:creationId xmlns:a16="http://schemas.microsoft.com/office/drawing/2014/main" id="{996C86D8-C38D-40EF-B7DC-513009258B8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8F643910-70FD-48E3-BDE2-540CFB142A3B}"/>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5036440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37AE02-50CD-4FB2-BD02-76F3E8B98D4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D5F0A67C-4CAE-49DF-BA3A-4A627B6FE1F5}"/>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4" name="页脚占位符 3">
            <a:extLst>
              <a:ext uri="{FF2B5EF4-FFF2-40B4-BE49-F238E27FC236}">
                <a16:creationId xmlns:a16="http://schemas.microsoft.com/office/drawing/2014/main" id="{C2F947EE-D3CC-4D0F-9EC9-EAA0F1923530}"/>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4704809-3C78-497A-82B1-CC426F67937A}"/>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3187168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9CF1B75-484E-4AFA-844B-6697E8473A93}"/>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3" name="页脚占位符 2">
            <a:extLst>
              <a:ext uri="{FF2B5EF4-FFF2-40B4-BE49-F238E27FC236}">
                <a16:creationId xmlns:a16="http://schemas.microsoft.com/office/drawing/2014/main" id="{61878834-27C0-417E-938E-4D9D4146DC38}"/>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E07DEB67-743D-4873-85E6-5A9F3177ECED}"/>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27491421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FED83F-DB22-46D9-855F-6D5C57894A3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CC601C7E-B5A2-476B-B1D7-7AEF7B33DF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5D5D8587-D98D-4514-B904-29CE95B859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E02B46D-9F74-4FD2-BC3B-AE943DF1086B}"/>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6" name="页脚占位符 5">
            <a:extLst>
              <a:ext uri="{FF2B5EF4-FFF2-40B4-BE49-F238E27FC236}">
                <a16:creationId xmlns:a16="http://schemas.microsoft.com/office/drawing/2014/main" id="{2793ACDA-2B9C-40FD-A239-C52FDD97663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2528C01-34A5-420B-A604-B4011101D956}"/>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6784112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9AEE2D2-414A-4935-81A3-07ECCFF5ECE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214B0647-724F-465D-AA4A-1AAA05CF3A5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228AC01-7925-49DD-826D-336FE30552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1078FF29-AFCB-4793-AA26-1F2C84797BB2}"/>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6" name="页脚占位符 5">
            <a:extLst>
              <a:ext uri="{FF2B5EF4-FFF2-40B4-BE49-F238E27FC236}">
                <a16:creationId xmlns:a16="http://schemas.microsoft.com/office/drawing/2014/main" id="{EEC631CD-DD99-4AC5-8574-019DEED9519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CDD9507-DDDB-4831-9B20-1DE84C9C372F}"/>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758040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05657E-53E5-4008-9F21-BAFEA01D3927}"/>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CBB134A-EF2A-4612-BC2E-DCF53021909D}"/>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E533070-3ECC-4FFD-AFFC-4BB616032A27}"/>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E1B0E874-F2CB-4755-8443-A856D521830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AF74974-6194-47AD-A321-333EF064BA8E}"/>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1835978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C43C0A9-02E0-4757-93E3-A84929FDED52}"/>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227089F-D812-49A7-8AA6-82DB9C87A012}"/>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CBF6DC3-3372-4FFF-A693-8DC10F2FB2C1}"/>
              </a:ext>
            </a:extLst>
          </p:cNvPr>
          <p:cNvSpPr>
            <a:spLocks noGrp="1"/>
          </p:cNvSpPr>
          <p:nvPr>
            <p:ph type="dt" sz="half" idx="10"/>
          </p:nvPr>
        </p:nvSpPr>
        <p:spPr/>
        <p:txBody>
          <a:body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F0297473-017C-4371-AE98-6F8ECB38A1E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A65BA15-09D9-4092-9CD2-72EE0EF73BA0}"/>
              </a:ext>
            </a:extLst>
          </p:cNvPr>
          <p:cNvSpPr>
            <a:spLocks noGrp="1"/>
          </p:cNvSpPr>
          <p:nvPr>
            <p:ph type="sldNum" sz="quarter" idx="12"/>
          </p:nvPr>
        </p:nvSpPr>
        <p:spPr/>
        <p:txBody>
          <a:body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38544905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0_自定义版式">
    <p:spTree>
      <p:nvGrpSpPr>
        <p:cNvPr id="1" name=""/>
        <p:cNvGrpSpPr/>
        <p:nvPr/>
      </p:nvGrpSpPr>
      <p:grpSpPr>
        <a:xfrm>
          <a:off x="0" y="0"/>
          <a:ext cx="0" cy="0"/>
          <a:chOff x="0" y="0"/>
          <a:chExt cx="0" cy="0"/>
        </a:xfrm>
      </p:grpSpPr>
      <p:sp>
        <p:nvSpPr>
          <p:cNvPr id="10" name="任意多边形: 形状 9"/>
          <p:cNvSpPr/>
          <p:nvPr userDrawn="1"/>
        </p:nvSpPr>
        <p:spPr>
          <a:xfrm>
            <a:off x="0" y="6774180"/>
            <a:ext cx="12192000" cy="83820"/>
          </a:xfrm>
          <a:custGeom>
            <a:avLst/>
            <a:gdLst>
              <a:gd name="connsiteX0" fmla="*/ 0 w 12192000"/>
              <a:gd name="connsiteY0" fmla="*/ 0 h 133007"/>
              <a:gd name="connsiteX1" fmla="*/ 12058465 w 12192000"/>
              <a:gd name="connsiteY1" fmla="*/ 0 h 133007"/>
              <a:gd name="connsiteX2" fmla="*/ 12087604 w 12192000"/>
              <a:gd name="connsiteY2" fmla="*/ 67096 h 133007"/>
              <a:gd name="connsiteX3" fmla="*/ 12183872 w 12192000"/>
              <a:gd name="connsiteY3" fmla="*/ 129001 h 133007"/>
              <a:gd name="connsiteX4" fmla="*/ 12192000 w 12192000"/>
              <a:gd name="connsiteY4" fmla="*/ 127729 h 133007"/>
              <a:gd name="connsiteX5" fmla="*/ 12192000 w 12192000"/>
              <a:gd name="connsiteY5" fmla="*/ 133007 h 133007"/>
              <a:gd name="connsiteX6" fmla="*/ 0 w 12192000"/>
              <a:gd name="connsiteY6" fmla="*/ 133007 h 133007"/>
              <a:gd name="connsiteX0-1" fmla="*/ 0 w 12192000"/>
              <a:gd name="connsiteY0-2" fmla="*/ 0 h 133007"/>
              <a:gd name="connsiteX1-3" fmla="*/ 12058465 w 12192000"/>
              <a:gd name="connsiteY1-4" fmla="*/ 0 h 133007"/>
              <a:gd name="connsiteX2-5" fmla="*/ 12087604 w 12192000"/>
              <a:gd name="connsiteY2-6" fmla="*/ 67096 h 133007"/>
              <a:gd name="connsiteX3-7" fmla="*/ 12183872 w 12192000"/>
              <a:gd name="connsiteY3-8" fmla="*/ 129001 h 133007"/>
              <a:gd name="connsiteX4-9" fmla="*/ 12192000 w 12192000"/>
              <a:gd name="connsiteY4-10" fmla="*/ 127729 h 133007"/>
              <a:gd name="connsiteX5-11" fmla="*/ 11775440 w 12192000"/>
              <a:gd name="connsiteY5-12" fmla="*/ 126005 h 133007"/>
              <a:gd name="connsiteX6-13" fmla="*/ 0 w 12192000"/>
              <a:gd name="connsiteY6-14" fmla="*/ 133007 h 133007"/>
              <a:gd name="connsiteX7" fmla="*/ 0 w 12192000"/>
              <a:gd name="connsiteY7" fmla="*/ 0 h 1330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 y="connsiteY7"/>
              </a:cxn>
            </a:cxnLst>
            <a:rect l="l" t="t" r="r" b="b"/>
            <a:pathLst>
              <a:path w="12192000" h="133007">
                <a:moveTo>
                  <a:pt x="0" y="0"/>
                </a:moveTo>
                <a:lnTo>
                  <a:pt x="12058465" y="0"/>
                </a:lnTo>
                <a:lnTo>
                  <a:pt x="12087604" y="67096"/>
                </a:lnTo>
                <a:cubicBezTo>
                  <a:pt x="12112241" y="105344"/>
                  <a:pt x="12146277" y="129001"/>
                  <a:pt x="12183872" y="129001"/>
                </a:cubicBezTo>
                <a:lnTo>
                  <a:pt x="12192000" y="127729"/>
                </a:lnTo>
                <a:lnTo>
                  <a:pt x="11775440" y="126005"/>
                </a:lnTo>
                <a:lnTo>
                  <a:pt x="0" y="133007"/>
                </a:lnTo>
                <a:lnTo>
                  <a:pt x="0" y="0"/>
                </a:lnTo>
                <a:close/>
              </a:path>
            </a:pathLst>
          </a:cu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68580" tIns="34290" rIns="68580" bIns="34290" rtlCol="0" anchor="ctr">
            <a:noAutofit/>
          </a:bodyPr>
          <a:lstStyle/>
          <a:p>
            <a:pPr algn="ctr"/>
            <a:endParaRPr lang="zh-CN" altLang="en-US" sz="1200" dirty="0"/>
          </a:p>
        </p:txBody>
      </p:sp>
      <p:pic>
        <p:nvPicPr>
          <p:cNvPr id="3" name="图片 2"/>
          <p:cNvPicPr>
            <a:picLocks noChangeAspect="1"/>
          </p:cNvPicPr>
          <p:nvPr userDrawn="1"/>
        </p:nvPicPr>
        <p:blipFill rotWithShape="1">
          <a:blip r:embed="rId2">
            <a:clrChange>
              <a:clrFrom>
                <a:srgbClr val="FFFFFF"/>
              </a:clrFrom>
              <a:clrTo>
                <a:srgbClr val="FFFFFF">
                  <a:alpha val="0"/>
                </a:srgbClr>
              </a:clrTo>
            </a:clrChange>
            <a:extLst>
              <a:ext uri="{28A0092B-C50C-407E-A947-70E740481C1C}">
                <a14:useLocalDpi xmlns:a14="http://schemas.microsoft.com/office/drawing/2010/main" val="0"/>
              </a:ext>
            </a:extLst>
          </a:blip>
          <a:srcRect l="12400" t="18187" r="19659" b="49773"/>
          <a:stretch>
            <a:fillRect/>
          </a:stretch>
        </p:blipFill>
        <p:spPr>
          <a:xfrm>
            <a:off x="301112" y="342433"/>
            <a:ext cx="1447301" cy="682507"/>
          </a:xfrm>
          <a:prstGeom prst="rect">
            <a:avLst/>
          </a:prstGeom>
        </p:spPr>
      </p:pic>
      <p:cxnSp>
        <p:nvCxnSpPr>
          <p:cNvPr id="5" name="直接连接符 4">
            <a:extLst>
              <a:ext uri="{FF2B5EF4-FFF2-40B4-BE49-F238E27FC236}">
                <a16:creationId xmlns:a16="http://schemas.microsoft.com/office/drawing/2014/main" id="{449968CE-9441-48AB-B411-308267690CDF}"/>
              </a:ext>
            </a:extLst>
          </p:cNvPr>
          <p:cNvCxnSpPr/>
          <p:nvPr userDrawn="1"/>
        </p:nvCxnSpPr>
        <p:spPr>
          <a:xfrm>
            <a:off x="1748413" y="1024934"/>
            <a:ext cx="9462064" cy="0"/>
          </a:xfrm>
          <a:prstGeom prst="line">
            <a:avLst/>
          </a:prstGeom>
          <a:ln w="28575">
            <a:solidFill>
              <a:srgbClr val="63065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81376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5301E131-1FE4-4CF8-BDA2-A6829A759D3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513B0D38-8EE9-4BBC-82CA-C5EFDBD045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4BC13A21-B67E-4186-B0F1-D945AA00FE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8EAC7F2-E5B9-4964-81B1-C6DC197C55B9}" type="datetimeFigureOut">
              <a:rPr lang="zh-CN" altLang="en-US" smtClean="0"/>
              <a:t>2025/2/28</a:t>
            </a:fld>
            <a:endParaRPr lang="zh-CN" altLang="en-US"/>
          </a:p>
        </p:txBody>
      </p:sp>
      <p:sp>
        <p:nvSpPr>
          <p:cNvPr id="5" name="页脚占位符 4">
            <a:extLst>
              <a:ext uri="{FF2B5EF4-FFF2-40B4-BE49-F238E27FC236}">
                <a16:creationId xmlns:a16="http://schemas.microsoft.com/office/drawing/2014/main" id="{B9385BAA-8800-4379-B9C9-AA88427CE5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AA22A6E2-4DAD-4670-955D-2A6C7F14FB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FDAAE0-8E33-4A7D-B129-50712985245B}" type="slidenum">
              <a:rPr lang="zh-CN" altLang="en-US" smtClean="0"/>
              <a:t>‹#›</a:t>
            </a:fld>
            <a:endParaRPr lang="zh-CN" altLang="en-US"/>
          </a:p>
        </p:txBody>
      </p:sp>
    </p:spTree>
    <p:extLst>
      <p:ext uri="{BB962C8B-B14F-4D97-AF65-F5344CB8AC3E}">
        <p14:creationId xmlns:p14="http://schemas.microsoft.com/office/powerpoint/2010/main" val="28486750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3" Type="http://schemas.openxmlformats.org/officeDocument/2006/relationships/package" Target="../embeddings/Microsoft_Visio_Drawing.vsdx"/><Relationship Id="rId2" Type="http://schemas.openxmlformats.org/officeDocument/2006/relationships/slideLayout" Target="../slideLayouts/slideLayout12.xml"/><Relationship Id="rId1" Type="http://schemas.openxmlformats.org/officeDocument/2006/relationships/vmlDrawing" Target="../drawings/vmlDrawing1.vml"/><Relationship Id="rId4" Type="http://schemas.openxmlformats.org/officeDocument/2006/relationships/image" Target="../media/image4.emf"/></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88" y="-1329"/>
            <a:ext cx="12188826" cy="6963204"/>
          </a:xfrm>
          <a:prstGeom prst="rect">
            <a:avLst/>
          </a:prstGeom>
        </p:spPr>
      </p:pic>
      <p:sp>
        <p:nvSpPr>
          <p:cNvPr id="7" name="矩形 6"/>
          <p:cNvSpPr/>
          <p:nvPr/>
        </p:nvSpPr>
        <p:spPr>
          <a:xfrm>
            <a:off x="-1590" y="1155103"/>
            <a:ext cx="12192002" cy="5119278"/>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prstClr val="white"/>
                </a:solidFill>
                <a:effectLst/>
                <a:uLnTx/>
                <a:uFillTx/>
                <a:latin typeface="Calibri"/>
                <a:ea typeface="宋体" panose="02010600030101010101" pitchFamily="2" charset="-122"/>
                <a:cs typeface="+mn-cs"/>
              </a:rPr>
              <a:t>   </a:t>
            </a:r>
          </a:p>
        </p:txBody>
      </p:sp>
      <p:sp>
        <p:nvSpPr>
          <p:cNvPr id="2" name="标题 1"/>
          <p:cNvSpPr>
            <a:spLocks noGrp="1"/>
          </p:cNvSpPr>
          <p:nvPr>
            <p:ph type="ctrTitle"/>
          </p:nvPr>
        </p:nvSpPr>
        <p:spPr>
          <a:xfrm>
            <a:off x="866944" y="1806689"/>
            <a:ext cx="9541048" cy="1314469"/>
          </a:xfrm>
        </p:spPr>
        <p:txBody>
          <a:bodyPr>
            <a:noAutofit/>
          </a:bodyPr>
          <a:lstStyle/>
          <a:p>
            <a:r>
              <a:rPr lang="zh-CN" altLang="en-US" b="1" dirty="0"/>
              <a:t>研究方案设计</a:t>
            </a:r>
            <a:endParaRPr lang="zh-CN" altLang="en-US" sz="6000" b="1" dirty="0">
              <a:latin typeface="微软雅黑" panose="020B0503020204020204" pitchFamily="34" charset="-122"/>
              <a:ea typeface="微软雅黑" panose="020B0503020204020204" pitchFamily="34"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7DA459-582E-4875-97CA-FFEC227CF6EE}"/>
              </a:ext>
            </a:extLst>
          </p:cNvPr>
          <p:cNvSpPr>
            <a:spLocks noGrp="1"/>
          </p:cNvSpPr>
          <p:nvPr>
            <p:ph type="title"/>
          </p:nvPr>
        </p:nvSpPr>
        <p:spPr>
          <a:xfrm>
            <a:off x="609600" y="503316"/>
            <a:ext cx="10972800" cy="1143000"/>
          </a:xfrm>
        </p:spPr>
        <p:txBody>
          <a:bodyPr/>
          <a:lstStyle/>
          <a:p>
            <a:r>
              <a:rPr lang="zh-CN" altLang="en-US" b="1" dirty="0">
                <a:latin typeface="微软雅黑" panose="020B0503020204020204" pitchFamily="34" charset="-122"/>
                <a:ea typeface="微软雅黑" panose="020B0503020204020204" pitchFamily="34" charset="-122"/>
              </a:rPr>
              <a:t>目 录</a:t>
            </a:r>
          </a:p>
        </p:txBody>
      </p:sp>
      <p:sp>
        <p:nvSpPr>
          <p:cNvPr id="3" name="内容占位符 2">
            <a:extLst>
              <a:ext uri="{FF2B5EF4-FFF2-40B4-BE49-F238E27FC236}">
                <a16:creationId xmlns:a16="http://schemas.microsoft.com/office/drawing/2014/main" id="{7B133B08-690A-47F3-AB13-7CE43E7A7699}"/>
              </a:ext>
            </a:extLst>
          </p:cNvPr>
          <p:cNvSpPr>
            <a:spLocks noGrp="1"/>
          </p:cNvSpPr>
          <p:nvPr>
            <p:ph idx="1"/>
          </p:nvPr>
        </p:nvSpPr>
        <p:spPr>
          <a:xfrm>
            <a:off x="609600" y="1600202"/>
            <a:ext cx="10972800" cy="4495798"/>
          </a:xfrm>
          <a:ln>
            <a:solidFill>
              <a:schemeClr val="accent1"/>
            </a:solidFill>
          </a:ln>
        </p:spPr>
        <p:txBody>
          <a:bodyPr>
            <a:noAutofit/>
          </a:bodyPr>
          <a:lstStyle/>
          <a:p>
            <a:pPr marL="514350" lvl="1" indent="-514350">
              <a:lnSpc>
                <a:spcPct val="150000"/>
              </a:lnSpc>
              <a:buFont typeface="+mj-lt"/>
              <a:buAutoNum type="arabicPeriod"/>
            </a:pPr>
            <a:r>
              <a:rPr lang="zh-CN" altLang="en-US" dirty="0">
                <a:latin typeface="等线 Light" panose="02010600030101010101" pitchFamily="2" charset="-122"/>
                <a:ea typeface="等线 Light" panose="02010600030101010101" pitchFamily="2" charset="-122"/>
              </a:rPr>
              <a:t>研究方案概述</a:t>
            </a:r>
          </a:p>
          <a:p>
            <a:pPr marL="514350" lvl="1" indent="-514350">
              <a:lnSpc>
                <a:spcPct val="150000"/>
              </a:lnSpc>
              <a:buFont typeface="+mj-lt"/>
              <a:buAutoNum type="arabicPeriod"/>
            </a:pPr>
            <a:r>
              <a:rPr lang="zh-CN" altLang="en-US" dirty="0">
                <a:latin typeface="等线 Light" panose="02010600030101010101" pitchFamily="2" charset="-122"/>
                <a:ea typeface="等线 Light" panose="02010600030101010101" pitchFamily="2" charset="-122"/>
              </a:rPr>
              <a:t>常见的研究方法</a:t>
            </a:r>
            <a:endParaRPr lang="en-US" altLang="zh-CN" dirty="0">
              <a:latin typeface="等线 Light" panose="02010600030101010101" pitchFamily="2" charset="-122"/>
              <a:ea typeface="等线 Light" panose="02010600030101010101" pitchFamily="2" charset="-122"/>
            </a:endParaRPr>
          </a:p>
          <a:p>
            <a:pPr marL="514350" lvl="1" indent="-514350">
              <a:lnSpc>
                <a:spcPct val="150000"/>
              </a:lnSpc>
              <a:buFont typeface="+mj-lt"/>
              <a:buAutoNum type="arabicPeriod"/>
            </a:pPr>
            <a:r>
              <a:rPr lang="zh-CN" altLang="en-US" dirty="0">
                <a:latin typeface="等线 Light" panose="02010600030101010101" pitchFamily="2" charset="-122"/>
                <a:ea typeface="等线 Light" panose="02010600030101010101" pitchFamily="2" charset="-122"/>
              </a:rPr>
              <a:t>联系问题研究</a:t>
            </a:r>
            <a:r>
              <a:rPr lang="en-US" altLang="zh-CN" dirty="0">
                <a:latin typeface="等线 Light" panose="02010600030101010101" pitchFamily="2" charset="-122"/>
                <a:ea typeface="等线 Light" panose="02010600030101010101" pitchFamily="2" charset="-122"/>
              </a:rPr>
              <a:t>-</a:t>
            </a:r>
            <a:r>
              <a:rPr lang="zh-CN" altLang="en-US" dirty="0">
                <a:latin typeface="等线 Light" panose="02010600030101010101" pitchFamily="2" charset="-122"/>
                <a:ea typeface="等线 Light" panose="02010600030101010101" pitchFamily="2" charset="-122"/>
              </a:rPr>
              <a:t>解决方案设计</a:t>
            </a:r>
            <a:r>
              <a:rPr lang="en-US" altLang="zh-CN" dirty="0">
                <a:latin typeface="等线 Light" panose="02010600030101010101" pitchFamily="2" charset="-122"/>
                <a:ea typeface="等线 Light" panose="02010600030101010101" pitchFamily="2" charset="-122"/>
              </a:rPr>
              <a:t>-</a:t>
            </a:r>
            <a:r>
              <a:rPr lang="zh-CN" altLang="en-US" dirty="0">
                <a:latin typeface="等线 Light" panose="02010600030101010101" pitchFamily="2" charset="-122"/>
                <a:ea typeface="等线 Light" panose="02010600030101010101" pitchFamily="2" charset="-122"/>
              </a:rPr>
              <a:t>解决方案评估的研究方案</a:t>
            </a:r>
            <a:endParaRPr lang="en-US" altLang="zh-CN" dirty="0">
              <a:latin typeface="等线 Light" panose="02010600030101010101" pitchFamily="2" charset="-122"/>
              <a:ea typeface="等线 Light" panose="02010600030101010101" pitchFamily="2" charset="-122"/>
            </a:endParaRPr>
          </a:p>
          <a:p>
            <a:pPr marL="514350" lvl="1" indent="-514350">
              <a:lnSpc>
                <a:spcPct val="150000"/>
              </a:lnSpc>
              <a:buFont typeface="+mj-lt"/>
              <a:buAutoNum type="arabicPeriod"/>
            </a:pPr>
            <a:r>
              <a:rPr lang="zh-CN" altLang="en-US" dirty="0">
                <a:latin typeface="等线 Light" panose="02010600030101010101" pitchFamily="2" charset="-122"/>
                <a:ea typeface="等线 Light" panose="02010600030101010101" pitchFamily="2" charset="-122"/>
              </a:rPr>
              <a:t>各阶段的研究方案</a:t>
            </a:r>
            <a:endParaRPr lang="en-US" altLang="zh-CN" dirty="0">
              <a:latin typeface="等线 Light" panose="02010600030101010101" pitchFamily="2" charset="-122"/>
              <a:ea typeface="等线 Light" panose="02010600030101010101" pitchFamily="2" charset="-122"/>
            </a:endParaRPr>
          </a:p>
        </p:txBody>
      </p:sp>
    </p:spTree>
    <p:extLst>
      <p:ext uri="{BB962C8B-B14F-4D97-AF65-F5344CB8AC3E}">
        <p14:creationId xmlns:p14="http://schemas.microsoft.com/office/powerpoint/2010/main" val="23051286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75D77BF2-A1DA-4A75-915A-1C02A03A90BB}"/>
              </a:ext>
            </a:extLst>
          </p:cNvPr>
          <p:cNvSpPr/>
          <p:nvPr/>
        </p:nvSpPr>
        <p:spPr>
          <a:xfrm>
            <a:off x="357449" y="1048644"/>
            <a:ext cx="10823170" cy="2738507"/>
          </a:xfrm>
          <a:prstGeom prst="rect">
            <a:avLst/>
          </a:prstGeom>
        </p:spPr>
        <p:txBody>
          <a:bodyPr wrap="square">
            <a:spAutoFit/>
          </a:bodyPr>
          <a:lstStyle/>
          <a:p>
            <a:pPr algn="just">
              <a:lnSpc>
                <a:spcPct val="125000"/>
              </a:lnSpc>
              <a:spcBef>
                <a:spcPts val="600"/>
              </a:spcBef>
              <a:spcAft>
                <a:spcPts val="0"/>
              </a:spcAft>
            </a:pPr>
            <a:r>
              <a:rPr lang="zh-CN" altLang="zh-CN" sz="2000" b="1" dirty="0">
                <a:latin typeface="+mj-ea"/>
                <a:ea typeface="+mj-ea"/>
              </a:rPr>
              <a:t>研究方案</a:t>
            </a:r>
            <a:r>
              <a:rPr lang="zh-CN" altLang="en-US" sz="2000" b="1" dirty="0">
                <a:latin typeface="+mj-ea"/>
                <a:ea typeface="+mj-ea"/>
              </a:rPr>
              <a:t>：</a:t>
            </a:r>
            <a:endParaRPr lang="en-US" altLang="zh-CN" sz="2000" b="1" dirty="0">
              <a:latin typeface="+mj-ea"/>
              <a:ea typeface="+mj-ea"/>
            </a:endParaRPr>
          </a:p>
          <a:p>
            <a:pPr marL="342900" indent="-342900" algn="just">
              <a:lnSpc>
                <a:spcPct val="125000"/>
              </a:lnSpc>
              <a:spcBef>
                <a:spcPts val="600"/>
              </a:spcBef>
              <a:spcAft>
                <a:spcPts val="0"/>
              </a:spcAft>
              <a:buFont typeface="Arial" panose="020B0604020202020204" pitchFamily="34" charset="0"/>
              <a:buChar char="•"/>
            </a:pPr>
            <a:r>
              <a:rPr lang="zh-CN" altLang="zh-CN" sz="2000" dirty="0">
                <a:latin typeface="+mj-ea"/>
                <a:ea typeface="+mj-ea"/>
              </a:rPr>
              <a:t>一个逻辑性计划</a:t>
            </a:r>
            <a:r>
              <a:rPr lang="zh-CN" altLang="en-US" sz="2000" dirty="0">
                <a:latin typeface="+mj-ea"/>
                <a:ea typeface="+mj-ea"/>
              </a:rPr>
              <a:t>。</a:t>
            </a:r>
            <a:endParaRPr lang="en-US" altLang="zh-CN" sz="2000" dirty="0">
              <a:latin typeface="+mj-ea"/>
              <a:ea typeface="+mj-ea"/>
            </a:endParaRPr>
          </a:p>
          <a:p>
            <a:pPr marL="342900" indent="-342900" algn="just">
              <a:lnSpc>
                <a:spcPct val="125000"/>
              </a:lnSpc>
              <a:spcBef>
                <a:spcPts val="600"/>
              </a:spcBef>
              <a:spcAft>
                <a:spcPts val="0"/>
              </a:spcAft>
              <a:buFont typeface="Arial" panose="020B0604020202020204" pitchFamily="34" charset="0"/>
              <a:buChar char="•"/>
            </a:pPr>
            <a:r>
              <a:rPr lang="zh-CN" altLang="zh-CN" sz="2000" dirty="0">
                <a:latin typeface="+mj-ea"/>
                <a:ea typeface="+mj-ea"/>
              </a:rPr>
              <a:t>用于实现从“这里”到“那里”，这里可以定义为一系列需要回答的问题，而那里可以是一系列关于问题的答案。</a:t>
            </a:r>
            <a:endParaRPr lang="en-US" altLang="zh-CN" sz="2000" dirty="0">
              <a:latin typeface="+mj-ea"/>
              <a:ea typeface="+mj-ea"/>
            </a:endParaRPr>
          </a:p>
          <a:p>
            <a:pPr marL="342900" indent="-342900" algn="just">
              <a:lnSpc>
                <a:spcPct val="125000"/>
              </a:lnSpc>
              <a:spcBef>
                <a:spcPts val="600"/>
              </a:spcBef>
              <a:spcAft>
                <a:spcPts val="0"/>
              </a:spcAft>
              <a:buFont typeface="Arial" panose="020B0604020202020204" pitchFamily="34" charset="0"/>
              <a:buChar char="•"/>
            </a:pPr>
            <a:r>
              <a:rPr lang="zh-CN" altLang="zh-CN" sz="2000" dirty="0">
                <a:latin typeface="+mj-ea"/>
                <a:ea typeface="+mj-ea"/>
              </a:rPr>
              <a:t>在“这里”和“那里”之间可能存在一些主要的步骤，包括收集和分析相关的数据。</a:t>
            </a:r>
            <a:endParaRPr lang="en-US" altLang="zh-CN" sz="2000" dirty="0">
              <a:latin typeface="+mj-ea"/>
              <a:ea typeface="+mj-ea"/>
            </a:endParaRPr>
          </a:p>
          <a:p>
            <a:pPr algn="just">
              <a:lnSpc>
                <a:spcPct val="150000"/>
              </a:lnSpc>
              <a:spcBef>
                <a:spcPts val="600"/>
              </a:spcBef>
              <a:spcAft>
                <a:spcPts val="0"/>
              </a:spcAft>
            </a:pPr>
            <a:endParaRPr lang="en-US" altLang="zh-CN" sz="2000" dirty="0">
              <a:latin typeface="+mj-ea"/>
              <a:ea typeface="+mj-ea"/>
            </a:endParaRPr>
          </a:p>
        </p:txBody>
      </p:sp>
      <p:sp>
        <p:nvSpPr>
          <p:cNvPr id="5" name="标题 1">
            <a:extLst>
              <a:ext uri="{FF2B5EF4-FFF2-40B4-BE49-F238E27FC236}">
                <a16:creationId xmlns:a16="http://schemas.microsoft.com/office/drawing/2014/main" id="{FA0AAB25-9FCA-4027-B2F1-AB392E923CEA}"/>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研究方案的定义</a:t>
            </a:r>
          </a:p>
        </p:txBody>
      </p:sp>
      <p:sp>
        <p:nvSpPr>
          <p:cNvPr id="6" name="矩形 5">
            <a:extLst>
              <a:ext uri="{FF2B5EF4-FFF2-40B4-BE49-F238E27FC236}">
                <a16:creationId xmlns:a16="http://schemas.microsoft.com/office/drawing/2014/main" id="{DF98AEF0-FB03-4AB6-90B8-5BFE04C4228D}"/>
              </a:ext>
            </a:extLst>
          </p:cNvPr>
          <p:cNvSpPr/>
          <p:nvPr/>
        </p:nvSpPr>
        <p:spPr>
          <a:xfrm>
            <a:off x="357449" y="4657104"/>
            <a:ext cx="11187941" cy="901880"/>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2000" dirty="0">
                <a:solidFill>
                  <a:schemeClr val="tx1"/>
                </a:solidFill>
                <a:latin typeface="+mj-ea"/>
              </a:rPr>
              <a:t>要进入一个房间可以选择走正门和偏门，假设选择要通过正门进入，手里必须具备走正门的一些工具，并且在脑海里清楚为什么选这条路，而不是其他的，来引导他对这条通向答案的理解和认识</a:t>
            </a:r>
            <a:endParaRPr lang="en-US" altLang="zh-CN" sz="2000" kern="0" dirty="0">
              <a:solidFill>
                <a:schemeClr val="tx1"/>
              </a:solidFill>
              <a:latin typeface="+mn-ea"/>
              <a:cs typeface="Times New Roman" panose="02020603050405020304" pitchFamily="18" charset="0"/>
            </a:endParaRPr>
          </a:p>
        </p:txBody>
      </p:sp>
    </p:spTree>
    <p:extLst>
      <p:ext uri="{BB962C8B-B14F-4D97-AF65-F5344CB8AC3E}">
        <p14:creationId xmlns:p14="http://schemas.microsoft.com/office/powerpoint/2010/main" val="13751641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F5DAE8-27C0-4F46-8AED-AFEDE8906CC6}"/>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3300" dirty="0">
                <a:latin typeface="+mn-ea"/>
                <a:ea typeface="+mn-ea"/>
              </a:rPr>
              <a:t>调研能力的培养</a:t>
            </a:r>
            <a:endParaRPr lang="zh-CN" altLang="en-US" sz="3300" dirty="0">
              <a:latin typeface="+mn-ea"/>
              <a:ea typeface="+mn-ea"/>
            </a:endParaRPr>
          </a:p>
        </p:txBody>
      </p:sp>
      <p:sp>
        <p:nvSpPr>
          <p:cNvPr id="3" name="矩形 2">
            <a:extLst>
              <a:ext uri="{FF2B5EF4-FFF2-40B4-BE49-F238E27FC236}">
                <a16:creationId xmlns:a16="http://schemas.microsoft.com/office/drawing/2014/main" id="{5D5F9747-33BE-4E06-BF26-C5B7513DFDC5}"/>
              </a:ext>
            </a:extLst>
          </p:cNvPr>
          <p:cNvSpPr/>
          <p:nvPr/>
        </p:nvSpPr>
        <p:spPr>
          <a:xfrm>
            <a:off x="357449" y="1048644"/>
            <a:ext cx="10823170" cy="1430456"/>
          </a:xfrm>
          <a:prstGeom prst="rect">
            <a:avLst/>
          </a:prstGeom>
        </p:spPr>
        <p:txBody>
          <a:bodyPr wrap="square">
            <a:spAutoFit/>
          </a:bodyPr>
          <a:lstStyle/>
          <a:p>
            <a:pPr marL="342900" indent="-342900" algn="just">
              <a:lnSpc>
                <a:spcPct val="125000"/>
              </a:lnSpc>
              <a:spcBef>
                <a:spcPts val="600"/>
              </a:spcBef>
              <a:buFont typeface="Arial" panose="020B0604020202020204" pitchFamily="34" charset="0"/>
              <a:buChar char="•"/>
            </a:pPr>
            <a:r>
              <a:rPr lang="zh-CN" altLang="zh-CN" sz="2000" dirty="0">
                <a:latin typeface="+mj-ea"/>
                <a:ea typeface="+mj-ea"/>
              </a:rPr>
              <a:t>掌握和应用调研的技巧和方法</a:t>
            </a:r>
          </a:p>
          <a:p>
            <a:pPr marL="342900" indent="-342900" algn="just">
              <a:lnSpc>
                <a:spcPct val="125000"/>
              </a:lnSpc>
              <a:spcBef>
                <a:spcPts val="600"/>
              </a:spcBef>
              <a:buFont typeface="Arial" panose="020B0604020202020204" pitchFamily="34" charset="0"/>
              <a:buChar char="•"/>
            </a:pPr>
            <a:r>
              <a:rPr lang="zh-CN" altLang="zh-CN" sz="2000" dirty="0">
                <a:latin typeface="+mj-ea"/>
                <a:ea typeface="+mj-ea"/>
              </a:rPr>
              <a:t>通过调研提升对实践规律和理论的认知</a:t>
            </a:r>
            <a:endParaRPr lang="en-US" altLang="zh-CN" sz="2000" dirty="0">
              <a:latin typeface="+mj-ea"/>
              <a:ea typeface="+mj-ea"/>
            </a:endParaRPr>
          </a:p>
          <a:p>
            <a:pPr algn="just">
              <a:lnSpc>
                <a:spcPct val="150000"/>
              </a:lnSpc>
              <a:spcBef>
                <a:spcPts val="600"/>
              </a:spcBef>
              <a:spcAft>
                <a:spcPts val="0"/>
              </a:spcAft>
            </a:pPr>
            <a:endParaRPr lang="en-US" altLang="zh-CN" sz="2000" dirty="0">
              <a:latin typeface="+mj-ea"/>
              <a:ea typeface="+mj-ea"/>
            </a:endParaRPr>
          </a:p>
        </p:txBody>
      </p:sp>
    </p:spTree>
    <p:extLst>
      <p:ext uri="{BB962C8B-B14F-4D97-AF65-F5344CB8AC3E}">
        <p14:creationId xmlns:p14="http://schemas.microsoft.com/office/powerpoint/2010/main" val="17977531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75D77BF2-A1DA-4A75-915A-1C02A03A90BB}"/>
              </a:ext>
            </a:extLst>
          </p:cNvPr>
          <p:cNvSpPr/>
          <p:nvPr/>
        </p:nvSpPr>
        <p:spPr>
          <a:xfrm>
            <a:off x="423950" y="1118688"/>
            <a:ext cx="10723417" cy="2837443"/>
          </a:xfrm>
          <a:prstGeom prst="rect">
            <a:avLst/>
          </a:prstGeom>
        </p:spPr>
        <p:txBody>
          <a:bodyPr wrap="square">
            <a:spAutoFit/>
          </a:bodyPr>
          <a:lstStyle/>
          <a:p>
            <a:pPr algn="just">
              <a:lnSpc>
                <a:spcPct val="125000"/>
              </a:lnSpc>
            </a:pPr>
            <a:r>
              <a:rPr lang="en-US" altLang="zh-CN" dirty="0">
                <a:latin typeface="+mj-ea"/>
                <a:ea typeface="+mj-ea"/>
              </a:rPr>
              <a:t>1</a:t>
            </a:r>
            <a:r>
              <a:rPr lang="zh-CN" altLang="en-US" dirty="0">
                <a:latin typeface="+mj-ea"/>
                <a:ea typeface="+mj-ea"/>
              </a:rPr>
              <a:t>、</a:t>
            </a:r>
            <a:r>
              <a:rPr lang="zh-CN" altLang="zh-CN" dirty="0">
                <a:latin typeface="+mj-ea"/>
                <a:ea typeface="+mj-ea"/>
              </a:rPr>
              <a:t>确定研究目的和内容</a:t>
            </a:r>
          </a:p>
          <a:p>
            <a:pPr algn="just">
              <a:lnSpc>
                <a:spcPct val="125000"/>
              </a:lnSpc>
            </a:pPr>
            <a:r>
              <a:rPr lang="en-US" altLang="zh-CN" dirty="0">
                <a:latin typeface="+mj-ea"/>
                <a:ea typeface="+mj-ea"/>
              </a:rPr>
              <a:t>2</a:t>
            </a:r>
            <a:r>
              <a:rPr lang="zh-CN" altLang="en-US" dirty="0">
                <a:latin typeface="+mj-ea"/>
                <a:ea typeface="+mj-ea"/>
              </a:rPr>
              <a:t>、</a:t>
            </a:r>
            <a:r>
              <a:rPr lang="zh-CN" altLang="zh-CN" dirty="0">
                <a:latin typeface="+mj-ea"/>
                <a:ea typeface="+mj-ea"/>
              </a:rPr>
              <a:t>研究方案设计</a:t>
            </a:r>
          </a:p>
          <a:p>
            <a:pPr marL="800100" lvl="1" indent="-342900" algn="just">
              <a:lnSpc>
                <a:spcPct val="125000"/>
              </a:lnSpc>
              <a:buFont typeface="Arial" panose="020B0604020202020204" pitchFamily="34" charset="0"/>
              <a:buChar char="•"/>
            </a:pPr>
            <a:r>
              <a:rPr lang="zh-CN" altLang="zh-CN" dirty="0">
                <a:latin typeface="+mj-ea"/>
                <a:ea typeface="+mj-ea"/>
              </a:rPr>
              <a:t>选择研究场景。</a:t>
            </a:r>
            <a:endParaRPr lang="en-US" altLang="zh-CN" dirty="0">
              <a:latin typeface="+mj-ea"/>
              <a:ea typeface="+mj-ea"/>
            </a:endParaRPr>
          </a:p>
          <a:p>
            <a:pPr marL="800100" lvl="1" indent="-342900" algn="just">
              <a:lnSpc>
                <a:spcPct val="125000"/>
              </a:lnSpc>
              <a:buFont typeface="Arial" panose="020B0604020202020204" pitchFamily="34" charset="0"/>
              <a:buChar char="•"/>
            </a:pPr>
            <a:r>
              <a:rPr lang="zh-CN" altLang="zh-CN" dirty="0">
                <a:latin typeface="+mj-ea"/>
                <a:ea typeface="+mj-ea"/>
              </a:rPr>
              <a:t>选择研究方法。</a:t>
            </a:r>
            <a:r>
              <a:rPr lang="zh-CN" altLang="en-US" dirty="0">
                <a:latin typeface="+mj-ea"/>
                <a:ea typeface="+mj-ea"/>
              </a:rPr>
              <a:t>如</a:t>
            </a:r>
            <a:r>
              <a:rPr lang="zh-CN" altLang="zh-CN" dirty="0">
                <a:latin typeface="+mj-ea"/>
                <a:ea typeface="+mj-ea"/>
              </a:rPr>
              <a:t>案例、调查问卷、仿真等</a:t>
            </a:r>
            <a:r>
              <a:rPr lang="zh-CN" altLang="en-US" dirty="0">
                <a:latin typeface="+mj-ea"/>
                <a:ea typeface="+mj-ea"/>
              </a:rPr>
              <a:t>。</a:t>
            </a:r>
            <a:endParaRPr lang="zh-CN" altLang="zh-CN" dirty="0">
              <a:latin typeface="+mj-ea"/>
              <a:ea typeface="+mj-ea"/>
            </a:endParaRPr>
          </a:p>
          <a:p>
            <a:pPr marL="800100" lvl="1" indent="-342900" algn="just">
              <a:lnSpc>
                <a:spcPct val="125000"/>
              </a:lnSpc>
              <a:buFont typeface="Arial" panose="020B0604020202020204" pitchFamily="34" charset="0"/>
              <a:buChar char="•"/>
            </a:pPr>
            <a:r>
              <a:rPr lang="zh-CN" altLang="zh-CN" dirty="0">
                <a:latin typeface="+mj-ea"/>
                <a:ea typeface="+mj-ea"/>
              </a:rPr>
              <a:t>设计数据收集方式与工具。</a:t>
            </a:r>
          </a:p>
          <a:p>
            <a:pPr marL="800100" lvl="1" indent="-342900" algn="just">
              <a:lnSpc>
                <a:spcPct val="125000"/>
              </a:lnSpc>
              <a:buFont typeface="Arial" panose="020B0604020202020204" pitchFamily="34" charset="0"/>
              <a:buChar char="•"/>
            </a:pPr>
            <a:r>
              <a:rPr lang="zh-CN" altLang="zh-CN" dirty="0">
                <a:latin typeface="+mj-ea"/>
                <a:ea typeface="+mj-ea"/>
              </a:rPr>
              <a:t>明确调查对象的选择。</a:t>
            </a:r>
          </a:p>
          <a:p>
            <a:pPr marL="800100" lvl="1" indent="-342900" algn="just">
              <a:lnSpc>
                <a:spcPct val="125000"/>
              </a:lnSpc>
              <a:buFont typeface="Arial" panose="020B0604020202020204" pitchFamily="34" charset="0"/>
              <a:buChar char="•"/>
            </a:pPr>
            <a:r>
              <a:rPr lang="zh-CN" altLang="zh-CN" dirty="0">
                <a:latin typeface="+mj-ea"/>
                <a:ea typeface="+mj-ea"/>
              </a:rPr>
              <a:t>明确数据分析方法。</a:t>
            </a:r>
            <a:endParaRPr lang="en-US" altLang="zh-CN" dirty="0">
              <a:latin typeface="+mj-ea"/>
              <a:ea typeface="+mj-ea"/>
            </a:endParaRPr>
          </a:p>
          <a:p>
            <a:pPr algn="just">
              <a:lnSpc>
                <a:spcPct val="125000"/>
              </a:lnSpc>
            </a:pPr>
            <a:r>
              <a:rPr lang="en-US" altLang="zh-CN" dirty="0">
                <a:latin typeface="+mj-ea"/>
                <a:ea typeface="+mj-ea"/>
              </a:rPr>
              <a:t>3</a:t>
            </a:r>
            <a:r>
              <a:rPr lang="zh-CN" altLang="en-US" dirty="0">
                <a:latin typeface="+mj-ea"/>
                <a:ea typeface="+mj-ea"/>
              </a:rPr>
              <a:t>、</a:t>
            </a:r>
            <a:r>
              <a:rPr lang="zh-CN" altLang="zh-CN" dirty="0">
                <a:latin typeface="+mj-ea"/>
                <a:ea typeface="+mj-ea"/>
              </a:rPr>
              <a:t>明确预期结果</a:t>
            </a:r>
          </a:p>
        </p:txBody>
      </p:sp>
      <p:sp>
        <p:nvSpPr>
          <p:cNvPr id="5" name="标题 1">
            <a:extLst>
              <a:ext uri="{FF2B5EF4-FFF2-40B4-BE49-F238E27FC236}">
                <a16:creationId xmlns:a16="http://schemas.microsoft.com/office/drawing/2014/main" id="{FA0AAB25-9FCA-4027-B2F1-AB392E923CEA}"/>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研究方案的内容</a:t>
            </a:r>
          </a:p>
        </p:txBody>
      </p:sp>
      <p:sp>
        <p:nvSpPr>
          <p:cNvPr id="6" name="矩形 5">
            <a:extLst>
              <a:ext uri="{FF2B5EF4-FFF2-40B4-BE49-F238E27FC236}">
                <a16:creationId xmlns:a16="http://schemas.microsoft.com/office/drawing/2014/main" id="{A1166853-0D33-4871-990A-ACB22CB1B5D8}"/>
              </a:ext>
            </a:extLst>
          </p:cNvPr>
          <p:cNvSpPr/>
          <p:nvPr/>
        </p:nvSpPr>
        <p:spPr>
          <a:xfrm>
            <a:off x="2598458" y="5409839"/>
            <a:ext cx="1661886" cy="725713"/>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kern="0" dirty="0">
                <a:solidFill>
                  <a:schemeClr val="tx1"/>
                </a:solidFill>
                <a:latin typeface="+mn-ea"/>
                <a:cs typeface="Times New Roman" panose="02020603050405020304" pitchFamily="18" charset="0"/>
              </a:rPr>
              <a:t>研究目的</a:t>
            </a:r>
            <a:endParaRPr lang="en-US" altLang="zh-CN" sz="2800" kern="0" dirty="0">
              <a:solidFill>
                <a:schemeClr val="tx1"/>
              </a:solidFill>
              <a:latin typeface="+mn-ea"/>
              <a:cs typeface="Times New Roman" panose="02020603050405020304" pitchFamily="18" charset="0"/>
            </a:endParaRPr>
          </a:p>
        </p:txBody>
      </p:sp>
      <p:sp>
        <p:nvSpPr>
          <p:cNvPr id="7" name="矩形 6">
            <a:extLst>
              <a:ext uri="{FF2B5EF4-FFF2-40B4-BE49-F238E27FC236}">
                <a16:creationId xmlns:a16="http://schemas.microsoft.com/office/drawing/2014/main" id="{87AD04F7-4C54-4850-B60B-A69338D560F3}"/>
              </a:ext>
            </a:extLst>
          </p:cNvPr>
          <p:cNvSpPr/>
          <p:nvPr/>
        </p:nvSpPr>
        <p:spPr>
          <a:xfrm>
            <a:off x="6415714" y="5400424"/>
            <a:ext cx="2636845" cy="725713"/>
          </a:xfrm>
          <a:prstGeom prst="rect">
            <a:avLst/>
          </a:prstGeom>
          <a:solidFill>
            <a:schemeClr val="accent6">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kern="0" dirty="0">
                <a:solidFill>
                  <a:schemeClr val="tx1"/>
                </a:solidFill>
                <a:latin typeface="+mn-ea"/>
                <a:cs typeface="Times New Roman" panose="02020603050405020304" pitchFamily="18" charset="0"/>
              </a:rPr>
              <a:t>预期结论</a:t>
            </a:r>
            <a:endParaRPr lang="en-US" altLang="zh-CN" sz="2800" kern="0" dirty="0">
              <a:solidFill>
                <a:schemeClr val="tx1"/>
              </a:solidFill>
              <a:latin typeface="+mn-ea"/>
              <a:cs typeface="Times New Roman" panose="02020603050405020304" pitchFamily="18" charset="0"/>
            </a:endParaRPr>
          </a:p>
        </p:txBody>
      </p:sp>
      <p:sp>
        <p:nvSpPr>
          <p:cNvPr id="8" name="箭头: 右 7">
            <a:extLst>
              <a:ext uri="{FF2B5EF4-FFF2-40B4-BE49-F238E27FC236}">
                <a16:creationId xmlns:a16="http://schemas.microsoft.com/office/drawing/2014/main" id="{DC6AC80E-C06A-49EA-A3FF-A178EC1502E5}"/>
              </a:ext>
            </a:extLst>
          </p:cNvPr>
          <p:cNvSpPr/>
          <p:nvPr/>
        </p:nvSpPr>
        <p:spPr>
          <a:xfrm>
            <a:off x="4654732" y="5501487"/>
            <a:ext cx="1404257" cy="523585"/>
          </a:xfrm>
          <a:prstGeom prst="rightArrow">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C1E61486-99AB-4C83-833D-4B72E161580D}"/>
              </a:ext>
            </a:extLst>
          </p:cNvPr>
          <p:cNvSpPr/>
          <p:nvPr/>
        </p:nvSpPr>
        <p:spPr>
          <a:xfrm>
            <a:off x="4617069" y="5059036"/>
            <a:ext cx="1219200" cy="52358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kern="0" dirty="0">
                <a:solidFill>
                  <a:schemeClr val="tx1"/>
                </a:solidFill>
                <a:latin typeface="+mn-ea"/>
                <a:cs typeface="Times New Roman" panose="02020603050405020304" pitchFamily="18" charset="0"/>
              </a:rPr>
              <a:t>研究方案</a:t>
            </a:r>
            <a:endParaRPr lang="en-US" altLang="zh-CN" sz="2000" kern="0" dirty="0">
              <a:solidFill>
                <a:schemeClr val="tx1"/>
              </a:solidFill>
              <a:latin typeface="+mn-ea"/>
              <a:cs typeface="Times New Roman" panose="02020603050405020304" pitchFamily="18" charset="0"/>
            </a:endParaRPr>
          </a:p>
        </p:txBody>
      </p:sp>
    </p:spTree>
    <p:extLst>
      <p:ext uri="{BB962C8B-B14F-4D97-AF65-F5344CB8AC3E}">
        <p14:creationId xmlns:p14="http://schemas.microsoft.com/office/powerpoint/2010/main" val="1598818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CFABA2A-E50B-4B42-8BDF-AB5EB7F41879}"/>
              </a:ext>
            </a:extLst>
          </p:cNvPr>
          <p:cNvSpPr/>
          <p:nvPr/>
        </p:nvSpPr>
        <p:spPr>
          <a:xfrm>
            <a:off x="518160" y="1781422"/>
            <a:ext cx="7459980" cy="2958630"/>
          </a:xfrm>
          <a:prstGeom prst="rect">
            <a:avLst/>
          </a:prstGeom>
        </p:spPr>
        <p:txBody>
          <a:bodyPr wrap="square">
            <a:spAutoFit/>
          </a:bodyPr>
          <a:lstStyle/>
          <a:p>
            <a:pPr algn="just">
              <a:lnSpc>
                <a:spcPct val="150000"/>
              </a:lnSpc>
              <a:spcAft>
                <a:spcPts val="0"/>
              </a:spcAft>
            </a:pPr>
            <a:r>
              <a:rPr lang="zh-CN" altLang="zh-CN" kern="100" dirty="0">
                <a:latin typeface="+mj-ea"/>
                <a:ea typeface="+mj-ea"/>
                <a:cs typeface="Times New Roman" panose="02020603050405020304" pitchFamily="18" charset="0"/>
              </a:rPr>
              <a:t>常见于</a:t>
            </a:r>
            <a:r>
              <a:rPr lang="zh-CN" altLang="zh-CN" kern="100" dirty="0">
                <a:highlight>
                  <a:srgbClr val="FFFF00"/>
                </a:highlight>
                <a:latin typeface="+mj-ea"/>
                <a:ea typeface="+mj-ea"/>
                <a:cs typeface="Times New Roman" panose="02020603050405020304" pitchFamily="18" charset="0"/>
              </a:rPr>
              <a:t>抽样调研、试验</a:t>
            </a:r>
            <a:r>
              <a:rPr lang="zh-CN" altLang="zh-CN" kern="100" dirty="0">
                <a:latin typeface="+mj-ea"/>
                <a:ea typeface="+mj-ea"/>
                <a:cs typeface="Times New Roman" panose="02020603050405020304" pitchFamily="18" charset="0"/>
              </a:rPr>
              <a:t>等</a:t>
            </a:r>
            <a:endParaRPr lang="en-US" altLang="zh-CN" kern="100" dirty="0">
              <a:latin typeface="+mj-ea"/>
              <a:ea typeface="+mj-ea"/>
              <a:cs typeface="Times New Roman" panose="02020603050405020304" pitchFamily="18" charset="0"/>
            </a:endParaRPr>
          </a:p>
          <a:p>
            <a:pPr algn="just">
              <a:lnSpc>
                <a:spcPct val="150000"/>
              </a:lnSpc>
              <a:spcAft>
                <a:spcPts val="0"/>
              </a:spcAft>
            </a:pPr>
            <a:endParaRPr lang="en-US" altLang="zh-CN" kern="100" dirty="0">
              <a:latin typeface="+mj-ea"/>
              <a:ea typeface="+mj-ea"/>
              <a:cs typeface="Times New Roman" panose="02020603050405020304" pitchFamily="18" charset="0"/>
            </a:endParaRPr>
          </a:p>
          <a:p>
            <a:pPr algn="just">
              <a:lnSpc>
                <a:spcPct val="150000"/>
              </a:lnSpc>
              <a:spcAft>
                <a:spcPts val="0"/>
              </a:spcAft>
            </a:pPr>
            <a:r>
              <a:rPr lang="zh-CN" altLang="en-US" b="1" kern="100" dirty="0">
                <a:latin typeface="+mj-ea"/>
                <a:ea typeface="+mj-ea"/>
                <a:cs typeface="Times New Roman" panose="02020603050405020304" pitchFamily="18" charset="0"/>
              </a:rPr>
              <a:t>步骤</a:t>
            </a:r>
            <a:endParaRPr lang="zh-CN" altLang="zh-CN" b="1" kern="100" dirty="0">
              <a:latin typeface="+mj-ea"/>
              <a:ea typeface="+mj-ea"/>
              <a:cs typeface="Times New Roman" panose="02020603050405020304" pitchFamily="18" charset="0"/>
            </a:endParaRPr>
          </a:p>
          <a:p>
            <a:pPr marL="342900" lvl="0" indent="-342900" algn="just">
              <a:lnSpc>
                <a:spcPct val="150000"/>
              </a:lnSpc>
              <a:spcAft>
                <a:spcPts val="0"/>
              </a:spcAft>
              <a:buFont typeface="Arial" panose="020B0604020202020204" pitchFamily="34" charset="0"/>
              <a:buChar char="•"/>
            </a:pPr>
            <a:r>
              <a:rPr lang="zh-CN" altLang="zh-CN" kern="100" dirty="0">
                <a:latin typeface="+mj-ea"/>
                <a:ea typeface="+mj-ea"/>
                <a:cs typeface="Times New Roman" panose="02020603050405020304" pitchFamily="18" charset="0"/>
              </a:rPr>
              <a:t>确定需要验证的假设</a:t>
            </a:r>
          </a:p>
          <a:p>
            <a:pPr marL="342900" lvl="0" indent="-342900" algn="just">
              <a:lnSpc>
                <a:spcPct val="150000"/>
              </a:lnSpc>
              <a:spcAft>
                <a:spcPts val="0"/>
              </a:spcAft>
              <a:buFont typeface="Arial" panose="020B0604020202020204" pitchFamily="34" charset="0"/>
              <a:buChar char="•"/>
            </a:pPr>
            <a:r>
              <a:rPr lang="zh-CN" altLang="zh-CN" kern="100" dirty="0">
                <a:latin typeface="+mj-ea"/>
                <a:ea typeface="+mj-ea"/>
                <a:cs typeface="Times New Roman" panose="02020603050405020304" pitchFamily="18" charset="0"/>
              </a:rPr>
              <a:t>从假设中形成预测</a:t>
            </a:r>
          </a:p>
          <a:p>
            <a:pPr marL="342900" lvl="0" indent="-342900" algn="just">
              <a:lnSpc>
                <a:spcPct val="150000"/>
              </a:lnSpc>
              <a:spcAft>
                <a:spcPts val="0"/>
              </a:spcAft>
              <a:buFont typeface="Arial" panose="020B0604020202020204" pitchFamily="34" charset="0"/>
              <a:buChar char="•"/>
            </a:pPr>
            <a:r>
              <a:rPr lang="zh-CN" altLang="zh-CN" kern="100" dirty="0">
                <a:latin typeface="+mj-ea"/>
                <a:ea typeface="+mj-ea"/>
                <a:cs typeface="Times New Roman" panose="02020603050405020304" pitchFamily="18" charset="0"/>
              </a:rPr>
              <a:t>收集数据来验证预测</a:t>
            </a:r>
          </a:p>
          <a:p>
            <a:pPr marL="342900" lvl="0" indent="-342900" algn="just">
              <a:lnSpc>
                <a:spcPct val="150000"/>
              </a:lnSpc>
              <a:spcAft>
                <a:spcPts val="0"/>
              </a:spcAft>
              <a:buFont typeface="Arial" panose="020B0604020202020204" pitchFamily="34" charset="0"/>
              <a:buChar char="•"/>
            </a:pPr>
            <a:r>
              <a:rPr lang="zh-CN" altLang="zh-CN" kern="100" dirty="0">
                <a:latin typeface="+mj-ea"/>
                <a:ea typeface="+mj-ea"/>
                <a:cs typeface="Times New Roman" panose="02020603050405020304" pitchFamily="18" charset="0"/>
              </a:rPr>
              <a:t>如果预测是正确，则确认假设，如果不是，即证否。</a:t>
            </a:r>
          </a:p>
        </p:txBody>
      </p:sp>
      <p:sp>
        <p:nvSpPr>
          <p:cNvPr id="3" name="矩形 2">
            <a:extLst>
              <a:ext uri="{FF2B5EF4-FFF2-40B4-BE49-F238E27FC236}">
                <a16:creationId xmlns:a16="http://schemas.microsoft.com/office/drawing/2014/main" id="{50BC0A9B-CFEF-4AFD-B909-722A3C49E6C1}"/>
              </a:ext>
            </a:extLst>
          </p:cNvPr>
          <p:cNvSpPr/>
          <p:nvPr/>
        </p:nvSpPr>
        <p:spPr>
          <a:xfrm>
            <a:off x="518160" y="1296751"/>
            <a:ext cx="5577840" cy="369332"/>
          </a:xfrm>
          <a:prstGeom prst="rect">
            <a:avLst/>
          </a:prstGeom>
        </p:spPr>
        <p:txBody>
          <a:bodyPr wrap="square">
            <a:spAutoFit/>
          </a:bodyPr>
          <a:lstStyle/>
          <a:p>
            <a:pPr algn="just">
              <a:spcAft>
                <a:spcPts val="0"/>
              </a:spcAft>
            </a:pPr>
            <a:r>
              <a:rPr lang="zh-CN" altLang="en-US" b="1" kern="100" dirty="0">
                <a:latin typeface="+mj-ea"/>
                <a:ea typeface="+mj-ea"/>
                <a:cs typeface="Times New Roman" panose="02020603050405020304" pitchFamily="18" charset="0"/>
              </a:rPr>
              <a:t>研究一般思路：</a:t>
            </a:r>
            <a:r>
              <a:rPr lang="zh-CN" altLang="zh-CN" kern="100" dirty="0">
                <a:latin typeface="+mj-ea"/>
                <a:ea typeface="+mj-ea"/>
                <a:cs typeface="Times New Roman" panose="02020603050405020304" pitchFamily="18" charset="0"/>
              </a:rPr>
              <a:t>问题</a:t>
            </a:r>
            <a:r>
              <a:rPr lang="en-US" altLang="zh-CN" kern="100" dirty="0">
                <a:latin typeface="+mj-ea"/>
                <a:ea typeface="+mj-ea"/>
                <a:cs typeface="Times New Roman" panose="02020603050405020304" pitchFamily="18" charset="0"/>
                <a:sym typeface="Wingdings" panose="05000000000000000000" pitchFamily="2" charset="2"/>
              </a:rPr>
              <a:t></a:t>
            </a:r>
            <a:r>
              <a:rPr lang="zh-CN" altLang="zh-CN" kern="100" dirty="0">
                <a:latin typeface="+mj-ea"/>
                <a:ea typeface="+mj-ea"/>
                <a:cs typeface="Times New Roman" panose="02020603050405020304" pitchFamily="18" charset="0"/>
              </a:rPr>
              <a:t>假设</a:t>
            </a:r>
            <a:r>
              <a:rPr lang="en-US" altLang="zh-CN" kern="100" dirty="0">
                <a:latin typeface="+mj-ea"/>
                <a:ea typeface="+mj-ea"/>
                <a:cs typeface="Times New Roman" panose="02020603050405020304" pitchFamily="18" charset="0"/>
                <a:sym typeface="Wingdings" panose="05000000000000000000" pitchFamily="2" charset="2"/>
              </a:rPr>
              <a:t></a:t>
            </a:r>
            <a:r>
              <a:rPr lang="zh-CN" altLang="zh-CN" kern="100" dirty="0">
                <a:latin typeface="+mj-ea"/>
                <a:ea typeface="+mj-ea"/>
                <a:cs typeface="Times New Roman" panose="02020603050405020304" pitchFamily="18" charset="0"/>
              </a:rPr>
              <a:t>数据</a:t>
            </a:r>
            <a:r>
              <a:rPr lang="en-US" altLang="zh-CN" kern="100" dirty="0">
                <a:latin typeface="+mj-ea"/>
                <a:ea typeface="+mj-ea"/>
                <a:cs typeface="Times New Roman" panose="02020603050405020304" pitchFamily="18" charset="0"/>
                <a:sym typeface="Wingdings" panose="05000000000000000000" pitchFamily="2" charset="2"/>
              </a:rPr>
              <a:t></a:t>
            </a:r>
            <a:r>
              <a:rPr lang="zh-CN" altLang="zh-CN" kern="100" dirty="0">
                <a:latin typeface="+mj-ea"/>
                <a:ea typeface="+mj-ea"/>
                <a:cs typeface="Times New Roman" panose="02020603050405020304" pitchFamily="18" charset="0"/>
              </a:rPr>
              <a:t>结论</a:t>
            </a:r>
          </a:p>
        </p:txBody>
      </p:sp>
      <p:sp>
        <p:nvSpPr>
          <p:cNvPr id="4" name="标题 1">
            <a:extLst>
              <a:ext uri="{FF2B5EF4-FFF2-40B4-BE49-F238E27FC236}">
                <a16:creationId xmlns:a16="http://schemas.microsoft.com/office/drawing/2014/main" id="{D54CA653-EE6B-48AC-BE55-96886A28A867}"/>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推理：演绎推理</a:t>
            </a:r>
          </a:p>
        </p:txBody>
      </p:sp>
    </p:spTree>
    <p:extLst>
      <p:ext uri="{BB962C8B-B14F-4D97-AF65-F5344CB8AC3E}">
        <p14:creationId xmlns:p14="http://schemas.microsoft.com/office/powerpoint/2010/main" val="17642520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7E3D3C8-29FE-4F39-9883-081B6FA24DA6}"/>
              </a:ext>
            </a:extLst>
          </p:cNvPr>
          <p:cNvSpPr/>
          <p:nvPr/>
        </p:nvSpPr>
        <p:spPr>
          <a:xfrm>
            <a:off x="403860" y="1766182"/>
            <a:ext cx="8108371" cy="2958630"/>
          </a:xfrm>
          <a:prstGeom prst="rect">
            <a:avLst/>
          </a:prstGeom>
          <a:ln>
            <a:noFill/>
          </a:ln>
        </p:spPr>
        <p:txBody>
          <a:bodyPr wrap="square">
            <a:spAutoFit/>
          </a:bodyPr>
          <a:lstStyle/>
          <a:p>
            <a:pPr algn="just">
              <a:lnSpc>
                <a:spcPct val="150000"/>
              </a:lnSpc>
            </a:pPr>
            <a:r>
              <a:rPr lang="zh-CN" altLang="zh-CN" kern="100" dirty="0">
                <a:latin typeface="+mj-ea"/>
                <a:ea typeface="+mj-ea"/>
                <a:cs typeface="Times New Roman" panose="02020603050405020304" pitchFamily="18" charset="0"/>
              </a:rPr>
              <a:t>常见于</a:t>
            </a:r>
            <a:r>
              <a:rPr lang="zh-CN" altLang="zh-CN" kern="100" dirty="0">
                <a:highlight>
                  <a:srgbClr val="FFFF00"/>
                </a:highlight>
                <a:latin typeface="+mj-ea"/>
                <a:ea typeface="+mj-ea"/>
                <a:cs typeface="Times New Roman" panose="02020603050405020304" pitchFamily="18" charset="0"/>
              </a:rPr>
              <a:t>质性分析、扎根理论</a:t>
            </a:r>
            <a:r>
              <a:rPr lang="zh-CN" altLang="en-US" kern="100" dirty="0">
                <a:highlight>
                  <a:srgbClr val="FFFF00"/>
                </a:highlight>
                <a:latin typeface="+mj-ea"/>
                <a:ea typeface="+mj-ea"/>
                <a:cs typeface="Times New Roman" panose="02020603050405020304" pitchFamily="18" charset="0"/>
              </a:rPr>
              <a:t>、案例研究</a:t>
            </a:r>
            <a:r>
              <a:rPr lang="zh-CN" altLang="zh-CN" kern="100" dirty="0">
                <a:latin typeface="+mj-ea"/>
                <a:ea typeface="+mj-ea"/>
                <a:cs typeface="Times New Roman" panose="02020603050405020304" pitchFamily="18" charset="0"/>
              </a:rPr>
              <a:t>等</a:t>
            </a:r>
            <a:endParaRPr lang="en-US" altLang="zh-CN" kern="100" dirty="0">
              <a:latin typeface="+mj-ea"/>
              <a:ea typeface="+mj-ea"/>
              <a:cs typeface="Times New Roman" panose="02020603050405020304" pitchFamily="18" charset="0"/>
            </a:endParaRPr>
          </a:p>
          <a:p>
            <a:pPr algn="just">
              <a:lnSpc>
                <a:spcPct val="150000"/>
              </a:lnSpc>
            </a:pPr>
            <a:endParaRPr lang="en-US" altLang="zh-CN" kern="100" dirty="0">
              <a:latin typeface="+mj-ea"/>
              <a:ea typeface="+mj-ea"/>
              <a:cs typeface="Times New Roman" panose="02020603050405020304" pitchFamily="18" charset="0"/>
            </a:endParaRPr>
          </a:p>
          <a:p>
            <a:pPr algn="just">
              <a:lnSpc>
                <a:spcPct val="150000"/>
              </a:lnSpc>
            </a:pPr>
            <a:r>
              <a:rPr lang="zh-CN" altLang="en-US" b="1" kern="100" dirty="0">
                <a:latin typeface="+mj-ea"/>
                <a:ea typeface="+mj-ea"/>
                <a:cs typeface="Times New Roman" panose="02020603050405020304" pitchFamily="18" charset="0"/>
              </a:rPr>
              <a:t>步骤</a:t>
            </a:r>
            <a:endParaRPr lang="zh-CN" altLang="zh-CN" b="1" kern="100" dirty="0">
              <a:latin typeface="+mj-ea"/>
              <a:ea typeface="+mj-ea"/>
              <a:cs typeface="Times New Roman" panose="02020603050405020304" pitchFamily="18" charset="0"/>
            </a:endParaRPr>
          </a:p>
          <a:p>
            <a:pPr marL="342900" indent="-342900" algn="just">
              <a:lnSpc>
                <a:spcPct val="150000"/>
              </a:lnSpc>
              <a:buFont typeface="+mj-lt"/>
              <a:buAutoNum type="arabicPeriod"/>
            </a:pPr>
            <a:r>
              <a:rPr lang="zh-CN" altLang="zh-CN" kern="100" dirty="0">
                <a:latin typeface="+mj-ea"/>
                <a:ea typeface="+mj-ea"/>
                <a:cs typeface="Times New Roman" panose="02020603050405020304" pitchFamily="18" charset="0"/>
              </a:rPr>
              <a:t>分析问题</a:t>
            </a:r>
            <a:endParaRPr lang="en-US" altLang="zh-CN" kern="100" dirty="0">
              <a:latin typeface="+mj-ea"/>
              <a:ea typeface="+mj-ea"/>
              <a:cs typeface="Times New Roman" panose="02020603050405020304" pitchFamily="18" charset="0"/>
            </a:endParaRPr>
          </a:p>
          <a:p>
            <a:pPr marL="342900" indent="-342900" algn="just">
              <a:lnSpc>
                <a:spcPct val="150000"/>
              </a:lnSpc>
              <a:buFont typeface="+mj-lt"/>
              <a:buAutoNum type="arabicPeriod"/>
            </a:pPr>
            <a:r>
              <a:rPr lang="zh-CN" altLang="zh-CN" kern="100" dirty="0">
                <a:latin typeface="+mj-ea"/>
                <a:ea typeface="+mj-ea"/>
                <a:cs typeface="Times New Roman" panose="02020603050405020304" pitchFamily="18" charset="0"/>
              </a:rPr>
              <a:t>收集数据</a:t>
            </a:r>
            <a:endParaRPr lang="en-US" altLang="zh-CN" kern="100" dirty="0">
              <a:latin typeface="+mj-ea"/>
              <a:ea typeface="+mj-ea"/>
              <a:cs typeface="Times New Roman" panose="02020603050405020304" pitchFamily="18" charset="0"/>
            </a:endParaRPr>
          </a:p>
          <a:p>
            <a:pPr marL="342900" indent="-342900" algn="just">
              <a:lnSpc>
                <a:spcPct val="150000"/>
              </a:lnSpc>
              <a:buFont typeface="+mj-lt"/>
              <a:buAutoNum type="arabicPeriod"/>
            </a:pPr>
            <a:r>
              <a:rPr lang="zh-CN" altLang="zh-CN" kern="100" dirty="0">
                <a:latin typeface="+mj-ea"/>
                <a:ea typeface="+mj-ea"/>
                <a:cs typeface="Times New Roman" panose="02020603050405020304" pitchFamily="18" charset="0"/>
              </a:rPr>
              <a:t>理论提炼</a:t>
            </a:r>
            <a:endParaRPr lang="en-US" altLang="zh-CN" kern="100" dirty="0">
              <a:latin typeface="+mj-ea"/>
              <a:ea typeface="+mj-ea"/>
              <a:cs typeface="Times New Roman" panose="02020603050405020304" pitchFamily="18" charset="0"/>
            </a:endParaRPr>
          </a:p>
          <a:p>
            <a:pPr marL="342900" indent="-342900" algn="just">
              <a:lnSpc>
                <a:spcPct val="150000"/>
              </a:lnSpc>
              <a:buFont typeface="+mj-lt"/>
              <a:buAutoNum type="arabicPeriod"/>
            </a:pPr>
            <a:r>
              <a:rPr lang="zh-CN" altLang="zh-CN" kern="100" dirty="0">
                <a:latin typeface="+mj-ea"/>
                <a:ea typeface="+mj-ea"/>
                <a:cs typeface="Times New Roman" panose="02020603050405020304" pitchFamily="18" charset="0"/>
              </a:rPr>
              <a:t>研究结论</a:t>
            </a:r>
          </a:p>
        </p:txBody>
      </p:sp>
      <p:sp>
        <p:nvSpPr>
          <p:cNvPr id="3" name="矩形 2">
            <a:extLst>
              <a:ext uri="{FF2B5EF4-FFF2-40B4-BE49-F238E27FC236}">
                <a16:creationId xmlns:a16="http://schemas.microsoft.com/office/drawing/2014/main" id="{D178F6B9-A24A-461A-ADDE-979A00506B9A}"/>
              </a:ext>
            </a:extLst>
          </p:cNvPr>
          <p:cNvSpPr/>
          <p:nvPr/>
        </p:nvSpPr>
        <p:spPr>
          <a:xfrm>
            <a:off x="307571" y="1289131"/>
            <a:ext cx="5577840" cy="369332"/>
          </a:xfrm>
          <a:prstGeom prst="rect">
            <a:avLst/>
          </a:prstGeom>
        </p:spPr>
        <p:txBody>
          <a:bodyPr wrap="square">
            <a:spAutoFit/>
          </a:bodyPr>
          <a:lstStyle/>
          <a:p>
            <a:pPr algn="just"/>
            <a:r>
              <a:rPr lang="zh-CN" altLang="en-US" b="1" kern="100" dirty="0">
                <a:latin typeface="+mj-ea"/>
                <a:ea typeface="+mj-ea"/>
                <a:cs typeface="Times New Roman" panose="02020603050405020304" pitchFamily="18" charset="0"/>
              </a:rPr>
              <a:t>研究一般思路：</a:t>
            </a:r>
            <a:r>
              <a:rPr lang="zh-CN" altLang="zh-CN" kern="100" dirty="0">
                <a:latin typeface="+mj-ea"/>
                <a:ea typeface="+mj-ea"/>
                <a:cs typeface="Times New Roman" panose="02020603050405020304" pitchFamily="18" charset="0"/>
              </a:rPr>
              <a:t>问题</a:t>
            </a:r>
            <a:r>
              <a:rPr lang="en-US" altLang="zh-CN" kern="100" dirty="0">
                <a:latin typeface="+mj-ea"/>
                <a:ea typeface="+mj-ea"/>
                <a:cs typeface="Times New Roman" panose="02020603050405020304" pitchFamily="18" charset="0"/>
                <a:sym typeface="Wingdings" panose="05000000000000000000" pitchFamily="2" charset="2"/>
              </a:rPr>
              <a:t></a:t>
            </a:r>
            <a:r>
              <a:rPr lang="zh-CN" altLang="zh-CN" kern="100" dirty="0">
                <a:latin typeface="+mj-ea"/>
                <a:ea typeface="+mj-ea"/>
                <a:cs typeface="Times New Roman" panose="02020603050405020304" pitchFamily="18" charset="0"/>
              </a:rPr>
              <a:t>数据</a:t>
            </a:r>
            <a:r>
              <a:rPr lang="en-US" altLang="zh-CN" kern="100" dirty="0">
                <a:latin typeface="+mj-ea"/>
                <a:ea typeface="+mj-ea"/>
                <a:cs typeface="Times New Roman" panose="02020603050405020304" pitchFamily="18" charset="0"/>
                <a:sym typeface="Wingdings" panose="05000000000000000000" pitchFamily="2" charset="2"/>
              </a:rPr>
              <a:t></a:t>
            </a:r>
            <a:r>
              <a:rPr lang="zh-CN" altLang="zh-CN" kern="100" dirty="0">
                <a:latin typeface="+mj-ea"/>
                <a:ea typeface="+mj-ea"/>
                <a:cs typeface="Times New Roman" panose="02020603050405020304" pitchFamily="18" charset="0"/>
              </a:rPr>
              <a:t>假设</a:t>
            </a:r>
            <a:r>
              <a:rPr lang="en-US" altLang="zh-CN" kern="100" dirty="0">
                <a:latin typeface="+mj-ea"/>
                <a:ea typeface="+mj-ea"/>
                <a:cs typeface="Times New Roman" panose="02020603050405020304" pitchFamily="18" charset="0"/>
                <a:sym typeface="Wingdings" panose="05000000000000000000" pitchFamily="2" charset="2"/>
              </a:rPr>
              <a:t></a:t>
            </a:r>
            <a:r>
              <a:rPr lang="zh-CN" altLang="zh-CN" kern="100" dirty="0">
                <a:latin typeface="+mj-ea"/>
                <a:ea typeface="+mj-ea"/>
                <a:cs typeface="Times New Roman" panose="02020603050405020304" pitchFamily="18" charset="0"/>
              </a:rPr>
              <a:t>结论</a:t>
            </a:r>
          </a:p>
        </p:txBody>
      </p:sp>
      <p:sp>
        <p:nvSpPr>
          <p:cNvPr id="4" name="矩形 3">
            <a:extLst>
              <a:ext uri="{FF2B5EF4-FFF2-40B4-BE49-F238E27FC236}">
                <a16:creationId xmlns:a16="http://schemas.microsoft.com/office/drawing/2014/main" id="{68B30BF2-2965-44B3-97A2-B3F7CD2B2D06}"/>
              </a:ext>
            </a:extLst>
          </p:cNvPr>
          <p:cNvSpPr/>
          <p:nvPr/>
        </p:nvSpPr>
        <p:spPr>
          <a:xfrm>
            <a:off x="541020" y="5225506"/>
            <a:ext cx="8204662" cy="369332"/>
          </a:xfrm>
          <a:prstGeom prst="rect">
            <a:avLst/>
          </a:prstGeom>
          <a:solidFill>
            <a:schemeClr val="accent6">
              <a:lumMod val="20000"/>
              <a:lumOff val="80000"/>
            </a:schemeClr>
          </a:solidFill>
          <a:ln>
            <a:solidFill>
              <a:schemeClr val="tx1"/>
            </a:solidFill>
          </a:ln>
        </p:spPr>
        <p:txBody>
          <a:bodyPr wrap="square">
            <a:spAutoFit/>
          </a:bodyPr>
          <a:lstStyle/>
          <a:p>
            <a:pPr algn="just">
              <a:spcAft>
                <a:spcPts val="0"/>
              </a:spcAft>
            </a:pPr>
            <a:r>
              <a:rPr lang="zh-CN" altLang="zh-CN" kern="100" dirty="0">
                <a:latin typeface="+mj-ea"/>
                <a:ea typeface="+mj-ea"/>
                <a:cs typeface="Times New Roman" panose="02020603050405020304" pitchFamily="18" charset="0"/>
              </a:rPr>
              <a:t>这类研究主要是通过</a:t>
            </a:r>
            <a:r>
              <a:rPr lang="zh-CN" altLang="en-US" kern="100" dirty="0">
                <a:latin typeface="+mj-ea"/>
                <a:ea typeface="+mj-ea"/>
                <a:cs typeface="Times New Roman" panose="02020603050405020304" pitchFamily="18" charset="0"/>
              </a:rPr>
              <a:t>观察</a:t>
            </a:r>
            <a:r>
              <a:rPr lang="zh-CN" altLang="zh-CN" kern="100" dirty="0">
                <a:latin typeface="+mj-ea"/>
                <a:ea typeface="+mj-ea"/>
                <a:cs typeface="Times New Roman" panose="02020603050405020304" pitchFamily="18" charset="0"/>
              </a:rPr>
              <a:t>来归纳、总结已经发生的活动中存在的规律。</a:t>
            </a:r>
          </a:p>
        </p:txBody>
      </p:sp>
      <p:sp>
        <p:nvSpPr>
          <p:cNvPr id="5" name="标题 1">
            <a:extLst>
              <a:ext uri="{FF2B5EF4-FFF2-40B4-BE49-F238E27FC236}">
                <a16:creationId xmlns:a16="http://schemas.microsoft.com/office/drawing/2014/main" id="{D3B05375-463F-4FBC-BCD1-FF54C9C2720D}"/>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推理：归纳推理</a:t>
            </a:r>
          </a:p>
        </p:txBody>
      </p:sp>
    </p:spTree>
    <p:extLst>
      <p:ext uri="{BB962C8B-B14F-4D97-AF65-F5344CB8AC3E}">
        <p14:creationId xmlns:p14="http://schemas.microsoft.com/office/powerpoint/2010/main" val="842842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678768E-40F8-49EF-837C-22BA94E8A090}"/>
              </a:ext>
            </a:extLst>
          </p:cNvPr>
          <p:cNvSpPr/>
          <p:nvPr/>
        </p:nvSpPr>
        <p:spPr>
          <a:xfrm>
            <a:off x="391389" y="1629022"/>
            <a:ext cx="8204661" cy="3374129"/>
          </a:xfrm>
          <a:prstGeom prst="rect">
            <a:avLst/>
          </a:prstGeom>
          <a:ln>
            <a:noFill/>
          </a:ln>
        </p:spPr>
        <p:txBody>
          <a:bodyPr wrap="square">
            <a:spAutoFit/>
          </a:bodyPr>
          <a:lstStyle/>
          <a:p>
            <a:pPr algn="just">
              <a:lnSpc>
                <a:spcPct val="150000"/>
              </a:lnSpc>
            </a:pPr>
            <a:r>
              <a:rPr lang="zh-CN" altLang="zh-CN" kern="100" dirty="0">
                <a:latin typeface="+mj-ea"/>
                <a:ea typeface="+mj-ea"/>
                <a:cs typeface="Times New Roman" panose="02020603050405020304" pitchFamily="18" charset="0"/>
              </a:rPr>
              <a:t>常见于</a:t>
            </a:r>
            <a:r>
              <a:rPr lang="zh-CN" altLang="en-US" kern="100" dirty="0">
                <a:latin typeface="+mj-ea"/>
                <a:ea typeface="+mj-ea"/>
                <a:cs typeface="Times New Roman" panose="02020603050405020304" pitchFamily="18" charset="0"/>
              </a:rPr>
              <a:t>设计科学研究</a:t>
            </a:r>
            <a:r>
              <a:rPr lang="zh-CN" altLang="zh-CN" kern="100" dirty="0">
                <a:latin typeface="+mj-ea"/>
                <a:ea typeface="+mj-ea"/>
                <a:cs typeface="Times New Roman" panose="02020603050405020304" pitchFamily="18" charset="0"/>
              </a:rPr>
              <a:t>等</a:t>
            </a:r>
            <a:endParaRPr lang="en-US" altLang="zh-CN" kern="100" dirty="0">
              <a:latin typeface="+mj-ea"/>
              <a:ea typeface="+mj-ea"/>
              <a:cs typeface="Times New Roman" panose="02020603050405020304" pitchFamily="18" charset="0"/>
            </a:endParaRPr>
          </a:p>
          <a:p>
            <a:pPr algn="just">
              <a:lnSpc>
                <a:spcPct val="150000"/>
              </a:lnSpc>
            </a:pPr>
            <a:endParaRPr lang="en-US" altLang="zh-CN" kern="100" dirty="0">
              <a:latin typeface="+mj-ea"/>
              <a:ea typeface="+mj-ea"/>
              <a:cs typeface="Times New Roman" panose="02020603050405020304" pitchFamily="18" charset="0"/>
            </a:endParaRPr>
          </a:p>
          <a:p>
            <a:pPr algn="just">
              <a:lnSpc>
                <a:spcPct val="150000"/>
              </a:lnSpc>
            </a:pPr>
            <a:r>
              <a:rPr lang="zh-CN" altLang="en-US" b="1" kern="100" dirty="0">
                <a:latin typeface="+mj-ea"/>
                <a:ea typeface="+mj-ea"/>
                <a:cs typeface="Times New Roman" panose="02020603050405020304" pitchFamily="18" charset="0"/>
              </a:rPr>
              <a:t>步骤</a:t>
            </a:r>
            <a:endParaRPr lang="zh-CN" altLang="zh-CN" b="1" kern="100" dirty="0">
              <a:latin typeface="+mj-ea"/>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基于</a:t>
            </a:r>
            <a:r>
              <a:rPr lang="en-US" altLang="zh-CN" kern="100" dirty="0">
                <a:latin typeface="+mj-ea"/>
                <a:ea typeface="+mj-ea"/>
                <a:cs typeface="Times New Roman" panose="02020603050405020304" pitchFamily="18" charset="0"/>
              </a:rPr>
              <a:t>A</a:t>
            </a:r>
            <a:r>
              <a:rPr lang="zh-CN" altLang="zh-CN" kern="100" dirty="0">
                <a:latin typeface="+mj-ea"/>
                <a:ea typeface="+mj-ea"/>
                <a:cs typeface="Times New Roman" panose="02020603050405020304" pitchFamily="18" charset="0"/>
              </a:rPr>
              <a:t>理论，采用</a:t>
            </a:r>
            <a:r>
              <a:rPr lang="en-US" altLang="zh-CN" kern="100" dirty="0">
                <a:latin typeface="+mj-ea"/>
                <a:ea typeface="+mj-ea"/>
                <a:cs typeface="Times New Roman" panose="02020603050405020304" pitchFamily="18" charset="0"/>
              </a:rPr>
              <a:t>M</a:t>
            </a:r>
            <a:r>
              <a:rPr lang="zh-CN" altLang="zh-CN" kern="100" dirty="0">
                <a:latin typeface="+mj-ea"/>
                <a:ea typeface="+mj-ea"/>
                <a:cs typeface="Times New Roman" panose="02020603050405020304" pitchFamily="18" charset="0"/>
              </a:rPr>
              <a:t>方法，期待将问题从</a:t>
            </a:r>
            <a:r>
              <a:rPr lang="en-US" altLang="zh-CN" kern="100" dirty="0">
                <a:latin typeface="+mj-ea"/>
                <a:ea typeface="+mj-ea"/>
                <a:cs typeface="Times New Roman" panose="02020603050405020304" pitchFamily="18" charset="0"/>
              </a:rPr>
              <a:t>B</a:t>
            </a:r>
            <a:r>
              <a:rPr lang="zh-CN" altLang="zh-CN" kern="100" dirty="0">
                <a:latin typeface="+mj-ea"/>
                <a:ea typeface="+mj-ea"/>
                <a:cs typeface="Times New Roman" panose="02020603050405020304" pitchFamily="18" charset="0"/>
              </a:rPr>
              <a:t>达到</a:t>
            </a:r>
            <a:r>
              <a:rPr lang="en-US" altLang="zh-CN" kern="100" dirty="0">
                <a:latin typeface="+mj-ea"/>
                <a:ea typeface="+mj-ea"/>
                <a:cs typeface="Times New Roman" panose="02020603050405020304" pitchFamily="18" charset="0"/>
              </a:rPr>
              <a:t>B*</a:t>
            </a:r>
            <a:r>
              <a:rPr lang="zh-CN" altLang="zh-CN" kern="100" dirty="0">
                <a:latin typeface="+mj-ea"/>
                <a:ea typeface="+mj-ea"/>
                <a:cs typeface="Times New Roman" panose="02020603050405020304" pitchFamily="18" charset="0"/>
              </a:rPr>
              <a:t>点</a:t>
            </a:r>
            <a:endParaRPr lang="en-US" altLang="zh-CN" kern="100" dirty="0">
              <a:latin typeface="+mj-ea"/>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当实现了</a:t>
            </a:r>
            <a:r>
              <a:rPr lang="en-US" altLang="zh-CN" kern="100" dirty="0">
                <a:latin typeface="+mj-ea"/>
                <a:ea typeface="+mj-ea"/>
                <a:cs typeface="Times New Roman" panose="02020603050405020304" pitchFamily="18" charset="0"/>
              </a:rPr>
              <a:t>B*</a:t>
            </a:r>
            <a:r>
              <a:rPr lang="zh-CN" altLang="zh-CN" kern="100" dirty="0">
                <a:latin typeface="+mj-ea"/>
                <a:ea typeface="+mj-ea"/>
                <a:cs typeface="Times New Roman" panose="02020603050405020304" pitchFamily="18" charset="0"/>
              </a:rPr>
              <a:t>点，意味着设计假设是成立的</a:t>
            </a:r>
            <a:endParaRPr lang="en-US" altLang="zh-CN" kern="100" dirty="0">
              <a:latin typeface="+mj-ea"/>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也会出现</a:t>
            </a:r>
            <a:r>
              <a:rPr lang="en-US" altLang="zh-CN" kern="100" dirty="0">
                <a:latin typeface="+mj-ea"/>
                <a:ea typeface="+mj-ea"/>
                <a:cs typeface="Times New Roman" panose="02020603050405020304" pitchFamily="18" charset="0"/>
              </a:rPr>
              <a:t>B**</a:t>
            </a:r>
            <a:r>
              <a:rPr lang="zh-CN" altLang="zh-CN" kern="100" dirty="0">
                <a:latin typeface="+mj-ea"/>
                <a:ea typeface="+mj-ea"/>
                <a:cs typeface="Times New Roman" panose="02020603050405020304" pitchFamily="18" charset="0"/>
              </a:rPr>
              <a:t>，</a:t>
            </a:r>
            <a:endParaRPr lang="en-US" altLang="zh-CN" kern="100" dirty="0">
              <a:latin typeface="+mj-ea"/>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引发</a:t>
            </a:r>
            <a:r>
              <a:rPr lang="zh-CN" altLang="en-US" b="1" kern="100" dirty="0">
                <a:latin typeface="+mj-ea"/>
                <a:ea typeface="+mj-ea"/>
                <a:cs typeface="Times New Roman" panose="02020603050405020304" pitchFamily="18" charset="0"/>
              </a:rPr>
              <a:t>溯因</a:t>
            </a:r>
            <a:r>
              <a:rPr lang="zh-CN" altLang="zh-CN" kern="100" dirty="0">
                <a:latin typeface="+mj-ea"/>
                <a:ea typeface="+mj-ea"/>
                <a:cs typeface="Times New Roman" panose="02020603050405020304" pitchFamily="18" charset="0"/>
              </a:rPr>
              <a:t>推理，需要重新思考理论</a:t>
            </a:r>
            <a:r>
              <a:rPr lang="en-US" altLang="zh-CN" kern="100" dirty="0">
                <a:latin typeface="+mj-ea"/>
                <a:ea typeface="+mj-ea"/>
                <a:cs typeface="Times New Roman" panose="02020603050405020304" pitchFamily="18" charset="0"/>
              </a:rPr>
              <a:t>A</a:t>
            </a:r>
            <a:r>
              <a:rPr lang="zh-CN" altLang="zh-CN" kern="100" dirty="0">
                <a:latin typeface="+mj-ea"/>
                <a:ea typeface="+mj-ea"/>
                <a:cs typeface="Times New Roman" panose="02020603050405020304" pitchFamily="18" charset="0"/>
              </a:rPr>
              <a:t>、方法</a:t>
            </a:r>
            <a:r>
              <a:rPr lang="en-US" altLang="zh-CN" kern="100" dirty="0">
                <a:latin typeface="+mj-ea"/>
                <a:ea typeface="+mj-ea"/>
                <a:cs typeface="Times New Roman" panose="02020603050405020304" pitchFamily="18" charset="0"/>
              </a:rPr>
              <a:t>M</a:t>
            </a:r>
            <a:r>
              <a:rPr lang="zh-CN" altLang="zh-CN" kern="100" dirty="0">
                <a:latin typeface="+mj-ea"/>
                <a:ea typeface="+mj-ea"/>
                <a:cs typeface="Times New Roman" panose="02020603050405020304" pitchFamily="18" charset="0"/>
              </a:rPr>
              <a:t>以及所处环境。</a:t>
            </a:r>
            <a:endParaRPr lang="en-US" altLang="zh-CN" kern="100" dirty="0">
              <a:latin typeface="+mj-ea"/>
              <a:ea typeface="+mj-ea"/>
              <a:cs typeface="Times New Roman" panose="02020603050405020304" pitchFamily="18" charset="0"/>
            </a:endParaRPr>
          </a:p>
          <a:p>
            <a:pPr marL="285750" indent="-285750" algn="just">
              <a:lnSpc>
                <a:spcPct val="150000"/>
              </a:lnSpc>
              <a:buFont typeface="Arial" panose="020B0604020202020204" pitchFamily="34" charset="0"/>
              <a:buChar char="•"/>
            </a:pPr>
            <a:r>
              <a:rPr lang="zh-CN" altLang="zh-CN" kern="100" dirty="0">
                <a:latin typeface="+mj-ea"/>
                <a:ea typeface="+mj-ea"/>
                <a:cs typeface="Times New Roman" panose="02020603050405020304" pitchFamily="18" charset="0"/>
              </a:rPr>
              <a:t>提出新理论。</a:t>
            </a:r>
          </a:p>
        </p:txBody>
      </p:sp>
      <p:sp>
        <p:nvSpPr>
          <p:cNvPr id="3" name="矩形 2">
            <a:extLst>
              <a:ext uri="{FF2B5EF4-FFF2-40B4-BE49-F238E27FC236}">
                <a16:creationId xmlns:a16="http://schemas.microsoft.com/office/drawing/2014/main" id="{86D58403-68C4-4821-BF8F-E921CB3C8FBF}"/>
              </a:ext>
            </a:extLst>
          </p:cNvPr>
          <p:cNvSpPr/>
          <p:nvPr/>
        </p:nvSpPr>
        <p:spPr>
          <a:xfrm>
            <a:off x="391390" y="1151971"/>
            <a:ext cx="6766560" cy="369332"/>
          </a:xfrm>
          <a:prstGeom prst="rect">
            <a:avLst/>
          </a:prstGeom>
        </p:spPr>
        <p:txBody>
          <a:bodyPr wrap="square">
            <a:spAutoFit/>
          </a:bodyPr>
          <a:lstStyle/>
          <a:p>
            <a:pPr algn="just"/>
            <a:r>
              <a:rPr lang="zh-CN" altLang="en-US" b="1" kern="100" dirty="0">
                <a:latin typeface="+mj-ea"/>
                <a:ea typeface="+mj-ea"/>
                <a:cs typeface="Times New Roman" panose="02020603050405020304" pitchFamily="18" charset="0"/>
              </a:rPr>
              <a:t>研究一般思路：</a:t>
            </a:r>
            <a:r>
              <a:rPr lang="zh-CN" altLang="zh-CN" kern="100" dirty="0">
                <a:latin typeface="+mj-ea"/>
                <a:ea typeface="+mj-ea"/>
                <a:cs typeface="Times New Roman" panose="02020603050405020304" pitchFamily="18" charset="0"/>
              </a:rPr>
              <a:t>问题</a:t>
            </a:r>
            <a:r>
              <a:rPr lang="en-US" altLang="zh-CN" kern="100" dirty="0">
                <a:latin typeface="+mj-ea"/>
                <a:ea typeface="+mj-ea"/>
                <a:cs typeface="Times New Roman" panose="02020603050405020304" pitchFamily="18" charset="0"/>
                <a:sym typeface="Wingdings" panose="05000000000000000000" pitchFamily="2" charset="2"/>
              </a:rPr>
              <a:t></a:t>
            </a:r>
            <a:r>
              <a:rPr lang="zh-CN" altLang="zh-CN" kern="100" dirty="0">
                <a:latin typeface="+mj-ea"/>
                <a:ea typeface="+mj-ea"/>
                <a:cs typeface="Times New Roman" panose="02020603050405020304" pitchFamily="18" charset="0"/>
              </a:rPr>
              <a:t>设计假设</a:t>
            </a:r>
            <a:r>
              <a:rPr lang="en-US" altLang="zh-CN" kern="100" dirty="0">
                <a:latin typeface="+mj-ea"/>
                <a:ea typeface="+mj-ea"/>
                <a:cs typeface="Times New Roman" panose="02020603050405020304" pitchFamily="18" charset="0"/>
                <a:sym typeface="Wingdings" panose="05000000000000000000" pitchFamily="2" charset="2"/>
              </a:rPr>
              <a:t></a:t>
            </a:r>
            <a:r>
              <a:rPr lang="zh-CN" altLang="zh-CN" kern="100" dirty="0">
                <a:latin typeface="+mj-ea"/>
                <a:ea typeface="+mj-ea"/>
                <a:cs typeface="Times New Roman" panose="02020603050405020304" pitchFamily="18" charset="0"/>
              </a:rPr>
              <a:t>评估</a:t>
            </a:r>
            <a:r>
              <a:rPr lang="en-US" altLang="zh-CN" kern="100" dirty="0">
                <a:latin typeface="+mj-ea"/>
                <a:ea typeface="+mj-ea"/>
                <a:cs typeface="Times New Roman" panose="02020603050405020304" pitchFamily="18" charset="0"/>
                <a:sym typeface="Wingdings" panose="05000000000000000000" pitchFamily="2" charset="2"/>
              </a:rPr>
              <a:t></a:t>
            </a:r>
            <a:r>
              <a:rPr lang="zh-CN" altLang="zh-CN" kern="100" dirty="0">
                <a:latin typeface="+mj-ea"/>
                <a:ea typeface="+mj-ea"/>
                <a:cs typeface="Times New Roman" panose="02020603050405020304" pitchFamily="18" charset="0"/>
              </a:rPr>
              <a:t>再调整设计理论</a:t>
            </a:r>
          </a:p>
        </p:txBody>
      </p:sp>
      <p:sp>
        <p:nvSpPr>
          <p:cNvPr id="5" name="标题 1">
            <a:extLst>
              <a:ext uri="{FF2B5EF4-FFF2-40B4-BE49-F238E27FC236}">
                <a16:creationId xmlns:a16="http://schemas.microsoft.com/office/drawing/2014/main" id="{01BBB78C-02F6-48C1-9BA1-2ECED1474A03}"/>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推理：溯因推理</a:t>
            </a:r>
          </a:p>
        </p:txBody>
      </p:sp>
    </p:spTree>
    <p:extLst>
      <p:ext uri="{BB962C8B-B14F-4D97-AF65-F5344CB8AC3E}">
        <p14:creationId xmlns:p14="http://schemas.microsoft.com/office/powerpoint/2010/main" val="9881491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a:extLst>
              <a:ext uri="{FF2B5EF4-FFF2-40B4-BE49-F238E27FC236}">
                <a16:creationId xmlns:a16="http://schemas.microsoft.com/office/drawing/2014/main" id="{351FF1D1-7F4E-4D18-B361-E5C76FCDBB4C}"/>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研究方法：类型</a:t>
            </a:r>
          </a:p>
        </p:txBody>
      </p:sp>
      <p:graphicFrame>
        <p:nvGraphicFramePr>
          <p:cNvPr id="4" name="表格 3">
            <a:extLst>
              <a:ext uri="{FF2B5EF4-FFF2-40B4-BE49-F238E27FC236}">
                <a16:creationId xmlns:a16="http://schemas.microsoft.com/office/drawing/2014/main" id="{B8510A4F-EB90-49E2-B40C-8DEC6895767F}"/>
              </a:ext>
            </a:extLst>
          </p:cNvPr>
          <p:cNvGraphicFramePr>
            <a:graphicFrameLocks noGrp="1"/>
          </p:cNvGraphicFramePr>
          <p:nvPr>
            <p:extLst>
              <p:ext uri="{D42A27DB-BD31-4B8C-83A1-F6EECF244321}">
                <p14:modId xmlns:p14="http://schemas.microsoft.com/office/powerpoint/2010/main" val="2821707876"/>
              </p:ext>
            </p:extLst>
          </p:nvPr>
        </p:nvGraphicFramePr>
        <p:xfrm>
          <a:off x="307570" y="1317064"/>
          <a:ext cx="11405061" cy="4406751"/>
        </p:xfrm>
        <a:graphic>
          <a:graphicData uri="http://schemas.openxmlformats.org/drawingml/2006/table">
            <a:tbl>
              <a:tblPr firstRow="1" firstCol="1" bandRow="1">
                <a:tableStyleId>{5C22544A-7EE6-4342-B048-85BDC9FD1C3A}</a:tableStyleId>
              </a:tblPr>
              <a:tblGrid>
                <a:gridCol w="1014560">
                  <a:extLst>
                    <a:ext uri="{9D8B030D-6E8A-4147-A177-3AD203B41FA5}">
                      <a16:colId xmlns:a16="http://schemas.microsoft.com/office/drawing/2014/main" val="1875286400"/>
                    </a:ext>
                  </a:extLst>
                </a:gridCol>
                <a:gridCol w="1371193">
                  <a:extLst>
                    <a:ext uri="{9D8B030D-6E8A-4147-A177-3AD203B41FA5}">
                      <a16:colId xmlns:a16="http://schemas.microsoft.com/office/drawing/2014/main" val="2633651098"/>
                    </a:ext>
                  </a:extLst>
                </a:gridCol>
                <a:gridCol w="1604357">
                  <a:extLst>
                    <a:ext uri="{9D8B030D-6E8A-4147-A177-3AD203B41FA5}">
                      <a16:colId xmlns:a16="http://schemas.microsoft.com/office/drawing/2014/main" val="2499474398"/>
                    </a:ext>
                  </a:extLst>
                </a:gridCol>
                <a:gridCol w="1987705">
                  <a:extLst>
                    <a:ext uri="{9D8B030D-6E8A-4147-A177-3AD203B41FA5}">
                      <a16:colId xmlns:a16="http://schemas.microsoft.com/office/drawing/2014/main" val="1901698108"/>
                    </a:ext>
                  </a:extLst>
                </a:gridCol>
                <a:gridCol w="2143720">
                  <a:extLst>
                    <a:ext uri="{9D8B030D-6E8A-4147-A177-3AD203B41FA5}">
                      <a16:colId xmlns:a16="http://schemas.microsoft.com/office/drawing/2014/main" val="3467222752"/>
                    </a:ext>
                  </a:extLst>
                </a:gridCol>
                <a:gridCol w="1670858">
                  <a:extLst>
                    <a:ext uri="{9D8B030D-6E8A-4147-A177-3AD203B41FA5}">
                      <a16:colId xmlns:a16="http://schemas.microsoft.com/office/drawing/2014/main" val="2591302878"/>
                    </a:ext>
                  </a:extLst>
                </a:gridCol>
                <a:gridCol w="1612668">
                  <a:extLst>
                    <a:ext uri="{9D8B030D-6E8A-4147-A177-3AD203B41FA5}">
                      <a16:colId xmlns:a16="http://schemas.microsoft.com/office/drawing/2014/main" val="2237372894"/>
                    </a:ext>
                  </a:extLst>
                </a:gridCol>
              </a:tblGrid>
              <a:tr h="198651">
                <a:tc>
                  <a:txBody>
                    <a:bodyPr/>
                    <a:lstStyle/>
                    <a:p>
                      <a:pPr algn="ctr">
                        <a:spcAft>
                          <a:spcPts val="0"/>
                        </a:spcAft>
                      </a:pPr>
                      <a:r>
                        <a:rPr lang="en-US" sz="2000" kern="100" dirty="0">
                          <a:effectLst/>
                          <a:latin typeface="+mj-ea"/>
                          <a:ea typeface="+mj-ea"/>
                        </a:rPr>
                        <a:t> </a:t>
                      </a:r>
                      <a:endParaRPr lang="zh-CN" sz="2000" kern="100" dirty="0">
                        <a:effectLst/>
                        <a:latin typeface="+mj-ea"/>
                        <a:ea typeface="+mj-ea"/>
                        <a:cs typeface="Times New Roman" panose="02020603050405020304" pitchFamily="18" charset="0"/>
                      </a:endParaRPr>
                    </a:p>
                  </a:txBody>
                  <a:tcPr marL="53065" marR="53065" marT="0" marB="0"/>
                </a:tc>
                <a:tc>
                  <a:txBody>
                    <a:bodyPr/>
                    <a:lstStyle/>
                    <a:p>
                      <a:pPr algn="ctr">
                        <a:spcAft>
                          <a:spcPts val="0"/>
                        </a:spcAft>
                      </a:pPr>
                      <a:r>
                        <a:rPr lang="zh-CN" sz="2000" kern="100" dirty="0">
                          <a:effectLst/>
                          <a:latin typeface="+mj-ea"/>
                          <a:ea typeface="+mj-ea"/>
                        </a:rPr>
                        <a:t>问卷调查</a:t>
                      </a:r>
                      <a:endParaRPr lang="zh-CN" sz="2000" kern="100" dirty="0">
                        <a:effectLst/>
                        <a:latin typeface="+mj-ea"/>
                        <a:ea typeface="+mj-ea"/>
                        <a:cs typeface="Times New Roman" panose="02020603050405020304" pitchFamily="18" charset="0"/>
                      </a:endParaRPr>
                    </a:p>
                  </a:txBody>
                  <a:tcPr marL="53065" marR="53065" marT="0" marB="0"/>
                </a:tc>
                <a:tc>
                  <a:txBody>
                    <a:bodyPr/>
                    <a:lstStyle/>
                    <a:p>
                      <a:pPr algn="ctr">
                        <a:spcAft>
                          <a:spcPts val="0"/>
                        </a:spcAft>
                      </a:pPr>
                      <a:r>
                        <a:rPr lang="zh-CN" sz="2000" kern="100" dirty="0">
                          <a:effectLst/>
                          <a:latin typeface="+mj-ea"/>
                          <a:ea typeface="+mj-ea"/>
                        </a:rPr>
                        <a:t>案例调查</a:t>
                      </a:r>
                      <a:endParaRPr lang="zh-CN" sz="2000" kern="100" dirty="0">
                        <a:effectLst/>
                        <a:latin typeface="+mj-ea"/>
                        <a:ea typeface="+mj-ea"/>
                        <a:cs typeface="Times New Roman" panose="02020603050405020304" pitchFamily="18" charset="0"/>
                      </a:endParaRPr>
                    </a:p>
                  </a:txBody>
                  <a:tcPr marL="53065" marR="53065" marT="0" marB="0"/>
                </a:tc>
                <a:tc>
                  <a:txBody>
                    <a:bodyPr/>
                    <a:lstStyle/>
                    <a:p>
                      <a:pPr algn="ctr">
                        <a:spcAft>
                          <a:spcPts val="0"/>
                        </a:spcAft>
                      </a:pPr>
                      <a:r>
                        <a:rPr lang="zh-CN" sz="2000" kern="100" dirty="0">
                          <a:effectLst/>
                          <a:latin typeface="+mj-ea"/>
                          <a:ea typeface="+mj-ea"/>
                        </a:rPr>
                        <a:t>访谈</a:t>
                      </a:r>
                      <a:endParaRPr lang="zh-CN" sz="2000" kern="100" dirty="0">
                        <a:effectLst/>
                        <a:latin typeface="+mj-ea"/>
                        <a:ea typeface="+mj-ea"/>
                        <a:cs typeface="Times New Roman" panose="02020603050405020304" pitchFamily="18" charset="0"/>
                      </a:endParaRPr>
                    </a:p>
                  </a:txBody>
                  <a:tcPr marL="53065" marR="53065" marT="0" marB="0"/>
                </a:tc>
                <a:tc>
                  <a:txBody>
                    <a:bodyPr/>
                    <a:lstStyle/>
                    <a:p>
                      <a:pPr algn="ctr">
                        <a:spcAft>
                          <a:spcPts val="0"/>
                        </a:spcAft>
                      </a:pPr>
                      <a:r>
                        <a:rPr lang="zh-CN" sz="2000" kern="100" dirty="0">
                          <a:effectLst/>
                          <a:latin typeface="+mj-ea"/>
                          <a:ea typeface="+mj-ea"/>
                        </a:rPr>
                        <a:t>小组讨论</a:t>
                      </a:r>
                      <a:endParaRPr lang="zh-CN" sz="2000" kern="100" dirty="0">
                        <a:effectLst/>
                        <a:latin typeface="+mj-ea"/>
                        <a:ea typeface="+mj-ea"/>
                        <a:cs typeface="Times New Roman" panose="02020603050405020304" pitchFamily="18" charset="0"/>
                      </a:endParaRPr>
                    </a:p>
                  </a:txBody>
                  <a:tcPr marL="53065" marR="53065" marT="0" marB="0"/>
                </a:tc>
                <a:tc>
                  <a:txBody>
                    <a:bodyPr/>
                    <a:lstStyle/>
                    <a:p>
                      <a:pPr algn="ctr">
                        <a:spcAft>
                          <a:spcPts val="0"/>
                        </a:spcAft>
                      </a:pPr>
                      <a:r>
                        <a:rPr lang="zh-CN" sz="2000" kern="100" dirty="0">
                          <a:effectLst/>
                          <a:latin typeface="+mj-ea"/>
                          <a:ea typeface="+mj-ea"/>
                        </a:rPr>
                        <a:t>观察</a:t>
                      </a:r>
                      <a:endParaRPr lang="zh-CN" sz="2000" kern="100" dirty="0">
                        <a:effectLst/>
                        <a:latin typeface="+mj-ea"/>
                        <a:ea typeface="+mj-ea"/>
                        <a:cs typeface="Times New Roman" panose="02020603050405020304" pitchFamily="18" charset="0"/>
                      </a:endParaRPr>
                    </a:p>
                  </a:txBody>
                  <a:tcPr marL="53065" marR="53065" marT="0" marB="0"/>
                </a:tc>
                <a:tc>
                  <a:txBody>
                    <a:bodyPr/>
                    <a:lstStyle/>
                    <a:p>
                      <a:pPr algn="ctr">
                        <a:spcAft>
                          <a:spcPts val="0"/>
                        </a:spcAft>
                      </a:pPr>
                      <a:r>
                        <a:rPr lang="zh-CN" sz="2000" kern="100" dirty="0">
                          <a:effectLst/>
                          <a:latin typeface="+mj-ea"/>
                          <a:ea typeface="+mj-ea"/>
                        </a:rPr>
                        <a:t>文档资料</a:t>
                      </a:r>
                      <a:endParaRPr lang="zh-CN" sz="2000" kern="100" dirty="0">
                        <a:effectLst/>
                        <a:latin typeface="+mj-ea"/>
                        <a:ea typeface="+mj-ea"/>
                        <a:cs typeface="Times New Roman" panose="02020603050405020304" pitchFamily="18" charset="0"/>
                      </a:endParaRPr>
                    </a:p>
                  </a:txBody>
                  <a:tcPr marL="53065" marR="53065" marT="0" marB="0"/>
                </a:tc>
                <a:extLst>
                  <a:ext uri="{0D108BD9-81ED-4DB2-BD59-A6C34878D82A}">
                    <a16:rowId xmlns:a16="http://schemas.microsoft.com/office/drawing/2014/main" val="383910890"/>
                  </a:ext>
                </a:extLst>
              </a:tr>
              <a:tr h="794603">
                <a:tc>
                  <a:txBody>
                    <a:bodyPr/>
                    <a:lstStyle/>
                    <a:p>
                      <a:pPr algn="l">
                        <a:spcAft>
                          <a:spcPts val="0"/>
                        </a:spcAft>
                      </a:pPr>
                      <a:r>
                        <a:rPr lang="zh-CN" sz="2000" kern="100" dirty="0">
                          <a:effectLst/>
                          <a:latin typeface="+mj-ea"/>
                          <a:ea typeface="+mj-ea"/>
                        </a:rPr>
                        <a:t>描述</a:t>
                      </a:r>
                      <a:endParaRPr lang="zh-CN" sz="2000" kern="100" dirty="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a:effectLst/>
                          <a:latin typeface="+mj-ea"/>
                          <a:ea typeface="+mj-ea"/>
                        </a:rPr>
                        <a:t>采用问卷进行抽样调查</a:t>
                      </a:r>
                      <a:endParaRPr lang="zh-CN" sz="1600" kern="10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a:effectLst/>
                          <a:latin typeface="+mj-ea"/>
                          <a:ea typeface="+mj-ea"/>
                        </a:rPr>
                        <a:t>对案例发展过程进行深入剖析</a:t>
                      </a:r>
                      <a:endParaRPr lang="zh-CN" sz="1600" kern="10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a:effectLst/>
                          <a:latin typeface="+mj-ea"/>
                          <a:ea typeface="+mj-ea"/>
                        </a:rPr>
                        <a:t>对主题深入的信息和评论</a:t>
                      </a:r>
                      <a:endParaRPr lang="zh-CN" sz="1600" kern="10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a:effectLst/>
                          <a:latin typeface="+mj-ea"/>
                          <a:ea typeface="+mj-ea"/>
                        </a:rPr>
                        <a:t>多人就某主题的小组讨论</a:t>
                      </a:r>
                      <a:endParaRPr lang="zh-CN" sz="1600" kern="10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a:effectLst/>
                          <a:latin typeface="+mj-ea"/>
                          <a:ea typeface="+mj-ea"/>
                        </a:rPr>
                        <a:t>进入实践现场观察</a:t>
                      </a:r>
                      <a:endParaRPr lang="zh-CN" sz="1600" kern="10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a:effectLst/>
                          <a:latin typeface="+mj-ea"/>
                          <a:ea typeface="+mj-ea"/>
                        </a:rPr>
                        <a:t>项目资料、文献资料等档案资料</a:t>
                      </a:r>
                      <a:endParaRPr lang="zh-CN" sz="1600" kern="100">
                        <a:effectLst/>
                        <a:latin typeface="+mj-ea"/>
                        <a:ea typeface="+mj-ea"/>
                        <a:cs typeface="Times New Roman" panose="02020603050405020304" pitchFamily="18" charset="0"/>
                      </a:endParaRPr>
                    </a:p>
                  </a:txBody>
                  <a:tcPr marL="53065" marR="53065" marT="0" marB="0"/>
                </a:tc>
                <a:extLst>
                  <a:ext uri="{0D108BD9-81ED-4DB2-BD59-A6C34878D82A}">
                    <a16:rowId xmlns:a16="http://schemas.microsoft.com/office/drawing/2014/main" val="2917345413"/>
                  </a:ext>
                </a:extLst>
              </a:tr>
              <a:tr h="397301">
                <a:tc>
                  <a:txBody>
                    <a:bodyPr/>
                    <a:lstStyle/>
                    <a:p>
                      <a:pPr algn="l">
                        <a:spcAft>
                          <a:spcPts val="0"/>
                        </a:spcAft>
                      </a:pPr>
                      <a:r>
                        <a:rPr lang="zh-CN" sz="2000" kern="100">
                          <a:effectLst/>
                          <a:latin typeface="+mj-ea"/>
                          <a:ea typeface="+mj-ea"/>
                        </a:rPr>
                        <a:t>问题类型</a:t>
                      </a:r>
                      <a:endParaRPr lang="zh-CN" sz="2000" kern="10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a:effectLst/>
                          <a:latin typeface="+mj-ea"/>
                          <a:ea typeface="+mj-ea"/>
                        </a:rPr>
                        <a:t>是什么，怎么样</a:t>
                      </a:r>
                      <a:endParaRPr lang="zh-CN" sz="1600" kern="10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a:effectLst/>
                          <a:latin typeface="+mj-ea"/>
                          <a:ea typeface="+mj-ea"/>
                        </a:rPr>
                        <a:t>为什么、怎样、什么时候</a:t>
                      </a:r>
                      <a:endParaRPr lang="zh-CN" sz="1600" kern="10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a:effectLst/>
                          <a:latin typeface="+mj-ea"/>
                          <a:ea typeface="+mj-ea"/>
                        </a:rPr>
                        <a:t>为什么、怎么样</a:t>
                      </a:r>
                      <a:endParaRPr lang="zh-CN" sz="1600" kern="10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a:effectLst/>
                          <a:latin typeface="+mj-ea"/>
                          <a:ea typeface="+mj-ea"/>
                        </a:rPr>
                        <a:t>为什么、怎么样</a:t>
                      </a:r>
                      <a:endParaRPr lang="zh-CN" sz="1600" kern="10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a:effectLst/>
                          <a:latin typeface="+mj-ea"/>
                          <a:ea typeface="+mj-ea"/>
                        </a:rPr>
                        <a:t>是什么</a:t>
                      </a:r>
                      <a:endParaRPr lang="zh-CN" sz="1600" kern="10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dirty="0">
                          <a:effectLst/>
                          <a:latin typeface="+mj-ea"/>
                          <a:ea typeface="+mj-ea"/>
                        </a:rPr>
                        <a:t>是什么</a:t>
                      </a:r>
                      <a:endParaRPr lang="zh-CN" sz="1600" kern="100" dirty="0">
                        <a:effectLst/>
                        <a:latin typeface="+mj-ea"/>
                        <a:ea typeface="+mj-ea"/>
                        <a:cs typeface="Times New Roman" panose="02020603050405020304" pitchFamily="18" charset="0"/>
                      </a:endParaRPr>
                    </a:p>
                  </a:txBody>
                  <a:tcPr marL="53065" marR="53065" marT="0" marB="0"/>
                </a:tc>
                <a:extLst>
                  <a:ext uri="{0D108BD9-81ED-4DB2-BD59-A6C34878D82A}">
                    <a16:rowId xmlns:a16="http://schemas.microsoft.com/office/drawing/2014/main" val="2069189761"/>
                  </a:ext>
                </a:extLst>
              </a:tr>
              <a:tr h="1505844">
                <a:tc>
                  <a:txBody>
                    <a:bodyPr/>
                    <a:lstStyle/>
                    <a:p>
                      <a:pPr algn="l">
                        <a:spcAft>
                          <a:spcPts val="0"/>
                        </a:spcAft>
                      </a:pPr>
                      <a:r>
                        <a:rPr lang="zh-CN" sz="2000" kern="100">
                          <a:effectLst/>
                          <a:latin typeface="+mj-ea"/>
                          <a:ea typeface="+mj-ea"/>
                        </a:rPr>
                        <a:t>优势</a:t>
                      </a:r>
                      <a:endParaRPr lang="zh-CN" sz="2000" kern="10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a:effectLst/>
                          <a:latin typeface="+mj-ea"/>
                          <a:ea typeface="+mj-ea"/>
                        </a:rPr>
                        <a:t>范围宽；时间成本相对较低；可形成量化的结论</a:t>
                      </a:r>
                      <a:endParaRPr lang="zh-CN" sz="1600" kern="10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a:effectLst/>
                          <a:latin typeface="+mj-ea"/>
                          <a:ea typeface="+mj-ea"/>
                        </a:rPr>
                        <a:t>弹性比较大；信息量丰富；情境因素考虑完整</a:t>
                      </a:r>
                      <a:endParaRPr lang="zh-CN" sz="1600" kern="10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a:effectLst/>
                          <a:latin typeface="+mj-ea"/>
                          <a:ea typeface="+mj-ea"/>
                        </a:rPr>
                        <a:t>采用结构化、半结构化、非结构化的提问方式；弹性较大，可根据访谈过程调整；数据丰富，如语言、肢体等表达</a:t>
                      </a:r>
                      <a:endParaRPr lang="zh-CN" sz="1600" kern="10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a:effectLst/>
                          <a:latin typeface="+mj-ea"/>
                          <a:ea typeface="+mj-ea"/>
                        </a:rPr>
                        <a:t>不同人（如不同专业）的观点交织和汇集；信息多样化。</a:t>
                      </a:r>
                      <a:endParaRPr lang="zh-CN" sz="1600" kern="10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dirty="0">
                          <a:effectLst/>
                          <a:latin typeface="+mj-ea"/>
                          <a:ea typeface="+mj-ea"/>
                        </a:rPr>
                        <a:t>能获得一手资料和深入理解；形成更丰富的感性认知</a:t>
                      </a:r>
                      <a:endParaRPr lang="zh-CN" sz="1600" kern="100" dirty="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a:effectLst/>
                          <a:latin typeface="+mj-ea"/>
                          <a:ea typeface="+mj-ea"/>
                        </a:rPr>
                        <a:t>不是专为研究而形成；准确和一致性较高；存储时间长；可以不受干扰地获得</a:t>
                      </a:r>
                      <a:endParaRPr lang="zh-CN" sz="1600" kern="100">
                        <a:effectLst/>
                        <a:latin typeface="+mj-ea"/>
                        <a:ea typeface="+mj-ea"/>
                        <a:cs typeface="Times New Roman" panose="02020603050405020304" pitchFamily="18" charset="0"/>
                      </a:endParaRPr>
                    </a:p>
                  </a:txBody>
                  <a:tcPr marL="53065" marR="53065" marT="0" marB="0"/>
                </a:tc>
                <a:extLst>
                  <a:ext uri="{0D108BD9-81ED-4DB2-BD59-A6C34878D82A}">
                    <a16:rowId xmlns:a16="http://schemas.microsoft.com/office/drawing/2014/main" val="230780105"/>
                  </a:ext>
                </a:extLst>
              </a:tr>
              <a:tr h="1191904">
                <a:tc>
                  <a:txBody>
                    <a:bodyPr/>
                    <a:lstStyle/>
                    <a:p>
                      <a:pPr algn="l">
                        <a:spcAft>
                          <a:spcPts val="0"/>
                        </a:spcAft>
                      </a:pPr>
                      <a:r>
                        <a:rPr lang="zh-CN" sz="2000" kern="100" dirty="0">
                          <a:effectLst/>
                          <a:latin typeface="+mj-ea"/>
                          <a:ea typeface="+mj-ea"/>
                        </a:rPr>
                        <a:t>劣势</a:t>
                      </a:r>
                      <a:endParaRPr lang="zh-CN" sz="2000" kern="100" dirty="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a:effectLst/>
                          <a:latin typeface="+mj-ea"/>
                          <a:ea typeface="+mj-ea"/>
                        </a:rPr>
                        <a:t>问题相对结构化、多轮的反复深入的成本较高</a:t>
                      </a:r>
                      <a:endParaRPr lang="zh-CN" sz="1600" kern="10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a:effectLst/>
                          <a:latin typeface="+mj-ea"/>
                          <a:ea typeface="+mj-ea"/>
                        </a:rPr>
                        <a:t>样本较小；费时；数据结构低；归纳难度大</a:t>
                      </a:r>
                      <a:endParaRPr lang="zh-CN" sz="1600" kern="10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a:effectLst/>
                          <a:latin typeface="+mj-ea"/>
                          <a:ea typeface="+mj-ea"/>
                        </a:rPr>
                        <a:t>回忆的失准；访谈者可能提供偏见性答案；费时</a:t>
                      </a:r>
                      <a:endParaRPr lang="zh-CN" sz="1600" kern="10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a:effectLst/>
                          <a:latin typeface="+mj-ea"/>
                          <a:ea typeface="+mj-ea"/>
                        </a:rPr>
                        <a:t>费时；可能出现某人主导观点</a:t>
                      </a:r>
                      <a:endParaRPr lang="zh-CN" sz="1600" kern="10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a:effectLst/>
                          <a:latin typeface="+mj-ea"/>
                          <a:ea typeface="+mj-ea"/>
                        </a:rPr>
                        <a:t>较难获得；费时；存在客观评估的偏见；时间成本高</a:t>
                      </a:r>
                      <a:endParaRPr lang="zh-CN" sz="1600" kern="100">
                        <a:effectLst/>
                        <a:latin typeface="+mj-ea"/>
                        <a:ea typeface="+mj-ea"/>
                        <a:cs typeface="Times New Roman" panose="02020603050405020304" pitchFamily="18" charset="0"/>
                      </a:endParaRPr>
                    </a:p>
                  </a:txBody>
                  <a:tcPr marL="53065" marR="53065" marT="0" marB="0"/>
                </a:tc>
                <a:tc>
                  <a:txBody>
                    <a:bodyPr/>
                    <a:lstStyle/>
                    <a:p>
                      <a:pPr algn="l">
                        <a:spcAft>
                          <a:spcPts val="0"/>
                        </a:spcAft>
                      </a:pPr>
                      <a:r>
                        <a:rPr lang="zh-CN" sz="1600" kern="100" dirty="0">
                          <a:effectLst/>
                          <a:latin typeface="+mj-ea"/>
                          <a:ea typeface="+mj-ea"/>
                        </a:rPr>
                        <a:t>针对性较差；可能较难获得；需要进行加工和整理</a:t>
                      </a:r>
                      <a:endParaRPr lang="zh-CN" sz="1600" kern="100" dirty="0">
                        <a:effectLst/>
                        <a:latin typeface="+mj-ea"/>
                        <a:ea typeface="+mj-ea"/>
                        <a:cs typeface="Times New Roman" panose="02020603050405020304" pitchFamily="18" charset="0"/>
                      </a:endParaRPr>
                    </a:p>
                  </a:txBody>
                  <a:tcPr marL="53065" marR="53065" marT="0" marB="0"/>
                </a:tc>
                <a:extLst>
                  <a:ext uri="{0D108BD9-81ED-4DB2-BD59-A6C34878D82A}">
                    <a16:rowId xmlns:a16="http://schemas.microsoft.com/office/drawing/2014/main" val="3682665306"/>
                  </a:ext>
                </a:extLst>
              </a:tr>
            </a:tbl>
          </a:graphicData>
        </a:graphic>
      </p:graphicFrame>
    </p:spTree>
    <p:extLst>
      <p:ext uri="{BB962C8B-B14F-4D97-AF65-F5344CB8AC3E}">
        <p14:creationId xmlns:p14="http://schemas.microsoft.com/office/powerpoint/2010/main" val="4222889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790D9-FF85-4B0A-92F7-B5348D675A8B}"/>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研究方法：抽样调查</a:t>
            </a:r>
          </a:p>
        </p:txBody>
      </p:sp>
      <p:sp>
        <p:nvSpPr>
          <p:cNvPr id="3" name="矩形 2">
            <a:extLst>
              <a:ext uri="{FF2B5EF4-FFF2-40B4-BE49-F238E27FC236}">
                <a16:creationId xmlns:a16="http://schemas.microsoft.com/office/drawing/2014/main" id="{F2D6E189-F086-4F30-9455-6B129C294797}"/>
              </a:ext>
            </a:extLst>
          </p:cNvPr>
          <p:cNvSpPr/>
          <p:nvPr/>
        </p:nvSpPr>
        <p:spPr>
          <a:xfrm>
            <a:off x="381335" y="1144597"/>
            <a:ext cx="10967258" cy="2127570"/>
          </a:xfrm>
          <a:prstGeom prst="rect">
            <a:avLst/>
          </a:prstGeom>
        </p:spPr>
        <p:txBody>
          <a:bodyPr wrap="square">
            <a:spAutoFit/>
          </a:bodyPr>
          <a:lstStyle/>
          <a:p>
            <a:pPr>
              <a:lnSpc>
                <a:spcPct val="150000"/>
              </a:lnSpc>
            </a:pPr>
            <a:r>
              <a:rPr lang="zh-CN" altLang="zh-CN" b="1" dirty="0">
                <a:latin typeface="+mj-ea"/>
                <a:ea typeface="+mj-ea"/>
                <a:cs typeface="Times New Roman" panose="02020603050405020304" pitchFamily="18" charset="0"/>
              </a:rPr>
              <a:t>问卷调查</a:t>
            </a:r>
            <a:endParaRPr lang="en-US" altLang="zh-CN" b="1"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是以问卷为收集数据的工具，并采用抽样方式选择被调研对象的一种调查方式。</a:t>
            </a:r>
            <a:endParaRPr lang="en-US" altLang="zh-CN"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问卷以采用结构化问题为主，可实现大样本的收集，从中获得对总体的规律性认识。</a:t>
            </a:r>
            <a:endParaRPr lang="en-US" altLang="zh-CN"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优点</a:t>
            </a:r>
            <a:r>
              <a:rPr lang="zh-CN" altLang="en-US"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使用范围较广、时间成本相对较低、通过分析可获得量化结论。</a:t>
            </a:r>
            <a:endParaRPr lang="en-US" altLang="zh-CN"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mj-ea"/>
                <a:ea typeface="+mj-ea"/>
                <a:cs typeface="Times New Roman" panose="02020603050405020304" pitchFamily="18" charset="0"/>
              </a:rPr>
              <a:t>缺点：</a:t>
            </a:r>
            <a:r>
              <a:rPr lang="zh-CN" altLang="zh-CN" dirty="0">
                <a:latin typeface="+mj-ea"/>
                <a:ea typeface="+mj-ea"/>
                <a:cs typeface="Times New Roman" panose="02020603050405020304" pitchFamily="18" charset="0"/>
              </a:rPr>
              <a:t>问题相对结构化，如进行多轮调查，成本则较高。</a:t>
            </a:r>
            <a:endParaRPr lang="zh-CN" altLang="en-US" dirty="0">
              <a:latin typeface="+mj-ea"/>
              <a:ea typeface="+mj-ea"/>
            </a:endParaRPr>
          </a:p>
        </p:txBody>
      </p:sp>
    </p:spTree>
    <p:extLst>
      <p:ext uri="{BB962C8B-B14F-4D97-AF65-F5344CB8AC3E}">
        <p14:creationId xmlns:p14="http://schemas.microsoft.com/office/powerpoint/2010/main" val="6454604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790D9-FF85-4B0A-92F7-B5348D675A8B}"/>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研究方法：案例</a:t>
            </a:r>
          </a:p>
        </p:txBody>
      </p:sp>
      <p:sp>
        <p:nvSpPr>
          <p:cNvPr id="3" name="矩形 2">
            <a:extLst>
              <a:ext uri="{FF2B5EF4-FFF2-40B4-BE49-F238E27FC236}">
                <a16:creationId xmlns:a16="http://schemas.microsoft.com/office/drawing/2014/main" id="{F2D6E189-F086-4F30-9455-6B129C294797}"/>
              </a:ext>
            </a:extLst>
          </p:cNvPr>
          <p:cNvSpPr/>
          <p:nvPr/>
        </p:nvSpPr>
        <p:spPr>
          <a:xfrm>
            <a:off x="402356" y="1113066"/>
            <a:ext cx="10967258" cy="2958630"/>
          </a:xfrm>
          <a:prstGeom prst="rect">
            <a:avLst/>
          </a:prstGeom>
        </p:spPr>
        <p:txBody>
          <a:bodyPr wrap="square">
            <a:spAutoFit/>
          </a:bodyPr>
          <a:lstStyle/>
          <a:p>
            <a:pPr>
              <a:lnSpc>
                <a:spcPct val="150000"/>
              </a:lnSpc>
            </a:pPr>
            <a:r>
              <a:rPr lang="zh-CN" altLang="zh-CN" b="1" dirty="0">
                <a:latin typeface="+mj-ea"/>
                <a:ea typeface="+mj-ea"/>
                <a:cs typeface="Times New Roman" panose="02020603050405020304" pitchFamily="18" charset="0"/>
              </a:rPr>
              <a:t>案例研究</a:t>
            </a:r>
            <a:r>
              <a:rPr lang="zh-CN" altLang="en-US" b="1" dirty="0">
                <a:latin typeface="+mj-ea"/>
                <a:ea typeface="+mj-ea"/>
                <a:cs typeface="Times New Roman" panose="02020603050405020304" pitchFamily="18" charset="0"/>
              </a:rPr>
              <a:t>：</a:t>
            </a:r>
            <a:endParaRPr lang="en-US" altLang="zh-CN" b="1"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实证性的研究方式，用于调查处于某特定情境下的当前现象，特别是适合这个现象和它的情境间的边界不是很清楚</a:t>
            </a:r>
            <a:r>
              <a:rPr lang="en-SG" altLang="zh-CN" dirty="0">
                <a:latin typeface="+mj-ea"/>
                <a:ea typeface="+mj-ea"/>
                <a:cs typeface="Times New Roman" panose="02020603050405020304" pitchFamily="18" charset="0"/>
              </a:rPr>
              <a:t>(Yin</a:t>
            </a:r>
            <a:r>
              <a:rPr lang="zh-CN" altLang="zh-CN" dirty="0">
                <a:latin typeface="+mj-ea"/>
                <a:ea typeface="+mj-ea"/>
                <a:cs typeface="Times New Roman" panose="02020603050405020304" pitchFamily="18" charset="0"/>
              </a:rPr>
              <a:t>，</a:t>
            </a:r>
            <a:r>
              <a:rPr lang="en-SG" altLang="zh-CN" dirty="0">
                <a:latin typeface="+mj-ea"/>
                <a:ea typeface="+mj-ea"/>
                <a:cs typeface="Times New Roman" panose="02020603050405020304" pitchFamily="18" charset="0"/>
              </a:rPr>
              <a:t>2007)</a:t>
            </a:r>
            <a:r>
              <a:rPr lang="zh-CN" altLang="zh-CN" dirty="0">
                <a:latin typeface="+mj-ea"/>
                <a:ea typeface="+mj-ea"/>
                <a:cs typeface="Times New Roman" panose="02020603050405020304" pitchFamily="18" charset="0"/>
              </a:rPr>
              <a:t>。</a:t>
            </a:r>
            <a:endParaRPr lang="en-US" altLang="zh-CN"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案例调查中获取数据对象是案例，获取数据的方式有访谈、文档资料、观察等。</a:t>
            </a:r>
            <a:endParaRPr lang="en-US" altLang="zh-CN"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优点</a:t>
            </a:r>
            <a:r>
              <a:rPr lang="zh-CN" altLang="en-US"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弹性比较大；信息量丰富；情境因素考虑完整</a:t>
            </a:r>
            <a:endParaRPr lang="en-US" altLang="zh-CN"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mj-ea"/>
                <a:ea typeface="+mj-ea"/>
                <a:cs typeface="Times New Roman" panose="02020603050405020304" pitchFamily="18" charset="0"/>
              </a:rPr>
              <a:t>缺点：</a:t>
            </a:r>
            <a:r>
              <a:rPr lang="zh-CN" altLang="zh-CN" dirty="0">
                <a:latin typeface="+mj-ea"/>
                <a:ea typeface="+mj-ea"/>
                <a:cs typeface="Times New Roman" panose="02020603050405020304" pitchFamily="18" charset="0"/>
              </a:rPr>
              <a:t>样本较小；费时；数据结构低；归纳难度大</a:t>
            </a:r>
          </a:p>
          <a:p>
            <a:pPr marL="285750" indent="-285750">
              <a:lnSpc>
                <a:spcPct val="150000"/>
              </a:lnSpc>
              <a:buFont typeface="Arial" panose="020B0604020202020204" pitchFamily="34" charset="0"/>
              <a:buChar char="•"/>
            </a:pPr>
            <a:endParaRPr lang="zh-CN" altLang="en-US" dirty="0">
              <a:latin typeface="+mj-ea"/>
              <a:ea typeface="+mj-ea"/>
              <a:cs typeface="Times New Roman" panose="02020603050405020304" pitchFamily="18" charset="0"/>
            </a:endParaRPr>
          </a:p>
        </p:txBody>
      </p:sp>
    </p:spTree>
    <p:extLst>
      <p:ext uri="{BB962C8B-B14F-4D97-AF65-F5344CB8AC3E}">
        <p14:creationId xmlns:p14="http://schemas.microsoft.com/office/powerpoint/2010/main" val="8504490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790D9-FF85-4B0A-92F7-B5348D675A8B}"/>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研究方法：访谈</a:t>
            </a:r>
          </a:p>
        </p:txBody>
      </p:sp>
      <p:sp>
        <p:nvSpPr>
          <p:cNvPr id="3" name="矩形 2">
            <a:extLst>
              <a:ext uri="{FF2B5EF4-FFF2-40B4-BE49-F238E27FC236}">
                <a16:creationId xmlns:a16="http://schemas.microsoft.com/office/drawing/2014/main" id="{F2D6E189-F086-4F30-9455-6B129C294797}"/>
              </a:ext>
            </a:extLst>
          </p:cNvPr>
          <p:cNvSpPr/>
          <p:nvPr/>
        </p:nvSpPr>
        <p:spPr>
          <a:xfrm>
            <a:off x="402356" y="1092046"/>
            <a:ext cx="10843713" cy="2543068"/>
          </a:xfrm>
          <a:prstGeom prst="rect">
            <a:avLst/>
          </a:prstGeom>
        </p:spPr>
        <p:txBody>
          <a:bodyPr wrap="square">
            <a:spAutoFit/>
          </a:bodyPr>
          <a:lstStyle/>
          <a:p>
            <a:pPr>
              <a:lnSpc>
                <a:spcPct val="150000"/>
              </a:lnSpc>
            </a:pPr>
            <a:r>
              <a:rPr lang="zh-CN" altLang="zh-CN" b="1" dirty="0">
                <a:latin typeface="+mj-ea"/>
                <a:ea typeface="+mj-ea"/>
                <a:cs typeface="Times New Roman" panose="02020603050405020304" pitchFamily="18" charset="0"/>
              </a:rPr>
              <a:t>访谈</a:t>
            </a:r>
            <a:r>
              <a:rPr lang="zh-CN" altLang="en-US" b="1" dirty="0">
                <a:latin typeface="+mj-ea"/>
                <a:ea typeface="+mj-ea"/>
                <a:cs typeface="Times New Roman" panose="02020603050405020304" pitchFamily="18" charset="0"/>
              </a:rPr>
              <a:t>：</a:t>
            </a:r>
            <a:endParaRPr lang="en-US" altLang="zh-CN" b="1"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以一对一的半结构化或开放式访谈为收集数据的方式。</a:t>
            </a:r>
            <a:endParaRPr lang="en-US" altLang="zh-CN"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抽样方式</a:t>
            </a:r>
            <a:r>
              <a:rPr lang="zh-CN" altLang="en-US"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与问卷调查所不同，访谈是以多轮反复追问的方式从被调查者获得信息，其抽样的原理与抽样调查的统计抽样也有所不同。</a:t>
            </a:r>
            <a:endParaRPr lang="en-US" altLang="zh-CN"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mj-ea"/>
                <a:ea typeface="+mj-ea"/>
                <a:cs typeface="Times New Roman" panose="02020603050405020304" pitchFamily="18" charset="0"/>
              </a:rPr>
              <a:t>优点：</a:t>
            </a:r>
            <a:r>
              <a:rPr lang="zh-CN" altLang="zh-CN" dirty="0">
                <a:latin typeface="+mj-ea"/>
                <a:ea typeface="+mj-ea"/>
                <a:cs typeface="Times New Roman" panose="02020603050405020304" pitchFamily="18" charset="0"/>
              </a:rPr>
              <a:t>访谈问题一般具有较大的开放性，访谈过程具有一定的弹性。</a:t>
            </a:r>
            <a:endParaRPr lang="en-US" altLang="zh-CN"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mj-ea"/>
                <a:ea typeface="+mj-ea"/>
                <a:cs typeface="Times New Roman" panose="02020603050405020304" pitchFamily="18" charset="0"/>
              </a:rPr>
              <a:t>缺点：</a:t>
            </a:r>
          </a:p>
        </p:txBody>
      </p:sp>
    </p:spTree>
    <p:extLst>
      <p:ext uri="{BB962C8B-B14F-4D97-AF65-F5344CB8AC3E}">
        <p14:creationId xmlns:p14="http://schemas.microsoft.com/office/powerpoint/2010/main" val="20011923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790D9-FF85-4B0A-92F7-B5348D675A8B}"/>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研究方法：小组讨论</a:t>
            </a:r>
          </a:p>
        </p:txBody>
      </p:sp>
      <p:sp>
        <p:nvSpPr>
          <p:cNvPr id="3" name="矩形 2">
            <a:extLst>
              <a:ext uri="{FF2B5EF4-FFF2-40B4-BE49-F238E27FC236}">
                <a16:creationId xmlns:a16="http://schemas.microsoft.com/office/drawing/2014/main" id="{F2D6E189-F086-4F30-9455-6B129C294797}"/>
              </a:ext>
            </a:extLst>
          </p:cNvPr>
          <p:cNvSpPr/>
          <p:nvPr/>
        </p:nvSpPr>
        <p:spPr>
          <a:xfrm>
            <a:off x="402356" y="1123576"/>
            <a:ext cx="10967258" cy="4251228"/>
          </a:xfrm>
          <a:prstGeom prst="rect">
            <a:avLst/>
          </a:prstGeom>
        </p:spPr>
        <p:txBody>
          <a:bodyPr wrap="square">
            <a:spAutoFit/>
          </a:bodyPr>
          <a:lstStyle/>
          <a:p>
            <a:pPr>
              <a:lnSpc>
                <a:spcPct val="150000"/>
              </a:lnSpc>
            </a:pPr>
            <a:r>
              <a:rPr lang="zh-CN" altLang="zh-CN" sz="2000" b="1" dirty="0">
                <a:latin typeface="+mj-ea"/>
                <a:ea typeface="+mj-ea"/>
                <a:cs typeface="Times New Roman" panose="02020603050405020304" pitchFamily="18" charset="0"/>
              </a:rPr>
              <a:t>小组讨论</a:t>
            </a:r>
            <a:r>
              <a:rPr lang="zh-CN" altLang="en-US" sz="2000" b="1" dirty="0">
                <a:latin typeface="+mj-ea"/>
                <a:ea typeface="+mj-ea"/>
                <a:cs typeface="Times New Roman" panose="02020603050405020304" pitchFamily="18" charset="0"/>
              </a:rPr>
              <a:t>：</a:t>
            </a:r>
            <a:endParaRPr lang="en-US" altLang="zh-CN" sz="2000" b="1"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可以促进小组成员之间观点的交互，涌现出单个访谈中难以获得的交互性想法。数据是动态和交互中的动态是参与者的观点和想法可以随着讨论进行修改和调整，参与者可能被其他参与者所影响。交互使得个人观点形成涌现，观点形成碰撞，产生更多新想法。</a:t>
            </a:r>
            <a:endParaRPr lang="en-US" altLang="zh-CN"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适用于</a:t>
            </a:r>
            <a:r>
              <a:rPr lang="zh-CN" altLang="en-US"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①需要对某个问题形成较为宽泛的认识；②需要对某些观点进行澄清、碰撞等；③对不同的观点进行对比；④产生新想法。</a:t>
            </a:r>
            <a:endParaRPr lang="en-US" altLang="zh-CN" dirty="0">
              <a:latin typeface="+mj-ea"/>
              <a:ea typeface="+mj-ea"/>
              <a:cs typeface="Times New Roman" panose="02020603050405020304" pitchFamily="18" charset="0"/>
            </a:endParaRPr>
          </a:p>
          <a:p>
            <a:pPr>
              <a:lnSpc>
                <a:spcPct val="150000"/>
              </a:lnSpc>
            </a:pPr>
            <a:r>
              <a:rPr lang="en-US" altLang="zh-CN" dirty="0">
                <a:latin typeface="+mj-ea"/>
                <a:ea typeface="+mj-ea"/>
                <a:cs typeface="Times New Roman" panose="02020603050405020304" pitchFamily="18" charset="0"/>
              </a:rPr>
              <a:t>2</a:t>
            </a:r>
            <a:r>
              <a:rPr lang="zh-CN" altLang="en-US" dirty="0">
                <a:latin typeface="+mj-ea"/>
                <a:ea typeface="+mj-ea"/>
                <a:cs typeface="Times New Roman" panose="02020603050405020304" pitchFamily="18" charset="0"/>
              </a:rPr>
              <a:t>、人员选择：</a:t>
            </a:r>
            <a:endParaRPr lang="en-US" altLang="zh-CN"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有目的性选择一定数量的小组成员，如</a:t>
            </a:r>
            <a:r>
              <a:rPr lang="en-US" altLang="zh-CN" dirty="0">
                <a:latin typeface="+mj-ea"/>
                <a:ea typeface="+mj-ea"/>
                <a:cs typeface="Times New Roman" panose="02020603050405020304" pitchFamily="18" charset="0"/>
              </a:rPr>
              <a:t>5-12</a:t>
            </a:r>
            <a:r>
              <a:rPr lang="zh-CN" altLang="zh-CN" dirty="0">
                <a:latin typeface="+mj-ea"/>
                <a:ea typeface="+mj-ea"/>
                <a:cs typeface="Times New Roman" panose="02020603050405020304" pitchFamily="18" charset="0"/>
              </a:rPr>
              <a:t>人</a:t>
            </a:r>
            <a:endParaRPr lang="en-US" altLang="zh-CN"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强调差异化</a:t>
            </a:r>
            <a:r>
              <a:rPr lang="zh-CN" altLang="en-US"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与讨论目的有较强的覆盖和针对性</a:t>
            </a:r>
            <a:endParaRPr lang="en-US" altLang="zh-CN"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设置一个主持人，对讨论议题进行主持，确保大家都有效参与讨论。</a:t>
            </a:r>
          </a:p>
        </p:txBody>
      </p:sp>
    </p:spTree>
    <p:extLst>
      <p:ext uri="{BB962C8B-B14F-4D97-AF65-F5344CB8AC3E}">
        <p14:creationId xmlns:p14="http://schemas.microsoft.com/office/powerpoint/2010/main" val="38247573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790D9-FF85-4B0A-92F7-B5348D675A8B}"/>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研究方法：观察</a:t>
            </a:r>
          </a:p>
        </p:txBody>
      </p:sp>
      <p:sp>
        <p:nvSpPr>
          <p:cNvPr id="3" name="矩形 2">
            <a:extLst>
              <a:ext uri="{FF2B5EF4-FFF2-40B4-BE49-F238E27FC236}">
                <a16:creationId xmlns:a16="http://schemas.microsoft.com/office/drawing/2014/main" id="{F2D6E189-F086-4F30-9455-6B129C294797}"/>
              </a:ext>
            </a:extLst>
          </p:cNvPr>
          <p:cNvSpPr/>
          <p:nvPr/>
        </p:nvSpPr>
        <p:spPr>
          <a:xfrm>
            <a:off x="412866" y="1092046"/>
            <a:ext cx="10967258" cy="1758238"/>
          </a:xfrm>
          <a:prstGeom prst="rect">
            <a:avLst/>
          </a:prstGeom>
        </p:spPr>
        <p:txBody>
          <a:bodyPr wrap="square">
            <a:spAutoFit/>
          </a:bodyPr>
          <a:lstStyle/>
          <a:p>
            <a:pPr>
              <a:lnSpc>
                <a:spcPct val="150000"/>
              </a:lnSpc>
            </a:pPr>
            <a:r>
              <a:rPr lang="zh-CN" altLang="zh-CN" sz="2000" b="1" dirty="0">
                <a:latin typeface="+mj-ea"/>
                <a:ea typeface="+mj-ea"/>
                <a:cs typeface="Times New Roman" panose="02020603050405020304" pitchFamily="18" charset="0"/>
              </a:rPr>
              <a:t>观察</a:t>
            </a:r>
            <a:r>
              <a:rPr lang="zh-CN" altLang="en-US" sz="2000" b="1" dirty="0">
                <a:latin typeface="+mj-ea"/>
                <a:ea typeface="+mj-ea"/>
                <a:cs typeface="Times New Roman" panose="02020603050405020304" pitchFamily="18" charset="0"/>
              </a:rPr>
              <a:t>：</a:t>
            </a:r>
            <a:endParaRPr lang="en-US" altLang="zh-CN" sz="2000" b="1"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进入现场通过参与式角色或独立于现场的角色观察实践现场的情况，如参加会议、参观工厂等。</a:t>
            </a:r>
            <a:endParaRPr lang="en-US" altLang="zh-CN"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mj-ea"/>
                <a:ea typeface="+mj-ea"/>
                <a:cs typeface="Times New Roman" panose="02020603050405020304" pitchFamily="18" charset="0"/>
              </a:rPr>
              <a:t>优点：</a:t>
            </a:r>
            <a:r>
              <a:rPr lang="zh-CN" altLang="zh-CN" dirty="0">
                <a:latin typeface="+mj-ea"/>
                <a:ea typeface="+mj-ea"/>
                <a:cs typeface="Times New Roman" panose="02020603050405020304" pitchFamily="18" charset="0"/>
              </a:rPr>
              <a:t>可以获得一手资料和深入理解，形成更丰富的感性认知。</a:t>
            </a:r>
            <a:endParaRPr lang="en-US" altLang="zh-CN"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mj-ea"/>
                <a:ea typeface="+mj-ea"/>
                <a:cs typeface="Times New Roman" panose="02020603050405020304" pitchFamily="18" charset="0"/>
              </a:rPr>
              <a:t>缺点：</a:t>
            </a:r>
            <a:r>
              <a:rPr lang="zh-CN" altLang="zh-CN" dirty="0">
                <a:latin typeface="+mj-ea"/>
                <a:ea typeface="+mj-ea"/>
                <a:cs typeface="Times New Roman" panose="02020603050405020304" pitchFamily="18" charset="0"/>
              </a:rPr>
              <a:t>观察更为费时，存在主观评估的偏见，时间成本高。</a:t>
            </a:r>
          </a:p>
        </p:txBody>
      </p:sp>
    </p:spTree>
    <p:extLst>
      <p:ext uri="{BB962C8B-B14F-4D97-AF65-F5344CB8AC3E}">
        <p14:creationId xmlns:p14="http://schemas.microsoft.com/office/powerpoint/2010/main" val="11383609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790D9-FF85-4B0A-92F7-B5348D675A8B}"/>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研究方法：文档资料</a:t>
            </a:r>
          </a:p>
        </p:txBody>
      </p:sp>
      <p:sp>
        <p:nvSpPr>
          <p:cNvPr id="3" name="矩形 2">
            <a:extLst>
              <a:ext uri="{FF2B5EF4-FFF2-40B4-BE49-F238E27FC236}">
                <a16:creationId xmlns:a16="http://schemas.microsoft.com/office/drawing/2014/main" id="{F2D6E189-F086-4F30-9455-6B129C294797}"/>
              </a:ext>
            </a:extLst>
          </p:cNvPr>
          <p:cNvSpPr/>
          <p:nvPr/>
        </p:nvSpPr>
        <p:spPr>
          <a:xfrm>
            <a:off x="402356" y="1144597"/>
            <a:ext cx="10833203" cy="2589235"/>
          </a:xfrm>
          <a:prstGeom prst="rect">
            <a:avLst/>
          </a:prstGeom>
        </p:spPr>
        <p:txBody>
          <a:bodyPr wrap="square">
            <a:spAutoFit/>
          </a:bodyPr>
          <a:lstStyle/>
          <a:p>
            <a:pPr>
              <a:lnSpc>
                <a:spcPct val="150000"/>
              </a:lnSpc>
            </a:pPr>
            <a:r>
              <a:rPr lang="zh-CN" altLang="zh-CN" sz="2000" b="1" dirty="0">
                <a:latin typeface="+mj-ea"/>
                <a:ea typeface="+mj-ea"/>
                <a:cs typeface="Times New Roman" panose="02020603050405020304" pitchFamily="18" charset="0"/>
              </a:rPr>
              <a:t>文档资料</a:t>
            </a:r>
            <a:endParaRPr lang="en-US" altLang="zh-CN" sz="2000" b="1"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来源主要是书面的报告、政策、规范、新闻等。对文档资料的内容进行文本分析，形成分析结论。</a:t>
            </a:r>
            <a:endParaRPr lang="en-US" altLang="zh-CN"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mj-ea"/>
                <a:ea typeface="+mj-ea"/>
                <a:cs typeface="Times New Roman" panose="02020603050405020304" pitchFamily="18" charset="0"/>
              </a:rPr>
              <a:t>优点：</a:t>
            </a:r>
            <a:r>
              <a:rPr lang="zh-CN" altLang="zh-CN" dirty="0">
                <a:latin typeface="+mj-ea"/>
                <a:ea typeface="+mj-ea"/>
                <a:cs typeface="Times New Roman" panose="02020603050405020304" pitchFamily="18" charset="0"/>
              </a:rPr>
              <a:t>文档的准确和一致性较高</a:t>
            </a:r>
            <a:r>
              <a:rPr lang="zh-CN" altLang="en-US"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越来越多的研究采用网络平台资料，如网络社区的讨论信息、在线平台的评价信息等。</a:t>
            </a:r>
            <a:endParaRPr lang="en-US" altLang="zh-CN"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en-US" dirty="0">
                <a:latin typeface="+mj-ea"/>
                <a:ea typeface="+mj-ea"/>
                <a:cs typeface="Times New Roman" panose="02020603050405020304" pitchFamily="18" charset="0"/>
              </a:rPr>
              <a:t>缺点：</a:t>
            </a:r>
            <a:r>
              <a:rPr lang="zh-CN" altLang="zh-CN" dirty="0">
                <a:latin typeface="+mj-ea"/>
                <a:ea typeface="+mj-ea"/>
                <a:cs typeface="Times New Roman" panose="02020603050405020304" pitchFamily="18" charset="0"/>
              </a:rPr>
              <a:t>由于文档不是为研究目的形成的，所获得的文档信息要进行一定程度的整理、汇总，形成可用资料</a:t>
            </a:r>
          </a:p>
        </p:txBody>
      </p:sp>
    </p:spTree>
    <p:extLst>
      <p:ext uri="{BB962C8B-B14F-4D97-AF65-F5344CB8AC3E}">
        <p14:creationId xmlns:p14="http://schemas.microsoft.com/office/powerpoint/2010/main" val="1152544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067159B2-13DF-4B37-B389-7CAE2C1F9058}"/>
              </a:ext>
            </a:extLst>
          </p:cNvPr>
          <p:cNvSpPr/>
          <p:nvPr/>
        </p:nvSpPr>
        <p:spPr>
          <a:xfrm>
            <a:off x="441960" y="1081177"/>
            <a:ext cx="10802983" cy="2543132"/>
          </a:xfrm>
          <a:prstGeom prst="rect">
            <a:avLst/>
          </a:prstGeom>
        </p:spPr>
        <p:txBody>
          <a:bodyPr wrap="square">
            <a:spAutoFit/>
          </a:bodyPr>
          <a:lstStyle/>
          <a:p>
            <a:pPr>
              <a:lnSpc>
                <a:spcPct val="150000"/>
              </a:lnSpc>
            </a:pPr>
            <a:r>
              <a:rPr lang="en-US" altLang="zh-CN" dirty="0">
                <a:latin typeface="+mj-ea"/>
                <a:ea typeface="+mj-ea"/>
                <a:cs typeface="Times New Roman" panose="02020603050405020304" pitchFamily="18" charset="0"/>
              </a:rPr>
              <a:t>1</a:t>
            </a:r>
            <a:r>
              <a:rPr lang="zh-CN" altLang="en-US"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考虑选择最合适</a:t>
            </a:r>
            <a:r>
              <a:rPr lang="zh-CN" altLang="en-US"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指根据问题性质和存在的约束情况等，选取合适的调研方式来回答研究问题。</a:t>
            </a:r>
            <a:endParaRPr lang="en-US" altLang="zh-CN"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调研方式能否回答问题所属的类型，典型的问题类型包括是什么、怎么样、为什么等。</a:t>
            </a:r>
            <a:endParaRPr lang="en-US" altLang="zh-CN"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考虑回答问题的满足程度。</a:t>
            </a:r>
            <a:endParaRPr lang="zh-CN" altLang="en-US" dirty="0">
              <a:latin typeface="+mj-ea"/>
              <a:ea typeface="+mj-ea"/>
            </a:endParaRPr>
          </a:p>
          <a:p>
            <a:pPr>
              <a:lnSpc>
                <a:spcPct val="150000"/>
              </a:lnSpc>
            </a:pPr>
            <a:r>
              <a:rPr lang="en-US" altLang="zh-CN" dirty="0">
                <a:latin typeface="+mj-ea"/>
                <a:ea typeface="+mj-ea"/>
                <a:cs typeface="Times New Roman" panose="02020603050405020304" pitchFamily="18" charset="0"/>
              </a:rPr>
              <a:t>2</a:t>
            </a:r>
            <a:r>
              <a:rPr lang="zh-CN" altLang="en-US"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补足其中的劣势。</a:t>
            </a:r>
            <a:endParaRPr lang="en-US" altLang="zh-CN"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不同的调研方式兼有优劣势，选择调研方式通常是基于其优势，但同时需克服其劣势。</a:t>
            </a:r>
            <a:endParaRPr lang="en-US" altLang="zh-CN"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如访谈信息要进行多重验证，问卷调研回答的量化的答案可以再用访谈、文档资料分析等形式进行补充。</a:t>
            </a:r>
            <a:endParaRPr lang="en-US" altLang="zh-CN" dirty="0">
              <a:ea typeface="宋体" panose="02010600030101010101" pitchFamily="2" charset="-122"/>
              <a:cs typeface="Times New Roman" panose="02020603050405020304" pitchFamily="18" charset="0"/>
            </a:endParaRPr>
          </a:p>
        </p:txBody>
      </p:sp>
      <p:sp>
        <p:nvSpPr>
          <p:cNvPr id="3" name="标题 1">
            <a:extLst>
              <a:ext uri="{FF2B5EF4-FFF2-40B4-BE49-F238E27FC236}">
                <a16:creationId xmlns:a16="http://schemas.microsoft.com/office/drawing/2014/main" id="{360CE8A6-588A-43C4-BE61-04980D4CC911}"/>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研究方法：选择</a:t>
            </a:r>
          </a:p>
        </p:txBody>
      </p:sp>
      <p:sp>
        <p:nvSpPr>
          <p:cNvPr id="6" name="矩形 5">
            <a:extLst>
              <a:ext uri="{FF2B5EF4-FFF2-40B4-BE49-F238E27FC236}">
                <a16:creationId xmlns:a16="http://schemas.microsoft.com/office/drawing/2014/main" id="{ED55FE1A-0F15-4BC6-A6E6-4344AF25F1C6}"/>
              </a:ext>
            </a:extLst>
          </p:cNvPr>
          <p:cNvSpPr/>
          <p:nvPr/>
        </p:nvSpPr>
        <p:spPr>
          <a:xfrm>
            <a:off x="386491" y="4194727"/>
            <a:ext cx="11018571" cy="1754326"/>
          </a:xfrm>
          <a:prstGeom prst="rect">
            <a:avLst/>
          </a:prstGeom>
          <a:solidFill>
            <a:schemeClr val="accent6">
              <a:lumMod val="20000"/>
              <a:lumOff val="80000"/>
            </a:schemeClr>
          </a:solidFill>
          <a:ln>
            <a:solidFill>
              <a:schemeClr val="tx1"/>
            </a:solidFill>
          </a:ln>
        </p:spPr>
        <p:txBody>
          <a:bodyPr wrap="square">
            <a:spAutoFit/>
          </a:bodyPr>
          <a:lstStyle/>
          <a:p>
            <a:pPr algn="just"/>
            <a:r>
              <a:rPr lang="zh-CN" altLang="zh-CN" kern="100" dirty="0">
                <a:latin typeface="+mj-ea"/>
                <a:ea typeface="+mj-ea"/>
                <a:cs typeface="Times New Roman" panose="02020603050405020304" pitchFamily="18" charset="0"/>
              </a:rPr>
              <a:t>研究中需要探索性分析引发质量问题的原因</a:t>
            </a:r>
            <a:r>
              <a:rPr lang="zh-CN" altLang="en-US" kern="100" dirty="0">
                <a:latin typeface="+mj-ea"/>
                <a:ea typeface="+mj-ea"/>
                <a:cs typeface="Times New Roman" panose="02020603050405020304" pitchFamily="18" charset="0"/>
              </a:rPr>
              <a:t>：</a:t>
            </a:r>
            <a:endParaRPr lang="en-US" altLang="zh-CN" kern="100" dirty="0">
              <a:latin typeface="+mj-ea"/>
              <a:ea typeface="+mj-ea"/>
              <a:cs typeface="Times New Roman" panose="02020603050405020304" pitchFamily="18" charset="0"/>
            </a:endParaRPr>
          </a:p>
          <a:p>
            <a:pPr marL="285750" indent="-285750" algn="just">
              <a:buFont typeface="Arial" panose="020B0604020202020204" pitchFamily="34" charset="0"/>
              <a:buChar char="•"/>
            </a:pPr>
            <a:r>
              <a:rPr lang="zh-CN" altLang="en-US" kern="100" dirty="0">
                <a:latin typeface="+mj-ea"/>
                <a:ea typeface="+mj-ea"/>
                <a:cs typeface="Times New Roman" panose="02020603050405020304" pitchFamily="18" charset="0"/>
              </a:rPr>
              <a:t>问题类型：</a:t>
            </a:r>
            <a:r>
              <a:rPr lang="zh-CN" altLang="zh-CN" kern="100" dirty="0">
                <a:latin typeface="+mj-ea"/>
                <a:ea typeface="+mj-ea"/>
                <a:cs typeface="Times New Roman" panose="02020603050405020304" pitchFamily="18" charset="0"/>
              </a:rPr>
              <a:t>为什么</a:t>
            </a:r>
            <a:endParaRPr lang="en-US" altLang="zh-CN" kern="100" dirty="0">
              <a:latin typeface="+mj-ea"/>
              <a:ea typeface="+mj-ea"/>
              <a:cs typeface="Times New Roman" panose="02020603050405020304" pitchFamily="18" charset="0"/>
            </a:endParaRPr>
          </a:p>
          <a:p>
            <a:pPr marL="285750" indent="-285750" algn="just">
              <a:buFont typeface="Arial" panose="020B0604020202020204" pitchFamily="34" charset="0"/>
              <a:buChar char="•"/>
            </a:pPr>
            <a:r>
              <a:rPr lang="zh-CN" altLang="en-US" kern="100" dirty="0">
                <a:latin typeface="+mj-ea"/>
                <a:ea typeface="+mj-ea"/>
                <a:cs typeface="Times New Roman" panose="02020603050405020304" pitchFamily="18" charset="0"/>
              </a:rPr>
              <a:t>调研方法：</a:t>
            </a:r>
            <a:r>
              <a:rPr lang="zh-CN" altLang="zh-CN" kern="100" dirty="0">
                <a:latin typeface="+mj-ea"/>
                <a:ea typeface="+mj-ea"/>
                <a:cs typeface="Times New Roman" panose="02020603050405020304" pitchFamily="18" charset="0"/>
              </a:rPr>
              <a:t>案例、访谈、焦点小组讨论等</a:t>
            </a:r>
            <a:endParaRPr lang="en-US" altLang="zh-CN" kern="100" dirty="0">
              <a:latin typeface="+mj-ea"/>
              <a:ea typeface="+mj-ea"/>
              <a:cs typeface="Times New Roman" panose="02020603050405020304" pitchFamily="18" charset="0"/>
            </a:endParaRPr>
          </a:p>
          <a:p>
            <a:pPr marL="285750" indent="-285750" algn="just">
              <a:buFont typeface="Arial" panose="020B0604020202020204" pitchFamily="34" charset="0"/>
              <a:buChar char="•"/>
            </a:pPr>
            <a:r>
              <a:rPr lang="zh-CN" altLang="zh-CN" kern="100" dirty="0">
                <a:latin typeface="+mj-ea"/>
                <a:ea typeface="+mj-ea"/>
                <a:cs typeface="Times New Roman" panose="02020603050405020304" pitchFamily="18" charset="0"/>
              </a:rPr>
              <a:t>原因</a:t>
            </a:r>
            <a:r>
              <a:rPr lang="zh-CN" altLang="en-US" kern="100" dirty="0">
                <a:latin typeface="+mj-ea"/>
                <a:ea typeface="+mj-ea"/>
                <a:cs typeface="Times New Roman" panose="02020603050405020304" pitchFamily="18" charset="0"/>
              </a:rPr>
              <a:t>：</a:t>
            </a:r>
            <a:r>
              <a:rPr lang="zh-CN" altLang="zh-CN" kern="100" dirty="0">
                <a:latin typeface="+mj-ea"/>
                <a:ea typeface="+mj-ea"/>
                <a:cs typeface="Times New Roman" panose="02020603050405020304" pitchFamily="18" charset="0"/>
              </a:rPr>
              <a:t>这些调研方式具有一定的开放性，有助于挖掘和呈现尚未识别的原因。</a:t>
            </a:r>
            <a:endParaRPr lang="en-US" altLang="zh-CN" kern="100" dirty="0">
              <a:latin typeface="+mj-ea"/>
              <a:ea typeface="+mj-ea"/>
              <a:cs typeface="Times New Roman" panose="02020603050405020304" pitchFamily="18" charset="0"/>
            </a:endParaRPr>
          </a:p>
          <a:p>
            <a:pPr marL="285750" indent="-285750" algn="just">
              <a:buFont typeface="Arial" panose="020B0604020202020204" pitchFamily="34" charset="0"/>
              <a:buChar char="•"/>
            </a:pPr>
            <a:r>
              <a:rPr lang="zh-CN" altLang="en-US" kern="100" dirty="0">
                <a:latin typeface="+mj-ea"/>
                <a:ea typeface="+mj-ea"/>
                <a:cs typeface="Times New Roman" panose="02020603050405020304" pitchFamily="18" charset="0"/>
              </a:rPr>
              <a:t>劣势：</a:t>
            </a:r>
            <a:r>
              <a:rPr lang="zh-CN" altLang="zh-CN" kern="100" dirty="0">
                <a:latin typeface="+mj-ea"/>
                <a:ea typeface="+mj-ea"/>
                <a:cs typeface="Times New Roman" panose="02020603050405020304" pitchFamily="18" charset="0"/>
              </a:rPr>
              <a:t>难以定量分析原因对质量问题症状的程度。因此，可从多种信息来源渠道来进一步验证从这些调研方式中所获得的结论。</a:t>
            </a:r>
          </a:p>
        </p:txBody>
      </p:sp>
    </p:spTree>
    <p:extLst>
      <p:ext uri="{BB962C8B-B14F-4D97-AF65-F5344CB8AC3E}">
        <p14:creationId xmlns:p14="http://schemas.microsoft.com/office/powerpoint/2010/main" val="1229643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5D267DF-CD6F-4B63-B6B3-029072668109}"/>
              </a:ext>
            </a:extLst>
          </p:cNvPr>
          <p:cNvSpPr/>
          <p:nvPr/>
        </p:nvSpPr>
        <p:spPr>
          <a:xfrm>
            <a:off x="354678" y="1116361"/>
            <a:ext cx="10950632" cy="3789627"/>
          </a:xfrm>
          <a:prstGeom prst="rect">
            <a:avLst/>
          </a:prstGeom>
        </p:spPr>
        <p:txBody>
          <a:bodyPr wrap="square">
            <a:spAutoFit/>
          </a:bodyPr>
          <a:lstStyle/>
          <a:p>
            <a:pPr>
              <a:lnSpc>
                <a:spcPct val="150000"/>
              </a:lnSpc>
            </a:pPr>
            <a:r>
              <a:rPr lang="en-US" altLang="zh-CN" b="1" dirty="0">
                <a:latin typeface="+mj-ea"/>
                <a:ea typeface="+mj-ea"/>
                <a:cs typeface="Times New Roman" panose="02020603050405020304" pitchFamily="18" charset="0"/>
              </a:rPr>
              <a:t>1</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调研准备</a:t>
            </a:r>
            <a:endParaRPr lang="en-US" altLang="zh-CN" b="1"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设计调研工具。如访谈用的访谈提纲、问卷调研中的问卷。</a:t>
            </a: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确定调研范围和抽样方式</a:t>
            </a:r>
            <a:r>
              <a:rPr lang="zh-CN" altLang="en-US"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如何从一个总体中抽取部分样本作为调查对象。进而通过对抽取部分样本的分析来推论整个总体的特征。</a:t>
            </a:r>
            <a:endParaRPr lang="en-US" altLang="zh-CN" dirty="0">
              <a:latin typeface="+mj-ea"/>
              <a:ea typeface="+mj-ea"/>
              <a:cs typeface="Times New Roman" panose="02020603050405020304" pitchFamily="18" charset="0"/>
            </a:endParaRPr>
          </a:p>
          <a:p>
            <a:pPr marL="742950" lvl="1" indent="-285750">
              <a:lnSpc>
                <a:spcPct val="150000"/>
              </a:lnSpc>
              <a:buFont typeface="Arial" panose="020B0604020202020204" pitchFamily="34" charset="0"/>
              <a:buChar char="•"/>
            </a:pPr>
            <a:r>
              <a:rPr lang="zh-CN" altLang="en-US" dirty="0">
                <a:latin typeface="+mj-ea"/>
                <a:ea typeface="+mj-ea"/>
                <a:cs typeface="Times New Roman" panose="02020603050405020304" pitchFamily="18" charset="0"/>
              </a:rPr>
              <a:t>例：</a:t>
            </a:r>
            <a:r>
              <a:rPr lang="zh-CN" altLang="zh-CN" dirty="0">
                <a:latin typeface="+mj-ea"/>
                <a:ea typeface="+mj-ea"/>
                <a:cs typeface="Times New Roman" panose="02020603050405020304" pitchFamily="18" charset="0"/>
              </a:rPr>
              <a:t>某项目招标涉及所有的参与调研的对象具有公开性、广泛代表性和专业对应性。调研对象包括潜在投标人、相关行业项目业主、以往类似项目业主及参建方、潜在专业分包单位、技术和科研合作单位、潜在的材料和设备生产商、供应商、相关行业专家。</a:t>
            </a:r>
            <a:endParaRPr lang="en-US" altLang="zh-CN"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调研实施计划：实施计划涉及如何安排调研。人员安排、实施计划安排等。</a:t>
            </a:r>
            <a:endParaRPr lang="en-US" altLang="zh-CN" dirty="0">
              <a:latin typeface="+mj-ea"/>
              <a:ea typeface="+mj-ea"/>
              <a:cs typeface="Times New Roman" panose="02020603050405020304" pitchFamily="18" charset="0"/>
            </a:endParaRPr>
          </a:p>
          <a:p>
            <a:pPr marL="742950" lvl="1" indent="-285750">
              <a:lnSpc>
                <a:spcPct val="150000"/>
              </a:lnSpc>
              <a:buFont typeface="Arial" panose="020B0604020202020204" pitchFamily="34" charset="0"/>
              <a:buChar char="•"/>
            </a:pPr>
            <a:endParaRPr lang="zh-CN" altLang="zh-CN" dirty="0">
              <a:latin typeface="+mj-ea"/>
              <a:ea typeface="+mj-ea"/>
              <a:cs typeface="Times New Roman" panose="02020603050405020304" pitchFamily="18" charset="0"/>
            </a:endParaRPr>
          </a:p>
        </p:txBody>
      </p:sp>
      <p:sp>
        <p:nvSpPr>
          <p:cNvPr id="3" name="标题 1">
            <a:extLst>
              <a:ext uri="{FF2B5EF4-FFF2-40B4-BE49-F238E27FC236}">
                <a16:creationId xmlns:a16="http://schemas.microsoft.com/office/drawing/2014/main" id="{7E563DCA-1E23-4A1D-B488-2D9497ACE4C4}"/>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调研实施</a:t>
            </a:r>
          </a:p>
        </p:txBody>
      </p:sp>
    </p:spTree>
    <p:extLst>
      <p:ext uri="{BB962C8B-B14F-4D97-AF65-F5344CB8AC3E}">
        <p14:creationId xmlns:p14="http://schemas.microsoft.com/office/powerpoint/2010/main" val="23088786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5D267DF-CD6F-4B63-B6B3-029072668109}"/>
              </a:ext>
            </a:extLst>
          </p:cNvPr>
          <p:cNvSpPr/>
          <p:nvPr/>
        </p:nvSpPr>
        <p:spPr>
          <a:xfrm>
            <a:off x="354678" y="1116361"/>
            <a:ext cx="10950632" cy="1296637"/>
          </a:xfrm>
          <a:prstGeom prst="rect">
            <a:avLst/>
          </a:prstGeom>
        </p:spPr>
        <p:txBody>
          <a:bodyPr wrap="square">
            <a:spAutoFit/>
          </a:bodyPr>
          <a:lstStyle/>
          <a:p>
            <a:pPr>
              <a:lnSpc>
                <a:spcPct val="150000"/>
              </a:lnSpc>
            </a:pPr>
            <a:r>
              <a:rPr lang="en-US" altLang="zh-CN" b="1" dirty="0">
                <a:latin typeface="+mj-ea"/>
                <a:ea typeface="+mj-ea"/>
                <a:cs typeface="Times New Roman" panose="02020603050405020304" pitchFamily="18" charset="0"/>
              </a:rPr>
              <a:t>1</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调研准备</a:t>
            </a:r>
            <a:endParaRPr lang="en-US" altLang="zh-CN" b="1"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调研实施计划：实施计划涉及如何安排调研。人员安排、实施计划安排等。</a:t>
            </a:r>
            <a:endParaRPr lang="en-US" altLang="zh-CN" dirty="0">
              <a:latin typeface="+mj-ea"/>
              <a:ea typeface="+mj-ea"/>
              <a:cs typeface="Times New Roman" panose="02020603050405020304" pitchFamily="18" charset="0"/>
            </a:endParaRPr>
          </a:p>
          <a:p>
            <a:pPr marL="742950" lvl="1" indent="-285750">
              <a:lnSpc>
                <a:spcPct val="150000"/>
              </a:lnSpc>
              <a:buFont typeface="Arial" panose="020B0604020202020204" pitchFamily="34" charset="0"/>
              <a:buChar char="•"/>
            </a:pPr>
            <a:endParaRPr lang="zh-CN" altLang="zh-CN" dirty="0">
              <a:latin typeface="+mj-ea"/>
              <a:ea typeface="+mj-ea"/>
              <a:cs typeface="Times New Roman" panose="02020603050405020304" pitchFamily="18" charset="0"/>
            </a:endParaRPr>
          </a:p>
        </p:txBody>
      </p:sp>
      <p:sp>
        <p:nvSpPr>
          <p:cNvPr id="3" name="标题 1">
            <a:extLst>
              <a:ext uri="{FF2B5EF4-FFF2-40B4-BE49-F238E27FC236}">
                <a16:creationId xmlns:a16="http://schemas.microsoft.com/office/drawing/2014/main" id="{7E563DCA-1E23-4A1D-B488-2D9497ACE4C4}"/>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调研实施</a:t>
            </a:r>
          </a:p>
        </p:txBody>
      </p:sp>
      <p:sp>
        <p:nvSpPr>
          <p:cNvPr id="5" name="矩形 4">
            <a:extLst>
              <a:ext uri="{FF2B5EF4-FFF2-40B4-BE49-F238E27FC236}">
                <a16:creationId xmlns:a16="http://schemas.microsoft.com/office/drawing/2014/main" id="{109E7299-B43C-4D1E-BB42-61DAD8E144EC}"/>
              </a:ext>
            </a:extLst>
          </p:cNvPr>
          <p:cNvSpPr/>
          <p:nvPr/>
        </p:nvSpPr>
        <p:spPr>
          <a:xfrm>
            <a:off x="256707" y="2412998"/>
            <a:ext cx="11380122" cy="3693319"/>
          </a:xfrm>
          <a:prstGeom prst="rect">
            <a:avLst/>
          </a:prstGeom>
          <a:solidFill>
            <a:schemeClr val="accent6">
              <a:lumMod val="20000"/>
              <a:lumOff val="80000"/>
            </a:schemeClr>
          </a:solidFill>
          <a:ln>
            <a:solidFill>
              <a:schemeClr val="tx1"/>
            </a:solidFill>
          </a:ln>
        </p:spPr>
        <p:txBody>
          <a:bodyPr wrap="square">
            <a:spAutoFit/>
          </a:bodyPr>
          <a:lstStyle/>
          <a:p>
            <a:pPr algn="just"/>
            <a:r>
              <a:rPr lang="zh-CN" altLang="zh-CN" kern="100" dirty="0">
                <a:latin typeface="+mj-ea"/>
                <a:ea typeface="+mj-ea"/>
                <a:cs typeface="Times New Roman" panose="02020603050405020304" pitchFamily="18" charset="0"/>
              </a:rPr>
              <a:t>某大型建设工程在招标阶段调研的实施计划包括以下几个阶段：</a:t>
            </a:r>
          </a:p>
          <a:p>
            <a:pPr marL="342900" indent="-342900" algn="just">
              <a:buFont typeface="Arial" panose="020B0604020202020204" pitchFamily="34" charset="0"/>
              <a:buChar char="•"/>
            </a:pPr>
            <a:r>
              <a:rPr lang="zh-CN" altLang="zh-CN" b="1" kern="100" dirty="0">
                <a:latin typeface="+mj-ea"/>
                <a:ea typeface="+mj-ea"/>
                <a:cs typeface="Times New Roman" panose="02020603050405020304" pitchFamily="18" charset="0"/>
              </a:rPr>
              <a:t>广泛搜集信息阶段</a:t>
            </a:r>
            <a:r>
              <a:rPr lang="zh-CN" altLang="zh-CN" kern="100" dirty="0">
                <a:latin typeface="+mj-ea"/>
                <a:ea typeface="+mj-ea"/>
                <a:cs typeface="Times New Roman" panose="02020603050405020304" pitchFamily="18" charset="0"/>
              </a:rPr>
              <a:t>。主要通过网络信息搜集、资料查阅的方式，广泛了解市场信息。</a:t>
            </a:r>
          </a:p>
          <a:p>
            <a:pPr marL="342900" indent="-342900" algn="just">
              <a:buFont typeface="Arial" panose="020B0604020202020204" pitchFamily="34" charset="0"/>
              <a:buChar char="•"/>
            </a:pPr>
            <a:r>
              <a:rPr lang="zh-CN" altLang="zh-CN" b="1" kern="100" dirty="0">
                <a:latin typeface="+mj-ea"/>
                <a:ea typeface="+mj-ea"/>
                <a:cs typeface="Times New Roman" panose="02020603050405020304" pitchFamily="18" charset="0"/>
              </a:rPr>
              <a:t>初步调查阶段</a:t>
            </a:r>
            <a:r>
              <a:rPr lang="zh-CN" altLang="zh-CN" kern="100" dirty="0">
                <a:latin typeface="+mj-ea"/>
                <a:ea typeface="+mj-ea"/>
                <a:cs typeface="Times New Roman" panose="02020603050405020304" pitchFamily="18" charset="0"/>
              </a:rPr>
              <a:t>。</a:t>
            </a:r>
            <a:endParaRPr lang="en-US" altLang="zh-CN" kern="100" dirty="0">
              <a:latin typeface="+mj-ea"/>
              <a:ea typeface="+mj-ea"/>
              <a:cs typeface="Times New Roman" panose="02020603050405020304" pitchFamily="18" charset="0"/>
            </a:endParaRPr>
          </a:p>
          <a:p>
            <a:pPr marL="800100" lvl="1" indent="-342900" algn="just">
              <a:buFont typeface="Arial" panose="020B0604020202020204" pitchFamily="34" charset="0"/>
              <a:buChar char="•"/>
            </a:pPr>
            <a:r>
              <a:rPr lang="zh-CN" altLang="zh-CN" kern="100" dirty="0">
                <a:latin typeface="+mj-ea"/>
                <a:ea typeface="+mj-ea"/>
                <a:cs typeface="Times New Roman" panose="02020603050405020304" pitchFamily="18" charset="0"/>
              </a:rPr>
              <a:t>首先，初步拟定调研名单。应结合项目需求与定位、项目约束条件分析成果、市场信息等情况，初步拟定调研名单，并初步沟通联络确认参与调研意向。</a:t>
            </a:r>
            <a:endParaRPr lang="en-US" altLang="zh-CN" kern="100" dirty="0">
              <a:latin typeface="+mj-ea"/>
              <a:ea typeface="+mj-ea"/>
              <a:cs typeface="Times New Roman" panose="02020603050405020304" pitchFamily="18" charset="0"/>
            </a:endParaRPr>
          </a:p>
          <a:p>
            <a:pPr marL="800100" lvl="1" indent="-342900" algn="just">
              <a:buFont typeface="Arial" panose="020B0604020202020204" pitchFamily="34" charset="0"/>
              <a:buChar char="•"/>
            </a:pPr>
            <a:r>
              <a:rPr lang="zh-CN" altLang="zh-CN" kern="100" dirty="0">
                <a:latin typeface="+mj-ea"/>
                <a:ea typeface="+mj-ea"/>
                <a:cs typeface="Times New Roman" panose="02020603050405020304" pitchFamily="18" charset="0"/>
              </a:rPr>
              <a:t>其次，拟定调研提纲。应结合项目需求与定位、项目约束条件分析成果，拟定调研提纲，向调研对象发送书面调研函件。</a:t>
            </a:r>
            <a:endParaRPr lang="en-US" altLang="zh-CN" kern="100" dirty="0">
              <a:latin typeface="+mj-ea"/>
              <a:ea typeface="+mj-ea"/>
              <a:cs typeface="Times New Roman" panose="02020603050405020304" pitchFamily="18" charset="0"/>
            </a:endParaRPr>
          </a:p>
          <a:p>
            <a:pPr marL="800100" lvl="1" indent="-342900" algn="just">
              <a:buFont typeface="Arial" panose="020B0604020202020204" pitchFamily="34" charset="0"/>
              <a:buChar char="•"/>
            </a:pPr>
            <a:r>
              <a:rPr lang="zh-CN" altLang="zh-CN" kern="100" dirty="0">
                <a:latin typeface="+mj-ea"/>
                <a:ea typeface="+mj-ea"/>
                <a:cs typeface="Times New Roman" panose="02020603050405020304" pitchFamily="18" charset="0"/>
              </a:rPr>
              <a:t>最后，整理分析调研回复资料。对调研对象回复的资料进行整理分析。</a:t>
            </a:r>
          </a:p>
          <a:p>
            <a:pPr marL="342900" indent="-342900" algn="just">
              <a:buFont typeface="Arial" panose="020B0604020202020204" pitchFamily="34" charset="0"/>
              <a:buChar char="•"/>
            </a:pPr>
            <a:r>
              <a:rPr lang="zh-CN" altLang="zh-CN" b="1" kern="100" dirty="0">
                <a:latin typeface="+mj-ea"/>
                <a:ea typeface="+mj-ea"/>
                <a:cs typeface="Times New Roman" panose="02020603050405020304" pitchFamily="18" charset="0"/>
              </a:rPr>
              <a:t>进一步调查阶段</a:t>
            </a:r>
            <a:r>
              <a:rPr lang="zh-CN" altLang="zh-CN" kern="100" dirty="0">
                <a:latin typeface="+mj-ea"/>
                <a:ea typeface="+mj-ea"/>
                <a:cs typeface="Times New Roman" panose="02020603050405020304" pitchFamily="18" charset="0"/>
              </a:rPr>
              <a:t>。根据现有资料的分析结果，针对性开展会议调查、实地考察、专家调查，并在过程中作必要的文字及图像记录。</a:t>
            </a:r>
          </a:p>
          <a:p>
            <a:pPr marL="342900" indent="-342900" algn="just">
              <a:buFont typeface="Arial" panose="020B0604020202020204" pitchFamily="34" charset="0"/>
              <a:buChar char="•"/>
            </a:pPr>
            <a:r>
              <a:rPr lang="zh-CN" altLang="zh-CN" b="1" kern="100" dirty="0">
                <a:latin typeface="+mj-ea"/>
                <a:ea typeface="+mj-ea"/>
                <a:cs typeface="Times New Roman" panose="02020603050405020304" pitchFamily="18" charset="0"/>
              </a:rPr>
              <a:t>总结调研成果阶段</a:t>
            </a:r>
            <a:r>
              <a:rPr lang="zh-CN" altLang="zh-CN" kern="100" dirty="0">
                <a:latin typeface="+mj-ea"/>
                <a:ea typeface="+mj-ea"/>
                <a:cs typeface="Times New Roman" panose="02020603050405020304" pitchFamily="18" charset="0"/>
              </a:rPr>
              <a:t>。综合分析前几个阶段的调研信息资料，甄别资料的适用性、真实性和完整性，并总结形成调研报告，提出对项目招标的建议。在编制报告过程中，如获得资料不满足招标工作需求，可对疑问部分进行多次求证，或补充二次调研。</a:t>
            </a:r>
          </a:p>
        </p:txBody>
      </p:sp>
    </p:spTree>
    <p:extLst>
      <p:ext uri="{BB962C8B-B14F-4D97-AF65-F5344CB8AC3E}">
        <p14:creationId xmlns:p14="http://schemas.microsoft.com/office/powerpoint/2010/main" val="11668669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5D267DF-CD6F-4B63-B6B3-029072668109}"/>
              </a:ext>
            </a:extLst>
          </p:cNvPr>
          <p:cNvSpPr/>
          <p:nvPr/>
        </p:nvSpPr>
        <p:spPr>
          <a:xfrm>
            <a:off x="354677" y="1116361"/>
            <a:ext cx="11837323" cy="2543132"/>
          </a:xfrm>
          <a:prstGeom prst="rect">
            <a:avLst/>
          </a:prstGeom>
        </p:spPr>
        <p:txBody>
          <a:bodyPr wrap="square">
            <a:spAutoFit/>
          </a:bodyPr>
          <a:lstStyle/>
          <a:p>
            <a:pPr>
              <a:lnSpc>
                <a:spcPct val="150000"/>
              </a:lnSpc>
            </a:pPr>
            <a:r>
              <a:rPr lang="en-US" altLang="zh-CN" b="1" dirty="0">
                <a:latin typeface="+mj-ea"/>
                <a:ea typeface="+mj-ea"/>
                <a:cs typeface="Times New Roman" panose="02020603050405020304" pitchFamily="18" charset="0"/>
              </a:rPr>
              <a:t>2</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调研过程</a:t>
            </a: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调研过程要注重隐私和商业信息的保护，如征询是否可以录音，对商业信息的脱敏和保护。</a:t>
            </a:r>
            <a:endParaRPr lang="en-US" altLang="zh-CN"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调研过程需要做好记录，包括一些基础性信息，如调研材料的初步整理，档案材料的编号和归类。</a:t>
            </a:r>
          </a:p>
          <a:p>
            <a:pPr>
              <a:lnSpc>
                <a:spcPct val="150000"/>
              </a:lnSpc>
            </a:pPr>
            <a:r>
              <a:rPr lang="en-US" altLang="zh-CN" b="1" dirty="0">
                <a:latin typeface="+mj-ea"/>
                <a:ea typeface="+mj-ea"/>
                <a:cs typeface="Times New Roman" panose="02020603050405020304" pitchFamily="18" charset="0"/>
              </a:rPr>
              <a:t>3</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形成调研数据库和数据分析</a:t>
            </a:r>
            <a:endParaRPr lang="en-US" altLang="zh-CN" b="1" dirty="0">
              <a:latin typeface="+mj-ea"/>
              <a:ea typeface="+mj-ea"/>
              <a:cs typeface="Times New Roman" panose="02020603050405020304" pitchFamily="18" charset="0"/>
            </a:endParaRP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调研数据库体现在从问题、数据、结论的过程链条。原始数据要做规范化存储，方便后续分析的检索和调取。</a:t>
            </a:r>
          </a:p>
          <a:p>
            <a:pPr marL="285750"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数据分析主要是目标导向，以实现某预期目标选择某数据分析方法。</a:t>
            </a:r>
            <a:endParaRPr lang="zh-CN" altLang="en-US" dirty="0">
              <a:latin typeface="+mj-ea"/>
              <a:ea typeface="+mj-ea"/>
              <a:cs typeface="Times New Roman" panose="02020603050405020304" pitchFamily="18" charset="0"/>
            </a:endParaRPr>
          </a:p>
        </p:txBody>
      </p:sp>
      <p:sp>
        <p:nvSpPr>
          <p:cNvPr id="3" name="标题 1">
            <a:extLst>
              <a:ext uri="{FF2B5EF4-FFF2-40B4-BE49-F238E27FC236}">
                <a16:creationId xmlns:a16="http://schemas.microsoft.com/office/drawing/2014/main" id="{7E563DCA-1E23-4A1D-B488-2D9497ACE4C4}"/>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调研实施</a:t>
            </a:r>
          </a:p>
        </p:txBody>
      </p:sp>
    </p:spTree>
    <p:extLst>
      <p:ext uri="{BB962C8B-B14F-4D97-AF65-F5344CB8AC3E}">
        <p14:creationId xmlns:p14="http://schemas.microsoft.com/office/powerpoint/2010/main" val="34433380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E5D267DF-CD6F-4B63-B6B3-029072668109}"/>
              </a:ext>
            </a:extLst>
          </p:cNvPr>
          <p:cNvSpPr/>
          <p:nvPr/>
        </p:nvSpPr>
        <p:spPr>
          <a:xfrm>
            <a:off x="354677" y="1116361"/>
            <a:ext cx="10922923" cy="2958630"/>
          </a:xfrm>
          <a:prstGeom prst="rect">
            <a:avLst/>
          </a:prstGeom>
        </p:spPr>
        <p:txBody>
          <a:bodyPr wrap="square">
            <a:spAutoFit/>
          </a:bodyPr>
          <a:lstStyle/>
          <a:p>
            <a:pPr>
              <a:lnSpc>
                <a:spcPct val="150000"/>
              </a:lnSpc>
            </a:pPr>
            <a:r>
              <a:rPr lang="en-US" altLang="zh-CN" b="1" dirty="0">
                <a:latin typeface="+mj-ea"/>
                <a:ea typeface="+mj-ea"/>
                <a:cs typeface="Times New Roman" panose="02020603050405020304" pitchFamily="18" charset="0"/>
              </a:rPr>
              <a:t>1</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调研对象描述</a:t>
            </a:r>
            <a:r>
              <a:rPr lang="zh-CN" altLang="en-US" b="1"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对调研对象特征的说明</a:t>
            </a:r>
            <a:endParaRPr lang="en-US" altLang="zh-CN" dirty="0">
              <a:latin typeface="+mj-ea"/>
              <a:ea typeface="+mj-ea"/>
              <a:cs typeface="Times New Roman" panose="02020603050405020304" pitchFamily="18" charset="0"/>
            </a:endParaRPr>
          </a:p>
          <a:p>
            <a:pPr marL="742950" lvl="1"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案例调研</a:t>
            </a:r>
            <a:r>
              <a:rPr lang="zh-CN" altLang="en-US"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需要对案例背景信息、数据来源（如访谈、文档资料）等进行说明</a:t>
            </a:r>
            <a:endParaRPr lang="en-US" altLang="zh-CN" dirty="0">
              <a:latin typeface="+mj-ea"/>
              <a:ea typeface="+mj-ea"/>
              <a:cs typeface="Times New Roman" panose="02020603050405020304" pitchFamily="18" charset="0"/>
            </a:endParaRPr>
          </a:p>
          <a:p>
            <a:pPr marL="742950" lvl="1"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访谈</a:t>
            </a:r>
            <a:r>
              <a:rPr lang="zh-CN" altLang="en-US"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对访谈对象的基本信息进行描述说明</a:t>
            </a:r>
            <a:endParaRPr lang="en-US" altLang="zh-CN" dirty="0">
              <a:latin typeface="+mj-ea"/>
              <a:ea typeface="+mj-ea"/>
              <a:cs typeface="Times New Roman" panose="02020603050405020304" pitchFamily="18" charset="0"/>
            </a:endParaRPr>
          </a:p>
          <a:p>
            <a:pPr marL="742950" lvl="1" indent="-285750">
              <a:lnSpc>
                <a:spcPct val="150000"/>
              </a:lnSpc>
              <a:buFont typeface="Arial" panose="020B0604020202020204" pitchFamily="34" charset="0"/>
              <a:buChar char="•"/>
            </a:pPr>
            <a:r>
              <a:rPr lang="zh-CN" altLang="zh-CN" dirty="0">
                <a:latin typeface="+mj-ea"/>
                <a:ea typeface="+mj-ea"/>
                <a:cs typeface="Times New Roman" panose="02020603050405020304" pitchFamily="18" charset="0"/>
              </a:rPr>
              <a:t>问卷调查</a:t>
            </a:r>
            <a:r>
              <a:rPr lang="zh-CN" altLang="en-US"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说明问卷调查对象的背景信息</a:t>
            </a:r>
          </a:p>
          <a:p>
            <a:pPr>
              <a:lnSpc>
                <a:spcPct val="150000"/>
              </a:lnSpc>
            </a:pPr>
            <a:r>
              <a:rPr lang="en-US" altLang="zh-CN" b="1" dirty="0">
                <a:latin typeface="+mj-ea"/>
                <a:ea typeface="+mj-ea"/>
                <a:cs typeface="Times New Roman" panose="02020603050405020304" pitchFamily="18" charset="0"/>
              </a:rPr>
              <a:t>2</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描述性分析。</a:t>
            </a:r>
            <a:r>
              <a:rPr lang="zh-CN" altLang="zh-CN" dirty="0">
                <a:latin typeface="+mj-ea"/>
                <a:ea typeface="+mj-ea"/>
                <a:cs typeface="Times New Roman" panose="02020603050405020304" pitchFamily="18" charset="0"/>
              </a:rPr>
              <a:t>描述性分析是对调研结果的描述性分析。主要针对调研内容进行的初步描述。</a:t>
            </a:r>
          </a:p>
          <a:p>
            <a:pPr>
              <a:lnSpc>
                <a:spcPct val="150000"/>
              </a:lnSpc>
            </a:pPr>
            <a:r>
              <a:rPr lang="en-US" altLang="zh-CN" b="1" dirty="0">
                <a:latin typeface="+mj-ea"/>
                <a:ea typeface="+mj-ea"/>
                <a:cs typeface="Times New Roman" panose="02020603050405020304" pitchFamily="18" charset="0"/>
              </a:rPr>
              <a:t>3</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数据分析结果。</a:t>
            </a:r>
            <a:r>
              <a:rPr lang="zh-CN" altLang="zh-CN" dirty="0">
                <a:latin typeface="+mj-ea"/>
                <a:ea typeface="+mj-ea"/>
                <a:cs typeface="Times New Roman" panose="02020603050405020304" pitchFamily="18" charset="0"/>
              </a:rPr>
              <a:t>数据分析结果是陈述数据分析过程以及数据分析结果两部分内容。数据分析过程一般遵循数据分析方法的步骤，对每一个步骤中需要呈现的内容进行规范呈现。</a:t>
            </a:r>
            <a:endParaRPr lang="zh-CN" altLang="en-US" dirty="0">
              <a:latin typeface="+mj-ea"/>
              <a:ea typeface="+mj-ea"/>
              <a:cs typeface="Times New Roman" panose="02020603050405020304" pitchFamily="18" charset="0"/>
            </a:endParaRPr>
          </a:p>
        </p:txBody>
      </p:sp>
      <p:sp>
        <p:nvSpPr>
          <p:cNvPr id="3" name="标题 1">
            <a:extLst>
              <a:ext uri="{FF2B5EF4-FFF2-40B4-BE49-F238E27FC236}">
                <a16:creationId xmlns:a16="http://schemas.microsoft.com/office/drawing/2014/main" id="{7E563DCA-1E23-4A1D-B488-2D9497ACE4C4}"/>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调研结果的呈现</a:t>
            </a:r>
          </a:p>
        </p:txBody>
      </p:sp>
    </p:spTree>
    <p:extLst>
      <p:ext uri="{BB962C8B-B14F-4D97-AF65-F5344CB8AC3E}">
        <p14:creationId xmlns:p14="http://schemas.microsoft.com/office/powerpoint/2010/main" val="19938710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790D9-FF85-4B0A-92F7-B5348D675A8B}"/>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访谈</a:t>
            </a:r>
          </a:p>
        </p:txBody>
      </p:sp>
      <p:sp>
        <p:nvSpPr>
          <p:cNvPr id="3" name="矩形 2">
            <a:extLst>
              <a:ext uri="{FF2B5EF4-FFF2-40B4-BE49-F238E27FC236}">
                <a16:creationId xmlns:a16="http://schemas.microsoft.com/office/drawing/2014/main" id="{F2D6E189-F086-4F30-9455-6B129C294797}"/>
              </a:ext>
            </a:extLst>
          </p:cNvPr>
          <p:cNvSpPr/>
          <p:nvPr/>
        </p:nvSpPr>
        <p:spPr>
          <a:xfrm>
            <a:off x="402356" y="1092046"/>
            <a:ext cx="10843713" cy="4620624"/>
          </a:xfrm>
          <a:prstGeom prst="rect">
            <a:avLst/>
          </a:prstGeom>
        </p:spPr>
        <p:txBody>
          <a:bodyPr wrap="square">
            <a:spAutoFit/>
          </a:bodyPr>
          <a:lstStyle/>
          <a:p>
            <a:pPr>
              <a:lnSpc>
                <a:spcPct val="150000"/>
              </a:lnSpc>
            </a:pPr>
            <a:r>
              <a:rPr lang="zh-CN" altLang="zh-CN" b="1" dirty="0">
                <a:latin typeface="+mj-ea"/>
                <a:ea typeface="+mj-ea"/>
                <a:cs typeface="Times New Roman" panose="02020603050405020304" pitchFamily="18" charset="0"/>
              </a:rPr>
              <a:t>访谈</a:t>
            </a:r>
            <a:r>
              <a:rPr lang="zh-CN" altLang="en-US" b="1"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访谈调研是为实现研究目标，选择合适的专家，采用访谈的方式进行数据收集的一种调研方式。访谈调研主要采用访谈（半结构化、结构化）作为数据收集的方式。</a:t>
            </a:r>
          </a:p>
          <a:p>
            <a:pPr lvl="0"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1</a:t>
            </a:r>
            <a:r>
              <a:rPr lang="zh-CN" altLang="en-US" b="1" dirty="0">
                <a:latin typeface="+mj-ea"/>
                <a:ea typeface="+mj-ea"/>
                <a:cs typeface="Times New Roman" panose="02020603050405020304" pitchFamily="18" charset="0"/>
              </a:rPr>
              <a:t>、访谈调研设计的特征</a:t>
            </a:r>
          </a:p>
          <a:p>
            <a:pPr marL="285750" lvl="0" indent="-285750" fontAlgn="base">
              <a:lnSpc>
                <a:spcPct val="150000"/>
              </a:lnSpc>
              <a:spcBef>
                <a:spcPct val="0"/>
              </a:spcBef>
              <a:spcAft>
                <a:spcPct val="0"/>
              </a:spcAft>
              <a:buFont typeface="Arial" panose="020B0604020202020204" pitchFamily="34" charset="0"/>
              <a:buChar char="•"/>
              <a:tabLst>
                <a:tab pos="914400" algn="l"/>
              </a:tabLst>
            </a:pPr>
            <a:r>
              <a:rPr lang="zh-CN" altLang="en-US" dirty="0">
                <a:latin typeface="+mj-ea"/>
                <a:ea typeface="+mj-ea"/>
                <a:cs typeface="Times New Roman" panose="02020603050405020304" pitchFamily="18" charset="0"/>
              </a:rPr>
              <a:t>弹性：访谈对象选择、访谈问题、访谈过程</a:t>
            </a:r>
            <a:endParaRPr lang="en-US" altLang="zh-CN" dirty="0">
              <a:latin typeface="+mj-ea"/>
              <a:ea typeface="+mj-ea"/>
              <a:cs typeface="Times New Roman" panose="02020603050405020304" pitchFamily="18" charset="0"/>
            </a:endParaRPr>
          </a:p>
          <a:p>
            <a:pPr lvl="0"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2</a:t>
            </a:r>
            <a:r>
              <a:rPr lang="zh-CN" altLang="en-US" b="1" dirty="0">
                <a:latin typeface="+mj-ea"/>
                <a:ea typeface="+mj-ea"/>
                <a:cs typeface="Times New Roman" panose="02020603050405020304" pitchFamily="18" charset="0"/>
              </a:rPr>
              <a:t>、访谈问题设计的流程</a:t>
            </a:r>
          </a:p>
          <a:p>
            <a:pPr marL="285750" lvl="0" indent="-285750" fontAlgn="base">
              <a:lnSpc>
                <a:spcPct val="150000"/>
              </a:lnSpc>
              <a:spcBef>
                <a:spcPct val="0"/>
              </a:spcBef>
              <a:spcAft>
                <a:spcPct val="0"/>
              </a:spcAft>
              <a:buFont typeface="Arial" panose="020B0604020202020204" pitchFamily="34" charset="0"/>
              <a:buChar char="•"/>
              <a:tabLst>
                <a:tab pos="914400" algn="l"/>
              </a:tabLst>
            </a:pPr>
            <a:r>
              <a:rPr lang="zh-CN" altLang="en-US" dirty="0">
                <a:latin typeface="+mj-ea"/>
                <a:ea typeface="+mj-ea"/>
                <a:cs typeface="Times New Roman" panose="02020603050405020304" pitchFamily="18" charset="0"/>
              </a:rPr>
              <a:t>明确访谈调研的目的。</a:t>
            </a:r>
          </a:p>
          <a:p>
            <a:pPr marL="285750" lvl="0" indent="-285750" fontAlgn="base">
              <a:lnSpc>
                <a:spcPct val="150000"/>
              </a:lnSpc>
              <a:spcBef>
                <a:spcPct val="0"/>
              </a:spcBef>
              <a:spcAft>
                <a:spcPct val="0"/>
              </a:spcAft>
              <a:buFont typeface="Arial" panose="020B0604020202020204" pitchFamily="34" charset="0"/>
              <a:buChar char="•"/>
              <a:tabLst>
                <a:tab pos="914400" algn="l"/>
              </a:tabLst>
            </a:pPr>
            <a:r>
              <a:rPr lang="zh-CN" altLang="en-US" dirty="0">
                <a:latin typeface="+mj-ea"/>
                <a:ea typeface="+mj-ea"/>
                <a:cs typeface="Times New Roman" panose="02020603050405020304" pitchFamily="18" charset="0"/>
              </a:rPr>
              <a:t>与初始假设联系起来。</a:t>
            </a:r>
          </a:p>
          <a:p>
            <a:pPr marL="285750" lvl="0" indent="-285750" fontAlgn="base">
              <a:lnSpc>
                <a:spcPct val="150000"/>
              </a:lnSpc>
              <a:spcBef>
                <a:spcPct val="0"/>
              </a:spcBef>
              <a:spcAft>
                <a:spcPct val="0"/>
              </a:spcAft>
              <a:buFont typeface="Arial" panose="020B0604020202020204" pitchFamily="34" charset="0"/>
              <a:buChar char="•"/>
              <a:tabLst>
                <a:tab pos="914400" algn="l"/>
              </a:tabLst>
            </a:pPr>
            <a:r>
              <a:rPr lang="zh-CN" altLang="en-US" dirty="0">
                <a:latin typeface="+mj-ea"/>
                <a:ea typeface="+mj-ea"/>
                <a:cs typeface="Times New Roman" panose="02020603050405020304" pitchFamily="18" charset="0"/>
              </a:rPr>
              <a:t>设计访谈问题。常见的“为什么”、“是什么”、“怎么样”等类型的问题。</a:t>
            </a:r>
          </a:p>
          <a:p>
            <a:pPr marL="285750" lvl="0" indent="-285750" fontAlgn="base">
              <a:lnSpc>
                <a:spcPct val="150000"/>
              </a:lnSpc>
              <a:spcBef>
                <a:spcPct val="0"/>
              </a:spcBef>
              <a:spcAft>
                <a:spcPct val="0"/>
              </a:spcAft>
              <a:buFont typeface="Arial" panose="020B0604020202020204" pitchFamily="34" charset="0"/>
              <a:buChar char="•"/>
              <a:tabLst>
                <a:tab pos="914400" algn="l"/>
              </a:tabLst>
            </a:pPr>
            <a:r>
              <a:rPr lang="zh-CN" altLang="en-US" dirty="0">
                <a:latin typeface="+mj-ea"/>
                <a:ea typeface="+mj-ea"/>
                <a:cs typeface="Times New Roman" panose="02020603050405020304" pitchFamily="18" charset="0"/>
              </a:rPr>
              <a:t>预测试。</a:t>
            </a:r>
          </a:p>
          <a:p>
            <a:pPr marL="285750" lvl="0" indent="-285750" fontAlgn="base">
              <a:lnSpc>
                <a:spcPct val="150000"/>
              </a:lnSpc>
              <a:spcBef>
                <a:spcPct val="0"/>
              </a:spcBef>
              <a:spcAft>
                <a:spcPct val="0"/>
              </a:spcAft>
              <a:buFont typeface="Arial" panose="020B0604020202020204" pitchFamily="34" charset="0"/>
              <a:buChar char="•"/>
              <a:tabLst>
                <a:tab pos="914400" algn="l"/>
              </a:tabLst>
            </a:pPr>
            <a:r>
              <a:rPr lang="zh-CN" altLang="en-US" dirty="0">
                <a:latin typeface="+mj-ea"/>
                <a:ea typeface="+mj-ea"/>
                <a:cs typeface="Times New Roman" panose="02020603050405020304" pitchFamily="18" charset="0"/>
              </a:rPr>
              <a:t>由于访谈调研的开放性，可根据访谈调研数据的分析情况，对访谈问题进行持续性的修改，以及调整访谈对象的选择。</a:t>
            </a:r>
          </a:p>
        </p:txBody>
      </p:sp>
      <p:pic>
        <p:nvPicPr>
          <p:cNvPr id="4097" name="图片 7">
            <a:extLst>
              <a:ext uri="{FF2B5EF4-FFF2-40B4-BE49-F238E27FC236}">
                <a16:creationId xmlns:a16="http://schemas.microsoft.com/office/drawing/2014/main" id="{9762EB3A-3170-4620-A82C-6CF55D5711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4409" y="2674620"/>
            <a:ext cx="1970088" cy="60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29493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790D9-FF85-4B0A-92F7-B5348D675A8B}"/>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访谈</a:t>
            </a:r>
          </a:p>
        </p:txBody>
      </p:sp>
      <p:sp>
        <p:nvSpPr>
          <p:cNvPr id="3" name="矩形 2">
            <a:extLst>
              <a:ext uri="{FF2B5EF4-FFF2-40B4-BE49-F238E27FC236}">
                <a16:creationId xmlns:a16="http://schemas.microsoft.com/office/drawing/2014/main" id="{F2D6E189-F086-4F30-9455-6B129C294797}"/>
              </a:ext>
            </a:extLst>
          </p:cNvPr>
          <p:cNvSpPr/>
          <p:nvPr/>
        </p:nvSpPr>
        <p:spPr>
          <a:xfrm>
            <a:off x="402356" y="1092046"/>
            <a:ext cx="10867624" cy="2543132"/>
          </a:xfrm>
          <a:prstGeom prst="rect">
            <a:avLst/>
          </a:prstGeom>
        </p:spPr>
        <p:txBody>
          <a:bodyPr wrap="square">
            <a:spAutoFit/>
          </a:bodyPr>
          <a:lstStyle/>
          <a:p>
            <a:pPr lvl="0"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3</a:t>
            </a:r>
            <a:r>
              <a:rPr lang="zh-CN" altLang="en-US" b="1" dirty="0">
                <a:latin typeface="+mj-ea"/>
                <a:ea typeface="+mj-ea"/>
                <a:cs typeface="Times New Roman" panose="02020603050405020304" pitchFamily="18" charset="0"/>
              </a:rPr>
              <a:t>、抽样和抽样的数量</a:t>
            </a:r>
          </a:p>
          <a:p>
            <a:pPr marL="285750" lvl="0" indent="-285750" fontAlgn="base">
              <a:lnSpc>
                <a:spcPct val="150000"/>
              </a:lnSpc>
              <a:spcBef>
                <a:spcPct val="0"/>
              </a:spcBef>
              <a:spcAft>
                <a:spcPct val="0"/>
              </a:spcAft>
              <a:buFont typeface="Arial" panose="020B0604020202020204" pitchFamily="34" charset="0"/>
              <a:buChar char="•"/>
              <a:tabLst>
                <a:tab pos="914400" algn="l"/>
              </a:tabLst>
            </a:pPr>
            <a:r>
              <a:rPr lang="zh-CN" altLang="en-US" dirty="0">
                <a:latin typeface="+mj-ea"/>
                <a:ea typeface="+mj-ea"/>
                <a:cs typeface="Times New Roman" panose="02020603050405020304" pitchFamily="18" charset="0"/>
              </a:rPr>
              <a:t>访谈调研的抽样数量中主要考虑理论抽样。</a:t>
            </a:r>
            <a:endParaRPr lang="en-US" altLang="zh-CN" dirty="0">
              <a:latin typeface="+mj-ea"/>
              <a:ea typeface="+mj-ea"/>
              <a:cs typeface="Times New Roman" panose="02020603050405020304" pitchFamily="18" charset="0"/>
            </a:endParaRPr>
          </a:p>
          <a:p>
            <a:pPr marL="285750" lvl="0" indent="-285750" fontAlgn="base">
              <a:lnSpc>
                <a:spcPct val="150000"/>
              </a:lnSpc>
              <a:spcBef>
                <a:spcPct val="0"/>
              </a:spcBef>
              <a:spcAft>
                <a:spcPct val="0"/>
              </a:spcAft>
              <a:buFont typeface="Arial" panose="020B0604020202020204" pitchFamily="34" charset="0"/>
              <a:buChar char="•"/>
              <a:tabLst>
                <a:tab pos="914400" algn="l"/>
              </a:tabLst>
            </a:pPr>
            <a:r>
              <a:rPr lang="zh-CN" altLang="en-US" dirty="0">
                <a:latin typeface="+mj-ea"/>
                <a:ea typeface="+mj-ea"/>
                <a:cs typeface="Times New Roman" panose="02020603050405020304" pitchFamily="18" charset="0"/>
              </a:rPr>
              <a:t>理论抽样是指理论驱使下的数据收集，建立在进一步发展涌现理论的基础上，为了理论阐述寻求不同的数据片段。为了寻找和发展涌现出的想法，不断重复已有数据和收集新数据的循环过程。</a:t>
            </a:r>
          </a:p>
          <a:p>
            <a:pPr marL="285750" lvl="0" indent="-285750" fontAlgn="base">
              <a:lnSpc>
                <a:spcPct val="150000"/>
              </a:lnSpc>
              <a:spcBef>
                <a:spcPct val="0"/>
              </a:spcBef>
              <a:spcAft>
                <a:spcPct val="0"/>
              </a:spcAft>
              <a:buFont typeface="Arial" panose="020B0604020202020204" pitchFamily="34" charset="0"/>
              <a:buChar char="•"/>
              <a:tabLst>
                <a:tab pos="914400" algn="l"/>
              </a:tabLst>
            </a:pPr>
            <a:r>
              <a:rPr lang="zh-CN" altLang="en-US" dirty="0">
                <a:latin typeface="+mj-ea"/>
                <a:ea typeface="+mj-ea"/>
                <a:cs typeface="Times New Roman" panose="02020603050405020304" pitchFamily="18" charset="0"/>
              </a:rPr>
              <a:t>数据收集过程中，需要给予信息提供者足够话语权，对访谈提纲保持弹性，基于访谈收集的信息进一步地修改和调整。当所分析的数据出现较大的一致性，并且没有新数据出现时，则认为是数据收集的结束。</a:t>
            </a:r>
          </a:p>
        </p:txBody>
      </p:sp>
      <p:sp>
        <p:nvSpPr>
          <p:cNvPr id="7" name="矩形 6">
            <a:extLst>
              <a:ext uri="{FF2B5EF4-FFF2-40B4-BE49-F238E27FC236}">
                <a16:creationId xmlns:a16="http://schemas.microsoft.com/office/drawing/2014/main" id="{F04CEB82-5592-4B05-8646-B950709F5421}"/>
              </a:ext>
            </a:extLst>
          </p:cNvPr>
          <p:cNvSpPr/>
          <p:nvPr/>
        </p:nvSpPr>
        <p:spPr>
          <a:xfrm>
            <a:off x="273034" y="3759061"/>
            <a:ext cx="11469385" cy="2862322"/>
          </a:xfrm>
          <a:prstGeom prst="rect">
            <a:avLst/>
          </a:prstGeom>
          <a:solidFill>
            <a:schemeClr val="accent6">
              <a:lumMod val="20000"/>
              <a:lumOff val="80000"/>
            </a:schemeClr>
          </a:solidFill>
          <a:ln>
            <a:solidFill>
              <a:schemeClr val="tx1"/>
            </a:solidFill>
          </a:ln>
        </p:spPr>
        <p:txBody>
          <a:bodyPr wrap="square">
            <a:spAutoFit/>
          </a:bodyPr>
          <a:lstStyle/>
          <a:p>
            <a:pPr algn="just"/>
            <a:r>
              <a:rPr lang="zh-CN" altLang="en-US" dirty="0">
                <a:latin typeface="+mj-ea"/>
                <a:cs typeface="Times New Roman" panose="02020603050405020304" pitchFamily="18" charset="0"/>
              </a:rPr>
              <a:t>研究目的：分析地域对企业内和企业间协调的影响</a:t>
            </a:r>
            <a:endParaRPr lang="en-US" altLang="zh-CN" dirty="0">
              <a:latin typeface="+mj-ea"/>
              <a:cs typeface="Times New Roman" panose="02020603050405020304" pitchFamily="18" charset="0"/>
            </a:endParaRPr>
          </a:p>
          <a:p>
            <a:pPr algn="just"/>
            <a:r>
              <a:rPr lang="zh-CN" altLang="en-US" dirty="0">
                <a:latin typeface="+mj-ea"/>
                <a:cs typeface="Times New Roman" panose="02020603050405020304" pitchFamily="18" charset="0"/>
              </a:rPr>
              <a:t>抽样：</a:t>
            </a:r>
            <a:endParaRPr lang="en-US" altLang="zh-CN" dirty="0">
              <a:latin typeface="+mj-ea"/>
              <a:cs typeface="Times New Roman" panose="02020603050405020304" pitchFamily="18" charset="0"/>
            </a:endParaRPr>
          </a:p>
          <a:p>
            <a:pPr marL="285750" indent="-285750" algn="just">
              <a:buFont typeface="Arial" panose="020B0604020202020204" pitchFamily="34" charset="0"/>
              <a:buChar char="•"/>
            </a:pPr>
            <a:r>
              <a:rPr lang="zh-CN" altLang="en-US" dirty="0">
                <a:latin typeface="+mj-ea"/>
                <a:cs typeface="Times New Roman" panose="02020603050405020304" pitchFamily="18" charset="0"/>
              </a:rPr>
              <a:t>抽样了</a:t>
            </a:r>
            <a:r>
              <a:rPr lang="en-US" altLang="zh-CN" dirty="0">
                <a:latin typeface="+mj-ea"/>
                <a:cs typeface="Times New Roman" panose="02020603050405020304" pitchFamily="18" charset="0"/>
              </a:rPr>
              <a:t>32</a:t>
            </a:r>
            <a:r>
              <a:rPr lang="zh-CN" altLang="en-US" dirty="0">
                <a:latin typeface="+mj-ea"/>
                <a:cs typeface="Times New Roman" panose="02020603050405020304" pitchFamily="18" charset="0"/>
              </a:rPr>
              <a:t>个项目经理的访谈，分别来自两家离岸软件分包公司（一家在美国、一家在印度），参与的</a:t>
            </a:r>
            <a:r>
              <a:rPr lang="en-US" altLang="zh-CN" dirty="0">
                <a:latin typeface="+mj-ea"/>
                <a:cs typeface="Times New Roman" panose="02020603050405020304" pitchFamily="18" charset="0"/>
              </a:rPr>
              <a:t>30</a:t>
            </a:r>
            <a:r>
              <a:rPr lang="zh-CN" altLang="en-US" dirty="0">
                <a:latin typeface="+mj-ea"/>
                <a:cs typeface="Times New Roman" panose="02020603050405020304" pitchFamily="18" charset="0"/>
              </a:rPr>
              <a:t>个项目（</a:t>
            </a:r>
            <a:r>
              <a:rPr lang="en-US" altLang="zh-CN" dirty="0">
                <a:latin typeface="+mj-ea"/>
                <a:cs typeface="Times New Roman" panose="02020603050405020304" pitchFamily="18" charset="0"/>
              </a:rPr>
              <a:t>15</a:t>
            </a:r>
            <a:r>
              <a:rPr lang="zh-CN" altLang="en-US" dirty="0">
                <a:latin typeface="+mj-ea"/>
                <a:cs typeface="Times New Roman" panose="02020603050405020304" pitchFamily="18" charset="0"/>
              </a:rPr>
              <a:t>个</a:t>
            </a:r>
            <a:r>
              <a:rPr lang="en-US" altLang="zh-CN" dirty="0">
                <a:latin typeface="+mj-ea"/>
                <a:cs typeface="Times New Roman" panose="02020603050405020304" pitchFamily="18" charset="0"/>
              </a:rPr>
              <a:t>/</a:t>
            </a:r>
            <a:r>
              <a:rPr lang="zh-CN" altLang="en-US" dirty="0">
                <a:latin typeface="+mj-ea"/>
                <a:cs typeface="Times New Roman" panose="02020603050405020304" pitchFamily="18" charset="0"/>
              </a:rPr>
              <a:t>公司）。</a:t>
            </a:r>
            <a:endParaRPr lang="en-US" altLang="zh-CN" dirty="0">
              <a:latin typeface="+mj-ea"/>
              <a:cs typeface="Times New Roman" panose="02020603050405020304" pitchFamily="18" charset="0"/>
            </a:endParaRPr>
          </a:p>
          <a:p>
            <a:pPr marL="285750" indent="-285750" algn="just">
              <a:buFont typeface="Arial" panose="020B0604020202020204" pitchFamily="34" charset="0"/>
              <a:buChar char="•"/>
            </a:pPr>
            <a:r>
              <a:rPr lang="zh-CN" altLang="en-US" dirty="0">
                <a:latin typeface="+mj-ea"/>
                <a:cs typeface="Times New Roman" panose="02020603050405020304" pitchFamily="18" charset="0"/>
              </a:rPr>
              <a:t>两个维度的抽样方法，开发人员是否来自一个公司和开发人员是否在同一个地方办公。开发人员来自一个公司，并且在同一个地方办公（</a:t>
            </a:r>
            <a:r>
              <a:rPr lang="en-US" altLang="zh-CN" dirty="0">
                <a:latin typeface="+mj-ea"/>
                <a:cs typeface="Times New Roman" panose="02020603050405020304" pitchFamily="18" charset="0"/>
              </a:rPr>
              <a:t>8</a:t>
            </a:r>
            <a:r>
              <a:rPr lang="zh-CN" altLang="en-US" dirty="0">
                <a:latin typeface="+mj-ea"/>
                <a:cs typeface="Times New Roman" panose="02020603050405020304" pitchFamily="18" charset="0"/>
              </a:rPr>
              <a:t>个项目）、开发人员来自软件供应商或业主，但在同一个地方办公（</a:t>
            </a:r>
            <a:r>
              <a:rPr lang="en-US" altLang="zh-CN" dirty="0">
                <a:latin typeface="+mj-ea"/>
                <a:cs typeface="Times New Roman" panose="02020603050405020304" pitchFamily="18" charset="0"/>
              </a:rPr>
              <a:t>10</a:t>
            </a:r>
            <a:r>
              <a:rPr lang="zh-CN" altLang="en-US" dirty="0">
                <a:latin typeface="+mj-ea"/>
                <a:cs typeface="Times New Roman" panose="02020603050405020304" pitchFamily="18" charset="0"/>
              </a:rPr>
              <a:t>个项目）、开发人员来自一个公司，并且在不同的地方办公（</a:t>
            </a:r>
            <a:r>
              <a:rPr lang="en-US" altLang="zh-CN" dirty="0">
                <a:latin typeface="+mj-ea"/>
                <a:cs typeface="Times New Roman" panose="02020603050405020304" pitchFamily="18" charset="0"/>
              </a:rPr>
              <a:t>22</a:t>
            </a:r>
            <a:r>
              <a:rPr lang="zh-CN" altLang="en-US" dirty="0">
                <a:latin typeface="+mj-ea"/>
                <a:cs typeface="Times New Roman" panose="02020603050405020304" pitchFamily="18" charset="0"/>
              </a:rPr>
              <a:t>个项目）开发人员来不同公司，并且在不同的地方办公（</a:t>
            </a:r>
            <a:r>
              <a:rPr lang="en-US" altLang="zh-CN" dirty="0">
                <a:latin typeface="+mj-ea"/>
                <a:cs typeface="Times New Roman" panose="02020603050405020304" pitchFamily="18" charset="0"/>
              </a:rPr>
              <a:t>20</a:t>
            </a:r>
            <a:r>
              <a:rPr lang="zh-CN" altLang="en-US" dirty="0">
                <a:latin typeface="+mj-ea"/>
                <a:cs typeface="Times New Roman" panose="02020603050405020304" pitchFamily="18" charset="0"/>
              </a:rPr>
              <a:t>个项目）。</a:t>
            </a:r>
            <a:endParaRPr lang="en-US" altLang="zh-CN" dirty="0">
              <a:latin typeface="+mj-ea"/>
              <a:cs typeface="Times New Roman" panose="02020603050405020304" pitchFamily="18" charset="0"/>
            </a:endParaRPr>
          </a:p>
          <a:p>
            <a:pPr marL="285750" indent="-285750" algn="just">
              <a:buFont typeface="Arial" panose="020B0604020202020204" pitchFamily="34" charset="0"/>
              <a:buChar char="•"/>
            </a:pPr>
            <a:r>
              <a:rPr lang="zh-CN" altLang="en-US" dirty="0">
                <a:latin typeface="+mj-ea"/>
                <a:cs typeface="Times New Roman" panose="02020603050405020304" pitchFamily="18" charset="0"/>
              </a:rPr>
              <a:t>通过企业内与间、是否在一个办公室两个维度进行访谈对象的选择，进而有助于分析地域对企业内和企业间协调的影响。</a:t>
            </a:r>
            <a:endParaRPr lang="zh-CN" altLang="zh-CN" kern="100" dirty="0">
              <a:latin typeface="+mj-ea"/>
              <a:ea typeface="+mj-ea"/>
              <a:cs typeface="Times New Roman" panose="02020603050405020304" pitchFamily="18" charset="0"/>
            </a:endParaRPr>
          </a:p>
        </p:txBody>
      </p:sp>
    </p:spTree>
    <p:extLst>
      <p:ext uri="{BB962C8B-B14F-4D97-AF65-F5344CB8AC3E}">
        <p14:creationId xmlns:p14="http://schemas.microsoft.com/office/powerpoint/2010/main" val="28284278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790D9-FF85-4B0A-92F7-B5348D675A8B}"/>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访谈</a:t>
            </a:r>
          </a:p>
        </p:txBody>
      </p:sp>
      <p:sp>
        <p:nvSpPr>
          <p:cNvPr id="3" name="矩形 2">
            <a:extLst>
              <a:ext uri="{FF2B5EF4-FFF2-40B4-BE49-F238E27FC236}">
                <a16:creationId xmlns:a16="http://schemas.microsoft.com/office/drawing/2014/main" id="{F2D6E189-F086-4F30-9455-6B129C294797}"/>
              </a:ext>
            </a:extLst>
          </p:cNvPr>
          <p:cNvSpPr/>
          <p:nvPr/>
        </p:nvSpPr>
        <p:spPr>
          <a:xfrm>
            <a:off x="402356" y="1092046"/>
            <a:ext cx="10843713" cy="5451621"/>
          </a:xfrm>
          <a:prstGeom prst="rect">
            <a:avLst/>
          </a:prstGeom>
        </p:spPr>
        <p:txBody>
          <a:bodyPr wrap="square">
            <a:spAutoFit/>
          </a:bodyPr>
          <a:lstStyle/>
          <a:p>
            <a:pPr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4</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访谈实施</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访谈前</a:t>
            </a:r>
            <a:r>
              <a:rPr lang="zh-CN" altLang="en-US"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可将访谈提纲交予被访谈者，以提升正式感与参与感，并说明大致的访谈时长、主要的访谈进程等。在访谈开始前，征询访谈者是否可以录音，并解释录音只用于研究工作，也对被访谈者及其提供的信息保密。</a:t>
            </a:r>
            <a:endParaRPr lang="en-US" altLang="zh-CN"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访谈中</a:t>
            </a:r>
            <a:r>
              <a:rPr lang="zh-CN" altLang="en-US"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进行现场笔记，作为新问题的线索</a:t>
            </a:r>
            <a:r>
              <a:rPr lang="zh-CN" altLang="en-US" dirty="0">
                <a:latin typeface="+mj-ea"/>
                <a:ea typeface="+mj-ea"/>
                <a:cs typeface="Times New Roman" panose="02020603050405020304" pitchFamily="18" charset="0"/>
              </a:rPr>
              <a:t>；</a:t>
            </a:r>
            <a:endParaRPr lang="zh-CN" altLang="zh-CN"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访谈技巧</a:t>
            </a:r>
            <a:r>
              <a:rPr lang="zh-CN" altLang="en-US"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包括营造平等的氛围，从谈自己所熟悉的故事开始，减少拘谨感。出现停顿，进行一些鼓励，善于倾听，给予回应等。设计的访谈提纲，可以较大问题作为开场，导入和减少拘谨感。合适的情况下，可为访谈准备小礼品作为感谢。</a:t>
            </a:r>
            <a:endParaRPr lang="en-US" altLang="zh-CN" dirty="0">
              <a:latin typeface="+mj-ea"/>
              <a:ea typeface="+mj-ea"/>
              <a:cs typeface="Times New Roman" panose="02020603050405020304" pitchFamily="18" charset="0"/>
            </a:endParaRPr>
          </a:p>
          <a:p>
            <a:pPr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4</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数据收集和分析的反复</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把调研收集的数据和备忘录分开。</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随着数据的增加和概念的呈现，修改备忘录。</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数据收集的数量（如访谈数量）取决于核心因素的涌现，以及是否出现新的因素。因此在数据收集过程中，要对数据进行分析，以确定访谈调研的数量。</a:t>
            </a:r>
            <a:endParaRPr lang="zh-CN" altLang="en-US" dirty="0">
              <a:latin typeface="+mj-ea"/>
              <a:ea typeface="+mj-ea"/>
              <a:cs typeface="Times New Roman" panose="02020603050405020304" pitchFamily="18" charset="0"/>
            </a:endParaRPr>
          </a:p>
        </p:txBody>
      </p:sp>
    </p:spTree>
    <p:extLst>
      <p:ext uri="{BB962C8B-B14F-4D97-AF65-F5344CB8AC3E}">
        <p14:creationId xmlns:p14="http://schemas.microsoft.com/office/powerpoint/2010/main" val="44141760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790D9-FF85-4B0A-92F7-B5348D675A8B}"/>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焦点小组讨论</a:t>
            </a:r>
          </a:p>
        </p:txBody>
      </p:sp>
      <p:sp>
        <p:nvSpPr>
          <p:cNvPr id="3" name="矩形 2">
            <a:extLst>
              <a:ext uri="{FF2B5EF4-FFF2-40B4-BE49-F238E27FC236}">
                <a16:creationId xmlns:a16="http://schemas.microsoft.com/office/drawing/2014/main" id="{F2D6E189-F086-4F30-9455-6B129C294797}"/>
              </a:ext>
            </a:extLst>
          </p:cNvPr>
          <p:cNvSpPr/>
          <p:nvPr/>
        </p:nvSpPr>
        <p:spPr>
          <a:xfrm>
            <a:off x="402356" y="1092046"/>
            <a:ext cx="10843713" cy="5451621"/>
          </a:xfrm>
          <a:prstGeom prst="rect">
            <a:avLst/>
          </a:prstGeom>
        </p:spPr>
        <p:txBody>
          <a:bodyPr wrap="square">
            <a:spAutoFit/>
          </a:bodyPr>
          <a:lstStyle/>
          <a:p>
            <a:pPr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1</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讨论提纲</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焦点小组讨论提纲设计与访谈调研中访谈问题设计类似。相比较访谈提纲，焦点小组的讨论提纲更为注重引导参与人员的讨论和想法的碰撞。</a:t>
            </a:r>
          </a:p>
          <a:p>
            <a:pPr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2</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人员选择</a:t>
            </a:r>
            <a:r>
              <a:rPr lang="zh-CN" altLang="en-US" b="1"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人员选择可遵循理论抽样，同时需要综合考虑以下因素：</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组内与组间进行综合考虑。差异最大化，通过成员差异最大化促进观点的碰撞</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组内人员避免潜在的社会关系的影响，如同一单位的上下级、朋友关系等。</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主持人的选择。</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焦点小组的个数。优先考虑三个焦点小组（</a:t>
            </a:r>
            <a:r>
              <a:rPr lang="en-US" altLang="zh-CN" dirty="0">
                <a:latin typeface="+mj-ea"/>
                <a:ea typeface="+mj-ea"/>
                <a:cs typeface="Times New Roman" panose="02020603050405020304" pitchFamily="18" charset="0"/>
              </a:rPr>
              <a:t>Morgan,1997</a:t>
            </a:r>
            <a:r>
              <a:rPr lang="zh-CN" altLang="zh-CN" dirty="0">
                <a:latin typeface="+mj-ea"/>
                <a:ea typeface="+mj-ea"/>
                <a:cs typeface="Times New Roman" panose="02020603050405020304" pitchFamily="18" charset="0"/>
              </a:rPr>
              <a:t>），数量的增加主要是促进讨论结果的可信度。</a:t>
            </a:r>
          </a:p>
          <a:p>
            <a:pPr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3</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焦点小组讨论组织步骤（</a:t>
            </a:r>
            <a:r>
              <a:rPr lang="en-US" altLang="zh-CN" b="1" dirty="0">
                <a:latin typeface="+mj-ea"/>
                <a:ea typeface="+mj-ea"/>
                <a:cs typeface="Times New Roman" panose="02020603050405020304" pitchFamily="18" charset="0"/>
              </a:rPr>
              <a:t>Lee,2014</a:t>
            </a:r>
            <a:r>
              <a:rPr lang="zh-CN" altLang="zh-CN" b="1" dirty="0">
                <a:latin typeface="+mj-ea"/>
                <a:ea typeface="+mj-ea"/>
                <a:cs typeface="Times New Roman" panose="02020603050405020304" pitchFamily="18" charset="0"/>
              </a:rPr>
              <a:t>）</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介绍焦点小组的目的和成员；</a:t>
            </a:r>
            <a:endParaRPr lang="en-US" altLang="zh-CN"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开始讨论，</a:t>
            </a:r>
            <a:endParaRPr lang="en-US" altLang="zh-CN"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就提纲内容展开讨论；</a:t>
            </a:r>
            <a:endParaRPr lang="en-US" altLang="zh-CN"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实质性讨论。</a:t>
            </a:r>
            <a:endParaRPr lang="zh-CN" altLang="en-US" dirty="0">
              <a:latin typeface="+mj-ea"/>
              <a:ea typeface="+mj-ea"/>
              <a:cs typeface="Times New Roman" panose="02020603050405020304" pitchFamily="18" charset="0"/>
            </a:endParaRPr>
          </a:p>
        </p:txBody>
      </p:sp>
    </p:spTree>
    <p:extLst>
      <p:ext uri="{BB962C8B-B14F-4D97-AF65-F5344CB8AC3E}">
        <p14:creationId xmlns:p14="http://schemas.microsoft.com/office/powerpoint/2010/main" val="29053390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790D9-FF85-4B0A-92F7-B5348D675A8B}"/>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案例研究</a:t>
            </a:r>
          </a:p>
        </p:txBody>
      </p:sp>
      <p:sp>
        <p:nvSpPr>
          <p:cNvPr id="3" name="矩形 2">
            <a:extLst>
              <a:ext uri="{FF2B5EF4-FFF2-40B4-BE49-F238E27FC236}">
                <a16:creationId xmlns:a16="http://schemas.microsoft.com/office/drawing/2014/main" id="{F2D6E189-F086-4F30-9455-6B129C294797}"/>
              </a:ext>
            </a:extLst>
          </p:cNvPr>
          <p:cNvSpPr/>
          <p:nvPr/>
        </p:nvSpPr>
        <p:spPr>
          <a:xfrm>
            <a:off x="402356" y="1092046"/>
            <a:ext cx="10843713" cy="5543954"/>
          </a:xfrm>
          <a:prstGeom prst="rect">
            <a:avLst/>
          </a:prstGeom>
        </p:spPr>
        <p:txBody>
          <a:bodyPr wrap="square">
            <a:spAutoFit/>
          </a:bodyPr>
          <a:lstStyle/>
          <a:p>
            <a:pPr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1</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案例选择和案例数量</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选择单个案例的典型情况</a:t>
            </a:r>
            <a:r>
              <a:rPr lang="en-US" altLang="zh-CN" dirty="0">
                <a:latin typeface="+mj-ea"/>
                <a:ea typeface="+mj-ea"/>
                <a:cs typeface="Times New Roman" panose="02020603050405020304" pitchFamily="18" charset="0"/>
              </a:rPr>
              <a:t>(Yin</a:t>
            </a:r>
            <a:r>
              <a:rPr lang="zh-CN" altLang="zh-CN" dirty="0">
                <a:latin typeface="+mj-ea"/>
                <a:ea typeface="+mj-ea"/>
                <a:cs typeface="Times New Roman" panose="02020603050405020304" pitchFamily="18" charset="0"/>
              </a:rPr>
              <a:t>，</a:t>
            </a:r>
            <a:r>
              <a:rPr lang="en-US" altLang="zh-CN" dirty="0">
                <a:latin typeface="+mj-ea"/>
                <a:ea typeface="+mj-ea"/>
                <a:cs typeface="Times New Roman" panose="02020603050405020304" pitchFamily="18" charset="0"/>
              </a:rPr>
              <a:t>2007)</a:t>
            </a:r>
            <a:r>
              <a:rPr lang="zh-CN" altLang="zh-CN" dirty="0">
                <a:latin typeface="+mj-ea"/>
                <a:ea typeface="+mj-ea"/>
                <a:cs typeface="Times New Roman" panose="02020603050405020304" pitchFamily="18" charset="0"/>
              </a:rPr>
              <a:t>：</a:t>
            </a:r>
            <a:endParaRPr lang="en-US" altLang="zh-CN" dirty="0">
              <a:latin typeface="+mj-ea"/>
              <a:ea typeface="+mj-ea"/>
              <a:cs typeface="Times New Roman" panose="02020603050405020304" pitchFamily="18" charset="0"/>
            </a:endParaRPr>
          </a:p>
          <a:p>
            <a:pPr marL="742950" lvl="1" indent="-285750" fontAlgn="base">
              <a:lnSpc>
                <a:spcPct val="150000"/>
              </a:lnSpc>
              <a:spcBef>
                <a:spcPct val="0"/>
              </a:spcBef>
              <a:spcAft>
                <a:spcPct val="0"/>
              </a:spcAft>
              <a:buFont typeface="Arial" panose="020B0604020202020204" pitchFamily="34" charset="0"/>
              <a:buChar char="•"/>
              <a:tabLst>
                <a:tab pos="914400" algn="l"/>
              </a:tabLst>
            </a:pPr>
            <a:r>
              <a:rPr lang="zh-CN" altLang="zh-CN" sz="1600" dirty="0">
                <a:latin typeface="+mj-ea"/>
                <a:ea typeface="+mj-ea"/>
                <a:cs typeface="Times New Roman" panose="02020603050405020304" pitchFamily="18" charset="0"/>
              </a:rPr>
              <a:t>批判性案例：通过反例来修正理论；</a:t>
            </a:r>
            <a:endParaRPr lang="en-US" altLang="zh-CN" sz="1600" dirty="0">
              <a:latin typeface="+mj-ea"/>
              <a:ea typeface="+mj-ea"/>
              <a:cs typeface="Times New Roman" panose="02020603050405020304" pitchFamily="18" charset="0"/>
            </a:endParaRPr>
          </a:p>
          <a:p>
            <a:pPr marL="742950" lvl="1" indent="-285750" fontAlgn="base">
              <a:lnSpc>
                <a:spcPct val="150000"/>
              </a:lnSpc>
              <a:spcBef>
                <a:spcPct val="0"/>
              </a:spcBef>
              <a:spcAft>
                <a:spcPct val="0"/>
              </a:spcAft>
              <a:buFont typeface="Arial" panose="020B0604020202020204" pitchFamily="34" charset="0"/>
              <a:buChar char="•"/>
              <a:tabLst>
                <a:tab pos="914400" algn="l"/>
              </a:tabLst>
            </a:pPr>
            <a:r>
              <a:rPr lang="zh-CN" altLang="zh-CN" sz="1600" dirty="0">
                <a:latin typeface="+mj-ea"/>
                <a:ea typeface="+mj-ea"/>
                <a:cs typeface="Times New Roman" panose="02020603050405020304" pitchFamily="18" charset="0"/>
              </a:rPr>
              <a:t>极端案例：很少出现的案例；</a:t>
            </a:r>
            <a:endParaRPr lang="en-US" altLang="zh-CN" sz="1600" dirty="0">
              <a:latin typeface="+mj-ea"/>
              <a:ea typeface="+mj-ea"/>
              <a:cs typeface="Times New Roman" panose="02020603050405020304" pitchFamily="18" charset="0"/>
            </a:endParaRPr>
          </a:p>
          <a:p>
            <a:pPr marL="742950" lvl="1" indent="-285750" fontAlgn="base">
              <a:lnSpc>
                <a:spcPct val="150000"/>
              </a:lnSpc>
              <a:spcBef>
                <a:spcPct val="0"/>
              </a:spcBef>
              <a:spcAft>
                <a:spcPct val="0"/>
              </a:spcAft>
              <a:buFont typeface="Arial" panose="020B0604020202020204" pitchFamily="34" charset="0"/>
              <a:buChar char="•"/>
              <a:tabLst>
                <a:tab pos="914400" algn="l"/>
              </a:tabLst>
            </a:pPr>
            <a:r>
              <a:rPr lang="zh-CN" altLang="zh-CN" sz="1600" dirty="0">
                <a:latin typeface="+mj-ea"/>
                <a:ea typeface="+mj-ea"/>
                <a:cs typeface="Times New Roman" panose="02020603050405020304" pitchFamily="18" charset="0"/>
              </a:rPr>
              <a:t>代表性典型性案例；</a:t>
            </a:r>
            <a:endParaRPr lang="en-US" altLang="zh-CN" sz="1600" dirty="0">
              <a:latin typeface="+mj-ea"/>
              <a:ea typeface="+mj-ea"/>
              <a:cs typeface="Times New Roman" panose="02020603050405020304" pitchFamily="18" charset="0"/>
            </a:endParaRPr>
          </a:p>
          <a:p>
            <a:pPr marL="742950" lvl="1" indent="-285750" fontAlgn="base">
              <a:lnSpc>
                <a:spcPct val="150000"/>
              </a:lnSpc>
              <a:spcBef>
                <a:spcPct val="0"/>
              </a:spcBef>
              <a:spcAft>
                <a:spcPct val="0"/>
              </a:spcAft>
              <a:buFont typeface="Arial" panose="020B0604020202020204" pitchFamily="34" charset="0"/>
              <a:buChar char="•"/>
              <a:tabLst>
                <a:tab pos="914400" algn="l"/>
              </a:tabLst>
            </a:pPr>
            <a:r>
              <a:rPr lang="zh-CN" altLang="zh-CN" sz="1600" dirty="0">
                <a:latin typeface="+mj-ea"/>
                <a:ea typeface="+mj-ea"/>
                <a:cs typeface="Times New Roman" panose="02020603050405020304" pitchFamily="18" charset="0"/>
              </a:rPr>
              <a:t>启发性案例：揭示现象和初步规律；</a:t>
            </a:r>
            <a:endParaRPr lang="en-US" altLang="zh-CN" sz="1600" dirty="0">
              <a:latin typeface="+mj-ea"/>
              <a:ea typeface="+mj-ea"/>
              <a:cs typeface="Times New Roman" panose="02020603050405020304" pitchFamily="18" charset="0"/>
            </a:endParaRPr>
          </a:p>
          <a:p>
            <a:pPr marL="742950" lvl="1" indent="-285750" fontAlgn="base">
              <a:lnSpc>
                <a:spcPct val="150000"/>
              </a:lnSpc>
              <a:spcBef>
                <a:spcPct val="0"/>
              </a:spcBef>
              <a:spcAft>
                <a:spcPct val="0"/>
              </a:spcAft>
              <a:buFont typeface="Arial" panose="020B0604020202020204" pitchFamily="34" charset="0"/>
              <a:buChar char="•"/>
              <a:tabLst>
                <a:tab pos="914400" algn="l"/>
              </a:tabLst>
            </a:pPr>
            <a:r>
              <a:rPr lang="zh-CN" altLang="zh-CN" sz="1600" dirty="0">
                <a:latin typeface="+mj-ea"/>
                <a:ea typeface="+mj-ea"/>
                <a:cs typeface="Times New Roman" panose="02020603050405020304" pitchFamily="18" charset="0"/>
              </a:rPr>
              <a:t>纵向案例：一个案例的两个或多个时间点。</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多案例选择</a:t>
            </a:r>
            <a:r>
              <a:rPr lang="zh-CN" altLang="en-US"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采用复制逻辑</a:t>
            </a:r>
            <a:r>
              <a:rPr lang="en-US" altLang="zh-CN" dirty="0">
                <a:latin typeface="+mj-ea"/>
                <a:ea typeface="+mj-ea"/>
                <a:cs typeface="Times New Roman" panose="02020603050405020304" pitchFamily="18" charset="0"/>
              </a:rPr>
              <a:t>(Yin</a:t>
            </a:r>
            <a:r>
              <a:rPr lang="zh-CN" altLang="zh-CN" dirty="0">
                <a:latin typeface="+mj-ea"/>
                <a:ea typeface="+mj-ea"/>
                <a:cs typeface="Times New Roman" panose="02020603050405020304" pitchFamily="18" charset="0"/>
              </a:rPr>
              <a:t>，</a:t>
            </a:r>
            <a:r>
              <a:rPr lang="en-US" altLang="zh-CN" dirty="0">
                <a:latin typeface="+mj-ea"/>
                <a:ea typeface="+mj-ea"/>
                <a:cs typeface="Times New Roman" panose="02020603050405020304" pitchFamily="18" charset="0"/>
              </a:rPr>
              <a:t>2007)</a:t>
            </a:r>
          </a:p>
          <a:p>
            <a:pPr marL="742950" lvl="1" indent="-285750" fontAlgn="base">
              <a:lnSpc>
                <a:spcPct val="150000"/>
              </a:lnSpc>
              <a:spcBef>
                <a:spcPct val="0"/>
              </a:spcBef>
              <a:spcAft>
                <a:spcPct val="0"/>
              </a:spcAft>
              <a:buFont typeface="Arial" panose="020B0604020202020204" pitchFamily="34" charset="0"/>
              <a:buChar char="•"/>
              <a:tabLst>
                <a:tab pos="914400" algn="l"/>
              </a:tabLst>
            </a:pPr>
            <a:r>
              <a:rPr lang="zh-CN" altLang="zh-CN" sz="1600" dirty="0">
                <a:latin typeface="+mj-ea"/>
                <a:ea typeface="+mj-ea"/>
                <a:cs typeface="Times New Roman" panose="02020603050405020304" pitchFamily="18" charset="0"/>
              </a:rPr>
              <a:t>逐项复制，产生相同的结果；</a:t>
            </a:r>
            <a:endParaRPr lang="en-US" altLang="zh-CN" sz="1600" dirty="0">
              <a:latin typeface="+mj-ea"/>
              <a:ea typeface="+mj-ea"/>
              <a:cs typeface="Times New Roman" panose="02020603050405020304" pitchFamily="18" charset="0"/>
            </a:endParaRPr>
          </a:p>
          <a:p>
            <a:pPr marL="742950" lvl="1" indent="-285750" fontAlgn="base">
              <a:lnSpc>
                <a:spcPct val="150000"/>
              </a:lnSpc>
              <a:spcBef>
                <a:spcPct val="0"/>
              </a:spcBef>
              <a:spcAft>
                <a:spcPct val="0"/>
              </a:spcAft>
              <a:buFont typeface="Arial" panose="020B0604020202020204" pitchFamily="34" charset="0"/>
              <a:buChar char="•"/>
              <a:tabLst>
                <a:tab pos="914400" algn="l"/>
              </a:tabLst>
            </a:pPr>
            <a:r>
              <a:rPr lang="zh-CN" altLang="zh-CN" sz="1600" dirty="0">
                <a:latin typeface="+mj-ea"/>
                <a:ea typeface="+mj-ea"/>
                <a:cs typeface="Times New Roman" panose="02020603050405020304" pitchFamily="18" charset="0"/>
              </a:rPr>
              <a:t>理论复制，可能预知的原因产生不一样的结果。</a:t>
            </a:r>
          </a:p>
          <a:p>
            <a:pPr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2</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案例的数据收集方式与收集工具</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可采用多种数据来源，如访谈、文档、观察等。多数据来源可以相互启发与验证。</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访谈提纲的设计与访谈中类似。</a:t>
            </a:r>
            <a:endParaRPr lang="zh-CN" altLang="en-US"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建立清晰的案例数据链条。</a:t>
            </a:r>
          </a:p>
        </p:txBody>
      </p:sp>
    </p:spTree>
    <p:extLst>
      <p:ext uri="{BB962C8B-B14F-4D97-AF65-F5344CB8AC3E}">
        <p14:creationId xmlns:p14="http://schemas.microsoft.com/office/powerpoint/2010/main" val="10031829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790D9-FF85-4B0A-92F7-B5348D675A8B}"/>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文档资料</a:t>
            </a:r>
          </a:p>
        </p:txBody>
      </p:sp>
      <p:sp>
        <p:nvSpPr>
          <p:cNvPr id="3" name="矩形 2">
            <a:extLst>
              <a:ext uri="{FF2B5EF4-FFF2-40B4-BE49-F238E27FC236}">
                <a16:creationId xmlns:a16="http://schemas.microsoft.com/office/drawing/2014/main" id="{F2D6E189-F086-4F30-9455-6B129C294797}"/>
              </a:ext>
            </a:extLst>
          </p:cNvPr>
          <p:cNvSpPr/>
          <p:nvPr/>
        </p:nvSpPr>
        <p:spPr>
          <a:xfrm>
            <a:off x="402356" y="1092046"/>
            <a:ext cx="10843713" cy="4205126"/>
          </a:xfrm>
          <a:prstGeom prst="rect">
            <a:avLst/>
          </a:prstGeom>
        </p:spPr>
        <p:txBody>
          <a:bodyPr wrap="square">
            <a:spAutoFit/>
          </a:bodyPr>
          <a:lstStyle/>
          <a:p>
            <a:pPr fontAlgn="base">
              <a:lnSpc>
                <a:spcPct val="150000"/>
              </a:lnSpc>
              <a:spcBef>
                <a:spcPct val="0"/>
              </a:spcBef>
              <a:spcAft>
                <a:spcPct val="0"/>
              </a:spcAft>
              <a:tabLst>
                <a:tab pos="914400" algn="l"/>
              </a:tabLst>
            </a:pPr>
            <a:r>
              <a:rPr lang="zh-CN" altLang="zh-CN" dirty="0">
                <a:latin typeface="+mj-ea"/>
                <a:ea typeface="+mj-ea"/>
                <a:cs typeface="Times New Roman" panose="02020603050405020304" pitchFamily="18" charset="0"/>
              </a:rPr>
              <a:t>文档资料通常是二手资料，该资料并非为研究而生成</a:t>
            </a:r>
            <a:endParaRPr lang="en-US" altLang="zh-CN"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如统计数据、标准规范、企业制度、企业文件、网络评论、研究机构的报告、报纸文章、项目会议纪要、讲话稿等。</a:t>
            </a:r>
            <a:endParaRPr lang="en-US" altLang="zh-CN" dirty="0">
              <a:latin typeface="+mj-ea"/>
              <a:ea typeface="+mj-ea"/>
              <a:cs typeface="Times New Roman" panose="02020603050405020304" pitchFamily="18" charset="0"/>
            </a:endParaRPr>
          </a:p>
          <a:p>
            <a:pPr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1</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文档资料的检查</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来源是否可靠；</a:t>
            </a:r>
            <a:endParaRPr lang="en-US" altLang="zh-CN"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文档质量的可靠。</a:t>
            </a:r>
          </a:p>
          <a:p>
            <a:pPr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2</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文档资料的收集和整理</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依据研究问题或研究内容，初步确定文档资料整理的主题；</a:t>
            </a:r>
            <a:endParaRPr lang="en-US" altLang="zh-CN"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依据初步确定的主题，对文档进行分类和分析；主题与研究目标和研究内容紧密关联</a:t>
            </a:r>
            <a:endParaRPr lang="en-US" altLang="zh-CN"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迭代，对比，对主题进行修改和完善，以至最后的稳定。</a:t>
            </a:r>
          </a:p>
        </p:txBody>
      </p:sp>
    </p:spTree>
    <p:extLst>
      <p:ext uri="{BB962C8B-B14F-4D97-AF65-F5344CB8AC3E}">
        <p14:creationId xmlns:p14="http://schemas.microsoft.com/office/powerpoint/2010/main" val="19300421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790D9-FF85-4B0A-92F7-B5348D675A8B}"/>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定性数据分析</a:t>
            </a:r>
          </a:p>
        </p:txBody>
      </p:sp>
      <p:sp>
        <p:nvSpPr>
          <p:cNvPr id="3" name="矩形 2">
            <a:extLst>
              <a:ext uri="{FF2B5EF4-FFF2-40B4-BE49-F238E27FC236}">
                <a16:creationId xmlns:a16="http://schemas.microsoft.com/office/drawing/2014/main" id="{F2D6E189-F086-4F30-9455-6B129C294797}"/>
              </a:ext>
            </a:extLst>
          </p:cNvPr>
          <p:cNvSpPr/>
          <p:nvPr/>
        </p:nvSpPr>
        <p:spPr>
          <a:xfrm>
            <a:off x="402356" y="1092046"/>
            <a:ext cx="10843713" cy="5451621"/>
          </a:xfrm>
          <a:prstGeom prst="rect">
            <a:avLst/>
          </a:prstGeom>
        </p:spPr>
        <p:txBody>
          <a:bodyPr wrap="square">
            <a:spAutoFit/>
          </a:bodyPr>
          <a:lstStyle/>
          <a:p>
            <a:pPr fontAlgn="base">
              <a:lnSpc>
                <a:spcPct val="150000"/>
              </a:lnSpc>
              <a:spcBef>
                <a:spcPct val="0"/>
              </a:spcBef>
              <a:spcAft>
                <a:spcPct val="0"/>
              </a:spcAft>
              <a:tabLst>
                <a:tab pos="914400" algn="l"/>
              </a:tabLst>
            </a:pPr>
            <a:r>
              <a:rPr lang="zh-CN" altLang="zh-CN" b="1" dirty="0">
                <a:latin typeface="+mj-ea"/>
                <a:ea typeface="+mj-ea"/>
                <a:cs typeface="Times New Roman" panose="02020603050405020304" pitchFamily="18" charset="0"/>
              </a:rPr>
              <a:t>定性数据分析主要遵循分类的思路</a:t>
            </a:r>
            <a:r>
              <a:rPr lang="zh-CN" altLang="en-US" b="1" dirty="0">
                <a:latin typeface="+mj-ea"/>
                <a:ea typeface="+mj-ea"/>
                <a:cs typeface="Times New Roman" panose="02020603050405020304" pitchFamily="18" charset="0"/>
              </a:rPr>
              <a:t>：</a:t>
            </a:r>
            <a:endParaRPr lang="en-US" altLang="zh-CN" b="1"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自下而上的定性数据分析结构</a:t>
            </a:r>
            <a:r>
              <a:rPr lang="zh-CN" altLang="en-US" dirty="0">
                <a:latin typeface="+mj-ea"/>
                <a:ea typeface="+mj-ea"/>
                <a:cs typeface="Times New Roman" panose="02020603050405020304" pitchFamily="18" charset="0"/>
              </a:rPr>
              <a:t>：归纳的方式，</a:t>
            </a:r>
            <a:r>
              <a:rPr lang="zh-CN" altLang="zh-CN" dirty="0">
                <a:latin typeface="+mj-ea"/>
                <a:ea typeface="+mj-ea"/>
                <a:cs typeface="Times New Roman" panose="02020603050405020304" pitchFamily="18" charset="0"/>
              </a:rPr>
              <a:t>依据数据的属性进行分类，形成层级性的数据结构</a:t>
            </a:r>
            <a:endParaRPr lang="en-US" altLang="zh-CN"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自上而下的定性数据分析结构</a:t>
            </a:r>
            <a:r>
              <a:rPr lang="zh-CN" altLang="en-US"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演绎的方式，先确定类别，然后依据类别组织具体的数据作为支撑</a:t>
            </a:r>
            <a:endParaRPr lang="en-US" altLang="zh-CN"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在数据分析过程中，可同步数据收集、编码、撰写备忘录</a:t>
            </a:r>
          </a:p>
          <a:p>
            <a:pPr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1</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分类</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类别与特征属性的提炼。针对某些具体的现象和事件，提炼一个类别特征或模式</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过程分类。针对发展过程的描述，按阶段进行划分，每个阶段具有各自关键事件描述</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强度与频率分类</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评价性分类。好坏评价程度的分类</a:t>
            </a:r>
          </a:p>
          <a:p>
            <a:pPr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2</a:t>
            </a:r>
            <a:r>
              <a:rPr lang="zh-CN" altLang="en-US" b="1" dirty="0">
                <a:latin typeface="+mj-ea"/>
                <a:ea typeface="+mj-ea"/>
                <a:cs typeface="Times New Roman" panose="02020603050405020304" pitchFamily="18" charset="0"/>
              </a:rPr>
              <a:t>、分类的</a:t>
            </a:r>
            <a:r>
              <a:rPr lang="zh-CN" altLang="zh-CN" b="1" dirty="0">
                <a:latin typeface="+mj-ea"/>
                <a:ea typeface="+mj-ea"/>
                <a:cs typeface="Times New Roman" panose="02020603050405020304" pitchFamily="18" charset="0"/>
              </a:rPr>
              <a:t>规则：</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同一层级的描述特征和逻辑是一致的</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同一层级排序具有一定规律和逻辑</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不同层级的描述存在逻辑关系</a:t>
            </a:r>
          </a:p>
        </p:txBody>
      </p:sp>
    </p:spTree>
    <p:extLst>
      <p:ext uri="{BB962C8B-B14F-4D97-AF65-F5344CB8AC3E}">
        <p14:creationId xmlns:p14="http://schemas.microsoft.com/office/powerpoint/2010/main" val="21387438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790D9-FF85-4B0A-92F7-B5348D675A8B}"/>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定性数据分析</a:t>
            </a:r>
          </a:p>
        </p:txBody>
      </p:sp>
      <p:sp>
        <p:nvSpPr>
          <p:cNvPr id="3" name="矩形 2">
            <a:extLst>
              <a:ext uri="{FF2B5EF4-FFF2-40B4-BE49-F238E27FC236}">
                <a16:creationId xmlns:a16="http://schemas.microsoft.com/office/drawing/2014/main" id="{F2D6E189-F086-4F30-9455-6B129C294797}"/>
              </a:ext>
            </a:extLst>
          </p:cNvPr>
          <p:cNvSpPr/>
          <p:nvPr/>
        </p:nvSpPr>
        <p:spPr>
          <a:xfrm>
            <a:off x="402356" y="1092046"/>
            <a:ext cx="10843713" cy="5355312"/>
          </a:xfrm>
          <a:prstGeom prst="rect">
            <a:avLst/>
          </a:prstGeom>
        </p:spPr>
        <p:txBody>
          <a:bodyPr wrap="square">
            <a:spAutoFit/>
          </a:bodyPr>
          <a:lstStyle/>
          <a:p>
            <a:pPr fontAlgn="base">
              <a:lnSpc>
                <a:spcPct val="150000"/>
              </a:lnSpc>
              <a:spcBef>
                <a:spcPct val="0"/>
              </a:spcBef>
              <a:spcAft>
                <a:spcPct val="0"/>
              </a:spcAft>
              <a:tabLst>
                <a:tab pos="914400" algn="l"/>
              </a:tabLst>
            </a:pPr>
            <a:r>
              <a:rPr lang="zh-CN" altLang="zh-CN" b="1" dirty="0">
                <a:latin typeface="+mj-ea"/>
                <a:ea typeface="+mj-ea"/>
                <a:cs typeface="Times New Roman" panose="02020603050405020304" pitchFamily="18" charset="0"/>
              </a:rPr>
              <a:t>当出现以下几种情况，可以认为数据分析结束：</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当不出现新的编码时，即已有的编码、类别和主题涵盖了所有的数据。</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当不出现新的数据，即访谈数据出现了较大的重合和一致。</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已有数据足够支撑预先的设想，如在评价分析中，有预先的设计假设。</a:t>
            </a:r>
            <a:endParaRPr lang="en-US" altLang="zh-CN" dirty="0">
              <a:latin typeface="+mj-ea"/>
              <a:ea typeface="+mj-ea"/>
              <a:cs typeface="Times New Roman" panose="02020603050405020304" pitchFamily="18" charset="0"/>
            </a:endParaRPr>
          </a:p>
          <a:p>
            <a:pPr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1</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效度方面</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采用多元的信息来源。</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在类别的效度方面还可形成证据链，从原始数据到构念的生成有明确的数据关联。</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当存在因果关系时，分析和建立因素之间的解释关系。</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通过用设计假设和理论框架指导数据的分析，保证分析结果的可扩展性。</a:t>
            </a:r>
          </a:p>
          <a:p>
            <a:pPr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2</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信度方面</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建立数据收集和分析的草案和资料库，保证整个数据链条的完整。</a:t>
            </a:r>
            <a:endParaRPr lang="en-US" altLang="zh-CN"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分析不同数据来源对某一主题描述的一致性。</a:t>
            </a:r>
          </a:p>
          <a:p>
            <a:endParaRPr lang="zh-CN" altLang="zh-CN" dirty="0"/>
          </a:p>
        </p:txBody>
      </p:sp>
    </p:spTree>
    <p:extLst>
      <p:ext uri="{BB962C8B-B14F-4D97-AF65-F5344CB8AC3E}">
        <p14:creationId xmlns:p14="http://schemas.microsoft.com/office/powerpoint/2010/main" val="36129615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790D9-FF85-4B0A-92F7-B5348D675A8B}"/>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3300" dirty="0">
                <a:latin typeface="+mn-ea"/>
                <a:ea typeface="+mn-ea"/>
              </a:rPr>
              <a:t>问卷调研</a:t>
            </a:r>
            <a:r>
              <a:rPr lang="zh-CN" altLang="en-US" sz="3300" dirty="0">
                <a:latin typeface="+mn-ea"/>
                <a:ea typeface="+mn-ea"/>
              </a:rPr>
              <a:t>的实施</a:t>
            </a:r>
          </a:p>
        </p:txBody>
      </p:sp>
      <p:sp>
        <p:nvSpPr>
          <p:cNvPr id="3" name="矩形 2">
            <a:extLst>
              <a:ext uri="{FF2B5EF4-FFF2-40B4-BE49-F238E27FC236}">
                <a16:creationId xmlns:a16="http://schemas.microsoft.com/office/drawing/2014/main" id="{F2D6E189-F086-4F30-9455-6B129C294797}"/>
              </a:ext>
            </a:extLst>
          </p:cNvPr>
          <p:cNvSpPr/>
          <p:nvPr/>
        </p:nvSpPr>
        <p:spPr>
          <a:xfrm>
            <a:off x="402356" y="1092046"/>
            <a:ext cx="10843713" cy="4108817"/>
          </a:xfrm>
          <a:prstGeom prst="rect">
            <a:avLst/>
          </a:prstGeom>
        </p:spPr>
        <p:txBody>
          <a:bodyPr wrap="square">
            <a:spAutoFit/>
          </a:bodyPr>
          <a:lstStyle/>
          <a:p>
            <a:pPr fontAlgn="base">
              <a:lnSpc>
                <a:spcPct val="150000"/>
              </a:lnSpc>
              <a:spcBef>
                <a:spcPct val="0"/>
              </a:spcBef>
              <a:spcAft>
                <a:spcPct val="0"/>
              </a:spcAft>
              <a:tabLst>
                <a:tab pos="914400" algn="l"/>
              </a:tabLst>
            </a:pPr>
            <a:r>
              <a:rPr lang="zh-CN" altLang="zh-CN" dirty="0">
                <a:latin typeface="+mj-ea"/>
                <a:ea typeface="+mj-ea"/>
                <a:cs typeface="Times New Roman" panose="02020603050405020304" pitchFamily="18" charset="0"/>
              </a:rPr>
              <a:t>抽样方式</a:t>
            </a:r>
            <a:r>
              <a:rPr lang="zh-CN" altLang="en-US"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主要概念包括总体、样本框、抽样、样本等。</a:t>
            </a:r>
            <a:endParaRPr lang="en-US" altLang="zh-CN" dirty="0">
              <a:latin typeface="+mj-ea"/>
              <a:ea typeface="+mj-ea"/>
              <a:cs typeface="Times New Roman" panose="02020603050405020304" pitchFamily="18" charset="0"/>
            </a:endParaRPr>
          </a:p>
          <a:p>
            <a:pPr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1</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抽样：</a:t>
            </a:r>
            <a:endParaRPr lang="en-US" altLang="zh-CN" b="1"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从一个总体中抽取部分样本作为调查对象；</a:t>
            </a:r>
            <a:endParaRPr lang="en-US" altLang="zh-CN"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对抽取部分样本的分析来推论整个总体的特征；</a:t>
            </a:r>
            <a:endParaRPr lang="en-US" altLang="zh-CN"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选取的方法应遵循一定的规则。</a:t>
            </a:r>
            <a:endParaRPr lang="en-US" altLang="zh-CN" dirty="0">
              <a:latin typeface="+mj-ea"/>
              <a:ea typeface="+mj-ea"/>
              <a:cs typeface="Times New Roman" panose="02020603050405020304" pitchFamily="18" charset="0"/>
            </a:endParaRPr>
          </a:p>
          <a:p>
            <a:pPr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2</a:t>
            </a:r>
            <a:r>
              <a:rPr lang="zh-CN" altLang="en-US" b="1" dirty="0">
                <a:latin typeface="+mj-ea"/>
                <a:ea typeface="+mj-ea"/>
                <a:cs typeface="Times New Roman" panose="02020603050405020304" pitchFamily="18" charset="0"/>
              </a:rPr>
              <a:t>、抽样方式：</a:t>
            </a:r>
            <a:endParaRPr lang="en-US" altLang="zh-CN" b="1"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概率抽样</a:t>
            </a:r>
            <a:endParaRPr lang="en-US" altLang="zh-CN"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非概率抽样</a:t>
            </a:r>
            <a:endParaRPr lang="en-US" altLang="zh-CN" dirty="0">
              <a:latin typeface="+mj-ea"/>
              <a:ea typeface="+mj-ea"/>
              <a:cs typeface="Times New Roman" panose="02020603050405020304" pitchFamily="18" charset="0"/>
            </a:endParaRPr>
          </a:p>
          <a:p>
            <a:pPr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3</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抽样误差</a:t>
            </a:r>
            <a:r>
              <a:rPr lang="zh-CN" altLang="en-US"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样本估计值与被推断的总体真实值之差</a:t>
            </a:r>
            <a:endParaRPr lang="en-US" altLang="zh-CN" dirty="0">
              <a:latin typeface="+mj-ea"/>
              <a:ea typeface="+mj-ea"/>
              <a:cs typeface="Times New Roman" panose="02020603050405020304" pitchFamily="18" charset="0"/>
            </a:endParaRPr>
          </a:p>
          <a:p>
            <a:endParaRPr lang="zh-CN" altLang="zh-CN" dirty="0"/>
          </a:p>
        </p:txBody>
      </p:sp>
    </p:spTree>
    <p:extLst>
      <p:ext uri="{BB962C8B-B14F-4D97-AF65-F5344CB8AC3E}">
        <p14:creationId xmlns:p14="http://schemas.microsoft.com/office/powerpoint/2010/main" val="9292254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790D9-FF85-4B0A-92F7-B5348D675A8B}"/>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3300" dirty="0">
                <a:latin typeface="+mn-ea"/>
                <a:ea typeface="+mn-ea"/>
              </a:rPr>
              <a:t>问卷调研</a:t>
            </a:r>
            <a:r>
              <a:rPr lang="zh-CN" altLang="en-US" sz="3300" dirty="0">
                <a:latin typeface="+mn-ea"/>
                <a:ea typeface="+mn-ea"/>
              </a:rPr>
              <a:t>的实施</a:t>
            </a:r>
          </a:p>
        </p:txBody>
      </p:sp>
      <p:sp>
        <p:nvSpPr>
          <p:cNvPr id="3" name="矩形 2">
            <a:extLst>
              <a:ext uri="{FF2B5EF4-FFF2-40B4-BE49-F238E27FC236}">
                <a16:creationId xmlns:a16="http://schemas.microsoft.com/office/drawing/2014/main" id="{F2D6E189-F086-4F30-9455-6B129C294797}"/>
              </a:ext>
            </a:extLst>
          </p:cNvPr>
          <p:cNvSpPr/>
          <p:nvPr/>
        </p:nvSpPr>
        <p:spPr>
          <a:xfrm>
            <a:off x="402356" y="1092046"/>
            <a:ext cx="10843713" cy="4939814"/>
          </a:xfrm>
          <a:prstGeom prst="rect">
            <a:avLst/>
          </a:prstGeom>
        </p:spPr>
        <p:txBody>
          <a:bodyPr wrap="square">
            <a:spAutoFit/>
          </a:bodyPr>
          <a:lstStyle/>
          <a:p>
            <a:pPr fontAlgn="base">
              <a:lnSpc>
                <a:spcPct val="150000"/>
              </a:lnSpc>
              <a:spcBef>
                <a:spcPct val="0"/>
              </a:spcBef>
              <a:spcAft>
                <a:spcPct val="0"/>
              </a:spcAft>
              <a:tabLst>
                <a:tab pos="914400" algn="l"/>
              </a:tabLst>
            </a:pPr>
            <a:r>
              <a:rPr lang="zh-CN" altLang="zh-CN" dirty="0">
                <a:latin typeface="+mj-ea"/>
                <a:ea typeface="+mj-ea"/>
                <a:cs typeface="Times New Roman" panose="02020603050405020304" pitchFamily="18" charset="0"/>
              </a:rPr>
              <a:t>问卷设计</a:t>
            </a:r>
            <a:r>
              <a:rPr lang="zh-CN" altLang="en-US" dirty="0">
                <a:latin typeface="+mj-ea"/>
                <a:ea typeface="+mj-ea"/>
                <a:cs typeface="Times New Roman" panose="02020603050405020304" pitchFamily="18" charset="0"/>
              </a:rPr>
              <a:t>的内容：</a:t>
            </a:r>
            <a:r>
              <a:rPr lang="zh-CN" altLang="zh-CN" dirty="0">
                <a:latin typeface="+mj-ea"/>
                <a:ea typeface="+mj-ea"/>
                <a:cs typeface="Times New Roman" panose="02020603050405020304" pitchFamily="18" charset="0"/>
              </a:rPr>
              <a:t>开头部分、正文部分和结尾部分</a:t>
            </a:r>
            <a:endParaRPr lang="en-US" altLang="zh-CN" dirty="0">
              <a:latin typeface="+mj-ea"/>
              <a:ea typeface="+mj-ea"/>
              <a:cs typeface="Times New Roman" panose="02020603050405020304" pitchFamily="18" charset="0"/>
            </a:endParaRPr>
          </a:p>
          <a:p>
            <a:pPr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1</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开头部分一般包括：</a:t>
            </a:r>
            <a:endParaRPr lang="en-US" altLang="zh-CN" b="1"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解释调查目的和意义。</a:t>
            </a:r>
            <a:endParaRPr lang="en-US" altLang="zh-CN"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明确调查者的填写资格要求。</a:t>
            </a:r>
            <a:endParaRPr lang="en-US" altLang="zh-CN"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强调伦理要求。</a:t>
            </a:r>
            <a:endParaRPr lang="en-US" altLang="zh-CN"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指导调查对象如何填写问卷（如</a:t>
            </a:r>
            <a:r>
              <a:rPr lang="en-US" altLang="zh-CN" dirty="0">
                <a:latin typeface="+mj-ea"/>
                <a:ea typeface="+mj-ea"/>
                <a:cs typeface="Times New Roman" panose="02020603050405020304" pitchFamily="18" charset="0"/>
              </a:rPr>
              <a:t>1-5</a:t>
            </a:r>
            <a:r>
              <a:rPr lang="zh-CN" altLang="zh-CN" dirty="0">
                <a:latin typeface="+mj-ea"/>
                <a:ea typeface="+mj-ea"/>
                <a:cs typeface="Times New Roman" panose="02020603050405020304" pitchFamily="18" charset="0"/>
              </a:rPr>
              <a:t>打分，可以依据其感知填写）。</a:t>
            </a:r>
            <a:endParaRPr lang="en-US" altLang="zh-CN"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说明问卷的回收方式。</a:t>
            </a:r>
            <a:endParaRPr lang="en-US" altLang="zh-CN"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调查者的信息和联系方式。</a:t>
            </a:r>
            <a:endParaRPr lang="en-US" altLang="zh-CN" dirty="0">
              <a:latin typeface="+mj-ea"/>
              <a:ea typeface="+mj-ea"/>
              <a:cs typeface="Times New Roman" panose="02020603050405020304" pitchFamily="18" charset="0"/>
            </a:endParaRPr>
          </a:p>
          <a:p>
            <a:pPr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2</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正文部分一般包括</a:t>
            </a:r>
            <a:r>
              <a:rPr lang="zh-CN" altLang="zh-CN" dirty="0">
                <a:latin typeface="+mj-ea"/>
                <a:ea typeface="+mj-ea"/>
                <a:cs typeface="Times New Roman" panose="02020603050405020304" pitchFamily="18" charset="0"/>
              </a:rPr>
              <a:t>：①背景信息，如被调查者、被调研项目、企业等。②主体内容，通过调研获得信息的主体部分，当有多个研究框架，该部分可能存在多个子部分。</a:t>
            </a:r>
          </a:p>
          <a:p>
            <a:pPr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3</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结束语部分一般包括</a:t>
            </a:r>
            <a:r>
              <a:rPr lang="zh-CN" altLang="zh-CN" dirty="0">
                <a:latin typeface="+mj-ea"/>
                <a:ea typeface="+mj-ea"/>
                <a:cs typeface="Times New Roman" panose="02020603050405020304" pitchFamily="18" charset="0"/>
              </a:rPr>
              <a:t>：①提醒被调查对象对问题回答情况进行复核。②设置一个开放性问题。③致谢。</a:t>
            </a:r>
          </a:p>
          <a:p>
            <a:endParaRPr lang="zh-CN" altLang="zh-CN" dirty="0"/>
          </a:p>
        </p:txBody>
      </p:sp>
    </p:spTree>
    <p:extLst>
      <p:ext uri="{BB962C8B-B14F-4D97-AF65-F5344CB8AC3E}">
        <p14:creationId xmlns:p14="http://schemas.microsoft.com/office/powerpoint/2010/main" val="27541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790D9-FF85-4B0A-92F7-B5348D675A8B}"/>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3300" dirty="0">
                <a:latin typeface="+mn-ea"/>
                <a:ea typeface="+mn-ea"/>
              </a:rPr>
              <a:t>问卷调研</a:t>
            </a:r>
            <a:r>
              <a:rPr lang="zh-CN" altLang="en-US" sz="3300" dirty="0">
                <a:latin typeface="+mn-ea"/>
                <a:ea typeface="+mn-ea"/>
              </a:rPr>
              <a:t>的实施</a:t>
            </a:r>
          </a:p>
        </p:txBody>
      </p:sp>
      <p:sp>
        <p:nvSpPr>
          <p:cNvPr id="3" name="矩形 2">
            <a:extLst>
              <a:ext uri="{FF2B5EF4-FFF2-40B4-BE49-F238E27FC236}">
                <a16:creationId xmlns:a16="http://schemas.microsoft.com/office/drawing/2014/main" id="{F2D6E189-F086-4F30-9455-6B129C294797}"/>
              </a:ext>
            </a:extLst>
          </p:cNvPr>
          <p:cNvSpPr/>
          <p:nvPr/>
        </p:nvSpPr>
        <p:spPr>
          <a:xfrm>
            <a:off x="402356" y="1092046"/>
            <a:ext cx="10843713" cy="2958630"/>
          </a:xfrm>
          <a:prstGeom prst="rect">
            <a:avLst/>
          </a:prstGeom>
        </p:spPr>
        <p:txBody>
          <a:bodyPr wrap="square">
            <a:spAutoFit/>
          </a:bodyPr>
          <a:lstStyle/>
          <a:p>
            <a:pPr fontAlgn="base">
              <a:lnSpc>
                <a:spcPct val="150000"/>
              </a:lnSpc>
              <a:spcBef>
                <a:spcPct val="0"/>
              </a:spcBef>
              <a:spcAft>
                <a:spcPct val="0"/>
              </a:spcAft>
              <a:tabLst>
                <a:tab pos="914400" algn="l"/>
              </a:tabLst>
            </a:pPr>
            <a:r>
              <a:rPr lang="zh-CN" altLang="zh-CN" dirty="0">
                <a:latin typeface="+mj-ea"/>
                <a:ea typeface="+mj-ea"/>
                <a:cs typeface="Times New Roman" panose="02020603050405020304" pitchFamily="18" charset="0"/>
              </a:rPr>
              <a:t>问题类型</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结构化问题。设计问卷中问题的答案已给出，调查对象只能从答案选项中选择一个或多个。常采用是非题、单选、多选的形式。</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开放式问题。调研对象可开放性阐述个人观点和看法。常采用问答题的形式。</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半结构化问题。</a:t>
            </a:r>
            <a:endParaRPr lang="en-US" altLang="zh-CN" dirty="0">
              <a:latin typeface="+mj-ea"/>
              <a:ea typeface="+mj-ea"/>
              <a:cs typeface="Times New Roman" panose="02020603050405020304" pitchFamily="18" charset="0"/>
            </a:endParaRPr>
          </a:p>
          <a:p>
            <a:pPr fontAlgn="base">
              <a:lnSpc>
                <a:spcPct val="150000"/>
              </a:lnSpc>
              <a:spcBef>
                <a:spcPct val="0"/>
              </a:spcBef>
              <a:spcAft>
                <a:spcPct val="0"/>
              </a:spcAft>
              <a:tabLst>
                <a:tab pos="914400" algn="l"/>
              </a:tabLst>
            </a:pPr>
            <a:r>
              <a:rPr lang="zh-CN" altLang="zh-CN" dirty="0">
                <a:latin typeface="+mj-ea"/>
                <a:ea typeface="+mj-ea"/>
                <a:cs typeface="Times New Roman" panose="02020603050405020304" pitchFamily="18" charset="0"/>
              </a:rPr>
              <a:t>题型设置中需要做一些权衡，如数据可获得性与准确性。如企业规模，可以采用开放性问题，由被调查者直接填数字，也可采用结构化问题，如常见的超大规模、大规模、中等规模、小规模等。</a:t>
            </a:r>
            <a:endParaRPr lang="zh-CN" altLang="zh-CN" dirty="0"/>
          </a:p>
        </p:txBody>
      </p:sp>
      <p:sp>
        <p:nvSpPr>
          <p:cNvPr id="4" name="矩形 3">
            <a:extLst>
              <a:ext uri="{FF2B5EF4-FFF2-40B4-BE49-F238E27FC236}">
                <a16:creationId xmlns:a16="http://schemas.microsoft.com/office/drawing/2014/main" id="{8F4B9B7A-1E74-4021-9373-3786F557ECC9}"/>
              </a:ext>
            </a:extLst>
          </p:cNvPr>
          <p:cNvSpPr/>
          <p:nvPr/>
        </p:nvSpPr>
        <p:spPr>
          <a:xfrm>
            <a:off x="245445" y="4624254"/>
            <a:ext cx="11469385" cy="923330"/>
          </a:xfrm>
          <a:prstGeom prst="rect">
            <a:avLst/>
          </a:prstGeom>
          <a:solidFill>
            <a:schemeClr val="accent6">
              <a:lumMod val="20000"/>
              <a:lumOff val="80000"/>
            </a:schemeClr>
          </a:solidFill>
          <a:ln>
            <a:solidFill>
              <a:schemeClr val="tx1"/>
            </a:solidFill>
          </a:ln>
        </p:spPr>
        <p:txBody>
          <a:bodyPr wrap="square">
            <a:spAutoFit/>
          </a:bodyPr>
          <a:lstStyle/>
          <a:p>
            <a:pPr algn="just"/>
            <a:r>
              <a:rPr lang="zh-CN" altLang="zh-CN" dirty="0"/>
              <a:t>李克特量表（</a:t>
            </a:r>
            <a:r>
              <a:rPr lang="en-US" altLang="zh-CN" dirty="0"/>
              <a:t>Likert scale</a:t>
            </a:r>
            <a:r>
              <a:rPr lang="zh-CN" altLang="zh-CN" dirty="0"/>
              <a:t>）是一种心理反应量表，用来评估意见、态度或行为的量表，是目前调查研究中使用最广泛的问卷。李克特量表通常以</a:t>
            </a:r>
            <a:r>
              <a:rPr lang="en-US" altLang="zh-CN" dirty="0"/>
              <a:t>1-5</a:t>
            </a:r>
            <a:r>
              <a:rPr lang="zh-CN" altLang="zh-CN" dirty="0"/>
              <a:t>或</a:t>
            </a:r>
            <a:r>
              <a:rPr lang="en-US" altLang="zh-CN" dirty="0"/>
              <a:t>1-7</a:t>
            </a:r>
            <a:r>
              <a:rPr lang="zh-CN" altLang="zh-CN" dirty="0"/>
              <a:t>为衡量尺度。以</a:t>
            </a:r>
            <a:r>
              <a:rPr lang="en-US" altLang="zh-CN" dirty="0"/>
              <a:t>1-5</a:t>
            </a:r>
            <a:r>
              <a:rPr lang="zh-CN" altLang="zh-CN" dirty="0"/>
              <a:t>为衡量尺度是指量表的每个陈述下由“非常不同意”至“非常同意”五种选项（“非常不同意”“不同意”“一般”“同意”“非常同意”，分别计</a:t>
            </a:r>
            <a:r>
              <a:rPr lang="en-US" altLang="zh-CN" dirty="0"/>
              <a:t>1-5</a:t>
            </a:r>
            <a:r>
              <a:rPr lang="zh-CN" altLang="zh-CN" dirty="0"/>
              <a:t>分。</a:t>
            </a:r>
            <a:endParaRPr lang="zh-CN" altLang="zh-CN" kern="100" dirty="0">
              <a:latin typeface="+mj-ea"/>
              <a:ea typeface="+mj-ea"/>
              <a:cs typeface="Times New Roman" panose="02020603050405020304" pitchFamily="18" charset="0"/>
            </a:endParaRPr>
          </a:p>
        </p:txBody>
      </p:sp>
    </p:spTree>
    <p:extLst>
      <p:ext uri="{BB962C8B-B14F-4D97-AF65-F5344CB8AC3E}">
        <p14:creationId xmlns:p14="http://schemas.microsoft.com/office/powerpoint/2010/main" val="4557438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790D9-FF85-4B0A-92F7-B5348D675A8B}"/>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3300" dirty="0">
                <a:latin typeface="+mn-ea"/>
                <a:ea typeface="+mn-ea"/>
              </a:rPr>
              <a:t>问卷调研</a:t>
            </a:r>
            <a:r>
              <a:rPr lang="zh-CN" altLang="en-US" sz="3300" dirty="0">
                <a:latin typeface="+mn-ea"/>
                <a:ea typeface="+mn-ea"/>
              </a:rPr>
              <a:t>的实施</a:t>
            </a:r>
          </a:p>
        </p:txBody>
      </p:sp>
      <p:sp>
        <p:nvSpPr>
          <p:cNvPr id="3" name="矩形 2">
            <a:extLst>
              <a:ext uri="{FF2B5EF4-FFF2-40B4-BE49-F238E27FC236}">
                <a16:creationId xmlns:a16="http://schemas.microsoft.com/office/drawing/2014/main" id="{F2D6E189-F086-4F30-9455-6B129C294797}"/>
              </a:ext>
            </a:extLst>
          </p:cNvPr>
          <p:cNvSpPr/>
          <p:nvPr/>
        </p:nvSpPr>
        <p:spPr>
          <a:xfrm>
            <a:off x="402356" y="1092046"/>
            <a:ext cx="10843713" cy="5451621"/>
          </a:xfrm>
          <a:prstGeom prst="rect">
            <a:avLst/>
          </a:prstGeom>
        </p:spPr>
        <p:txBody>
          <a:bodyPr wrap="square">
            <a:spAutoFit/>
          </a:bodyPr>
          <a:lstStyle/>
          <a:p>
            <a:pPr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1</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问卷设计流程</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明确问题调查的目标。</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问卷设计准备工作。联系研究框架，以此方向作为问卷内容的主体。</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问卷设计。</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预测试。</a:t>
            </a:r>
          </a:p>
          <a:p>
            <a:pPr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2</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问卷设计的质量要求</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问题的描述是否能准确反映问题内容</a:t>
            </a:r>
            <a:r>
              <a:rPr lang="zh-CN" altLang="en-US" dirty="0">
                <a:latin typeface="+mj-ea"/>
                <a:ea typeface="+mj-ea"/>
                <a:cs typeface="Times New Roman" panose="02020603050405020304" pitchFamily="18" charset="0"/>
              </a:rPr>
              <a:t>；</a:t>
            </a:r>
            <a:r>
              <a:rPr lang="zh-CN" altLang="zh-CN" dirty="0">
                <a:latin typeface="+mj-ea"/>
                <a:ea typeface="+mj-ea"/>
                <a:cs typeface="Times New Roman" panose="02020603050405020304" pitchFamily="18" charset="0"/>
              </a:rPr>
              <a:t>受访者能否正确理解问题描述。</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受访者能否有效回答。典型的注意事项包括：</a:t>
            </a:r>
          </a:p>
          <a:p>
            <a:pPr marL="742950" lvl="1"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问题或选项较抽象。避免使用“大概”“可能”“有时候”等这些意思含混的用词。</a:t>
            </a:r>
          </a:p>
          <a:p>
            <a:pPr marL="742950" lvl="1"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问题是多重内容的，难以通过结构化选项进行回答。</a:t>
            </a:r>
          </a:p>
          <a:p>
            <a:pPr marL="742950" lvl="1" indent="-285750" fontAlgn="base">
              <a:lnSpc>
                <a:spcPct val="150000"/>
              </a:lnSpc>
              <a:spcBef>
                <a:spcPct val="0"/>
              </a:spcBef>
              <a:spcAft>
                <a:spcPct val="0"/>
              </a:spcAft>
              <a:buFont typeface="Arial" panose="020B0604020202020204" pitchFamily="34" charset="0"/>
              <a:buChar char="•"/>
              <a:tabLst>
                <a:tab pos="914400" algn="l"/>
              </a:tabLst>
            </a:pPr>
            <a:r>
              <a:rPr lang="zh-CN" altLang="en-US" dirty="0">
                <a:latin typeface="+mj-ea"/>
                <a:ea typeface="+mj-ea"/>
                <a:cs typeface="Times New Roman" panose="02020603050405020304" pitchFamily="18" charset="0"/>
              </a:rPr>
              <a:t>被调查者</a:t>
            </a:r>
            <a:r>
              <a:rPr lang="zh-CN" altLang="zh-CN" dirty="0">
                <a:latin typeface="+mj-ea"/>
                <a:ea typeface="+mj-ea"/>
                <a:cs typeface="Times New Roman" panose="02020603050405020304" pitchFamily="18" charset="0"/>
              </a:rPr>
              <a:t>具备能力，以及愿意来回答。</a:t>
            </a:r>
          </a:p>
          <a:p>
            <a:pPr marL="742950" lvl="1"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否定类的问题容易导致误解。避免采用否定、双重否定等句式。</a:t>
            </a:r>
            <a:endParaRPr lang="en-US" altLang="zh-CN"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问卷的可读性。用词简洁清楚，句式简单，避免题目文字过长，从而提高可读性与被理解性。</a:t>
            </a:r>
            <a:endParaRPr lang="zh-CN" altLang="zh-CN" dirty="0"/>
          </a:p>
        </p:txBody>
      </p:sp>
    </p:spTree>
    <p:extLst>
      <p:ext uri="{BB962C8B-B14F-4D97-AF65-F5344CB8AC3E}">
        <p14:creationId xmlns:p14="http://schemas.microsoft.com/office/powerpoint/2010/main" val="18899673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790D9-FF85-4B0A-92F7-B5348D675A8B}"/>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zh-CN" sz="3300" dirty="0">
                <a:latin typeface="+mn-ea"/>
                <a:ea typeface="+mn-ea"/>
              </a:rPr>
              <a:t>问卷调研</a:t>
            </a:r>
            <a:r>
              <a:rPr lang="zh-CN" altLang="en-US" sz="3300" dirty="0">
                <a:latin typeface="+mn-ea"/>
                <a:ea typeface="+mn-ea"/>
              </a:rPr>
              <a:t>的实施</a:t>
            </a:r>
          </a:p>
        </p:txBody>
      </p:sp>
      <p:sp>
        <p:nvSpPr>
          <p:cNvPr id="3" name="矩形 2">
            <a:extLst>
              <a:ext uri="{FF2B5EF4-FFF2-40B4-BE49-F238E27FC236}">
                <a16:creationId xmlns:a16="http://schemas.microsoft.com/office/drawing/2014/main" id="{F2D6E189-F086-4F30-9455-6B129C294797}"/>
              </a:ext>
            </a:extLst>
          </p:cNvPr>
          <p:cNvSpPr/>
          <p:nvPr/>
        </p:nvSpPr>
        <p:spPr>
          <a:xfrm>
            <a:off x="402356" y="1092046"/>
            <a:ext cx="10843713" cy="2127634"/>
          </a:xfrm>
          <a:prstGeom prst="rect">
            <a:avLst/>
          </a:prstGeom>
        </p:spPr>
        <p:txBody>
          <a:bodyPr wrap="square">
            <a:spAutoFit/>
          </a:bodyPr>
          <a:lstStyle/>
          <a:p>
            <a:pPr fontAlgn="base">
              <a:lnSpc>
                <a:spcPct val="150000"/>
              </a:lnSpc>
              <a:spcBef>
                <a:spcPct val="0"/>
              </a:spcBef>
              <a:spcAft>
                <a:spcPct val="0"/>
              </a:spcAft>
              <a:tabLst>
                <a:tab pos="914400" algn="l"/>
              </a:tabLst>
            </a:pPr>
            <a:r>
              <a:rPr lang="zh-CN" altLang="zh-CN" b="1" dirty="0">
                <a:latin typeface="+mj-ea"/>
                <a:ea typeface="+mj-ea"/>
                <a:cs typeface="Times New Roman" panose="02020603050405020304" pitchFamily="18" charset="0"/>
              </a:rPr>
              <a:t>操作性建议</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参考类似模板。在线调研工具也提供某一些方法（如</a:t>
            </a:r>
            <a:r>
              <a:rPr lang="en-US" altLang="zh-CN" dirty="0">
                <a:latin typeface="+mj-ea"/>
                <a:ea typeface="+mj-ea"/>
                <a:cs typeface="Times New Roman" panose="02020603050405020304" pitchFamily="18" charset="0"/>
              </a:rPr>
              <a:t>AHP</a:t>
            </a:r>
            <a:r>
              <a:rPr lang="zh-CN" altLang="zh-CN" dirty="0">
                <a:latin typeface="+mj-ea"/>
                <a:ea typeface="+mj-ea"/>
                <a:cs typeface="Times New Roman" panose="02020603050405020304" pitchFamily="18" charset="0"/>
              </a:rPr>
              <a:t>）的模板供参考。</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多轮的测试和修改。</a:t>
            </a:r>
            <a:endParaRPr lang="en-US" altLang="zh-CN" dirty="0">
              <a:latin typeface="+mj-ea"/>
              <a:ea typeface="+mj-ea"/>
              <a:cs typeface="Times New Roman" panose="02020603050405020304" pitchFamily="18" charset="0"/>
            </a:endParaRP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充分理解问卷调查的目的，以及数据收集后的数据分析方法。</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规范问卷内容的呈现过程。采用规范的方法将问题呈现到问卷中。</a:t>
            </a:r>
            <a:endParaRPr lang="zh-CN" altLang="zh-CN" dirty="0"/>
          </a:p>
        </p:txBody>
      </p:sp>
    </p:spTree>
    <p:extLst>
      <p:ext uri="{BB962C8B-B14F-4D97-AF65-F5344CB8AC3E}">
        <p14:creationId xmlns:p14="http://schemas.microsoft.com/office/powerpoint/2010/main" val="13808060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3790D9-FF85-4B0A-92F7-B5348D675A8B}"/>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定量数据的分析</a:t>
            </a:r>
          </a:p>
        </p:txBody>
      </p:sp>
      <p:graphicFrame>
        <p:nvGraphicFramePr>
          <p:cNvPr id="4" name="表格 3">
            <a:extLst>
              <a:ext uri="{FF2B5EF4-FFF2-40B4-BE49-F238E27FC236}">
                <a16:creationId xmlns:a16="http://schemas.microsoft.com/office/drawing/2014/main" id="{6197084E-60B9-4FB4-A17E-370F599AE76F}"/>
              </a:ext>
            </a:extLst>
          </p:cNvPr>
          <p:cNvGraphicFramePr>
            <a:graphicFrameLocks noGrp="1"/>
          </p:cNvGraphicFramePr>
          <p:nvPr>
            <p:extLst>
              <p:ext uri="{D42A27DB-BD31-4B8C-83A1-F6EECF244321}">
                <p14:modId xmlns:p14="http://schemas.microsoft.com/office/powerpoint/2010/main" val="2379266947"/>
              </p:ext>
            </p:extLst>
          </p:nvPr>
        </p:nvGraphicFramePr>
        <p:xfrm>
          <a:off x="885371" y="1575518"/>
          <a:ext cx="8708571" cy="2743200"/>
        </p:xfrm>
        <a:graphic>
          <a:graphicData uri="http://schemas.openxmlformats.org/drawingml/2006/table">
            <a:tbl>
              <a:tblPr firstRow="1" firstCol="1" bandRow="1">
                <a:tableStyleId>{5C22544A-7EE6-4342-B048-85BDC9FD1C3A}</a:tableStyleId>
              </a:tblPr>
              <a:tblGrid>
                <a:gridCol w="2351314">
                  <a:extLst>
                    <a:ext uri="{9D8B030D-6E8A-4147-A177-3AD203B41FA5}">
                      <a16:colId xmlns:a16="http://schemas.microsoft.com/office/drawing/2014/main" val="825349023"/>
                    </a:ext>
                  </a:extLst>
                </a:gridCol>
                <a:gridCol w="3454400">
                  <a:extLst>
                    <a:ext uri="{9D8B030D-6E8A-4147-A177-3AD203B41FA5}">
                      <a16:colId xmlns:a16="http://schemas.microsoft.com/office/drawing/2014/main" val="2479134414"/>
                    </a:ext>
                  </a:extLst>
                </a:gridCol>
                <a:gridCol w="2902857">
                  <a:extLst>
                    <a:ext uri="{9D8B030D-6E8A-4147-A177-3AD203B41FA5}">
                      <a16:colId xmlns:a16="http://schemas.microsoft.com/office/drawing/2014/main" val="3801979523"/>
                    </a:ext>
                  </a:extLst>
                </a:gridCol>
              </a:tblGrid>
              <a:tr h="303108">
                <a:tc>
                  <a:txBody>
                    <a:bodyPr/>
                    <a:lstStyle/>
                    <a:p>
                      <a:pPr algn="ctr">
                        <a:spcAft>
                          <a:spcPts val="0"/>
                        </a:spcAft>
                      </a:pPr>
                      <a:r>
                        <a:rPr lang="zh-CN" sz="2000" kern="100" dirty="0">
                          <a:effectLst/>
                          <a:latin typeface="+mj-ea"/>
                          <a:ea typeface="+mj-ea"/>
                        </a:rPr>
                        <a:t>阶段</a:t>
                      </a:r>
                      <a:endParaRPr lang="zh-CN" sz="2000" kern="100" dirty="0">
                        <a:effectLst/>
                        <a:latin typeface="+mj-ea"/>
                        <a:ea typeface="+mj-ea"/>
                        <a:cs typeface="Times New Roman" panose="02020603050405020304" pitchFamily="18" charset="0"/>
                      </a:endParaRPr>
                    </a:p>
                  </a:txBody>
                  <a:tcPr marL="68580" marR="68580" marT="0" marB="0"/>
                </a:tc>
                <a:tc>
                  <a:txBody>
                    <a:bodyPr/>
                    <a:lstStyle/>
                    <a:p>
                      <a:pPr algn="ctr">
                        <a:spcAft>
                          <a:spcPts val="0"/>
                        </a:spcAft>
                      </a:pPr>
                      <a:r>
                        <a:rPr lang="zh-CN" sz="2000" kern="100">
                          <a:effectLst/>
                          <a:latin typeface="+mj-ea"/>
                          <a:ea typeface="+mj-ea"/>
                        </a:rPr>
                        <a:t>方法</a:t>
                      </a:r>
                      <a:endParaRPr lang="zh-CN" sz="2000" kern="100">
                        <a:effectLst/>
                        <a:latin typeface="+mj-ea"/>
                        <a:ea typeface="+mj-ea"/>
                        <a:cs typeface="Times New Roman" panose="02020603050405020304" pitchFamily="18" charset="0"/>
                      </a:endParaRPr>
                    </a:p>
                  </a:txBody>
                  <a:tcPr marL="68580" marR="68580" marT="0" marB="0"/>
                </a:tc>
                <a:tc>
                  <a:txBody>
                    <a:bodyPr/>
                    <a:lstStyle/>
                    <a:p>
                      <a:pPr algn="ctr">
                        <a:spcAft>
                          <a:spcPts val="0"/>
                        </a:spcAft>
                      </a:pPr>
                      <a:r>
                        <a:rPr lang="zh-CN" sz="2000" kern="100">
                          <a:effectLst/>
                          <a:latin typeface="+mj-ea"/>
                          <a:ea typeface="+mj-ea"/>
                        </a:rPr>
                        <a:t>目的</a:t>
                      </a:r>
                      <a:endParaRPr lang="zh-CN" sz="20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4020480390"/>
                  </a:ext>
                </a:extLst>
              </a:tr>
              <a:tr h="303108">
                <a:tc rowSpan="3">
                  <a:txBody>
                    <a:bodyPr/>
                    <a:lstStyle/>
                    <a:p>
                      <a:pPr algn="just">
                        <a:spcAft>
                          <a:spcPts val="0"/>
                        </a:spcAft>
                      </a:pPr>
                      <a:r>
                        <a:rPr lang="zh-CN" altLang="en-US" sz="2000" b="1" kern="100" dirty="0">
                          <a:solidFill>
                            <a:schemeClr val="lt1"/>
                          </a:solidFill>
                          <a:effectLst/>
                          <a:latin typeface="+mj-ea"/>
                          <a:ea typeface="+mj-ea"/>
                          <a:cs typeface="+mn-cs"/>
                        </a:rPr>
                        <a:t>问题研究阶段</a:t>
                      </a:r>
                    </a:p>
                  </a:txBody>
                  <a:tcPr marL="68580" marR="68580" marT="0" marB="0"/>
                </a:tc>
                <a:tc>
                  <a:txBody>
                    <a:bodyPr/>
                    <a:lstStyle/>
                    <a:p>
                      <a:pPr algn="just">
                        <a:spcAft>
                          <a:spcPts val="0"/>
                        </a:spcAft>
                      </a:pPr>
                      <a:r>
                        <a:rPr lang="zh-CN" sz="2000" kern="100">
                          <a:effectLst/>
                          <a:latin typeface="+mj-ea"/>
                          <a:ea typeface="+mj-ea"/>
                        </a:rPr>
                        <a:t>因果与预测分析</a:t>
                      </a:r>
                      <a:endParaRPr lang="zh-CN" sz="2000" kern="10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2000" kern="100">
                          <a:effectLst/>
                          <a:latin typeface="+mj-ea"/>
                          <a:ea typeface="+mj-ea"/>
                        </a:rPr>
                        <a:t>确定主要原因</a:t>
                      </a:r>
                      <a:endParaRPr lang="zh-CN" sz="20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089837518"/>
                  </a:ext>
                </a:extLst>
              </a:tr>
              <a:tr h="303108">
                <a:tc vMerge="1">
                  <a:txBody>
                    <a:bodyPr/>
                    <a:lstStyle/>
                    <a:p>
                      <a:endParaRPr lang="zh-CN" altLang="en-US"/>
                    </a:p>
                  </a:txBody>
                  <a:tcPr/>
                </a:tc>
                <a:tc>
                  <a:txBody>
                    <a:bodyPr/>
                    <a:lstStyle/>
                    <a:p>
                      <a:pPr algn="just">
                        <a:spcAft>
                          <a:spcPts val="0"/>
                        </a:spcAft>
                      </a:pPr>
                      <a:r>
                        <a:rPr lang="zh-CN" sz="2000" kern="100">
                          <a:effectLst/>
                          <a:latin typeface="+mj-ea"/>
                          <a:ea typeface="+mj-ea"/>
                        </a:rPr>
                        <a:t>因子分析</a:t>
                      </a:r>
                      <a:endParaRPr lang="zh-CN" sz="2000" kern="10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2000" kern="100">
                          <a:effectLst/>
                          <a:latin typeface="+mj-ea"/>
                          <a:ea typeface="+mj-ea"/>
                        </a:rPr>
                        <a:t>降维</a:t>
                      </a:r>
                      <a:endParaRPr lang="zh-CN" sz="20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762075405"/>
                  </a:ext>
                </a:extLst>
              </a:tr>
              <a:tr h="303108">
                <a:tc vMerge="1">
                  <a:txBody>
                    <a:bodyPr/>
                    <a:lstStyle/>
                    <a:p>
                      <a:endParaRPr lang="zh-CN" altLang="en-US"/>
                    </a:p>
                  </a:txBody>
                  <a:tcPr/>
                </a:tc>
                <a:tc>
                  <a:txBody>
                    <a:bodyPr/>
                    <a:lstStyle/>
                    <a:p>
                      <a:pPr algn="just">
                        <a:spcAft>
                          <a:spcPts val="0"/>
                        </a:spcAft>
                      </a:pPr>
                      <a:r>
                        <a:rPr lang="zh-CN" sz="2000" kern="100" dirty="0">
                          <a:effectLst/>
                          <a:latin typeface="+mj-ea"/>
                          <a:ea typeface="+mj-ea"/>
                        </a:rPr>
                        <a:t>评价分析</a:t>
                      </a:r>
                      <a:endParaRPr lang="zh-CN" sz="2000" kern="100" dirty="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2000" kern="100">
                          <a:effectLst/>
                          <a:latin typeface="+mj-ea"/>
                          <a:ea typeface="+mj-ea"/>
                        </a:rPr>
                        <a:t>确定原因</a:t>
                      </a:r>
                      <a:endParaRPr lang="zh-CN" sz="20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3524611692"/>
                  </a:ext>
                </a:extLst>
              </a:tr>
              <a:tr h="303108">
                <a:tc>
                  <a:txBody>
                    <a:bodyPr/>
                    <a:lstStyle/>
                    <a:p>
                      <a:pPr algn="just">
                        <a:spcAft>
                          <a:spcPts val="0"/>
                        </a:spcAft>
                      </a:pPr>
                      <a:r>
                        <a:rPr lang="zh-CN" altLang="en-US" sz="2000" b="1" kern="100" dirty="0">
                          <a:solidFill>
                            <a:schemeClr val="lt1"/>
                          </a:solidFill>
                          <a:effectLst/>
                          <a:latin typeface="+mj-ea"/>
                          <a:ea typeface="+mj-ea"/>
                          <a:cs typeface="+mn-cs"/>
                        </a:rPr>
                        <a:t>解决方案设计阶段</a:t>
                      </a:r>
                    </a:p>
                  </a:txBody>
                  <a:tcPr marL="68580" marR="68580" marT="0" marB="0"/>
                </a:tc>
                <a:tc>
                  <a:txBody>
                    <a:bodyPr/>
                    <a:lstStyle/>
                    <a:p>
                      <a:pPr algn="just">
                        <a:spcAft>
                          <a:spcPts val="0"/>
                        </a:spcAft>
                      </a:pPr>
                      <a:r>
                        <a:rPr lang="zh-CN" sz="2000" kern="100" dirty="0">
                          <a:effectLst/>
                          <a:latin typeface="+mj-ea"/>
                          <a:ea typeface="+mj-ea"/>
                        </a:rPr>
                        <a:t>评价分析</a:t>
                      </a:r>
                      <a:endParaRPr lang="zh-CN" sz="2000" kern="100" dirty="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2000" kern="100">
                          <a:effectLst/>
                          <a:latin typeface="+mj-ea"/>
                          <a:ea typeface="+mj-ea"/>
                        </a:rPr>
                        <a:t>方案选择</a:t>
                      </a:r>
                      <a:endParaRPr lang="zh-CN" sz="2000" kern="10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386371141"/>
                  </a:ext>
                </a:extLst>
              </a:tr>
              <a:tr h="303108">
                <a:tc rowSpan="3">
                  <a:txBody>
                    <a:bodyPr/>
                    <a:lstStyle/>
                    <a:p>
                      <a:pPr algn="just">
                        <a:spcAft>
                          <a:spcPts val="0"/>
                        </a:spcAft>
                      </a:pPr>
                      <a:r>
                        <a:rPr lang="zh-CN" altLang="en-US" sz="2000" b="1" kern="100" dirty="0">
                          <a:solidFill>
                            <a:schemeClr val="lt1"/>
                          </a:solidFill>
                          <a:effectLst/>
                          <a:latin typeface="+mj-ea"/>
                          <a:ea typeface="+mj-ea"/>
                          <a:cs typeface="+mn-cs"/>
                        </a:rPr>
                        <a:t>解决方案评估阶段</a:t>
                      </a:r>
                    </a:p>
                  </a:txBody>
                  <a:tcPr marL="68580" marR="68580" marT="0" marB="0"/>
                </a:tc>
                <a:tc>
                  <a:txBody>
                    <a:bodyPr/>
                    <a:lstStyle/>
                    <a:p>
                      <a:pPr algn="just">
                        <a:spcAft>
                          <a:spcPts val="0"/>
                        </a:spcAft>
                      </a:pPr>
                      <a:r>
                        <a:rPr lang="zh-CN" sz="2000" kern="100" dirty="0">
                          <a:effectLst/>
                          <a:latin typeface="+mj-ea"/>
                          <a:ea typeface="+mj-ea"/>
                        </a:rPr>
                        <a:t>对照分析</a:t>
                      </a:r>
                      <a:endParaRPr lang="zh-CN" sz="2000" kern="100" dirty="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2000" kern="100" dirty="0">
                          <a:effectLst/>
                          <a:latin typeface="+mj-ea"/>
                          <a:ea typeface="+mj-ea"/>
                        </a:rPr>
                        <a:t>对照组的分析</a:t>
                      </a:r>
                      <a:endParaRPr lang="zh-CN" sz="20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2058319530"/>
                  </a:ext>
                </a:extLst>
              </a:tr>
              <a:tr h="606215">
                <a:tc vMerge="1">
                  <a:txBody>
                    <a:bodyPr/>
                    <a:lstStyle/>
                    <a:p>
                      <a:endParaRPr lang="zh-CN" altLang="en-US"/>
                    </a:p>
                  </a:txBody>
                  <a:tcPr/>
                </a:tc>
                <a:tc>
                  <a:txBody>
                    <a:bodyPr/>
                    <a:lstStyle/>
                    <a:p>
                      <a:pPr algn="just">
                        <a:spcAft>
                          <a:spcPts val="0"/>
                        </a:spcAft>
                      </a:pPr>
                      <a:r>
                        <a:rPr lang="zh-CN" sz="2000" kern="100" dirty="0">
                          <a:effectLst/>
                          <a:latin typeface="+mj-ea"/>
                          <a:ea typeface="+mj-ea"/>
                        </a:rPr>
                        <a:t>因果分析</a:t>
                      </a:r>
                      <a:endParaRPr lang="zh-CN" sz="2000" kern="100" dirty="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2000" kern="100" dirty="0">
                          <a:effectLst/>
                          <a:latin typeface="+mj-ea"/>
                          <a:ea typeface="+mj-ea"/>
                        </a:rPr>
                        <a:t>目标实现程度，检验是否存在显著影响</a:t>
                      </a:r>
                      <a:endParaRPr lang="zh-CN" sz="20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3631030535"/>
                  </a:ext>
                </a:extLst>
              </a:tr>
              <a:tr h="303108">
                <a:tc vMerge="1">
                  <a:txBody>
                    <a:bodyPr/>
                    <a:lstStyle/>
                    <a:p>
                      <a:endParaRPr lang="zh-CN" altLang="en-US"/>
                    </a:p>
                  </a:txBody>
                  <a:tcPr/>
                </a:tc>
                <a:tc>
                  <a:txBody>
                    <a:bodyPr/>
                    <a:lstStyle/>
                    <a:p>
                      <a:pPr algn="just">
                        <a:spcAft>
                          <a:spcPts val="0"/>
                        </a:spcAft>
                      </a:pPr>
                      <a:r>
                        <a:rPr lang="zh-CN" sz="2000" kern="100" dirty="0">
                          <a:effectLst/>
                          <a:latin typeface="+mj-ea"/>
                          <a:ea typeface="+mj-ea"/>
                        </a:rPr>
                        <a:t>评价分析</a:t>
                      </a:r>
                      <a:endParaRPr lang="zh-CN" sz="2000" kern="100" dirty="0">
                        <a:effectLst/>
                        <a:latin typeface="+mj-ea"/>
                        <a:ea typeface="+mj-ea"/>
                        <a:cs typeface="Times New Roman" panose="02020603050405020304" pitchFamily="18" charset="0"/>
                      </a:endParaRPr>
                    </a:p>
                  </a:txBody>
                  <a:tcPr marL="68580" marR="68580" marT="0" marB="0"/>
                </a:tc>
                <a:tc>
                  <a:txBody>
                    <a:bodyPr/>
                    <a:lstStyle/>
                    <a:p>
                      <a:pPr algn="just">
                        <a:spcAft>
                          <a:spcPts val="0"/>
                        </a:spcAft>
                      </a:pPr>
                      <a:r>
                        <a:rPr lang="zh-CN" sz="2000" kern="100" dirty="0">
                          <a:effectLst/>
                          <a:latin typeface="+mj-ea"/>
                          <a:ea typeface="+mj-ea"/>
                        </a:rPr>
                        <a:t>方案评价</a:t>
                      </a:r>
                      <a:endParaRPr lang="zh-CN" sz="2000" kern="100" dirty="0">
                        <a:effectLst/>
                        <a:latin typeface="+mj-ea"/>
                        <a:ea typeface="+mj-ea"/>
                        <a:cs typeface="Times New Roman" panose="02020603050405020304" pitchFamily="18" charset="0"/>
                      </a:endParaRPr>
                    </a:p>
                  </a:txBody>
                  <a:tcPr marL="68580" marR="68580" marT="0" marB="0"/>
                </a:tc>
                <a:extLst>
                  <a:ext uri="{0D108BD9-81ED-4DB2-BD59-A6C34878D82A}">
                    <a16:rowId xmlns:a16="http://schemas.microsoft.com/office/drawing/2014/main" val="1753555991"/>
                  </a:ext>
                </a:extLst>
              </a:tr>
            </a:tbl>
          </a:graphicData>
        </a:graphic>
      </p:graphicFrame>
    </p:spTree>
    <p:extLst>
      <p:ext uri="{BB962C8B-B14F-4D97-AF65-F5344CB8AC3E}">
        <p14:creationId xmlns:p14="http://schemas.microsoft.com/office/powerpoint/2010/main" val="414270707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F2D6E189-F086-4F30-9455-6B129C294797}"/>
              </a:ext>
            </a:extLst>
          </p:cNvPr>
          <p:cNvSpPr/>
          <p:nvPr/>
        </p:nvSpPr>
        <p:spPr>
          <a:xfrm>
            <a:off x="402356" y="1092046"/>
            <a:ext cx="10843713" cy="4620624"/>
          </a:xfrm>
          <a:prstGeom prst="rect">
            <a:avLst/>
          </a:prstGeom>
        </p:spPr>
        <p:txBody>
          <a:bodyPr wrap="square">
            <a:spAutoFit/>
          </a:bodyPr>
          <a:lstStyle/>
          <a:p>
            <a:pPr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1</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选择流程</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明确数据分析的目的；</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依据此目的，初步筛选可能的数据分析方法，形成待选的方法集；</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基于目的以及约束条件（如数据可获得性、难易程度等），评价和选择数据分析方法；</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详细梳理、尝试运行，以最终确认该方法。</a:t>
            </a:r>
          </a:p>
          <a:p>
            <a:pPr fontAlgn="base">
              <a:lnSpc>
                <a:spcPct val="150000"/>
              </a:lnSpc>
              <a:spcBef>
                <a:spcPct val="0"/>
              </a:spcBef>
              <a:spcAft>
                <a:spcPct val="0"/>
              </a:spcAft>
              <a:tabLst>
                <a:tab pos="914400" algn="l"/>
              </a:tabLst>
            </a:pPr>
            <a:r>
              <a:rPr lang="en-US" altLang="zh-CN" b="1" dirty="0">
                <a:latin typeface="+mj-ea"/>
                <a:ea typeface="+mj-ea"/>
                <a:cs typeface="Times New Roman" panose="02020603050405020304" pitchFamily="18" charset="0"/>
              </a:rPr>
              <a:t>2</a:t>
            </a:r>
            <a:r>
              <a:rPr lang="zh-CN" altLang="en-US" b="1" dirty="0">
                <a:latin typeface="+mj-ea"/>
                <a:ea typeface="+mj-ea"/>
                <a:cs typeface="Times New Roman" panose="02020603050405020304" pitchFamily="18" charset="0"/>
              </a:rPr>
              <a:t>、</a:t>
            </a:r>
            <a:r>
              <a:rPr lang="zh-CN" altLang="zh-CN" b="1" dirty="0">
                <a:latin typeface="+mj-ea"/>
                <a:ea typeface="+mj-ea"/>
                <a:cs typeface="Times New Roman" panose="02020603050405020304" pitchFamily="18" charset="0"/>
              </a:rPr>
              <a:t>量化分析方法的学习</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有目的的学习，学以致用。</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搜索到最有效的学习资料。常包括操作指南、模板、视频资料、网上论坛等。</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学习和掌握基本原理。</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有效的过程问题解决。如网络搜索、查找书籍、咨询专业人士等。</a:t>
            </a:r>
          </a:p>
          <a:p>
            <a:pPr marL="285750" indent="-285750" fontAlgn="base">
              <a:lnSpc>
                <a:spcPct val="150000"/>
              </a:lnSpc>
              <a:spcBef>
                <a:spcPct val="0"/>
              </a:spcBef>
              <a:spcAft>
                <a:spcPct val="0"/>
              </a:spcAft>
              <a:buFont typeface="Arial" panose="020B0604020202020204" pitchFamily="34" charset="0"/>
              <a:buChar char="•"/>
              <a:tabLst>
                <a:tab pos="914400" algn="l"/>
              </a:tabLst>
            </a:pPr>
            <a:r>
              <a:rPr lang="zh-CN" altLang="zh-CN" dirty="0">
                <a:latin typeface="+mj-ea"/>
                <a:ea typeface="+mj-ea"/>
                <a:cs typeface="Times New Roman" panose="02020603050405020304" pitchFamily="18" charset="0"/>
              </a:rPr>
              <a:t>有效、规范地呈现量化分析结果。找到合适的模板，仿照模板。</a:t>
            </a:r>
            <a:endParaRPr lang="zh-CN" altLang="zh-CN" dirty="0"/>
          </a:p>
        </p:txBody>
      </p:sp>
      <p:sp>
        <p:nvSpPr>
          <p:cNvPr id="4" name="标题 1">
            <a:extLst>
              <a:ext uri="{FF2B5EF4-FFF2-40B4-BE49-F238E27FC236}">
                <a16:creationId xmlns:a16="http://schemas.microsoft.com/office/drawing/2014/main" id="{A4F7FA5B-7F93-466C-A0B1-6FB35F9065CB}"/>
              </a:ext>
            </a:extLst>
          </p:cNvPr>
          <p:cNvSpPr txBox="1">
            <a:spLocks noChangeArrowheads="1"/>
          </p:cNvSpPr>
          <p:nvPr/>
        </p:nvSpPr>
        <p:spPr>
          <a:xfrm>
            <a:off x="1656965" y="481349"/>
            <a:ext cx="582930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定量数据的分析</a:t>
            </a:r>
          </a:p>
        </p:txBody>
      </p:sp>
    </p:spTree>
    <p:extLst>
      <p:ext uri="{BB962C8B-B14F-4D97-AF65-F5344CB8AC3E}">
        <p14:creationId xmlns:p14="http://schemas.microsoft.com/office/powerpoint/2010/main" val="39891204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a:extLst>
              <a:ext uri="{FF2B5EF4-FFF2-40B4-BE49-F238E27FC236}">
                <a16:creationId xmlns:a16="http://schemas.microsoft.com/office/drawing/2014/main" id="{0BED8D74-7BC2-4E0A-B9D1-0804D833C0D0}"/>
              </a:ext>
            </a:extLst>
          </p:cNvPr>
          <p:cNvGraphicFramePr>
            <a:graphicFrameLocks noChangeAspect="1"/>
          </p:cNvGraphicFramePr>
          <p:nvPr/>
        </p:nvGraphicFramePr>
        <p:xfrm>
          <a:off x="3282535" y="991666"/>
          <a:ext cx="3864429" cy="5328557"/>
        </p:xfrm>
        <a:graphic>
          <a:graphicData uri="http://schemas.openxmlformats.org/presentationml/2006/ole">
            <mc:AlternateContent xmlns:mc="http://schemas.openxmlformats.org/markup-compatibility/2006">
              <mc:Choice xmlns:v="urn:schemas-microsoft-com:vml" Requires="v">
                <p:oleObj spid="_x0000_s1026" name="Visio" r:id="rId3" imgW="2111730" imgH="3265793" progId="Visio.Drawing.15">
                  <p:embed/>
                </p:oleObj>
              </mc:Choice>
              <mc:Fallback>
                <p:oleObj name="Visio" r:id="rId3" imgW="2111730" imgH="3265793" progId="Visio.Drawing.15">
                  <p:embed/>
                  <p:pic>
                    <p:nvPicPr>
                      <p:cNvPr id="3" name="对象 2">
                        <a:extLst>
                          <a:ext uri="{FF2B5EF4-FFF2-40B4-BE49-F238E27FC236}">
                            <a16:creationId xmlns:a16="http://schemas.microsoft.com/office/drawing/2014/main" id="{0BED8D74-7BC2-4E0A-B9D1-0804D833C0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82535" y="991666"/>
                        <a:ext cx="3864429" cy="5328557"/>
                      </a:xfrm>
                      <a:prstGeom prst="rect">
                        <a:avLst/>
                      </a:prstGeom>
                      <a:noFill/>
                    </p:spPr>
                  </p:pic>
                </p:oleObj>
              </mc:Fallback>
            </mc:AlternateContent>
          </a:graphicData>
        </a:graphic>
      </p:graphicFrame>
      <p:sp>
        <p:nvSpPr>
          <p:cNvPr id="4" name="标题 1">
            <a:extLst>
              <a:ext uri="{FF2B5EF4-FFF2-40B4-BE49-F238E27FC236}">
                <a16:creationId xmlns:a16="http://schemas.microsoft.com/office/drawing/2014/main" id="{128A7C94-F099-4A0A-AF19-917F61C033B3}"/>
              </a:ext>
            </a:extLst>
          </p:cNvPr>
          <p:cNvSpPr txBox="1">
            <a:spLocks noChangeArrowheads="1"/>
          </p:cNvSpPr>
          <p:nvPr/>
        </p:nvSpPr>
        <p:spPr>
          <a:xfrm>
            <a:off x="1748939" y="418034"/>
            <a:ext cx="6554880" cy="48681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工程管理设计研究的三个步骤</a:t>
            </a:r>
          </a:p>
        </p:txBody>
      </p:sp>
    </p:spTree>
    <p:extLst>
      <p:ext uri="{BB962C8B-B14F-4D97-AF65-F5344CB8AC3E}">
        <p14:creationId xmlns:p14="http://schemas.microsoft.com/office/powerpoint/2010/main" val="27261367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4E1B3EA5-D42D-B626-6BFA-0683DAC303B5}"/>
              </a:ext>
            </a:extLst>
          </p:cNvPr>
          <p:cNvSpPr/>
          <p:nvPr/>
        </p:nvSpPr>
        <p:spPr>
          <a:xfrm>
            <a:off x="411815" y="784337"/>
            <a:ext cx="527989" cy="3721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6A005F"/>
                </a:solidFill>
                <a:latin typeface="微软雅黑" panose="020B0503020204020204" pitchFamily="34" charset="-122"/>
                <a:ea typeface="微软雅黑" panose="020B0503020204020204" pitchFamily="34" charset="-122"/>
              </a:rPr>
              <a:t>研究步骤</a:t>
            </a:r>
          </a:p>
        </p:txBody>
      </p:sp>
      <p:sp>
        <p:nvSpPr>
          <p:cNvPr id="6" name="矩形 5">
            <a:extLst>
              <a:ext uri="{FF2B5EF4-FFF2-40B4-BE49-F238E27FC236}">
                <a16:creationId xmlns:a16="http://schemas.microsoft.com/office/drawing/2014/main" id="{F3D49A80-EF6A-8DEF-2FC3-A2CBB4CEED13}"/>
              </a:ext>
            </a:extLst>
          </p:cNvPr>
          <p:cNvSpPr/>
          <p:nvPr/>
        </p:nvSpPr>
        <p:spPr>
          <a:xfrm flipH="1">
            <a:off x="606954" y="1716031"/>
            <a:ext cx="260553" cy="377341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6A005F"/>
                </a:solidFill>
                <a:latin typeface="微软雅黑" panose="020B0503020204020204" pitchFamily="34" charset="-122"/>
                <a:ea typeface="微软雅黑" panose="020B0503020204020204" pitchFamily="34" charset="-122"/>
              </a:rPr>
              <a:t>研究内容</a:t>
            </a:r>
          </a:p>
        </p:txBody>
      </p:sp>
      <p:sp>
        <p:nvSpPr>
          <p:cNvPr id="7" name="矩形 6">
            <a:extLst>
              <a:ext uri="{FF2B5EF4-FFF2-40B4-BE49-F238E27FC236}">
                <a16:creationId xmlns:a16="http://schemas.microsoft.com/office/drawing/2014/main" id="{0BE7FEFD-DA1C-56D9-B27D-272F53976316}"/>
              </a:ext>
            </a:extLst>
          </p:cNvPr>
          <p:cNvSpPr/>
          <p:nvPr/>
        </p:nvSpPr>
        <p:spPr>
          <a:xfrm>
            <a:off x="606954" y="5717450"/>
            <a:ext cx="260553" cy="84634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6A005F"/>
                </a:solidFill>
                <a:latin typeface="微软雅黑" panose="020B0503020204020204" pitchFamily="34" charset="-122"/>
                <a:ea typeface="微软雅黑" panose="020B0503020204020204" pitchFamily="34" charset="-122"/>
              </a:rPr>
              <a:t>研究方法</a:t>
            </a:r>
          </a:p>
        </p:txBody>
      </p:sp>
      <p:sp>
        <p:nvSpPr>
          <p:cNvPr id="8" name="矩形 7">
            <a:extLst>
              <a:ext uri="{FF2B5EF4-FFF2-40B4-BE49-F238E27FC236}">
                <a16:creationId xmlns:a16="http://schemas.microsoft.com/office/drawing/2014/main" id="{B228FF5C-DE1E-C326-7874-812C917191AC}"/>
              </a:ext>
            </a:extLst>
          </p:cNvPr>
          <p:cNvSpPr/>
          <p:nvPr/>
        </p:nvSpPr>
        <p:spPr>
          <a:xfrm>
            <a:off x="1297451" y="827497"/>
            <a:ext cx="1317171" cy="30626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6A005F"/>
                </a:solidFill>
                <a:latin typeface="微软雅黑" panose="020B0503020204020204" pitchFamily="34" charset="-122"/>
                <a:ea typeface="微软雅黑" panose="020B0503020204020204" pitchFamily="34" charset="-122"/>
              </a:rPr>
              <a:t>一、背景与现状</a:t>
            </a:r>
          </a:p>
        </p:txBody>
      </p:sp>
      <p:sp>
        <p:nvSpPr>
          <p:cNvPr id="9" name="矩形 8">
            <a:extLst>
              <a:ext uri="{FF2B5EF4-FFF2-40B4-BE49-F238E27FC236}">
                <a16:creationId xmlns:a16="http://schemas.microsoft.com/office/drawing/2014/main" id="{02214DC3-8034-7F87-6231-AB90DF3038F4}"/>
              </a:ext>
            </a:extLst>
          </p:cNvPr>
          <p:cNvSpPr/>
          <p:nvPr/>
        </p:nvSpPr>
        <p:spPr>
          <a:xfrm>
            <a:off x="2939265" y="791176"/>
            <a:ext cx="1504888" cy="3850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6A005F"/>
                </a:solidFill>
                <a:latin typeface="微软雅黑" panose="020B0503020204020204" pitchFamily="34" charset="-122"/>
                <a:ea typeface="微软雅黑" panose="020B0503020204020204" pitchFamily="34" charset="-122"/>
              </a:rPr>
              <a:t>二、相关理论基础</a:t>
            </a:r>
          </a:p>
        </p:txBody>
      </p:sp>
      <p:sp>
        <p:nvSpPr>
          <p:cNvPr id="10" name="矩形 9">
            <a:extLst>
              <a:ext uri="{FF2B5EF4-FFF2-40B4-BE49-F238E27FC236}">
                <a16:creationId xmlns:a16="http://schemas.microsoft.com/office/drawing/2014/main" id="{6E0B82D5-CA0B-5366-B6A9-2BE23EF0219E}"/>
              </a:ext>
            </a:extLst>
          </p:cNvPr>
          <p:cNvSpPr/>
          <p:nvPr/>
        </p:nvSpPr>
        <p:spPr>
          <a:xfrm>
            <a:off x="4805435" y="791175"/>
            <a:ext cx="1593438" cy="3913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6A005F"/>
                </a:solidFill>
                <a:latin typeface="微软雅黑" panose="020B0503020204020204" pitchFamily="34" charset="-122"/>
                <a:ea typeface="微软雅黑" panose="020B0503020204020204" pitchFamily="34" charset="-122"/>
              </a:rPr>
              <a:t>三、汽车软件开发流程</a:t>
            </a:r>
            <a:r>
              <a:rPr lang="zh-CN" altLang="en-US" sz="1200" b="1" dirty="0">
                <a:solidFill>
                  <a:srgbClr val="6A005F"/>
                </a:solidFill>
                <a:highlight>
                  <a:srgbClr val="FFFF00"/>
                </a:highlight>
                <a:latin typeface="微软雅黑" panose="020B0503020204020204" pitchFamily="34" charset="-122"/>
                <a:ea typeface="微软雅黑" panose="020B0503020204020204" pitchFamily="34" charset="-122"/>
              </a:rPr>
              <a:t>问题诊断</a:t>
            </a:r>
            <a:r>
              <a:rPr lang="zh-CN" altLang="en-US" sz="1200" b="1" dirty="0">
                <a:solidFill>
                  <a:srgbClr val="6A005F"/>
                </a:solidFill>
                <a:latin typeface="微软雅黑" panose="020B0503020204020204" pitchFamily="34" charset="-122"/>
                <a:ea typeface="微软雅黑" panose="020B0503020204020204" pitchFamily="34" charset="-122"/>
              </a:rPr>
              <a:t>与呈现</a:t>
            </a:r>
          </a:p>
        </p:txBody>
      </p:sp>
      <p:sp>
        <p:nvSpPr>
          <p:cNvPr id="11" name="矩形 10">
            <a:extLst>
              <a:ext uri="{FF2B5EF4-FFF2-40B4-BE49-F238E27FC236}">
                <a16:creationId xmlns:a16="http://schemas.microsoft.com/office/drawing/2014/main" id="{71413D19-7CC2-ED8C-2569-0B6548FC3532}"/>
              </a:ext>
            </a:extLst>
          </p:cNvPr>
          <p:cNvSpPr/>
          <p:nvPr/>
        </p:nvSpPr>
        <p:spPr>
          <a:xfrm>
            <a:off x="6859740" y="789088"/>
            <a:ext cx="1505782" cy="38716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6A005F"/>
                </a:solidFill>
                <a:latin typeface="微软雅黑" panose="020B0503020204020204" pitchFamily="34" charset="-122"/>
                <a:ea typeface="微软雅黑" panose="020B0503020204020204" pitchFamily="34" charset="-122"/>
              </a:rPr>
              <a:t>四、基于</a:t>
            </a:r>
            <a:r>
              <a:rPr lang="en-US" altLang="zh-CN" sz="1200" b="1" dirty="0">
                <a:solidFill>
                  <a:srgbClr val="6A005F"/>
                </a:solidFill>
                <a:latin typeface="微软雅黑" panose="020B0503020204020204" pitchFamily="34" charset="-122"/>
                <a:ea typeface="微软雅黑" panose="020B0503020204020204" pitchFamily="34" charset="-122"/>
              </a:rPr>
              <a:t>CMMI</a:t>
            </a:r>
            <a:r>
              <a:rPr lang="zh-CN" altLang="en-US" sz="1200" b="1" dirty="0">
                <a:solidFill>
                  <a:srgbClr val="6A005F"/>
                </a:solidFill>
                <a:latin typeface="微软雅黑" panose="020B0503020204020204" pitchFamily="34" charset="-122"/>
                <a:ea typeface="微软雅黑" panose="020B0503020204020204" pitchFamily="34" charset="-122"/>
              </a:rPr>
              <a:t>的流程</a:t>
            </a:r>
            <a:r>
              <a:rPr lang="zh-CN" altLang="en-US" sz="1200" b="1" dirty="0">
                <a:solidFill>
                  <a:srgbClr val="6A005F"/>
                </a:solidFill>
                <a:highlight>
                  <a:srgbClr val="FFFF00"/>
                </a:highlight>
                <a:latin typeface="微软雅黑" panose="020B0503020204020204" pitchFamily="34" charset="-122"/>
                <a:ea typeface="微软雅黑" panose="020B0503020204020204" pitchFamily="34" charset="-122"/>
              </a:rPr>
              <a:t>改进方案设计</a:t>
            </a:r>
          </a:p>
        </p:txBody>
      </p:sp>
      <p:sp>
        <p:nvSpPr>
          <p:cNvPr id="12" name="矩形 11">
            <a:extLst>
              <a:ext uri="{FF2B5EF4-FFF2-40B4-BE49-F238E27FC236}">
                <a16:creationId xmlns:a16="http://schemas.microsoft.com/office/drawing/2014/main" id="{C6BC8141-ED1C-FFB8-6B23-F9486A0CDAB3}"/>
              </a:ext>
            </a:extLst>
          </p:cNvPr>
          <p:cNvSpPr/>
          <p:nvPr/>
        </p:nvSpPr>
        <p:spPr>
          <a:xfrm>
            <a:off x="8703240" y="738923"/>
            <a:ext cx="1293635" cy="43871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b="1" dirty="0">
                <a:solidFill>
                  <a:srgbClr val="6A005F"/>
                </a:solidFill>
                <a:latin typeface="微软雅黑" panose="020B0503020204020204" pitchFamily="34" charset="-122"/>
                <a:ea typeface="微软雅黑" panose="020B0503020204020204" pitchFamily="34" charset="-122"/>
              </a:rPr>
              <a:t>五、改进方案</a:t>
            </a:r>
            <a:endParaRPr lang="en-US" altLang="zh-CN" sz="1200" b="1" dirty="0">
              <a:solidFill>
                <a:srgbClr val="6A005F"/>
              </a:solidFill>
              <a:latin typeface="微软雅黑" panose="020B0503020204020204" pitchFamily="34" charset="-122"/>
              <a:ea typeface="微软雅黑" panose="020B0503020204020204" pitchFamily="34" charset="-122"/>
            </a:endParaRPr>
          </a:p>
          <a:p>
            <a:r>
              <a:rPr lang="zh-CN" altLang="en-US" sz="1200" b="1" dirty="0">
                <a:solidFill>
                  <a:srgbClr val="6A005F"/>
                </a:solidFill>
                <a:latin typeface="微软雅黑" panose="020B0503020204020204" pitchFamily="34" charset="-122"/>
                <a:ea typeface="微软雅黑" panose="020B0503020204020204" pitchFamily="34" charset="-122"/>
              </a:rPr>
              <a:t>实施及</a:t>
            </a:r>
            <a:r>
              <a:rPr lang="zh-CN" altLang="en-US" sz="1200" b="1" dirty="0">
                <a:solidFill>
                  <a:srgbClr val="6A005F"/>
                </a:solidFill>
                <a:highlight>
                  <a:srgbClr val="FFFF00"/>
                </a:highlight>
                <a:latin typeface="微软雅黑" panose="020B0503020204020204" pitchFamily="34" charset="-122"/>
                <a:ea typeface="微软雅黑" panose="020B0503020204020204" pitchFamily="34" charset="-122"/>
              </a:rPr>
              <a:t>效果评价</a:t>
            </a:r>
          </a:p>
        </p:txBody>
      </p:sp>
      <p:sp>
        <p:nvSpPr>
          <p:cNvPr id="13" name="矩形 12">
            <a:extLst>
              <a:ext uri="{FF2B5EF4-FFF2-40B4-BE49-F238E27FC236}">
                <a16:creationId xmlns:a16="http://schemas.microsoft.com/office/drawing/2014/main" id="{2F4352DA-0004-243A-820F-B0B0C4EB29CA}"/>
              </a:ext>
            </a:extLst>
          </p:cNvPr>
          <p:cNvSpPr/>
          <p:nvPr/>
        </p:nvSpPr>
        <p:spPr>
          <a:xfrm>
            <a:off x="10303807" y="784338"/>
            <a:ext cx="1245090" cy="3782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b="1" dirty="0">
                <a:solidFill>
                  <a:srgbClr val="6A005F"/>
                </a:solidFill>
                <a:latin typeface="微软雅黑" panose="020B0503020204020204" pitchFamily="34" charset="-122"/>
                <a:ea typeface="微软雅黑" panose="020B0503020204020204" pitchFamily="34" charset="-122"/>
              </a:rPr>
              <a:t>六、总结与</a:t>
            </a:r>
            <a:endParaRPr lang="en-US" altLang="zh-CN" sz="1200" b="1" dirty="0">
              <a:solidFill>
                <a:srgbClr val="6A005F"/>
              </a:solidFill>
              <a:latin typeface="微软雅黑" panose="020B0503020204020204" pitchFamily="34" charset="-122"/>
              <a:ea typeface="微软雅黑" panose="020B0503020204020204" pitchFamily="34" charset="-122"/>
            </a:endParaRPr>
          </a:p>
          <a:p>
            <a:pPr algn="ctr"/>
            <a:r>
              <a:rPr lang="zh-CN" altLang="en-US" sz="1200" b="1" dirty="0">
                <a:solidFill>
                  <a:srgbClr val="6A005F"/>
                </a:solidFill>
                <a:latin typeface="微软雅黑" panose="020B0503020204020204" pitchFamily="34" charset="-122"/>
                <a:ea typeface="微软雅黑" panose="020B0503020204020204" pitchFamily="34" charset="-122"/>
              </a:rPr>
              <a:t>展望</a:t>
            </a:r>
          </a:p>
        </p:txBody>
      </p:sp>
      <p:sp>
        <p:nvSpPr>
          <p:cNvPr id="15" name="矩形: 圆角 14">
            <a:extLst>
              <a:ext uri="{FF2B5EF4-FFF2-40B4-BE49-F238E27FC236}">
                <a16:creationId xmlns:a16="http://schemas.microsoft.com/office/drawing/2014/main" id="{5F01D08A-2F55-B8D7-B1E0-E908E26A1EF5}"/>
              </a:ext>
            </a:extLst>
          </p:cNvPr>
          <p:cNvSpPr/>
          <p:nvPr/>
        </p:nvSpPr>
        <p:spPr>
          <a:xfrm>
            <a:off x="1078652" y="1457744"/>
            <a:ext cx="1604780" cy="1298708"/>
          </a:xfrm>
          <a:prstGeom prst="roundRect">
            <a:avLst/>
          </a:prstGeom>
          <a:solidFill>
            <a:srgbClr val="E6D5F3"/>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16" name="文本框 15">
            <a:extLst>
              <a:ext uri="{FF2B5EF4-FFF2-40B4-BE49-F238E27FC236}">
                <a16:creationId xmlns:a16="http://schemas.microsoft.com/office/drawing/2014/main" id="{35F450B9-3AD5-6E04-24AF-5FC6654D9FB0}"/>
              </a:ext>
            </a:extLst>
          </p:cNvPr>
          <p:cNvSpPr txBox="1"/>
          <p:nvPr/>
        </p:nvSpPr>
        <p:spPr>
          <a:xfrm>
            <a:off x="1367941" y="1469814"/>
            <a:ext cx="1261884" cy="276999"/>
          </a:xfrm>
          <a:prstGeom prst="rect">
            <a:avLst/>
          </a:prstGeom>
          <a:noFill/>
        </p:spPr>
        <p:txBody>
          <a:bodyPr wrap="none" rtlCol="0">
            <a:spAutoFit/>
          </a:bodyPr>
          <a:lstStyle/>
          <a:p>
            <a:r>
              <a:rPr lang="zh-CN" altLang="en-US" sz="1200" dirty="0">
                <a:latin typeface="微软雅黑" panose="020B0503020204020204" pitchFamily="34" charset="-122"/>
                <a:ea typeface="微软雅黑" panose="020B0503020204020204" pitchFamily="34" charset="-122"/>
              </a:rPr>
              <a:t>研究背景及意义</a:t>
            </a:r>
          </a:p>
        </p:txBody>
      </p:sp>
      <p:sp>
        <p:nvSpPr>
          <p:cNvPr id="17" name="矩形 16">
            <a:extLst>
              <a:ext uri="{FF2B5EF4-FFF2-40B4-BE49-F238E27FC236}">
                <a16:creationId xmlns:a16="http://schemas.microsoft.com/office/drawing/2014/main" id="{88E1C8CF-A95B-1A90-D6C2-2E3B739CCCC4}"/>
              </a:ext>
            </a:extLst>
          </p:cNvPr>
          <p:cNvSpPr/>
          <p:nvPr/>
        </p:nvSpPr>
        <p:spPr>
          <a:xfrm>
            <a:off x="1172013" y="1753036"/>
            <a:ext cx="1420878" cy="39131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汽车软件开发中的流程问题</a:t>
            </a:r>
          </a:p>
        </p:txBody>
      </p:sp>
      <p:sp>
        <p:nvSpPr>
          <p:cNvPr id="19" name="矩形 18">
            <a:extLst>
              <a:ext uri="{FF2B5EF4-FFF2-40B4-BE49-F238E27FC236}">
                <a16:creationId xmlns:a16="http://schemas.microsoft.com/office/drawing/2014/main" id="{ACDBFB1F-ACA3-65C2-BF66-24D3757E094C}"/>
              </a:ext>
            </a:extLst>
          </p:cNvPr>
          <p:cNvSpPr/>
          <p:nvPr/>
        </p:nvSpPr>
        <p:spPr>
          <a:xfrm>
            <a:off x="1160230" y="2265299"/>
            <a:ext cx="1406618" cy="3876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助力传统车企在软件新赛道中突围</a:t>
            </a:r>
          </a:p>
        </p:txBody>
      </p:sp>
      <p:sp>
        <p:nvSpPr>
          <p:cNvPr id="20" name="矩形: 圆角 19">
            <a:extLst>
              <a:ext uri="{FF2B5EF4-FFF2-40B4-BE49-F238E27FC236}">
                <a16:creationId xmlns:a16="http://schemas.microsoft.com/office/drawing/2014/main" id="{B70800BB-C5A3-4242-E42A-330D0E9890E3}"/>
              </a:ext>
            </a:extLst>
          </p:cNvPr>
          <p:cNvSpPr/>
          <p:nvPr/>
        </p:nvSpPr>
        <p:spPr>
          <a:xfrm>
            <a:off x="1078651" y="2880698"/>
            <a:ext cx="1604781" cy="1223528"/>
          </a:xfrm>
          <a:prstGeom prst="roundRect">
            <a:avLst/>
          </a:prstGeom>
          <a:solidFill>
            <a:srgbClr val="E6D5F3"/>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21" name="矩形 20">
            <a:extLst>
              <a:ext uri="{FF2B5EF4-FFF2-40B4-BE49-F238E27FC236}">
                <a16:creationId xmlns:a16="http://schemas.microsoft.com/office/drawing/2014/main" id="{7C184E30-49AE-1265-7866-988C5B869222}"/>
              </a:ext>
            </a:extLst>
          </p:cNvPr>
          <p:cNvSpPr/>
          <p:nvPr/>
        </p:nvSpPr>
        <p:spPr>
          <a:xfrm>
            <a:off x="1148671" y="3072934"/>
            <a:ext cx="1476767" cy="53401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汽车软件开发流程研究现状</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a:r>
              <a:rPr lang="en-US" altLang="zh-CN" sz="1200" dirty="0">
                <a:solidFill>
                  <a:schemeClr val="tx1"/>
                </a:solidFill>
                <a:latin typeface="微软雅黑" panose="020B0503020204020204" pitchFamily="34" charset="-122"/>
                <a:ea typeface="微软雅黑" panose="020B0503020204020204" pitchFamily="34" charset="-122"/>
              </a:rPr>
              <a:t>(ASPICE</a:t>
            </a:r>
            <a:r>
              <a:rPr lang="zh-CN" altLang="en-US" sz="1200" dirty="0">
                <a:solidFill>
                  <a:schemeClr val="tx1"/>
                </a:solidFill>
                <a:latin typeface="微软雅黑" panose="020B0503020204020204" pitchFamily="34" charset="-122"/>
                <a:ea typeface="微软雅黑" panose="020B0503020204020204" pitchFamily="34" charset="-122"/>
              </a:rPr>
              <a:t>和</a:t>
            </a:r>
            <a:r>
              <a:rPr lang="en-US" altLang="zh-CN" sz="1200" dirty="0">
                <a:solidFill>
                  <a:schemeClr val="tx1"/>
                </a:solidFill>
                <a:latin typeface="微软雅黑" panose="020B0503020204020204" pitchFamily="34" charset="-122"/>
                <a:ea typeface="微软雅黑" panose="020B0503020204020204" pitchFamily="34" charset="-122"/>
              </a:rPr>
              <a:t>CMMI)</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22" name="矩形 21">
            <a:extLst>
              <a:ext uri="{FF2B5EF4-FFF2-40B4-BE49-F238E27FC236}">
                <a16:creationId xmlns:a16="http://schemas.microsoft.com/office/drawing/2014/main" id="{66A85EFD-4B89-44E4-69BE-63A8D3FBA21B}"/>
              </a:ext>
            </a:extLst>
          </p:cNvPr>
          <p:cNvSpPr/>
          <p:nvPr/>
        </p:nvSpPr>
        <p:spPr>
          <a:xfrm>
            <a:off x="1148673" y="3657259"/>
            <a:ext cx="1476764" cy="3138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CMMI</a:t>
            </a:r>
            <a:r>
              <a:rPr lang="zh-CN" altLang="en-US" sz="1200" dirty="0">
                <a:solidFill>
                  <a:schemeClr val="tx1"/>
                </a:solidFill>
                <a:latin typeface="微软雅黑" panose="020B0503020204020204" pitchFamily="34" charset="-122"/>
                <a:ea typeface="微软雅黑" panose="020B0503020204020204" pitchFamily="34" charset="-122"/>
              </a:rPr>
              <a:t>研究现状</a:t>
            </a:r>
          </a:p>
        </p:txBody>
      </p:sp>
      <p:sp>
        <p:nvSpPr>
          <p:cNvPr id="24" name="文本框 23">
            <a:extLst>
              <a:ext uri="{FF2B5EF4-FFF2-40B4-BE49-F238E27FC236}">
                <a16:creationId xmlns:a16="http://schemas.microsoft.com/office/drawing/2014/main" id="{3D068BEC-BDBD-7983-13F6-CF006F696AA4}"/>
              </a:ext>
            </a:extLst>
          </p:cNvPr>
          <p:cNvSpPr txBox="1"/>
          <p:nvPr/>
        </p:nvSpPr>
        <p:spPr>
          <a:xfrm>
            <a:off x="1491778" y="2842534"/>
            <a:ext cx="800219" cy="276999"/>
          </a:xfrm>
          <a:prstGeom prst="rect">
            <a:avLst/>
          </a:prstGeom>
          <a:noFill/>
        </p:spPr>
        <p:txBody>
          <a:bodyPr wrap="none" rtlCol="0">
            <a:spAutoFit/>
          </a:bodyPr>
          <a:lstStyle/>
          <a:p>
            <a:pPr algn="ctr"/>
            <a:r>
              <a:rPr lang="zh-CN" altLang="en-US" sz="1200" dirty="0">
                <a:latin typeface="微软雅黑" panose="020B0503020204020204" pitchFamily="34" charset="-122"/>
                <a:ea typeface="微软雅黑" panose="020B0503020204020204" pitchFamily="34" charset="-122"/>
              </a:rPr>
              <a:t>研究现状</a:t>
            </a:r>
          </a:p>
        </p:txBody>
      </p:sp>
      <p:sp>
        <p:nvSpPr>
          <p:cNvPr id="25" name="矩形 24">
            <a:extLst>
              <a:ext uri="{FF2B5EF4-FFF2-40B4-BE49-F238E27FC236}">
                <a16:creationId xmlns:a16="http://schemas.microsoft.com/office/drawing/2014/main" id="{BC3EF202-71FC-D642-0C6A-00D1966D2AF2}"/>
              </a:ext>
            </a:extLst>
          </p:cNvPr>
          <p:cNvSpPr/>
          <p:nvPr/>
        </p:nvSpPr>
        <p:spPr>
          <a:xfrm>
            <a:off x="1297452" y="6013030"/>
            <a:ext cx="1041926" cy="255187"/>
          </a:xfrm>
          <a:prstGeom prst="rect">
            <a:avLst/>
          </a:prstGeom>
          <a:solidFill>
            <a:srgbClr val="E6D5F3"/>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文献研究</a:t>
            </a:r>
          </a:p>
        </p:txBody>
      </p:sp>
      <p:cxnSp>
        <p:nvCxnSpPr>
          <p:cNvPr id="27" name="直接连接符 26">
            <a:extLst>
              <a:ext uri="{FF2B5EF4-FFF2-40B4-BE49-F238E27FC236}">
                <a16:creationId xmlns:a16="http://schemas.microsoft.com/office/drawing/2014/main" id="{98FC5D2D-552F-1116-5A2D-95DB4C50B37D}"/>
              </a:ext>
            </a:extLst>
          </p:cNvPr>
          <p:cNvCxnSpPr>
            <a:cxnSpLocks/>
          </p:cNvCxnSpPr>
          <p:nvPr/>
        </p:nvCxnSpPr>
        <p:spPr>
          <a:xfrm flipV="1">
            <a:off x="380144" y="1215470"/>
            <a:ext cx="11394040" cy="56624"/>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9" name="直接连接符 28">
            <a:extLst>
              <a:ext uri="{FF2B5EF4-FFF2-40B4-BE49-F238E27FC236}">
                <a16:creationId xmlns:a16="http://schemas.microsoft.com/office/drawing/2014/main" id="{F2E3729E-429E-DD34-4BAC-18404A3D8AD6}"/>
              </a:ext>
            </a:extLst>
          </p:cNvPr>
          <p:cNvCxnSpPr>
            <a:cxnSpLocks/>
          </p:cNvCxnSpPr>
          <p:nvPr/>
        </p:nvCxnSpPr>
        <p:spPr>
          <a:xfrm flipV="1">
            <a:off x="380144" y="5574354"/>
            <a:ext cx="11394040" cy="56624"/>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1" name="直接连接符 30">
            <a:extLst>
              <a:ext uri="{FF2B5EF4-FFF2-40B4-BE49-F238E27FC236}">
                <a16:creationId xmlns:a16="http://schemas.microsoft.com/office/drawing/2014/main" id="{B2B16286-B746-F35F-C98E-898214BA243C}"/>
              </a:ext>
            </a:extLst>
          </p:cNvPr>
          <p:cNvCxnSpPr/>
          <p:nvPr/>
        </p:nvCxnSpPr>
        <p:spPr>
          <a:xfrm>
            <a:off x="974325" y="657547"/>
            <a:ext cx="0" cy="6039878"/>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32" name="直接连接符 31">
            <a:extLst>
              <a:ext uri="{FF2B5EF4-FFF2-40B4-BE49-F238E27FC236}">
                <a16:creationId xmlns:a16="http://schemas.microsoft.com/office/drawing/2014/main" id="{CE84D67E-F51A-52BA-FA0A-5725A07E5461}"/>
              </a:ext>
            </a:extLst>
          </p:cNvPr>
          <p:cNvCxnSpPr/>
          <p:nvPr/>
        </p:nvCxnSpPr>
        <p:spPr>
          <a:xfrm>
            <a:off x="2785799" y="667441"/>
            <a:ext cx="0" cy="6039878"/>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8" name="矩形: 圆角 37">
            <a:extLst>
              <a:ext uri="{FF2B5EF4-FFF2-40B4-BE49-F238E27FC236}">
                <a16:creationId xmlns:a16="http://schemas.microsoft.com/office/drawing/2014/main" id="{9888C628-EFE8-DB0F-C746-9546F849085E}"/>
              </a:ext>
            </a:extLst>
          </p:cNvPr>
          <p:cNvSpPr/>
          <p:nvPr/>
        </p:nvSpPr>
        <p:spPr>
          <a:xfrm>
            <a:off x="2928931" y="2479425"/>
            <a:ext cx="1565974" cy="3005186"/>
          </a:xfrm>
          <a:prstGeom prst="roundRect">
            <a:avLst/>
          </a:prstGeom>
          <a:solidFill>
            <a:schemeClr val="accent5">
              <a:lumMod val="40000"/>
              <a:lumOff val="6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39" name="矩形 38">
            <a:extLst>
              <a:ext uri="{FF2B5EF4-FFF2-40B4-BE49-F238E27FC236}">
                <a16:creationId xmlns:a16="http://schemas.microsoft.com/office/drawing/2014/main" id="{E2C7420A-7802-F956-1210-A1B1BCB3CB12}"/>
              </a:ext>
            </a:extLst>
          </p:cNvPr>
          <p:cNvSpPr/>
          <p:nvPr/>
        </p:nvSpPr>
        <p:spPr>
          <a:xfrm>
            <a:off x="2961628" y="2992286"/>
            <a:ext cx="1471973" cy="4261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一个评估和</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a:r>
              <a:rPr lang="zh-CN" altLang="en-US" sz="1200" dirty="0">
                <a:solidFill>
                  <a:schemeClr val="tx1"/>
                </a:solidFill>
                <a:latin typeface="微软雅黑" panose="020B0503020204020204" pitchFamily="34" charset="-122"/>
                <a:ea typeface="微软雅黑" panose="020B0503020204020204" pitchFamily="34" charset="-122"/>
              </a:rPr>
              <a:t>改进模型</a:t>
            </a:r>
          </a:p>
        </p:txBody>
      </p:sp>
      <p:sp>
        <p:nvSpPr>
          <p:cNvPr id="40" name="矩形 39">
            <a:extLst>
              <a:ext uri="{FF2B5EF4-FFF2-40B4-BE49-F238E27FC236}">
                <a16:creationId xmlns:a16="http://schemas.microsoft.com/office/drawing/2014/main" id="{B0D0BC26-3BB7-0F42-BC28-9BA9D2C07A67}"/>
              </a:ext>
            </a:extLst>
          </p:cNvPr>
          <p:cNvSpPr/>
          <p:nvPr/>
        </p:nvSpPr>
        <p:spPr>
          <a:xfrm>
            <a:off x="2962221" y="3564274"/>
            <a:ext cx="1471973" cy="41135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4</a:t>
            </a:r>
            <a:r>
              <a:rPr lang="zh-CN" altLang="en-US" sz="1200" dirty="0">
                <a:solidFill>
                  <a:schemeClr val="tx1"/>
                </a:solidFill>
                <a:latin typeface="微软雅黑" panose="020B0503020204020204" pitchFamily="34" charset="-122"/>
                <a:ea typeface="微软雅黑" panose="020B0503020204020204" pitchFamily="34" charset="-122"/>
              </a:rPr>
              <a:t>种评估方式、</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a:r>
              <a:rPr lang="en-US" altLang="zh-CN" sz="1200" dirty="0">
                <a:solidFill>
                  <a:schemeClr val="tx1"/>
                </a:solidFill>
                <a:latin typeface="微软雅黑" panose="020B0503020204020204" pitchFamily="34" charset="-122"/>
                <a:ea typeface="微软雅黑" panose="020B0503020204020204" pitchFamily="34" charset="-122"/>
              </a:rPr>
              <a:t>6</a:t>
            </a:r>
            <a:r>
              <a:rPr lang="zh-CN" altLang="en-US" sz="1200" dirty="0">
                <a:solidFill>
                  <a:schemeClr val="tx1"/>
                </a:solidFill>
                <a:latin typeface="微软雅黑" panose="020B0503020204020204" pitchFamily="34" charset="-122"/>
                <a:ea typeface="微软雅黑" panose="020B0503020204020204" pitchFamily="34" charset="-122"/>
              </a:rPr>
              <a:t>个成熟度等级</a:t>
            </a:r>
          </a:p>
        </p:txBody>
      </p:sp>
      <p:sp>
        <p:nvSpPr>
          <p:cNvPr id="41" name="矩形 40">
            <a:extLst>
              <a:ext uri="{FF2B5EF4-FFF2-40B4-BE49-F238E27FC236}">
                <a16:creationId xmlns:a16="http://schemas.microsoft.com/office/drawing/2014/main" id="{77E0B5C0-0F87-BD9A-2137-E59327560200}"/>
              </a:ext>
            </a:extLst>
          </p:cNvPr>
          <p:cNvSpPr/>
          <p:nvPr/>
        </p:nvSpPr>
        <p:spPr>
          <a:xfrm>
            <a:off x="2972180" y="4174298"/>
            <a:ext cx="1471974" cy="42613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一组经过验证的</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a:r>
              <a:rPr lang="zh-CN" altLang="en-US" sz="1200" dirty="0">
                <a:solidFill>
                  <a:schemeClr val="tx1"/>
                </a:solidFill>
                <a:latin typeface="微软雅黑" panose="020B0503020204020204" pitchFamily="34" charset="-122"/>
                <a:ea typeface="微软雅黑" panose="020B0503020204020204" pitchFamily="34" charset="-122"/>
              </a:rPr>
              <a:t>最佳实践</a:t>
            </a:r>
          </a:p>
        </p:txBody>
      </p:sp>
      <p:sp>
        <p:nvSpPr>
          <p:cNvPr id="42" name="矩形 41">
            <a:extLst>
              <a:ext uri="{FF2B5EF4-FFF2-40B4-BE49-F238E27FC236}">
                <a16:creationId xmlns:a16="http://schemas.microsoft.com/office/drawing/2014/main" id="{A9980ECC-5D5F-E575-208D-3B5BA70F346E}"/>
              </a:ext>
            </a:extLst>
          </p:cNvPr>
          <p:cNvSpPr/>
          <p:nvPr/>
        </p:nvSpPr>
        <p:spPr>
          <a:xfrm>
            <a:off x="2984583" y="4816574"/>
            <a:ext cx="1447166" cy="5322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4</a:t>
            </a:r>
            <a:r>
              <a:rPr lang="zh-CN" altLang="en-US" sz="1200" dirty="0">
                <a:solidFill>
                  <a:schemeClr val="tx1"/>
                </a:solidFill>
                <a:latin typeface="微软雅黑" panose="020B0503020204020204" pitchFamily="34" charset="-122"/>
                <a:ea typeface="微软雅黑" panose="020B0503020204020204" pitchFamily="34" charset="-122"/>
              </a:rPr>
              <a:t>大类别、</a:t>
            </a:r>
            <a:r>
              <a:rPr lang="en-US" altLang="zh-CN" sz="1200" dirty="0">
                <a:solidFill>
                  <a:schemeClr val="tx1"/>
                </a:solidFill>
                <a:latin typeface="微软雅黑" panose="020B0503020204020204" pitchFamily="34" charset="-122"/>
                <a:ea typeface="微软雅黑" panose="020B0503020204020204" pitchFamily="34" charset="-122"/>
              </a:rPr>
              <a:t>9</a:t>
            </a:r>
            <a:r>
              <a:rPr lang="zh-CN" altLang="en-US" sz="1200" dirty="0">
                <a:solidFill>
                  <a:schemeClr val="tx1"/>
                </a:solidFill>
                <a:latin typeface="微软雅黑" panose="020B0503020204020204" pitchFamily="34" charset="-122"/>
                <a:ea typeface="微软雅黑" panose="020B0503020204020204" pitchFamily="34" charset="-122"/>
              </a:rPr>
              <a:t>大能力域、</a:t>
            </a:r>
            <a:r>
              <a:rPr lang="en-US" altLang="zh-CN" sz="1200" dirty="0">
                <a:solidFill>
                  <a:schemeClr val="tx1"/>
                </a:solidFill>
                <a:latin typeface="微软雅黑" panose="020B0503020204020204" pitchFamily="34" charset="-122"/>
                <a:ea typeface="微软雅黑" panose="020B0503020204020204" pitchFamily="34" charset="-122"/>
              </a:rPr>
              <a:t>20</a:t>
            </a:r>
            <a:r>
              <a:rPr lang="zh-CN" altLang="en-US" sz="1200" dirty="0">
                <a:solidFill>
                  <a:schemeClr val="tx1"/>
                </a:solidFill>
                <a:latin typeface="微软雅黑" panose="020B0503020204020204" pitchFamily="34" charset="-122"/>
                <a:ea typeface="微软雅黑" panose="020B0503020204020204" pitchFamily="34" charset="-122"/>
              </a:rPr>
              <a:t>个实践域及</a:t>
            </a:r>
            <a:r>
              <a:rPr lang="en-US" altLang="zh-CN" sz="1200" dirty="0">
                <a:solidFill>
                  <a:schemeClr val="tx1"/>
                </a:solidFill>
                <a:latin typeface="微软雅黑" panose="020B0503020204020204" pitchFamily="34" charset="-122"/>
                <a:ea typeface="微软雅黑" panose="020B0503020204020204" pitchFamily="34" charset="-122"/>
              </a:rPr>
              <a:t>196</a:t>
            </a:r>
            <a:r>
              <a:rPr lang="zh-CN" altLang="en-US" sz="1200" dirty="0">
                <a:solidFill>
                  <a:schemeClr val="tx1"/>
                </a:solidFill>
                <a:latin typeface="微软雅黑" panose="020B0503020204020204" pitchFamily="34" charset="-122"/>
                <a:ea typeface="微软雅黑" panose="020B0503020204020204" pitchFamily="34" charset="-122"/>
              </a:rPr>
              <a:t>个实践</a:t>
            </a:r>
          </a:p>
        </p:txBody>
      </p:sp>
      <p:sp>
        <p:nvSpPr>
          <p:cNvPr id="43" name="矩形 42">
            <a:extLst>
              <a:ext uri="{FF2B5EF4-FFF2-40B4-BE49-F238E27FC236}">
                <a16:creationId xmlns:a16="http://schemas.microsoft.com/office/drawing/2014/main" id="{750CC64D-D064-DE34-D9A8-1B579C5CC204}"/>
              </a:ext>
            </a:extLst>
          </p:cNvPr>
          <p:cNvSpPr/>
          <p:nvPr/>
        </p:nvSpPr>
        <p:spPr>
          <a:xfrm>
            <a:off x="2956798" y="2571685"/>
            <a:ext cx="1471972" cy="3414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CMMI2.0</a:t>
            </a:r>
            <a:r>
              <a:rPr lang="zh-CN" altLang="en-US" sz="1200" dirty="0">
                <a:solidFill>
                  <a:schemeClr val="tx1"/>
                </a:solidFill>
                <a:latin typeface="微软雅黑" panose="020B0503020204020204" pitchFamily="34" charset="-122"/>
                <a:ea typeface="微软雅黑" panose="020B0503020204020204" pitchFamily="34" charset="-122"/>
              </a:rPr>
              <a:t>开发视图</a:t>
            </a:r>
          </a:p>
        </p:txBody>
      </p:sp>
      <p:cxnSp>
        <p:nvCxnSpPr>
          <p:cNvPr id="44" name="直接连接符 43">
            <a:extLst>
              <a:ext uri="{FF2B5EF4-FFF2-40B4-BE49-F238E27FC236}">
                <a16:creationId xmlns:a16="http://schemas.microsoft.com/office/drawing/2014/main" id="{BBF634D1-B3A2-3E1B-DD3C-8A770DB7C79C}"/>
              </a:ext>
            </a:extLst>
          </p:cNvPr>
          <p:cNvCxnSpPr/>
          <p:nvPr/>
        </p:nvCxnSpPr>
        <p:spPr>
          <a:xfrm>
            <a:off x="4620574" y="667441"/>
            <a:ext cx="0" cy="6039878"/>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45" name="矩形 44">
            <a:extLst>
              <a:ext uri="{FF2B5EF4-FFF2-40B4-BE49-F238E27FC236}">
                <a16:creationId xmlns:a16="http://schemas.microsoft.com/office/drawing/2014/main" id="{3A61B48F-13A2-0696-2C48-3CE83258FA0C}"/>
              </a:ext>
            </a:extLst>
          </p:cNvPr>
          <p:cNvSpPr/>
          <p:nvPr/>
        </p:nvSpPr>
        <p:spPr>
          <a:xfrm>
            <a:off x="3179610" y="6013029"/>
            <a:ext cx="1041926" cy="255187"/>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文献研究</a:t>
            </a:r>
          </a:p>
        </p:txBody>
      </p:sp>
      <p:sp>
        <p:nvSpPr>
          <p:cNvPr id="46" name="矩形: 圆角 45">
            <a:extLst>
              <a:ext uri="{FF2B5EF4-FFF2-40B4-BE49-F238E27FC236}">
                <a16:creationId xmlns:a16="http://schemas.microsoft.com/office/drawing/2014/main" id="{CF65BC55-3C96-A955-95FB-52B064C635DC}"/>
              </a:ext>
            </a:extLst>
          </p:cNvPr>
          <p:cNvSpPr/>
          <p:nvPr/>
        </p:nvSpPr>
        <p:spPr>
          <a:xfrm>
            <a:off x="4743435" y="1433509"/>
            <a:ext cx="1766674" cy="1929166"/>
          </a:xfrm>
          <a:prstGeom prst="roundRect">
            <a:avLst/>
          </a:prstGeom>
          <a:solidFill>
            <a:srgbClr val="DDDDDD"/>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7" name="矩形 46">
            <a:extLst>
              <a:ext uri="{FF2B5EF4-FFF2-40B4-BE49-F238E27FC236}">
                <a16:creationId xmlns:a16="http://schemas.microsoft.com/office/drawing/2014/main" id="{0B774AD4-A34F-018F-5718-568016D76D5C}"/>
              </a:ext>
            </a:extLst>
          </p:cNvPr>
          <p:cNvSpPr/>
          <p:nvPr/>
        </p:nvSpPr>
        <p:spPr>
          <a:xfrm>
            <a:off x="4813543" y="1854096"/>
            <a:ext cx="1610075" cy="37101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症状：开发效率、质量、客户满意度低</a:t>
            </a:r>
          </a:p>
        </p:txBody>
      </p:sp>
      <p:sp>
        <p:nvSpPr>
          <p:cNvPr id="48" name="矩形 47">
            <a:extLst>
              <a:ext uri="{FF2B5EF4-FFF2-40B4-BE49-F238E27FC236}">
                <a16:creationId xmlns:a16="http://schemas.microsoft.com/office/drawing/2014/main" id="{88B6A8FE-BF7F-C942-BFDF-AAA72006AFCF}"/>
              </a:ext>
            </a:extLst>
          </p:cNvPr>
          <p:cNvSpPr/>
          <p:nvPr/>
        </p:nvSpPr>
        <p:spPr>
          <a:xfrm>
            <a:off x="4813543" y="2357556"/>
            <a:ext cx="1610075" cy="32907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原因要素分析</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a:r>
              <a:rPr lang="en-US" altLang="zh-CN" sz="1200" dirty="0">
                <a:solidFill>
                  <a:schemeClr val="tx1"/>
                </a:solidFill>
                <a:latin typeface="微软雅黑" panose="020B0503020204020204" pitchFamily="34" charset="-122"/>
                <a:ea typeface="微软雅黑" panose="020B0503020204020204" pitchFamily="34" charset="-122"/>
              </a:rPr>
              <a:t>(</a:t>
            </a:r>
            <a:r>
              <a:rPr lang="zh-CN" altLang="en-US" sz="1200" dirty="0">
                <a:solidFill>
                  <a:schemeClr val="tx1"/>
                </a:solidFill>
                <a:latin typeface="微软雅黑" panose="020B0503020204020204" pitchFamily="34" charset="-122"/>
                <a:ea typeface="微软雅黑" panose="020B0503020204020204" pitchFamily="34" charset="-122"/>
              </a:rPr>
              <a:t>头脑风暴</a:t>
            </a:r>
            <a:r>
              <a:rPr lang="en-US" altLang="zh-CN" sz="1200" dirty="0">
                <a:solidFill>
                  <a:schemeClr val="tx1"/>
                </a:solidFill>
                <a:latin typeface="微软雅黑" panose="020B0503020204020204" pitchFamily="34" charset="-122"/>
                <a:ea typeface="微软雅黑" panose="020B0503020204020204" pitchFamily="34" charset="-122"/>
              </a:rPr>
              <a:t>)</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49" name="矩形 48">
            <a:extLst>
              <a:ext uri="{FF2B5EF4-FFF2-40B4-BE49-F238E27FC236}">
                <a16:creationId xmlns:a16="http://schemas.microsoft.com/office/drawing/2014/main" id="{8096A5D1-DA86-B6E6-75AB-45EEC5194E1D}"/>
              </a:ext>
            </a:extLst>
          </p:cNvPr>
          <p:cNvSpPr/>
          <p:nvPr/>
        </p:nvSpPr>
        <p:spPr>
          <a:xfrm>
            <a:off x="4813543" y="2867022"/>
            <a:ext cx="1610075" cy="3522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主要原因分析</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a:r>
              <a:rPr lang="zh-CN" altLang="en-US" sz="1200" dirty="0">
                <a:solidFill>
                  <a:schemeClr val="tx1"/>
                </a:solidFill>
                <a:latin typeface="微软雅黑" panose="020B0503020204020204" pitchFamily="34" charset="-122"/>
                <a:ea typeface="微软雅黑" panose="020B0503020204020204" pitchFamily="34" charset="-122"/>
              </a:rPr>
              <a:t>（层次分析法）</a:t>
            </a:r>
          </a:p>
        </p:txBody>
      </p:sp>
      <p:sp>
        <p:nvSpPr>
          <p:cNvPr id="50" name="矩形 49">
            <a:extLst>
              <a:ext uri="{FF2B5EF4-FFF2-40B4-BE49-F238E27FC236}">
                <a16:creationId xmlns:a16="http://schemas.microsoft.com/office/drawing/2014/main" id="{909D87B3-E73E-D123-EFE4-1EE0462EE4A5}"/>
              </a:ext>
            </a:extLst>
          </p:cNvPr>
          <p:cNvSpPr/>
          <p:nvPr/>
        </p:nvSpPr>
        <p:spPr>
          <a:xfrm>
            <a:off x="4905850" y="1455800"/>
            <a:ext cx="1440586" cy="3661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问题调研及</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a:r>
              <a:rPr lang="zh-CN" altLang="en-US" sz="1200" dirty="0">
                <a:solidFill>
                  <a:schemeClr val="tx1"/>
                </a:solidFill>
                <a:latin typeface="微软雅黑" panose="020B0503020204020204" pitchFamily="34" charset="-122"/>
                <a:ea typeface="微软雅黑" panose="020B0503020204020204" pitchFamily="34" charset="-122"/>
              </a:rPr>
              <a:t>主要原因分析</a:t>
            </a:r>
          </a:p>
        </p:txBody>
      </p:sp>
      <p:sp>
        <p:nvSpPr>
          <p:cNvPr id="51" name="矩形: 圆角 50">
            <a:extLst>
              <a:ext uri="{FF2B5EF4-FFF2-40B4-BE49-F238E27FC236}">
                <a16:creationId xmlns:a16="http://schemas.microsoft.com/office/drawing/2014/main" id="{549BEAEB-EDBE-D177-C844-E674BDACD3F4}"/>
              </a:ext>
            </a:extLst>
          </p:cNvPr>
          <p:cNvSpPr/>
          <p:nvPr/>
        </p:nvSpPr>
        <p:spPr>
          <a:xfrm>
            <a:off x="4743436" y="3659476"/>
            <a:ext cx="1766674" cy="1888582"/>
          </a:xfrm>
          <a:prstGeom prst="roundRect">
            <a:avLst/>
          </a:prstGeom>
          <a:solidFill>
            <a:srgbClr val="DDDDDD"/>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52" name="矩形 51">
            <a:extLst>
              <a:ext uri="{FF2B5EF4-FFF2-40B4-BE49-F238E27FC236}">
                <a16:creationId xmlns:a16="http://schemas.microsoft.com/office/drawing/2014/main" id="{9847CA33-2DE4-1ACB-D8A1-4964DCD5305B}"/>
              </a:ext>
            </a:extLst>
          </p:cNvPr>
          <p:cNvSpPr/>
          <p:nvPr/>
        </p:nvSpPr>
        <p:spPr>
          <a:xfrm>
            <a:off x="4827049" y="4039241"/>
            <a:ext cx="1605275" cy="17164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评估组成立</a:t>
            </a:r>
          </a:p>
        </p:txBody>
      </p:sp>
      <p:sp>
        <p:nvSpPr>
          <p:cNvPr id="53" name="矩形 52">
            <a:extLst>
              <a:ext uri="{FF2B5EF4-FFF2-40B4-BE49-F238E27FC236}">
                <a16:creationId xmlns:a16="http://schemas.microsoft.com/office/drawing/2014/main" id="{54A930B4-B511-B212-4E6D-3C62C4AB7156}"/>
              </a:ext>
            </a:extLst>
          </p:cNvPr>
          <p:cNvSpPr/>
          <p:nvPr/>
        </p:nvSpPr>
        <p:spPr>
          <a:xfrm>
            <a:off x="4827049" y="4343333"/>
            <a:ext cx="1605275" cy="25414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被评估项目和人员择</a:t>
            </a:r>
          </a:p>
        </p:txBody>
      </p:sp>
      <p:sp>
        <p:nvSpPr>
          <p:cNvPr id="54" name="矩形 53">
            <a:extLst>
              <a:ext uri="{FF2B5EF4-FFF2-40B4-BE49-F238E27FC236}">
                <a16:creationId xmlns:a16="http://schemas.microsoft.com/office/drawing/2014/main" id="{6480B6C6-A835-08D8-7DD8-89E6E85F8274}"/>
              </a:ext>
            </a:extLst>
          </p:cNvPr>
          <p:cNvSpPr/>
          <p:nvPr/>
        </p:nvSpPr>
        <p:spPr>
          <a:xfrm>
            <a:off x="4824649" y="4767886"/>
            <a:ext cx="1610076" cy="165913"/>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诊断实施</a:t>
            </a:r>
            <a:r>
              <a:rPr lang="en-US" altLang="zh-CN" sz="1200" dirty="0">
                <a:solidFill>
                  <a:schemeClr val="tx1"/>
                </a:solidFill>
                <a:latin typeface="微软雅黑" panose="020B0503020204020204" pitchFamily="34" charset="-122"/>
                <a:ea typeface="微软雅黑" panose="020B0503020204020204" pitchFamily="34" charset="-122"/>
              </a:rPr>
              <a:t>(PIIDS)</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55" name="矩形 54">
            <a:extLst>
              <a:ext uri="{FF2B5EF4-FFF2-40B4-BE49-F238E27FC236}">
                <a16:creationId xmlns:a16="http://schemas.microsoft.com/office/drawing/2014/main" id="{81458D53-7370-CC45-AA9F-C9B5BD52D27A}"/>
              </a:ext>
            </a:extLst>
          </p:cNvPr>
          <p:cNvSpPr/>
          <p:nvPr/>
        </p:nvSpPr>
        <p:spPr>
          <a:xfrm>
            <a:off x="4824649" y="5128056"/>
            <a:ext cx="1610076" cy="31538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诊断结果</a:t>
            </a:r>
            <a:r>
              <a:rPr lang="en-US" altLang="zh-CN" sz="1200" dirty="0">
                <a:solidFill>
                  <a:schemeClr val="tx1"/>
                </a:solidFill>
                <a:latin typeface="微软雅黑" panose="020B0503020204020204" pitchFamily="34" charset="-122"/>
                <a:ea typeface="微软雅黑" panose="020B0503020204020204" pitchFamily="34" charset="-122"/>
              </a:rPr>
              <a:t>(</a:t>
            </a:r>
            <a:r>
              <a:rPr lang="zh-CN" altLang="en-US" sz="1200" dirty="0">
                <a:solidFill>
                  <a:schemeClr val="tx1"/>
                </a:solidFill>
                <a:latin typeface="微软雅黑" panose="020B0503020204020204" pitchFamily="34" charset="-122"/>
                <a:ea typeface="微软雅黑" panose="020B0503020204020204" pitchFamily="34" charset="-122"/>
              </a:rPr>
              <a:t>现状与</a:t>
            </a:r>
            <a:r>
              <a:rPr lang="en-US" altLang="zh-CN" sz="1200" dirty="0">
                <a:solidFill>
                  <a:schemeClr val="tx1"/>
                </a:solidFill>
                <a:latin typeface="微软雅黑" panose="020B0503020204020204" pitchFamily="34" charset="-122"/>
                <a:ea typeface="微软雅黑" panose="020B0503020204020204" pitchFamily="34" charset="-122"/>
              </a:rPr>
              <a:t>CMMI5</a:t>
            </a:r>
            <a:r>
              <a:rPr lang="zh-CN" altLang="en-US" sz="1200" dirty="0">
                <a:solidFill>
                  <a:schemeClr val="tx1"/>
                </a:solidFill>
                <a:latin typeface="微软雅黑" panose="020B0503020204020204" pitchFamily="34" charset="-122"/>
                <a:ea typeface="微软雅黑" panose="020B0503020204020204" pitchFamily="34" charset="-122"/>
              </a:rPr>
              <a:t>级的差距</a:t>
            </a:r>
            <a:r>
              <a:rPr lang="en-US" altLang="zh-CN" sz="1200" dirty="0">
                <a:solidFill>
                  <a:schemeClr val="tx1"/>
                </a:solidFill>
                <a:latin typeface="微软雅黑" panose="020B0503020204020204" pitchFamily="34" charset="-122"/>
                <a:ea typeface="微软雅黑" panose="020B0503020204020204" pitchFamily="34" charset="-122"/>
              </a:rPr>
              <a:t>)</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56" name="矩形 55">
            <a:extLst>
              <a:ext uri="{FF2B5EF4-FFF2-40B4-BE49-F238E27FC236}">
                <a16:creationId xmlns:a16="http://schemas.microsoft.com/office/drawing/2014/main" id="{1AC354F4-30C2-0050-6AE6-D0EA20AEFEAC}"/>
              </a:ext>
            </a:extLst>
          </p:cNvPr>
          <p:cNvSpPr/>
          <p:nvPr/>
        </p:nvSpPr>
        <p:spPr>
          <a:xfrm>
            <a:off x="4893082" y="3686115"/>
            <a:ext cx="1444196" cy="2887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具体流程问题呈现</a:t>
            </a:r>
            <a:endParaRPr lang="en-US" altLang="zh-CN" sz="1200" dirty="0">
              <a:solidFill>
                <a:schemeClr val="tx1"/>
              </a:solidFill>
              <a:latin typeface="微软雅黑" panose="020B0503020204020204" pitchFamily="34" charset="-122"/>
              <a:ea typeface="微软雅黑" panose="020B0503020204020204" pitchFamily="34" charset="-122"/>
            </a:endParaRPr>
          </a:p>
          <a:p>
            <a:pPr algn="ctr"/>
            <a:r>
              <a:rPr lang="en-US" altLang="zh-CN" sz="1200" dirty="0">
                <a:solidFill>
                  <a:schemeClr val="tx1"/>
                </a:solidFill>
                <a:latin typeface="微软雅黑" panose="020B0503020204020204" pitchFamily="34" charset="-122"/>
                <a:ea typeface="微软雅黑" panose="020B0503020204020204" pitchFamily="34" charset="-122"/>
              </a:rPr>
              <a:t>(</a:t>
            </a:r>
            <a:r>
              <a:rPr lang="zh-CN" altLang="en-US" sz="1200" dirty="0">
                <a:solidFill>
                  <a:schemeClr val="tx1"/>
                </a:solidFill>
                <a:latin typeface="微软雅黑" panose="020B0503020204020204" pitchFamily="34" charset="-122"/>
                <a:ea typeface="微软雅黑" panose="020B0503020204020204" pitchFamily="34" charset="-122"/>
              </a:rPr>
              <a:t>评价性评估方法</a:t>
            </a:r>
            <a:r>
              <a:rPr lang="en-US" altLang="zh-CN" sz="1200" dirty="0">
                <a:solidFill>
                  <a:schemeClr val="tx1"/>
                </a:solidFill>
                <a:latin typeface="微软雅黑" panose="020B0503020204020204" pitchFamily="34" charset="-122"/>
                <a:ea typeface="微软雅黑" panose="020B0503020204020204" pitchFamily="34" charset="-122"/>
              </a:rPr>
              <a:t>)</a:t>
            </a:r>
            <a:endParaRPr lang="zh-CN" altLang="en-US" sz="1200" dirty="0">
              <a:solidFill>
                <a:schemeClr val="tx1"/>
              </a:solidFill>
              <a:latin typeface="微软雅黑" panose="020B0503020204020204" pitchFamily="34" charset="-122"/>
              <a:ea typeface="微软雅黑" panose="020B0503020204020204" pitchFamily="34" charset="-122"/>
            </a:endParaRPr>
          </a:p>
        </p:txBody>
      </p:sp>
      <p:cxnSp>
        <p:nvCxnSpPr>
          <p:cNvPr id="57" name="直接连接符 56">
            <a:extLst>
              <a:ext uri="{FF2B5EF4-FFF2-40B4-BE49-F238E27FC236}">
                <a16:creationId xmlns:a16="http://schemas.microsoft.com/office/drawing/2014/main" id="{2014F22A-E9B8-A437-5EB9-308919CC7325}"/>
              </a:ext>
            </a:extLst>
          </p:cNvPr>
          <p:cNvCxnSpPr/>
          <p:nvPr/>
        </p:nvCxnSpPr>
        <p:spPr>
          <a:xfrm>
            <a:off x="6639660" y="667441"/>
            <a:ext cx="0" cy="6039878"/>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58" name="矩形 57">
            <a:extLst>
              <a:ext uri="{FF2B5EF4-FFF2-40B4-BE49-F238E27FC236}">
                <a16:creationId xmlns:a16="http://schemas.microsoft.com/office/drawing/2014/main" id="{866FA16D-AF75-2A6C-D3A4-3D6E64D3789E}"/>
              </a:ext>
            </a:extLst>
          </p:cNvPr>
          <p:cNvSpPr/>
          <p:nvPr/>
        </p:nvSpPr>
        <p:spPr>
          <a:xfrm>
            <a:off x="4953731" y="5684705"/>
            <a:ext cx="1412563" cy="984396"/>
          </a:xfrm>
          <a:prstGeom prst="rect">
            <a:avLst/>
          </a:prstGeom>
          <a:solidFill>
            <a:srgbClr val="DDDDD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微软雅黑" panose="020B0503020204020204" pitchFamily="34" charset="-122"/>
                <a:ea typeface="微软雅黑" panose="020B0503020204020204" pitchFamily="34" charset="-122"/>
              </a:rPr>
              <a:t>头脑风暴、</a:t>
            </a:r>
            <a:endParaRPr lang="en-US" altLang="zh-CN" sz="1200" dirty="0">
              <a:solidFill>
                <a:schemeClr val="tx1"/>
              </a:solidFill>
              <a:latin typeface="微软雅黑" panose="020B0503020204020204" pitchFamily="34" charset="-122"/>
              <a:ea typeface="微软雅黑" panose="020B0503020204020204" pitchFamily="34" charset="-122"/>
            </a:endParaRPr>
          </a:p>
          <a:p>
            <a:r>
              <a:rPr lang="zh-CN" altLang="en-US" sz="1200" dirty="0">
                <a:solidFill>
                  <a:schemeClr val="tx1"/>
                </a:solidFill>
                <a:latin typeface="微软雅黑" panose="020B0503020204020204" pitchFamily="34" charset="-122"/>
                <a:ea typeface="微软雅黑" panose="020B0503020204020204" pitchFamily="34" charset="-122"/>
              </a:rPr>
              <a:t>层次分析法、</a:t>
            </a:r>
            <a:endParaRPr lang="en-US" altLang="zh-CN" sz="1200" dirty="0">
              <a:solidFill>
                <a:schemeClr val="tx1"/>
              </a:solidFill>
              <a:latin typeface="微软雅黑" panose="020B0503020204020204" pitchFamily="34" charset="-122"/>
              <a:ea typeface="微软雅黑" panose="020B0503020204020204" pitchFamily="34" charset="-122"/>
            </a:endParaRPr>
          </a:p>
          <a:p>
            <a:r>
              <a:rPr lang="en-US" altLang="zh-CN" sz="1200" dirty="0">
                <a:solidFill>
                  <a:schemeClr val="tx1"/>
                </a:solidFill>
                <a:latin typeface="微软雅黑" panose="020B0503020204020204" pitchFamily="34" charset="-122"/>
                <a:ea typeface="微软雅黑" panose="020B0503020204020204" pitchFamily="34" charset="-122"/>
              </a:rPr>
              <a:t>CMMI2.0</a:t>
            </a:r>
            <a:r>
              <a:rPr lang="zh-CN" altLang="en-US" sz="1200" dirty="0">
                <a:solidFill>
                  <a:schemeClr val="tx1"/>
                </a:solidFill>
                <a:latin typeface="微软雅黑" panose="020B0503020204020204" pitchFamily="34" charset="-122"/>
                <a:ea typeface="微软雅黑" panose="020B0503020204020204" pitchFamily="34" charset="-122"/>
              </a:rPr>
              <a:t>的评价性评估方法、</a:t>
            </a:r>
            <a:endParaRPr lang="en-US" altLang="zh-CN" sz="1200" dirty="0">
              <a:solidFill>
                <a:schemeClr val="tx1"/>
              </a:solidFill>
              <a:latin typeface="微软雅黑" panose="020B0503020204020204" pitchFamily="34" charset="-122"/>
              <a:ea typeface="微软雅黑" panose="020B0503020204020204" pitchFamily="34" charset="-122"/>
            </a:endParaRPr>
          </a:p>
          <a:p>
            <a:r>
              <a:rPr lang="en-US" altLang="zh-CN" sz="1200" dirty="0">
                <a:solidFill>
                  <a:schemeClr val="tx1"/>
                </a:solidFill>
                <a:latin typeface="微软雅黑" panose="020B0503020204020204" pitchFamily="34" charset="-122"/>
                <a:ea typeface="微软雅黑" panose="020B0503020204020204" pitchFamily="34" charset="-122"/>
              </a:rPr>
              <a:t>PIIDS</a:t>
            </a:r>
            <a:r>
              <a:rPr lang="zh-CN" altLang="en-US" sz="1200" dirty="0">
                <a:solidFill>
                  <a:schemeClr val="tx1"/>
                </a:solidFill>
                <a:latin typeface="微软雅黑" panose="020B0503020204020204" pitchFamily="34" charset="-122"/>
                <a:ea typeface="微软雅黑" panose="020B0503020204020204" pitchFamily="34" charset="-122"/>
              </a:rPr>
              <a:t>工具</a:t>
            </a:r>
          </a:p>
        </p:txBody>
      </p:sp>
      <p:sp>
        <p:nvSpPr>
          <p:cNvPr id="59" name="矩形: 圆角 58">
            <a:extLst>
              <a:ext uri="{FF2B5EF4-FFF2-40B4-BE49-F238E27FC236}">
                <a16:creationId xmlns:a16="http://schemas.microsoft.com/office/drawing/2014/main" id="{CBD6A4DB-DF9B-9E18-359C-29C37DCB1C98}"/>
              </a:ext>
            </a:extLst>
          </p:cNvPr>
          <p:cNvSpPr/>
          <p:nvPr/>
        </p:nvSpPr>
        <p:spPr>
          <a:xfrm>
            <a:off x="6766720" y="1441843"/>
            <a:ext cx="1538979" cy="1904721"/>
          </a:xfrm>
          <a:prstGeom prst="roundRect">
            <a:avLst/>
          </a:prstGeom>
          <a:solidFill>
            <a:srgbClr val="E6D5F3"/>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60" name="矩形 59">
            <a:extLst>
              <a:ext uri="{FF2B5EF4-FFF2-40B4-BE49-F238E27FC236}">
                <a16:creationId xmlns:a16="http://schemas.microsoft.com/office/drawing/2014/main" id="{661733FA-BBF6-5E68-68FA-969FACDADA5E}"/>
              </a:ext>
            </a:extLst>
          </p:cNvPr>
          <p:cNvSpPr/>
          <p:nvPr/>
        </p:nvSpPr>
        <p:spPr>
          <a:xfrm>
            <a:off x="6884435" y="2071359"/>
            <a:ext cx="1339076" cy="40806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形成满足</a:t>
            </a:r>
            <a:r>
              <a:rPr lang="en-US" altLang="zh-CN" sz="1200" dirty="0">
                <a:solidFill>
                  <a:schemeClr val="tx1"/>
                </a:solidFill>
                <a:latin typeface="微软雅黑" panose="020B0503020204020204" pitchFamily="34" charset="-122"/>
                <a:ea typeface="微软雅黑" panose="020B0503020204020204" pitchFamily="34" charset="-122"/>
              </a:rPr>
              <a:t>CMMI 5</a:t>
            </a:r>
            <a:r>
              <a:rPr lang="zh-CN" altLang="en-US" sz="1200" dirty="0">
                <a:solidFill>
                  <a:schemeClr val="tx1"/>
                </a:solidFill>
                <a:latin typeface="微软雅黑" panose="020B0503020204020204" pitchFamily="34" charset="-122"/>
                <a:ea typeface="微软雅黑" panose="020B0503020204020204" pitchFamily="34" charset="-122"/>
              </a:rPr>
              <a:t>级的流程体系</a:t>
            </a:r>
          </a:p>
        </p:txBody>
      </p:sp>
      <p:sp>
        <p:nvSpPr>
          <p:cNvPr id="61" name="矩形 60">
            <a:extLst>
              <a:ext uri="{FF2B5EF4-FFF2-40B4-BE49-F238E27FC236}">
                <a16:creationId xmlns:a16="http://schemas.microsoft.com/office/drawing/2014/main" id="{09D4B5D2-728F-AFF5-926D-0B01B3551AB2}"/>
              </a:ext>
            </a:extLst>
          </p:cNvPr>
          <p:cNvSpPr/>
          <p:nvPr/>
        </p:nvSpPr>
        <p:spPr>
          <a:xfrm>
            <a:off x="6884435" y="2726916"/>
            <a:ext cx="1339076" cy="39611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开发效率、质量、客户满意度提高</a:t>
            </a:r>
          </a:p>
        </p:txBody>
      </p:sp>
      <p:sp>
        <p:nvSpPr>
          <p:cNvPr id="62" name="矩形 61">
            <a:extLst>
              <a:ext uri="{FF2B5EF4-FFF2-40B4-BE49-F238E27FC236}">
                <a16:creationId xmlns:a16="http://schemas.microsoft.com/office/drawing/2014/main" id="{663EEBA5-F4A7-4753-C519-838203F970B3}"/>
              </a:ext>
            </a:extLst>
          </p:cNvPr>
          <p:cNvSpPr/>
          <p:nvPr/>
        </p:nvSpPr>
        <p:spPr>
          <a:xfrm>
            <a:off x="6959000" y="1510274"/>
            <a:ext cx="1188031" cy="377469"/>
          </a:xfrm>
          <a:prstGeom prst="rect">
            <a:avLst/>
          </a:prstGeom>
          <a:solidFill>
            <a:srgbClr val="E6D5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结合业务目标设定改进目标</a:t>
            </a:r>
          </a:p>
        </p:txBody>
      </p:sp>
      <p:sp>
        <p:nvSpPr>
          <p:cNvPr id="63" name="矩形: 圆角 62">
            <a:extLst>
              <a:ext uri="{FF2B5EF4-FFF2-40B4-BE49-F238E27FC236}">
                <a16:creationId xmlns:a16="http://schemas.microsoft.com/office/drawing/2014/main" id="{77E4D8CA-BE31-B7A4-AB2B-E5F09AD9F0FB}"/>
              </a:ext>
            </a:extLst>
          </p:cNvPr>
          <p:cNvSpPr/>
          <p:nvPr/>
        </p:nvSpPr>
        <p:spPr>
          <a:xfrm>
            <a:off x="6766721" y="3706750"/>
            <a:ext cx="1538979" cy="1838522"/>
          </a:xfrm>
          <a:prstGeom prst="roundRect">
            <a:avLst/>
          </a:prstGeom>
          <a:solidFill>
            <a:srgbClr val="E6D5F3"/>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64" name="矩形 63">
            <a:extLst>
              <a:ext uri="{FF2B5EF4-FFF2-40B4-BE49-F238E27FC236}">
                <a16:creationId xmlns:a16="http://schemas.microsoft.com/office/drawing/2014/main" id="{C29316A1-D2F0-903B-27D1-A8FCF3E2D646}"/>
              </a:ext>
            </a:extLst>
          </p:cNvPr>
          <p:cNvSpPr/>
          <p:nvPr/>
        </p:nvSpPr>
        <p:spPr>
          <a:xfrm>
            <a:off x="6842409" y="4215558"/>
            <a:ext cx="1381103" cy="11187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从</a:t>
            </a:r>
            <a:r>
              <a:rPr lang="en-US" altLang="zh-CN" sz="1200" dirty="0">
                <a:solidFill>
                  <a:schemeClr val="tx1"/>
                </a:solidFill>
                <a:latin typeface="微软雅黑" panose="020B0503020204020204" pitchFamily="34" charset="-122"/>
                <a:ea typeface="微软雅黑" panose="020B0503020204020204" pitchFamily="34" charset="-122"/>
              </a:rPr>
              <a:t>CMMI</a:t>
            </a:r>
            <a:r>
              <a:rPr lang="zh-CN" altLang="en-US" sz="1200" dirty="0">
                <a:solidFill>
                  <a:schemeClr val="tx1"/>
                </a:solidFill>
                <a:latin typeface="微软雅黑" panose="020B0503020204020204" pitchFamily="34" charset="-122"/>
                <a:ea typeface="微软雅黑" panose="020B0503020204020204" pitchFamily="34" charset="-122"/>
              </a:rPr>
              <a:t>的行动、管理、实现以及提高</a:t>
            </a:r>
            <a:r>
              <a:rPr lang="en-US" altLang="zh-CN" sz="1200" dirty="0">
                <a:solidFill>
                  <a:schemeClr val="tx1"/>
                </a:solidFill>
                <a:latin typeface="微软雅黑" panose="020B0503020204020204" pitchFamily="34" charset="-122"/>
                <a:ea typeface="微软雅黑" panose="020B0503020204020204" pitchFamily="34" charset="-122"/>
              </a:rPr>
              <a:t>4</a:t>
            </a:r>
            <a:r>
              <a:rPr lang="zh-CN" altLang="en-US" sz="1200" dirty="0">
                <a:solidFill>
                  <a:schemeClr val="tx1"/>
                </a:solidFill>
                <a:latin typeface="微软雅黑" panose="020B0503020204020204" pitchFamily="34" charset="-122"/>
                <a:ea typeface="微软雅黑" panose="020B0503020204020204" pitchFamily="34" charset="-122"/>
              </a:rPr>
              <a:t>大类别出发进行改进方案的设计</a:t>
            </a:r>
            <a:endParaRPr lang="en-US" altLang="zh-CN" sz="1200" dirty="0">
              <a:solidFill>
                <a:schemeClr val="tx1"/>
              </a:solidFill>
              <a:latin typeface="微软雅黑" panose="020B0503020204020204" pitchFamily="34" charset="-122"/>
              <a:ea typeface="微软雅黑" panose="020B0503020204020204" pitchFamily="34" charset="-122"/>
            </a:endParaRPr>
          </a:p>
        </p:txBody>
      </p:sp>
      <p:sp>
        <p:nvSpPr>
          <p:cNvPr id="65" name="矩形 64">
            <a:extLst>
              <a:ext uri="{FF2B5EF4-FFF2-40B4-BE49-F238E27FC236}">
                <a16:creationId xmlns:a16="http://schemas.microsoft.com/office/drawing/2014/main" id="{DA00DE43-64D2-4698-5A26-449EEAD32FCD}"/>
              </a:ext>
            </a:extLst>
          </p:cNvPr>
          <p:cNvSpPr/>
          <p:nvPr/>
        </p:nvSpPr>
        <p:spPr>
          <a:xfrm>
            <a:off x="6945149" y="3769862"/>
            <a:ext cx="1188516" cy="35462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根据诊断结果进行方案设计</a:t>
            </a:r>
          </a:p>
        </p:txBody>
      </p:sp>
      <p:cxnSp>
        <p:nvCxnSpPr>
          <p:cNvPr id="66" name="直接连接符 65">
            <a:extLst>
              <a:ext uri="{FF2B5EF4-FFF2-40B4-BE49-F238E27FC236}">
                <a16:creationId xmlns:a16="http://schemas.microsoft.com/office/drawing/2014/main" id="{D767909C-ECEC-BED8-13D2-2AEBF0C79DF5}"/>
              </a:ext>
            </a:extLst>
          </p:cNvPr>
          <p:cNvCxnSpPr/>
          <p:nvPr/>
        </p:nvCxnSpPr>
        <p:spPr>
          <a:xfrm>
            <a:off x="8424479" y="676010"/>
            <a:ext cx="0" cy="6039878"/>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67" name="矩形: 圆角 66">
            <a:extLst>
              <a:ext uri="{FF2B5EF4-FFF2-40B4-BE49-F238E27FC236}">
                <a16:creationId xmlns:a16="http://schemas.microsoft.com/office/drawing/2014/main" id="{86067B31-C5F5-C6C8-5A48-410856FEFF04}"/>
              </a:ext>
            </a:extLst>
          </p:cNvPr>
          <p:cNvSpPr/>
          <p:nvPr/>
        </p:nvSpPr>
        <p:spPr>
          <a:xfrm>
            <a:off x="8563003" y="1409990"/>
            <a:ext cx="1445326" cy="1864655"/>
          </a:xfrm>
          <a:prstGeom prst="roundRect">
            <a:avLst/>
          </a:prstGeom>
          <a:solidFill>
            <a:schemeClr val="accent5">
              <a:lumMod val="40000"/>
              <a:lumOff val="6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68" name="矩形 67">
            <a:extLst>
              <a:ext uri="{FF2B5EF4-FFF2-40B4-BE49-F238E27FC236}">
                <a16:creationId xmlns:a16="http://schemas.microsoft.com/office/drawing/2014/main" id="{BCE3D97B-DBC4-F8FB-8CD9-C6FA15F9EFAF}"/>
              </a:ext>
            </a:extLst>
          </p:cNvPr>
          <p:cNvSpPr/>
          <p:nvPr/>
        </p:nvSpPr>
        <p:spPr>
          <a:xfrm>
            <a:off x="8695842" y="1993929"/>
            <a:ext cx="1143802" cy="25361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实施细则制定</a:t>
            </a:r>
          </a:p>
        </p:txBody>
      </p:sp>
      <p:sp>
        <p:nvSpPr>
          <p:cNvPr id="69" name="矩形 68">
            <a:extLst>
              <a:ext uri="{FF2B5EF4-FFF2-40B4-BE49-F238E27FC236}">
                <a16:creationId xmlns:a16="http://schemas.microsoft.com/office/drawing/2014/main" id="{CC201695-86A2-5C5B-49C9-6CA4C6A1AD4B}"/>
              </a:ext>
            </a:extLst>
          </p:cNvPr>
          <p:cNvSpPr/>
          <p:nvPr/>
        </p:nvSpPr>
        <p:spPr>
          <a:xfrm>
            <a:off x="8695842" y="2362549"/>
            <a:ext cx="1142259" cy="22558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新流程培训</a:t>
            </a:r>
          </a:p>
        </p:txBody>
      </p:sp>
      <p:sp>
        <p:nvSpPr>
          <p:cNvPr id="70" name="矩形 69">
            <a:extLst>
              <a:ext uri="{FF2B5EF4-FFF2-40B4-BE49-F238E27FC236}">
                <a16:creationId xmlns:a16="http://schemas.microsoft.com/office/drawing/2014/main" id="{577DA8A7-4074-3B2F-DBB2-D8182DFB6A96}"/>
              </a:ext>
            </a:extLst>
          </p:cNvPr>
          <p:cNvSpPr/>
          <p:nvPr/>
        </p:nvSpPr>
        <p:spPr>
          <a:xfrm>
            <a:off x="8697789" y="2681363"/>
            <a:ext cx="1146889" cy="23237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新流程实施</a:t>
            </a:r>
          </a:p>
        </p:txBody>
      </p:sp>
      <p:sp>
        <p:nvSpPr>
          <p:cNvPr id="71" name="矩形 70">
            <a:extLst>
              <a:ext uri="{FF2B5EF4-FFF2-40B4-BE49-F238E27FC236}">
                <a16:creationId xmlns:a16="http://schemas.microsoft.com/office/drawing/2014/main" id="{27A099C2-1128-3DF5-FC81-8934FEE9AC7F}"/>
              </a:ext>
            </a:extLst>
          </p:cNvPr>
          <p:cNvSpPr/>
          <p:nvPr/>
        </p:nvSpPr>
        <p:spPr>
          <a:xfrm>
            <a:off x="8695842" y="3029410"/>
            <a:ext cx="1143101" cy="2151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持续改进</a:t>
            </a:r>
          </a:p>
        </p:txBody>
      </p:sp>
      <p:sp>
        <p:nvSpPr>
          <p:cNvPr id="76" name="矩形 75">
            <a:extLst>
              <a:ext uri="{FF2B5EF4-FFF2-40B4-BE49-F238E27FC236}">
                <a16:creationId xmlns:a16="http://schemas.microsoft.com/office/drawing/2014/main" id="{DF3085CB-4BEF-5200-8995-0AD4BDDFA95E}"/>
              </a:ext>
            </a:extLst>
          </p:cNvPr>
          <p:cNvSpPr/>
          <p:nvPr/>
        </p:nvSpPr>
        <p:spPr>
          <a:xfrm>
            <a:off x="8716701" y="1464085"/>
            <a:ext cx="1026919" cy="1874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方案实施</a:t>
            </a:r>
          </a:p>
        </p:txBody>
      </p:sp>
      <p:sp>
        <p:nvSpPr>
          <p:cNvPr id="77" name="矩形: 圆角 76">
            <a:extLst>
              <a:ext uri="{FF2B5EF4-FFF2-40B4-BE49-F238E27FC236}">
                <a16:creationId xmlns:a16="http://schemas.microsoft.com/office/drawing/2014/main" id="{C6240C61-2FCE-14AD-B8D4-47890F823673}"/>
              </a:ext>
            </a:extLst>
          </p:cNvPr>
          <p:cNvSpPr/>
          <p:nvPr/>
        </p:nvSpPr>
        <p:spPr>
          <a:xfrm>
            <a:off x="8543260" y="3498794"/>
            <a:ext cx="1465070" cy="1944648"/>
          </a:xfrm>
          <a:prstGeom prst="roundRect">
            <a:avLst/>
          </a:prstGeom>
          <a:solidFill>
            <a:schemeClr val="accent5">
              <a:lumMod val="40000"/>
              <a:lumOff val="6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78" name="矩形 77">
            <a:extLst>
              <a:ext uri="{FF2B5EF4-FFF2-40B4-BE49-F238E27FC236}">
                <a16:creationId xmlns:a16="http://schemas.microsoft.com/office/drawing/2014/main" id="{F317DB92-A0E9-7687-A454-E1417C3139EE}"/>
              </a:ext>
            </a:extLst>
          </p:cNvPr>
          <p:cNvSpPr/>
          <p:nvPr/>
        </p:nvSpPr>
        <p:spPr>
          <a:xfrm>
            <a:off x="8630111" y="4648623"/>
            <a:ext cx="1269688" cy="2313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客户满意度提高</a:t>
            </a:r>
          </a:p>
        </p:txBody>
      </p:sp>
      <p:sp>
        <p:nvSpPr>
          <p:cNvPr id="79" name="矩形 78">
            <a:extLst>
              <a:ext uri="{FF2B5EF4-FFF2-40B4-BE49-F238E27FC236}">
                <a16:creationId xmlns:a16="http://schemas.microsoft.com/office/drawing/2014/main" id="{5A85BBAC-2C0F-ECD1-9944-A6D2DC012303}"/>
              </a:ext>
            </a:extLst>
          </p:cNvPr>
          <p:cNvSpPr/>
          <p:nvPr/>
        </p:nvSpPr>
        <p:spPr>
          <a:xfrm>
            <a:off x="8648399" y="4987644"/>
            <a:ext cx="1269688" cy="37574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流程体系通过新客户的流程审查</a:t>
            </a:r>
          </a:p>
        </p:txBody>
      </p:sp>
      <p:sp>
        <p:nvSpPr>
          <p:cNvPr id="80" name="矩形 79">
            <a:extLst>
              <a:ext uri="{FF2B5EF4-FFF2-40B4-BE49-F238E27FC236}">
                <a16:creationId xmlns:a16="http://schemas.microsoft.com/office/drawing/2014/main" id="{83011FF8-1A55-EEED-89EA-A43E287EF190}"/>
              </a:ext>
            </a:extLst>
          </p:cNvPr>
          <p:cNvSpPr/>
          <p:nvPr/>
        </p:nvSpPr>
        <p:spPr>
          <a:xfrm>
            <a:off x="8626073" y="3736390"/>
            <a:ext cx="1277764" cy="39252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流程的</a:t>
            </a:r>
            <a:r>
              <a:rPr lang="en-US" altLang="zh-CN" sz="1200" dirty="0">
                <a:solidFill>
                  <a:schemeClr val="tx1"/>
                </a:solidFill>
                <a:latin typeface="微软雅黑" panose="020B0503020204020204" pitchFamily="34" charset="-122"/>
                <a:ea typeface="微软雅黑" panose="020B0503020204020204" pitchFamily="34" charset="-122"/>
              </a:rPr>
              <a:t>CMMI</a:t>
            </a:r>
            <a:r>
              <a:rPr lang="zh-CN" altLang="en-US" sz="1200" dirty="0">
                <a:solidFill>
                  <a:schemeClr val="tx1"/>
                </a:solidFill>
                <a:latin typeface="微软雅黑" panose="020B0503020204020204" pitchFamily="34" charset="-122"/>
                <a:ea typeface="微软雅黑" panose="020B0503020204020204" pitchFamily="34" charset="-122"/>
              </a:rPr>
              <a:t>成熟度等级提高</a:t>
            </a:r>
          </a:p>
        </p:txBody>
      </p:sp>
      <p:sp>
        <p:nvSpPr>
          <p:cNvPr id="81" name="矩形 80">
            <a:extLst>
              <a:ext uri="{FF2B5EF4-FFF2-40B4-BE49-F238E27FC236}">
                <a16:creationId xmlns:a16="http://schemas.microsoft.com/office/drawing/2014/main" id="{8FA9D9D2-233E-BD43-DA13-25BCB6A5AC03}"/>
              </a:ext>
            </a:extLst>
          </p:cNvPr>
          <p:cNvSpPr/>
          <p:nvPr/>
        </p:nvSpPr>
        <p:spPr>
          <a:xfrm>
            <a:off x="8628882" y="4217154"/>
            <a:ext cx="1272146" cy="35707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开发效率和质量提高</a:t>
            </a:r>
          </a:p>
        </p:txBody>
      </p:sp>
      <p:sp>
        <p:nvSpPr>
          <p:cNvPr id="82" name="矩形 81">
            <a:extLst>
              <a:ext uri="{FF2B5EF4-FFF2-40B4-BE49-F238E27FC236}">
                <a16:creationId xmlns:a16="http://schemas.microsoft.com/office/drawing/2014/main" id="{41FAA784-A773-FFEA-095E-D7D58C5C99F9}"/>
              </a:ext>
            </a:extLst>
          </p:cNvPr>
          <p:cNvSpPr/>
          <p:nvPr/>
        </p:nvSpPr>
        <p:spPr>
          <a:xfrm>
            <a:off x="8738461" y="3541517"/>
            <a:ext cx="1026919" cy="2049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实施效果</a:t>
            </a:r>
          </a:p>
        </p:txBody>
      </p:sp>
      <p:cxnSp>
        <p:nvCxnSpPr>
          <p:cNvPr id="83" name="直接连接符 82">
            <a:extLst>
              <a:ext uri="{FF2B5EF4-FFF2-40B4-BE49-F238E27FC236}">
                <a16:creationId xmlns:a16="http://schemas.microsoft.com/office/drawing/2014/main" id="{F8F87C6A-D61D-50AE-C2FC-C3321C0DDFDF}"/>
              </a:ext>
            </a:extLst>
          </p:cNvPr>
          <p:cNvCxnSpPr/>
          <p:nvPr/>
        </p:nvCxnSpPr>
        <p:spPr>
          <a:xfrm>
            <a:off x="10150341" y="676010"/>
            <a:ext cx="0" cy="6039878"/>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84" name="矩形: 圆角 83">
            <a:extLst>
              <a:ext uri="{FF2B5EF4-FFF2-40B4-BE49-F238E27FC236}">
                <a16:creationId xmlns:a16="http://schemas.microsoft.com/office/drawing/2014/main" id="{98B2F384-C1DA-187E-667C-69C1979478E0}"/>
              </a:ext>
            </a:extLst>
          </p:cNvPr>
          <p:cNvSpPr/>
          <p:nvPr/>
        </p:nvSpPr>
        <p:spPr>
          <a:xfrm>
            <a:off x="10288817" y="1481908"/>
            <a:ext cx="1193146" cy="3961533"/>
          </a:xfrm>
          <a:prstGeom prst="roundRect">
            <a:avLst/>
          </a:prstGeom>
          <a:solidFill>
            <a:srgbClr val="DDDDDD"/>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solidFill>
                <a:schemeClr val="tx1"/>
              </a:solidFill>
              <a:latin typeface="微软雅黑" panose="020B0503020204020204" pitchFamily="34" charset="-122"/>
              <a:ea typeface="微软雅黑" panose="020B0503020204020204" pitchFamily="34" charset="-122"/>
            </a:endParaRPr>
          </a:p>
        </p:txBody>
      </p:sp>
      <p:sp>
        <p:nvSpPr>
          <p:cNvPr id="85" name="矩形 84">
            <a:extLst>
              <a:ext uri="{FF2B5EF4-FFF2-40B4-BE49-F238E27FC236}">
                <a16:creationId xmlns:a16="http://schemas.microsoft.com/office/drawing/2014/main" id="{91B3E270-938A-B5D8-49A5-B525B186BC65}"/>
              </a:ext>
            </a:extLst>
          </p:cNvPr>
          <p:cNvSpPr/>
          <p:nvPr/>
        </p:nvSpPr>
        <p:spPr>
          <a:xfrm>
            <a:off x="10358752" y="2565411"/>
            <a:ext cx="1041926" cy="2266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研究结论</a:t>
            </a:r>
          </a:p>
        </p:txBody>
      </p:sp>
      <p:sp>
        <p:nvSpPr>
          <p:cNvPr id="86" name="矩形 85">
            <a:extLst>
              <a:ext uri="{FF2B5EF4-FFF2-40B4-BE49-F238E27FC236}">
                <a16:creationId xmlns:a16="http://schemas.microsoft.com/office/drawing/2014/main" id="{A44D97A9-1E99-8170-07AB-586D6DC13662}"/>
              </a:ext>
            </a:extLst>
          </p:cNvPr>
          <p:cNvSpPr/>
          <p:nvPr/>
        </p:nvSpPr>
        <p:spPr>
          <a:xfrm>
            <a:off x="10358751" y="4278137"/>
            <a:ext cx="1041926" cy="22669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未来展望</a:t>
            </a:r>
          </a:p>
        </p:txBody>
      </p:sp>
      <p:sp>
        <p:nvSpPr>
          <p:cNvPr id="87" name="矩形 86">
            <a:extLst>
              <a:ext uri="{FF2B5EF4-FFF2-40B4-BE49-F238E27FC236}">
                <a16:creationId xmlns:a16="http://schemas.microsoft.com/office/drawing/2014/main" id="{897DE5DD-F378-679E-69E2-5B8028B52EE0}"/>
              </a:ext>
            </a:extLst>
          </p:cNvPr>
          <p:cNvSpPr/>
          <p:nvPr/>
        </p:nvSpPr>
        <p:spPr>
          <a:xfrm>
            <a:off x="10452029" y="6057360"/>
            <a:ext cx="948648" cy="210856"/>
          </a:xfrm>
          <a:prstGeom prst="rect">
            <a:avLst/>
          </a:prstGeom>
          <a:solidFill>
            <a:srgbClr val="DDDDD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归纳总结</a:t>
            </a:r>
          </a:p>
        </p:txBody>
      </p:sp>
      <p:sp>
        <p:nvSpPr>
          <p:cNvPr id="88" name="矩形 87">
            <a:extLst>
              <a:ext uri="{FF2B5EF4-FFF2-40B4-BE49-F238E27FC236}">
                <a16:creationId xmlns:a16="http://schemas.microsoft.com/office/drawing/2014/main" id="{28D97EF8-BFAD-F20C-A746-FE9C25B5FF26}"/>
              </a:ext>
            </a:extLst>
          </p:cNvPr>
          <p:cNvSpPr/>
          <p:nvPr/>
        </p:nvSpPr>
        <p:spPr>
          <a:xfrm>
            <a:off x="6964303" y="5905459"/>
            <a:ext cx="1207837" cy="409764"/>
          </a:xfrm>
          <a:prstGeom prst="rect">
            <a:avLst/>
          </a:prstGeom>
          <a:solidFill>
            <a:srgbClr val="E6D5F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CMMI2.0</a:t>
            </a:r>
            <a:r>
              <a:rPr lang="zh-CN" altLang="en-US" sz="1200" dirty="0">
                <a:solidFill>
                  <a:schemeClr val="tx1"/>
                </a:solidFill>
                <a:latin typeface="微软雅黑" panose="020B0503020204020204" pitchFamily="34" charset="-122"/>
                <a:ea typeface="微软雅黑" panose="020B0503020204020204" pitchFamily="34" charset="-122"/>
              </a:rPr>
              <a:t>模型</a:t>
            </a:r>
          </a:p>
        </p:txBody>
      </p:sp>
      <p:sp>
        <p:nvSpPr>
          <p:cNvPr id="89" name="矩形 88">
            <a:extLst>
              <a:ext uri="{FF2B5EF4-FFF2-40B4-BE49-F238E27FC236}">
                <a16:creationId xmlns:a16="http://schemas.microsoft.com/office/drawing/2014/main" id="{3F209700-FF64-C41E-8348-E93E4ACDC391}"/>
              </a:ext>
            </a:extLst>
          </p:cNvPr>
          <p:cNvSpPr/>
          <p:nvPr/>
        </p:nvSpPr>
        <p:spPr>
          <a:xfrm>
            <a:off x="8766446" y="5805364"/>
            <a:ext cx="1196263" cy="773955"/>
          </a:xfrm>
          <a:prstGeom prst="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200" dirty="0">
                <a:solidFill>
                  <a:schemeClr val="tx1"/>
                </a:solidFill>
                <a:latin typeface="微软雅黑" panose="020B0503020204020204" pitchFamily="34" charset="-122"/>
                <a:ea typeface="微软雅黑" panose="020B0503020204020204" pitchFamily="34" charset="-122"/>
              </a:rPr>
              <a:t>实证法、</a:t>
            </a:r>
            <a:endParaRPr lang="en-US" altLang="zh-CN" sz="1200" dirty="0">
              <a:solidFill>
                <a:schemeClr val="tx1"/>
              </a:solidFill>
              <a:latin typeface="微软雅黑" panose="020B0503020204020204" pitchFamily="34" charset="-122"/>
              <a:ea typeface="微软雅黑" panose="020B0503020204020204" pitchFamily="34" charset="-122"/>
            </a:endParaRPr>
          </a:p>
          <a:p>
            <a:r>
              <a:rPr lang="zh-CN" altLang="en-US" sz="1200" dirty="0">
                <a:solidFill>
                  <a:schemeClr val="tx1"/>
                </a:solidFill>
                <a:latin typeface="微软雅黑" panose="020B0503020204020204" pitchFamily="34" charset="-122"/>
                <a:ea typeface="微软雅黑" panose="020B0503020204020204" pitchFamily="34" charset="-122"/>
              </a:rPr>
              <a:t>线性回归、</a:t>
            </a:r>
            <a:endParaRPr lang="en-US" altLang="zh-CN" sz="1200" dirty="0">
              <a:solidFill>
                <a:schemeClr val="tx1"/>
              </a:solidFill>
              <a:latin typeface="微软雅黑" panose="020B0503020204020204" pitchFamily="34" charset="-122"/>
              <a:ea typeface="微软雅黑" panose="020B0503020204020204" pitchFamily="34" charset="-122"/>
            </a:endParaRPr>
          </a:p>
          <a:p>
            <a:r>
              <a:rPr lang="zh-CN" altLang="en-US" sz="1200" dirty="0">
                <a:solidFill>
                  <a:schemeClr val="tx1"/>
                </a:solidFill>
                <a:latin typeface="微软雅黑" panose="020B0503020204020204" pitchFamily="34" charset="-122"/>
                <a:ea typeface="微软雅黑" panose="020B0503020204020204" pitchFamily="34" charset="-122"/>
              </a:rPr>
              <a:t>定性分析方法定量分析方法</a:t>
            </a:r>
            <a:endParaRPr lang="en-US" altLang="zh-CN" sz="1200" dirty="0">
              <a:solidFill>
                <a:schemeClr val="tx1"/>
              </a:solidFill>
              <a:latin typeface="微软雅黑" panose="020B0503020204020204" pitchFamily="34" charset="-122"/>
              <a:ea typeface="微软雅黑" panose="020B0503020204020204" pitchFamily="34" charset="-122"/>
            </a:endParaRPr>
          </a:p>
        </p:txBody>
      </p:sp>
      <p:cxnSp>
        <p:nvCxnSpPr>
          <p:cNvPr id="91" name="直接连接符 90">
            <a:extLst>
              <a:ext uri="{FF2B5EF4-FFF2-40B4-BE49-F238E27FC236}">
                <a16:creationId xmlns:a16="http://schemas.microsoft.com/office/drawing/2014/main" id="{2941425D-E3BD-A191-3C28-D6BD25BABAA8}"/>
              </a:ext>
            </a:extLst>
          </p:cNvPr>
          <p:cNvCxnSpPr/>
          <p:nvPr/>
        </p:nvCxnSpPr>
        <p:spPr>
          <a:xfrm flipV="1">
            <a:off x="380144" y="657547"/>
            <a:ext cx="11394040" cy="9894"/>
          </a:xfrm>
          <a:prstGeom prst="line">
            <a:avLst/>
          </a:prstGeom>
        </p:spPr>
        <p:style>
          <a:lnRef idx="1">
            <a:schemeClr val="dk1"/>
          </a:lnRef>
          <a:fillRef idx="0">
            <a:schemeClr val="dk1"/>
          </a:fillRef>
          <a:effectRef idx="0">
            <a:schemeClr val="dk1"/>
          </a:effectRef>
          <a:fontRef idx="minor">
            <a:schemeClr val="tx1"/>
          </a:fontRef>
        </p:style>
      </p:cxnSp>
      <p:cxnSp>
        <p:nvCxnSpPr>
          <p:cNvPr id="93" name="直接连接符 92">
            <a:extLst>
              <a:ext uri="{FF2B5EF4-FFF2-40B4-BE49-F238E27FC236}">
                <a16:creationId xmlns:a16="http://schemas.microsoft.com/office/drawing/2014/main" id="{4A39F32D-4178-E259-8600-C9EDF23355CB}"/>
              </a:ext>
            </a:extLst>
          </p:cNvPr>
          <p:cNvCxnSpPr/>
          <p:nvPr/>
        </p:nvCxnSpPr>
        <p:spPr>
          <a:xfrm>
            <a:off x="380144" y="657547"/>
            <a:ext cx="0" cy="6039878"/>
          </a:xfrm>
          <a:prstGeom prst="line">
            <a:avLst/>
          </a:prstGeom>
        </p:spPr>
        <p:style>
          <a:lnRef idx="1">
            <a:schemeClr val="dk1"/>
          </a:lnRef>
          <a:fillRef idx="0">
            <a:schemeClr val="dk1"/>
          </a:fillRef>
          <a:effectRef idx="0">
            <a:schemeClr val="dk1"/>
          </a:effectRef>
          <a:fontRef idx="minor">
            <a:schemeClr val="tx1"/>
          </a:fontRef>
        </p:style>
      </p:cxnSp>
      <p:cxnSp>
        <p:nvCxnSpPr>
          <p:cNvPr id="95" name="直接连接符 94">
            <a:extLst>
              <a:ext uri="{FF2B5EF4-FFF2-40B4-BE49-F238E27FC236}">
                <a16:creationId xmlns:a16="http://schemas.microsoft.com/office/drawing/2014/main" id="{B6A3C0EB-A996-640D-B111-7087432B8217}"/>
              </a:ext>
            </a:extLst>
          </p:cNvPr>
          <p:cNvCxnSpPr/>
          <p:nvPr/>
        </p:nvCxnSpPr>
        <p:spPr>
          <a:xfrm>
            <a:off x="380144" y="6697425"/>
            <a:ext cx="11394040" cy="0"/>
          </a:xfrm>
          <a:prstGeom prst="line">
            <a:avLst/>
          </a:prstGeom>
        </p:spPr>
        <p:style>
          <a:lnRef idx="1">
            <a:schemeClr val="dk1"/>
          </a:lnRef>
          <a:fillRef idx="0">
            <a:schemeClr val="dk1"/>
          </a:fillRef>
          <a:effectRef idx="0">
            <a:schemeClr val="dk1"/>
          </a:effectRef>
          <a:fontRef idx="minor">
            <a:schemeClr val="tx1"/>
          </a:fontRef>
        </p:style>
      </p:cxnSp>
      <p:cxnSp>
        <p:nvCxnSpPr>
          <p:cNvPr id="97" name="直接连接符 96">
            <a:extLst>
              <a:ext uri="{FF2B5EF4-FFF2-40B4-BE49-F238E27FC236}">
                <a16:creationId xmlns:a16="http://schemas.microsoft.com/office/drawing/2014/main" id="{F3860728-CCD5-ECDF-5B32-444F7DA85DE6}"/>
              </a:ext>
            </a:extLst>
          </p:cNvPr>
          <p:cNvCxnSpPr/>
          <p:nvPr/>
        </p:nvCxnSpPr>
        <p:spPr>
          <a:xfrm>
            <a:off x="11774184" y="657547"/>
            <a:ext cx="0" cy="6049772"/>
          </a:xfrm>
          <a:prstGeom prst="line">
            <a:avLst/>
          </a:prstGeom>
        </p:spPr>
        <p:style>
          <a:lnRef idx="1">
            <a:schemeClr val="dk1"/>
          </a:lnRef>
          <a:fillRef idx="0">
            <a:schemeClr val="dk1"/>
          </a:fillRef>
          <a:effectRef idx="0">
            <a:schemeClr val="dk1"/>
          </a:effectRef>
          <a:fontRef idx="minor">
            <a:schemeClr val="tx1"/>
          </a:fontRef>
        </p:style>
      </p:cxnSp>
      <p:cxnSp>
        <p:nvCxnSpPr>
          <p:cNvPr id="116" name="直接箭头连接符 115">
            <a:extLst>
              <a:ext uri="{FF2B5EF4-FFF2-40B4-BE49-F238E27FC236}">
                <a16:creationId xmlns:a16="http://schemas.microsoft.com/office/drawing/2014/main" id="{0E76B578-06B8-250F-90A4-000B30E71A73}"/>
              </a:ext>
            </a:extLst>
          </p:cNvPr>
          <p:cNvCxnSpPr>
            <a:cxnSpLocks/>
            <a:stCxn id="47" idx="2"/>
            <a:endCxn id="48" idx="0"/>
          </p:cNvCxnSpPr>
          <p:nvPr/>
        </p:nvCxnSpPr>
        <p:spPr>
          <a:xfrm>
            <a:off x="5618581" y="2225111"/>
            <a:ext cx="0" cy="132445"/>
          </a:xfrm>
          <a:prstGeom prst="straightConnector1">
            <a:avLst/>
          </a:prstGeom>
          <a:ln w="6350">
            <a:tailEnd type="triangle"/>
          </a:ln>
        </p:spPr>
        <p:style>
          <a:lnRef idx="1">
            <a:schemeClr val="accent1"/>
          </a:lnRef>
          <a:fillRef idx="0">
            <a:schemeClr val="accent1"/>
          </a:fillRef>
          <a:effectRef idx="0">
            <a:schemeClr val="accent1"/>
          </a:effectRef>
          <a:fontRef idx="minor">
            <a:schemeClr val="tx1"/>
          </a:fontRef>
        </p:style>
      </p:cxnSp>
      <p:cxnSp>
        <p:nvCxnSpPr>
          <p:cNvPr id="118" name="直接箭头连接符 117">
            <a:extLst>
              <a:ext uri="{FF2B5EF4-FFF2-40B4-BE49-F238E27FC236}">
                <a16:creationId xmlns:a16="http://schemas.microsoft.com/office/drawing/2014/main" id="{2882AC2C-DC6E-FFC5-9297-B10EF2837048}"/>
              </a:ext>
            </a:extLst>
          </p:cNvPr>
          <p:cNvCxnSpPr>
            <a:cxnSpLocks/>
            <a:stCxn id="48" idx="2"/>
            <a:endCxn id="49" idx="0"/>
          </p:cNvCxnSpPr>
          <p:nvPr/>
        </p:nvCxnSpPr>
        <p:spPr>
          <a:xfrm>
            <a:off x="5618581" y="2686628"/>
            <a:ext cx="0" cy="180394"/>
          </a:xfrm>
          <a:prstGeom prst="straightConnector1">
            <a:avLst/>
          </a:prstGeom>
          <a:ln w="6350">
            <a:tailEnd type="triangle"/>
          </a:ln>
        </p:spPr>
        <p:style>
          <a:lnRef idx="1">
            <a:schemeClr val="accent1"/>
          </a:lnRef>
          <a:fillRef idx="0">
            <a:schemeClr val="accent1"/>
          </a:fillRef>
          <a:effectRef idx="0">
            <a:schemeClr val="accent1"/>
          </a:effectRef>
          <a:fontRef idx="minor">
            <a:schemeClr val="tx1"/>
          </a:fontRef>
        </p:style>
      </p:cxnSp>
      <p:cxnSp>
        <p:nvCxnSpPr>
          <p:cNvPr id="120" name="直接箭头连接符 119">
            <a:extLst>
              <a:ext uri="{FF2B5EF4-FFF2-40B4-BE49-F238E27FC236}">
                <a16:creationId xmlns:a16="http://schemas.microsoft.com/office/drawing/2014/main" id="{CE762594-861C-140C-ED33-B8D836974A94}"/>
              </a:ext>
            </a:extLst>
          </p:cNvPr>
          <p:cNvCxnSpPr>
            <a:cxnSpLocks/>
          </p:cNvCxnSpPr>
          <p:nvPr/>
        </p:nvCxnSpPr>
        <p:spPr>
          <a:xfrm>
            <a:off x="5629687" y="4247465"/>
            <a:ext cx="0" cy="108591"/>
          </a:xfrm>
          <a:prstGeom prst="straightConnector1">
            <a:avLst/>
          </a:prstGeom>
          <a:ln w="6350">
            <a:tailEnd type="triangle"/>
          </a:ln>
        </p:spPr>
        <p:style>
          <a:lnRef idx="1">
            <a:schemeClr val="accent1"/>
          </a:lnRef>
          <a:fillRef idx="0">
            <a:schemeClr val="accent1"/>
          </a:fillRef>
          <a:effectRef idx="0">
            <a:schemeClr val="accent1"/>
          </a:effectRef>
          <a:fontRef idx="minor">
            <a:schemeClr val="tx1"/>
          </a:fontRef>
        </p:style>
      </p:cxnSp>
      <p:cxnSp>
        <p:nvCxnSpPr>
          <p:cNvPr id="122" name="直接箭头连接符 121">
            <a:extLst>
              <a:ext uri="{FF2B5EF4-FFF2-40B4-BE49-F238E27FC236}">
                <a16:creationId xmlns:a16="http://schemas.microsoft.com/office/drawing/2014/main" id="{4930DA52-D6A1-E07A-CB12-A4009A9F05B6}"/>
              </a:ext>
            </a:extLst>
          </p:cNvPr>
          <p:cNvCxnSpPr>
            <a:cxnSpLocks/>
            <a:stCxn id="53" idx="2"/>
            <a:endCxn id="54" idx="0"/>
          </p:cNvCxnSpPr>
          <p:nvPr/>
        </p:nvCxnSpPr>
        <p:spPr>
          <a:xfrm>
            <a:off x="5629687" y="4597482"/>
            <a:ext cx="0" cy="170404"/>
          </a:xfrm>
          <a:prstGeom prst="straightConnector1">
            <a:avLst/>
          </a:prstGeom>
          <a:ln w="6350">
            <a:tailEnd type="triangle"/>
          </a:ln>
        </p:spPr>
        <p:style>
          <a:lnRef idx="1">
            <a:schemeClr val="accent1"/>
          </a:lnRef>
          <a:fillRef idx="0">
            <a:schemeClr val="accent1"/>
          </a:fillRef>
          <a:effectRef idx="0">
            <a:schemeClr val="accent1"/>
          </a:effectRef>
          <a:fontRef idx="minor">
            <a:schemeClr val="tx1"/>
          </a:fontRef>
        </p:style>
      </p:cxnSp>
      <p:cxnSp>
        <p:nvCxnSpPr>
          <p:cNvPr id="124" name="直接箭头连接符 123">
            <a:extLst>
              <a:ext uri="{FF2B5EF4-FFF2-40B4-BE49-F238E27FC236}">
                <a16:creationId xmlns:a16="http://schemas.microsoft.com/office/drawing/2014/main" id="{BED20CB9-44C5-369E-90CF-6F5355974727}"/>
              </a:ext>
            </a:extLst>
          </p:cNvPr>
          <p:cNvCxnSpPr>
            <a:cxnSpLocks/>
            <a:stCxn id="54" idx="2"/>
            <a:endCxn id="55" idx="0"/>
          </p:cNvCxnSpPr>
          <p:nvPr/>
        </p:nvCxnSpPr>
        <p:spPr>
          <a:xfrm>
            <a:off x="5629687" y="4933799"/>
            <a:ext cx="0" cy="194257"/>
          </a:xfrm>
          <a:prstGeom prst="straightConnector1">
            <a:avLst/>
          </a:prstGeom>
          <a:ln w="6350">
            <a:tailEnd type="triangle"/>
          </a:ln>
        </p:spPr>
        <p:style>
          <a:lnRef idx="1">
            <a:schemeClr val="accent1"/>
          </a:lnRef>
          <a:fillRef idx="0">
            <a:schemeClr val="accent1"/>
          </a:fillRef>
          <a:effectRef idx="0">
            <a:schemeClr val="accent1"/>
          </a:effectRef>
          <a:fontRef idx="minor">
            <a:schemeClr val="tx1"/>
          </a:fontRef>
        </p:style>
      </p:cxnSp>
      <p:sp>
        <p:nvSpPr>
          <p:cNvPr id="94" name="圆角矩形 5">
            <a:extLst>
              <a:ext uri="{FF2B5EF4-FFF2-40B4-BE49-F238E27FC236}">
                <a16:creationId xmlns:a16="http://schemas.microsoft.com/office/drawing/2014/main" id="{FB7A4078-A7C0-9655-C1DE-8536B306BF34}"/>
              </a:ext>
            </a:extLst>
          </p:cNvPr>
          <p:cNvSpPr/>
          <p:nvPr/>
        </p:nvSpPr>
        <p:spPr>
          <a:xfrm>
            <a:off x="418610" y="36108"/>
            <a:ext cx="9550400" cy="602380"/>
          </a:xfrm>
          <a:prstGeom prst="roundRect">
            <a:avLst>
              <a:gd name="adj" fmla="val 4545"/>
            </a:avLst>
          </a:prstGeom>
          <a:solidFill>
            <a:srgbClr val="6A005F"/>
          </a:solidFill>
          <a:ln w="254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200" dirty="0">
              <a:latin typeface="微软雅黑" panose="020B0503020204020204" pitchFamily="34" charset="-122"/>
              <a:ea typeface="微软雅黑" panose="020B0503020204020204" pitchFamily="34" charset="-122"/>
              <a:cs typeface="+mn-ea"/>
              <a:sym typeface="+mn-lt"/>
            </a:endParaRPr>
          </a:p>
        </p:txBody>
      </p:sp>
      <p:sp>
        <p:nvSpPr>
          <p:cNvPr id="96" name="文本框 95">
            <a:extLst>
              <a:ext uri="{FF2B5EF4-FFF2-40B4-BE49-F238E27FC236}">
                <a16:creationId xmlns:a16="http://schemas.microsoft.com/office/drawing/2014/main" id="{33CC9134-29A2-28DF-8F0E-1798D44BFA00}"/>
              </a:ext>
            </a:extLst>
          </p:cNvPr>
          <p:cNvSpPr txBox="1"/>
          <p:nvPr/>
        </p:nvSpPr>
        <p:spPr>
          <a:xfrm>
            <a:off x="995233" y="82325"/>
            <a:ext cx="7579456" cy="461665"/>
          </a:xfrm>
          <a:prstGeom prst="rect">
            <a:avLst/>
          </a:prstGeom>
          <a:noFill/>
        </p:spPr>
        <p:txBody>
          <a:bodyPr wrap="square" rtlCol="0">
            <a:spAutoFit/>
          </a:bodyPr>
          <a:lstStyle/>
          <a:p>
            <a:r>
              <a:rPr lang="zh-CN" altLang="en-US" sz="2400" b="1" spc="300" dirty="0">
                <a:solidFill>
                  <a:schemeClr val="bg1"/>
                </a:solidFill>
                <a:latin typeface="微软雅黑" panose="020B0503020204020204" pitchFamily="34" charset="-122"/>
                <a:ea typeface="微软雅黑" panose="020B0503020204020204" pitchFamily="34" charset="-122"/>
                <a:cs typeface="+mn-ea"/>
                <a:sym typeface="+mn-lt"/>
              </a:rPr>
              <a:t>基于</a:t>
            </a:r>
            <a:r>
              <a:rPr lang="en-US" altLang="zh-CN" sz="2400" b="1" spc="300" dirty="0">
                <a:solidFill>
                  <a:schemeClr val="bg1"/>
                </a:solidFill>
                <a:latin typeface="微软雅黑" panose="020B0503020204020204" pitchFamily="34" charset="-122"/>
                <a:ea typeface="微软雅黑" panose="020B0503020204020204" pitchFamily="34" charset="-122"/>
                <a:cs typeface="+mn-ea"/>
                <a:sym typeface="+mn-lt"/>
              </a:rPr>
              <a:t>CMMI</a:t>
            </a:r>
            <a:r>
              <a:rPr lang="zh-CN" altLang="en-US" sz="2400" b="1" spc="300" dirty="0">
                <a:solidFill>
                  <a:schemeClr val="bg1"/>
                </a:solidFill>
                <a:latin typeface="微软雅黑" panose="020B0503020204020204" pitchFamily="34" charset="-122"/>
                <a:ea typeface="微软雅黑" panose="020B0503020204020204" pitchFamily="34" charset="-122"/>
                <a:cs typeface="+mn-ea"/>
                <a:sym typeface="+mn-lt"/>
              </a:rPr>
              <a:t>的汽车软件开发流程改进研究</a:t>
            </a:r>
          </a:p>
        </p:txBody>
      </p:sp>
      <p:sp>
        <p:nvSpPr>
          <p:cNvPr id="98" name="矩形: 圆角 97">
            <a:extLst>
              <a:ext uri="{FF2B5EF4-FFF2-40B4-BE49-F238E27FC236}">
                <a16:creationId xmlns:a16="http://schemas.microsoft.com/office/drawing/2014/main" id="{F209AF35-9B91-4771-24FB-1FE00205E28F}"/>
              </a:ext>
            </a:extLst>
          </p:cNvPr>
          <p:cNvSpPr/>
          <p:nvPr/>
        </p:nvSpPr>
        <p:spPr>
          <a:xfrm>
            <a:off x="1074828" y="4598021"/>
            <a:ext cx="1604781" cy="808690"/>
          </a:xfrm>
          <a:prstGeom prst="roundRect">
            <a:avLst/>
          </a:prstGeom>
          <a:solidFill>
            <a:srgbClr val="E6D5F3"/>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latin typeface="微软雅黑" panose="020B0503020204020204" pitchFamily="34" charset="-122"/>
                <a:ea typeface="微软雅黑" panose="020B0503020204020204" pitchFamily="34" charset="-122"/>
              </a:rPr>
              <a:t>CMMI</a:t>
            </a:r>
            <a:r>
              <a:rPr lang="zh-CN" altLang="en-US" sz="1200" dirty="0">
                <a:solidFill>
                  <a:schemeClr val="tx1"/>
                </a:solidFill>
                <a:latin typeface="微软雅黑" panose="020B0503020204020204" pitchFamily="34" charset="-122"/>
                <a:ea typeface="微软雅黑" panose="020B0503020204020204" pitchFamily="34" charset="-122"/>
              </a:rPr>
              <a:t>作为本研究流程改进方法的理由</a:t>
            </a:r>
          </a:p>
        </p:txBody>
      </p:sp>
      <p:cxnSp>
        <p:nvCxnSpPr>
          <p:cNvPr id="104" name="直接箭头连接符 103">
            <a:extLst>
              <a:ext uri="{FF2B5EF4-FFF2-40B4-BE49-F238E27FC236}">
                <a16:creationId xmlns:a16="http://schemas.microsoft.com/office/drawing/2014/main" id="{AF28540F-5EB5-FAED-FC88-8AE6999F1F92}"/>
              </a:ext>
            </a:extLst>
          </p:cNvPr>
          <p:cNvCxnSpPr>
            <a:cxnSpLocks/>
            <a:stCxn id="68" idx="2"/>
            <a:endCxn id="69" idx="0"/>
          </p:cNvCxnSpPr>
          <p:nvPr/>
        </p:nvCxnSpPr>
        <p:spPr>
          <a:xfrm flipH="1">
            <a:off x="9266972" y="2247539"/>
            <a:ext cx="771" cy="1150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3" name="连接符: 肘形 112">
            <a:extLst>
              <a:ext uri="{FF2B5EF4-FFF2-40B4-BE49-F238E27FC236}">
                <a16:creationId xmlns:a16="http://schemas.microsoft.com/office/drawing/2014/main" id="{CC06C3C6-F3F6-E67C-2999-C306631BE714}"/>
              </a:ext>
            </a:extLst>
          </p:cNvPr>
          <p:cNvCxnSpPr>
            <a:cxnSpLocks/>
            <a:stCxn id="98" idx="3"/>
            <a:endCxn id="38" idx="0"/>
          </p:cNvCxnSpPr>
          <p:nvPr/>
        </p:nvCxnSpPr>
        <p:spPr>
          <a:xfrm flipV="1">
            <a:off x="2679609" y="2479425"/>
            <a:ext cx="1032309" cy="2522941"/>
          </a:xfrm>
          <a:prstGeom prst="bentConnector4">
            <a:avLst>
              <a:gd name="adj1" fmla="val 12076"/>
              <a:gd name="adj2" fmla="val 10580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5" name="连接符: 肘形 124">
            <a:extLst>
              <a:ext uri="{FF2B5EF4-FFF2-40B4-BE49-F238E27FC236}">
                <a16:creationId xmlns:a16="http://schemas.microsoft.com/office/drawing/2014/main" id="{6BA2C2E2-6500-1DEE-9487-A8DCD720296C}"/>
              </a:ext>
            </a:extLst>
          </p:cNvPr>
          <p:cNvCxnSpPr>
            <a:cxnSpLocks/>
            <a:stCxn id="38" idx="3"/>
            <a:endCxn id="56" idx="0"/>
          </p:cNvCxnSpPr>
          <p:nvPr/>
        </p:nvCxnSpPr>
        <p:spPr>
          <a:xfrm flipV="1">
            <a:off x="4494905" y="3686115"/>
            <a:ext cx="1120275" cy="295903"/>
          </a:xfrm>
          <a:prstGeom prst="bentConnector4">
            <a:avLst>
              <a:gd name="adj1" fmla="val 17771"/>
              <a:gd name="adj2" fmla="val 147565"/>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7" name="直接箭头连接符 126">
            <a:extLst>
              <a:ext uri="{FF2B5EF4-FFF2-40B4-BE49-F238E27FC236}">
                <a16:creationId xmlns:a16="http://schemas.microsoft.com/office/drawing/2014/main" id="{0E548448-FD91-0780-CCA7-2002519499D5}"/>
              </a:ext>
            </a:extLst>
          </p:cNvPr>
          <p:cNvCxnSpPr>
            <a:cxnSpLocks/>
            <a:endCxn id="63" idx="1"/>
          </p:cNvCxnSpPr>
          <p:nvPr/>
        </p:nvCxnSpPr>
        <p:spPr>
          <a:xfrm>
            <a:off x="6520070" y="4624624"/>
            <a:ext cx="246651" cy="13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4" name="连接符: 肘形 133">
            <a:extLst>
              <a:ext uri="{FF2B5EF4-FFF2-40B4-BE49-F238E27FC236}">
                <a16:creationId xmlns:a16="http://schemas.microsoft.com/office/drawing/2014/main" id="{C286300C-B587-3F01-459D-9093A422738B}"/>
              </a:ext>
            </a:extLst>
          </p:cNvPr>
          <p:cNvCxnSpPr>
            <a:cxnSpLocks/>
            <a:stCxn id="63" idx="3"/>
            <a:endCxn id="67" idx="0"/>
          </p:cNvCxnSpPr>
          <p:nvPr/>
        </p:nvCxnSpPr>
        <p:spPr>
          <a:xfrm flipV="1">
            <a:off x="8305700" y="1409990"/>
            <a:ext cx="979966" cy="3216021"/>
          </a:xfrm>
          <a:prstGeom prst="bentConnector4">
            <a:avLst>
              <a:gd name="adj1" fmla="val 17322"/>
              <a:gd name="adj2" fmla="val 103913"/>
            </a:avLst>
          </a:prstGeom>
          <a:ln>
            <a:tailEnd type="triangle"/>
          </a:ln>
        </p:spPr>
        <p:style>
          <a:lnRef idx="1">
            <a:schemeClr val="accent1"/>
          </a:lnRef>
          <a:fillRef idx="0">
            <a:schemeClr val="accent1"/>
          </a:fillRef>
          <a:effectRef idx="0">
            <a:schemeClr val="accent1"/>
          </a:effectRef>
          <a:fontRef idx="minor">
            <a:schemeClr val="tx1"/>
          </a:fontRef>
        </p:style>
      </p:cxnSp>
      <p:sp>
        <p:nvSpPr>
          <p:cNvPr id="140" name="箭头: 右 139">
            <a:extLst>
              <a:ext uri="{FF2B5EF4-FFF2-40B4-BE49-F238E27FC236}">
                <a16:creationId xmlns:a16="http://schemas.microsoft.com/office/drawing/2014/main" id="{E0B4B5A2-59E1-75B1-0078-D0E2ECA5D986}"/>
              </a:ext>
            </a:extLst>
          </p:cNvPr>
          <p:cNvSpPr/>
          <p:nvPr/>
        </p:nvSpPr>
        <p:spPr>
          <a:xfrm>
            <a:off x="2679609" y="927267"/>
            <a:ext cx="198763" cy="1351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3" name="箭头: 右 142">
            <a:extLst>
              <a:ext uri="{FF2B5EF4-FFF2-40B4-BE49-F238E27FC236}">
                <a16:creationId xmlns:a16="http://schemas.microsoft.com/office/drawing/2014/main" id="{B0EEB17F-2448-C6E1-B951-4DA062672386}"/>
              </a:ext>
            </a:extLst>
          </p:cNvPr>
          <p:cNvSpPr/>
          <p:nvPr/>
        </p:nvSpPr>
        <p:spPr>
          <a:xfrm>
            <a:off x="4549183" y="920241"/>
            <a:ext cx="198763" cy="1351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4" name="箭头: 右 143">
            <a:extLst>
              <a:ext uri="{FF2B5EF4-FFF2-40B4-BE49-F238E27FC236}">
                <a16:creationId xmlns:a16="http://schemas.microsoft.com/office/drawing/2014/main" id="{4F6FEA8B-F7FE-13F2-6C3D-A376C7C75436}"/>
              </a:ext>
            </a:extLst>
          </p:cNvPr>
          <p:cNvSpPr/>
          <p:nvPr/>
        </p:nvSpPr>
        <p:spPr>
          <a:xfrm>
            <a:off x="6513623" y="936196"/>
            <a:ext cx="198763" cy="1351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5" name="箭头: 右 144">
            <a:extLst>
              <a:ext uri="{FF2B5EF4-FFF2-40B4-BE49-F238E27FC236}">
                <a16:creationId xmlns:a16="http://schemas.microsoft.com/office/drawing/2014/main" id="{D7AC6E39-8641-AF23-A757-772ED150EEDA}"/>
              </a:ext>
            </a:extLst>
          </p:cNvPr>
          <p:cNvSpPr/>
          <p:nvPr/>
        </p:nvSpPr>
        <p:spPr>
          <a:xfrm>
            <a:off x="8351013" y="943522"/>
            <a:ext cx="198763" cy="1351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46" name="箭头: 右 145">
            <a:extLst>
              <a:ext uri="{FF2B5EF4-FFF2-40B4-BE49-F238E27FC236}">
                <a16:creationId xmlns:a16="http://schemas.microsoft.com/office/drawing/2014/main" id="{20047CC6-51A9-EBE2-5F3E-A645B0351376}"/>
              </a:ext>
            </a:extLst>
          </p:cNvPr>
          <p:cNvSpPr/>
          <p:nvPr/>
        </p:nvSpPr>
        <p:spPr>
          <a:xfrm>
            <a:off x="10052603" y="927267"/>
            <a:ext cx="198763" cy="13517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pitchFamily="34" charset="-122"/>
              <a:ea typeface="微软雅黑" panose="020B0503020204020204" pitchFamily="34" charset="-122"/>
            </a:endParaRPr>
          </a:p>
        </p:txBody>
      </p:sp>
      <p:cxnSp>
        <p:nvCxnSpPr>
          <p:cNvPr id="14" name="直接箭头连接符 13">
            <a:extLst>
              <a:ext uri="{FF2B5EF4-FFF2-40B4-BE49-F238E27FC236}">
                <a16:creationId xmlns:a16="http://schemas.microsoft.com/office/drawing/2014/main" id="{FDB5D943-5C73-8CFF-8099-485F41596E11}"/>
              </a:ext>
            </a:extLst>
          </p:cNvPr>
          <p:cNvCxnSpPr>
            <a:cxnSpLocks/>
          </p:cNvCxnSpPr>
          <p:nvPr/>
        </p:nvCxnSpPr>
        <p:spPr>
          <a:xfrm>
            <a:off x="9246590" y="2579243"/>
            <a:ext cx="10485" cy="1085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3" name="矩形: 圆角 32">
            <a:extLst>
              <a:ext uri="{FF2B5EF4-FFF2-40B4-BE49-F238E27FC236}">
                <a16:creationId xmlns:a16="http://schemas.microsoft.com/office/drawing/2014/main" id="{5D81750B-EDBC-5EB2-2F5E-39E5DF5AF316}"/>
              </a:ext>
            </a:extLst>
          </p:cNvPr>
          <p:cNvSpPr/>
          <p:nvPr/>
        </p:nvSpPr>
        <p:spPr>
          <a:xfrm>
            <a:off x="2906315" y="1460039"/>
            <a:ext cx="1565974" cy="728931"/>
          </a:xfrm>
          <a:prstGeom prst="roundRect">
            <a:avLst/>
          </a:prstGeom>
          <a:solidFill>
            <a:schemeClr val="accent5">
              <a:lumMod val="40000"/>
              <a:lumOff val="60000"/>
            </a:schemeClr>
          </a:solidFill>
          <a:ln>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tx1"/>
                </a:solidFill>
                <a:latin typeface="微软雅黑" panose="020B0503020204020204" pitchFamily="34" charset="-122"/>
                <a:ea typeface="微软雅黑" panose="020B0503020204020204" pitchFamily="34" charset="-122"/>
              </a:rPr>
              <a:t>流程改进</a:t>
            </a:r>
          </a:p>
        </p:txBody>
      </p:sp>
      <p:cxnSp>
        <p:nvCxnSpPr>
          <p:cNvPr id="92" name="连接符: 肘形 91">
            <a:extLst>
              <a:ext uri="{FF2B5EF4-FFF2-40B4-BE49-F238E27FC236}">
                <a16:creationId xmlns:a16="http://schemas.microsoft.com/office/drawing/2014/main" id="{4B7BC9FF-7F97-E2F8-E28F-BA583CB6A3A3}"/>
              </a:ext>
            </a:extLst>
          </p:cNvPr>
          <p:cNvCxnSpPr>
            <a:stCxn id="17" idx="3"/>
            <a:endCxn id="50" idx="0"/>
          </p:cNvCxnSpPr>
          <p:nvPr/>
        </p:nvCxnSpPr>
        <p:spPr>
          <a:xfrm flipV="1">
            <a:off x="2592891" y="1455800"/>
            <a:ext cx="3033252" cy="492894"/>
          </a:xfrm>
          <a:prstGeom prst="bentConnector4">
            <a:avLst>
              <a:gd name="adj1" fmla="val 8658"/>
              <a:gd name="adj2" fmla="val 129703"/>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矩形 1">
            <a:extLst>
              <a:ext uri="{FF2B5EF4-FFF2-40B4-BE49-F238E27FC236}">
                <a16:creationId xmlns:a16="http://schemas.microsoft.com/office/drawing/2014/main" id="{7EEB2AAC-AD93-CB91-9056-A7F6708749CC}"/>
              </a:ext>
            </a:extLst>
          </p:cNvPr>
          <p:cNvSpPr/>
          <p:nvPr/>
        </p:nvSpPr>
        <p:spPr>
          <a:xfrm>
            <a:off x="8695842" y="1682813"/>
            <a:ext cx="1148836" cy="2309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200" dirty="0">
                <a:solidFill>
                  <a:schemeClr val="tx1"/>
                </a:solidFill>
                <a:latin typeface="微软雅黑" panose="020B0503020204020204" pitchFamily="34" charset="-122"/>
                <a:ea typeface="微软雅黑" panose="020B0503020204020204" pitchFamily="34" charset="-122"/>
              </a:rPr>
              <a:t>干扰因素控制</a:t>
            </a:r>
          </a:p>
        </p:txBody>
      </p:sp>
      <p:cxnSp>
        <p:nvCxnSpPr>
          <p:cNvPr id="28" name="直接箭头连接符 27">
            <a:extLst>
              <a:ext uri="{FF2B5EF4-FFF2-40B4-BE49-F238E27FC236}">
                <a16:creationId xmlns:a16="http://schemas.microsoft.com/office/drawing/2014/main" id="{081920CA-51A8-F85F-D1F3-3697CDE7B026}"/>
              </a:ext>
            </a:extLst>
          </p:cNvPr>
          <p:cNvCxnSpPr>
            <a:cxnSpLocks/>
          </p:cNvCxnSpPr>
          <p:nvPr/>
        </p:nvCxnSpPr>
        <p:spPr>
          <a:xfrm flipH="1">
            <a:off x="9252393" y="1906962"/>
            <a:ext cx="771" cy="1309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1F14A4D4-E868-4449-861B-7E0AAE4A9810}"/>
              </a:ext>
            </a:extLst>
          </p:cNvPr>
          <p:cNvCxnSpPr>
            <a:cxnSpLocks/>
          </p:cNvCxnSpPr>
          <p:nvPr/>
        </p:nvCxnSpPr>
        <p:spPr>
          <a:xfrm>
            <a:off x="9247916" y="2914523"/>
            <a:ext cx="10485" cy="1085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99908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400"/>
                                  </p:stCondLst>
                                  <p:childTnLst>
                                    <p:set>
                                      <p:cBhvr>
                                        <p:cTn id="6" dur="1" fill="hold">
                                          <p:stCondLst>
                                            <p:cond delay="0"/>
                                          </p:stCondLst>
                                        </p:cTn>
                                        <p:tgtEl>
                                          <p:spTgt spid="96"/>
                                        </p:tgtEl>
                                        <p:attrNameLst>
                                          <p:attrName>style.visibility</p:attrName>
                                        </p:attrNameLst>
                                      </p:cBhvr>
                                      <p:to>
                                        <p:strVal val="visible"/>
                                      </p:to>
                                    </p:set>
                                    <p:animEffect transition="in" filter="fade">
                                      <p:cBhvr>
                                        <p:cTn id="7" dur="50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75D77BF2-A1DA-4A75-915A-1C02A03A90BB}"/>
              </a:ext>
            </a:extLst>
          </p:cNvPr>
          <p:cNvSpPr/>
          <p:nvPr/>
        </p:nvSpPr>
        <p:spPr>
          <a:xfrm>
            <a:off x="423950" y="1118688"/>
            <a:ext cx="10723417" cy="2875915"/>
          </a:xfrm>
          <a:prstGeom prst="rect">
            <a:avLst/>
          </a:prstGeom>
        </p:spPr>
        <p:txBody>
          <a:bodyPr wrap="square">
            <a:spAutoFit/>
          </a:bodyPr>
          <a:lstStyle/>
          <a:p>
            <a:pPr>
              <a:lnSpc>
                <a:spcPct val="125000"/>
              </a:lnSpc>
              <a:spcBef>
                <a:spcPts val="600"/>
              </a:spcBef>
            </a:pPr>
            <a:r>
              <a:rPr lang="en-US" altLang="zh-CN" b="1" dirty="0">
                <a:latin typeface="+mj-ea"/>
                <a:ea typeface="+mj-ea"/>
              </a:rPr>
              <a:t>1</a:t>
            </a:r>
            <a:r>
              <a:rPr lang="zh-CN" altLang="en-US" b="1" dirty="0">
                <a:latin typeface="+mj-ea"/>
                <a:ea typeface="+mj-ea"/>
              </a:rPr>
              <a:t>、</a:t>
            </a:r>
            <a:r>
              <a:rPr lang="zh-CN" altLang="zh-CN" b="1" dirty="0">
                <a:latin typeface="+mj-ea"/>
                <a:ea typeface="+mj-ea"/>
              </a:rPr>
              <a:t>问题研究的调研设计——分析性调研</a:t>
            </a:r>
          </a:p>
          <a:p>
            <a:pPr marL="285750" indent="-285750">
              <a:lnSpc>
                <a:spcPct val="125000"/>
              </a:lnSpc>
              <a:spcBef>
                <a:spcPts val="600"/>
              </a:spcBef>
              <a:buFont typeface="Arial" panose="020B0604020202020204" pitchFamily="34" charset="0"/>
              <a:buChar char="•"/>
            </a:pPr>
            <a:r>
              <a:rPr lang="zh-CN" altLang="zh-CN" dirty="0">
                <a:latin typeface="+mj-ea"/>
                <a:ea typeface="+mj-ea"/>
              </a:rPr>
              <a:t>该阶段调研用于分析问题，确认问题症状的原因，从而辅助问题呈现。</a:t>
            </a:r>
            <a:endParaRPr lang="en-US" altLang="zh-CN" dirty="0">
              <a:latin typeface="+mj-ea"/>
              <a:ea typeface="+mj-ea"/>
            </a:endParaRPr>
          </a:p>
          <a:p>
            <a:pPr>
              <a:lnSpc>
                <a:spcPct val="125000"/>
              </a:lnSpc>
              <a:spcBef>
                <a:spcPts val="600"/>
              </a:spcBef>
            </a:pPr>
            <a:r>
              <a:rPr lang="en-US" altLang="zh-CN" b="1" dirty="0">
                <a:latin typeface="+mj-ea"/>
                <a:ea typeface="+mj-ea"/>
              </a:rPr>
              <a:t>2</a:t>
            </a:r>
            <a:r>
              <a:rPr lang="zh-CN" altLang="en-US" b="1" dirty="0">
                <a:latin typeface="+mj-ea"/>
                <a:ea typeface="+mj-ea"/>
              </a:rPr>
              <a:t>、</a:t>
            </a:r>
            <a:r>
              <a:rPr lang="zh-CN" altLang="zh-CN" b="1" dirty="0">
                <a:latin typeface="+mj-ea"/>
                <a:ea typeface="+mj-ea"/>
              </a:rPr>
              <a:t>解决方案设计的调研设计——设计性调研</a:t>
            </a:r>
          </a:p>
          <a:p>
            <a:pPr marL="285750" indent="-285750">
              <a:lnSpc>
                <a:spcPct val="125000"/>
              </a:lnSpc>
              <a:spcBef>
                <a:spcPts val="600"/>
              </a:spcBef>
              <a:buFont typeface="Arial" panose="020B0604020202020204" pitchFamily="34" charset="0"/>
              <a:buChar char="•"/>
            </a:pPr>
            <a:r>
              <a:rPr lang="zh-CN" altLang="zh-CN" dirty="0">
                <a:latin typeface="+mj-ea"/>
                <a:ea typeface="+mj-ea"/>
              </a:rPr>
              <a:t>该阶段调研是用于设计解决方案，主要是在搜索过程中完成，用于辅助解决方案的设计。</a:t>
            </a:r>
            <a:endParaRPr lang="en-US" altLang="zh-CN" dirty="0">
              <a:latin typeface="+mj-ea"/>
              <a:ea typeface="+mj-ea"/>
            </a:endParaRPr>
          </a:p>
          <a:p>
            <a:pPr>
              <a:lnSpc>
                <a:spcPct val="125000"/>
              </a:lnSpc>
              <a:spcBef>
                <a:spcPts val="600"/>
              </a:spcBef>
            </a:pPr>
            <a:r>
              <a:rPr lang="en-US" altLang="zh-CN" b="1" dirty="0">
                <a:latin typeface="+mj-ea"/>
                <a:ea typeface="+mj-ea"/>
              </a:rPr>
              <a:t>3</a:t>
            </a:r>
            <a:r>
              <a:rPr lang="zh-CN" altLang="en-US" b="1" dirty="0">
                <a:latin typeface="+mj-ea"/>
                <a:ea typeface="+mj-ea"/>
              </a:rPr>
              <a:t>、</a:t>
            </a:r>
            <a:r>
              <a:rPr lang="zh-CN" altLang="zh-CN" b="1" dirty="0">
                <a:latin typeface="+mj-ea"/>
                <a:ea typeface="+mj-ea"/>
              </a:rPr>
              <a:t>解决方案评估的调研设计——评估性调研</a:t>
            </a:r>
          </a:p>
          <a:p>
            <a:pPr marL="285750" indent="-285750">
              <a:lnSpc>
                <a:spcPct val="125000"/>
              </a:lnSpc>
              <a:spcBef>
                <a:spcPts val="600"/>
              </a:spcBef>
              <a:buFont typeface="Arial" panose="020B0604020202020204" pitchFamily="34" charset="0"/>
              <a:buChar char="•"/>
            </a:pPr>
            <a:r>
              <a:rPr lang="zh-CN" altLang="zh-CN" dirty="0">
                <a:latin typeface="+mj-ea"/>
                <a:ea typeface="+mj-ea"/>
              </a:rPr>
              <a:t>通过调研来获取数据形成对解决方案的评估，从而辅助解决方案的迭代和修改，亦或是验证解决方案的效用。</a:t>
            </a:r>
          </a:p>
        </p:txBody>
      </p:sp>
      <p:sp>
        <p:nvSpPr>
          <p:cNvPr id="5" name="标题 1">
            <a:extLst>
              <a:ext uri="{FF2B5EF4-FFF2-40B4-BE49-F238E27FC236}">
                <a16:creationId xmlns:a16="http://schemas.microsoft.com/office/drawing/2014/main" id="{FA0AAB25-9FCA-4027-B2F1-AB392E923CEA}"/>
              </a:ext>
            </a:extLst>
          </p:cNvPr>
          <p:cNvSpPr txBox="1">
            <a:spLocks noChangeArrowheads="1"/>
          </p:cNvSpPr>
          <p:nvPr/>
        </p:nvSpPr>
        <p:spPr>
          <a:xfrm>
            <a:off x="1733165" y="470463"/>
            <a:ext cx="6746806" cy="55279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600" b="1" dirty="0"/>
              <a:t>研究方案：不同阶段的研究方案</a:t>
            </a:r>
            <a:endParaRPr lang="zh-CN" altLang="en-US" sz="3300" b="1" dirty="0">
              <a:latin typeface="+mj-ea"/>
            </a:endParaRPr>
          </a:p>
        </p:txBody>
      </p:sp>
    </p:spTree>
    <p:extLst>
      <p:ext uri="{BB962C8B-B14F-4D97-AF65-F5344CB8AC3E}">
        <p14:creationId xmlns:p14="http://schemas.microsoft.com/office/powerpoint/2010/main" val="34293352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1">
            <a:extLst>
              <a:ext uri="{FF2B5EF4-FFF2-40B4-BE49-F238E27FC236}">
                <a16:creationId xmlns:a16="http://schemas.microsoft.com/office/drawing/2014/main" id="{AE16433C-E038-4C93-BCB4-24D86AB63F3C}"/>
              </a:ext>
            </a:extLst>
          </p:cNvPr>
          <p:cNvSpPr txBox="1">
            <a:spLocks noChangeArrowheads="1"/>
          </p:cNvSpPr>
          <p:nvPr/>
        </p:nvSpPr>
        <p:spPr>
          <a:xfrm>
            <a:off x="1733165" y="470463"/>
            <a:ext cx="6746806" cy="55279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研究方案：不同阶段的研究方案</a:t>
            </a:r>
          </a:p>
        </p:txBody>
      </p:sp>
      <p:graphicFrame>
        <p:nvGraphicFramePr>
          <p:cNvPr id="7" name="表格 6">
            <a:extLst>
              <a:ext uri="{FF2B5EF4-FFF2-40B4-BE49-F238E27FC236}">
                <a16:creationId xmlns:a16="http://schemas.microsoft.com/office/drawing/2014/main" id="{29A80BF2-62E8-494D-8A4D-E07956B8FED7}"/>
              </a:ext>
            </a:extLst>
          </p:cNvPr>
          <p:cNvGraphicFramePr>
            <a:graphicFrameLocks noGrp="1"/>
          </p:cNvGraphicFramePr>
          <p:nvPr/>
        </p:nvGraphicFramePr>
        <p:xfrm>
          <a:off x="392478" y="1249383"/>
          <a:ext cx="11012583" cy="3721629"/>
        </p:xfrm>
        <a:graphic>
          <a:graphicData uri="http://schemas.openxmlformats.org/drawingml/2006/table">
            <a:tbl>
              <a:tblPr firstRow="1" firstCol="1" bandRow="1">
                <a:tableStyleId>{5C22544A-7EE6-4342-B048-85BDC9FD1C3A}</a:tableStyleId>
              </a:tblPr>
              <a:tblGrid>
                <a:gridCol w="646613">
                  <a:extLst>
                    <a:ext uri="{9D8B030D-6E8A-4147-A177-3AD203B41FA5}">
                      <a16:colId xmlns:a16="http://schemas.microsoft.com/office/drawing/2014/main" val="3368743492"/>
                    </a:ext>
                  </a:extLst>
                </a:gridCol>
                <a:gridCol w="3522102">
                  <a:extLst>
                    <a:ext uri="{9D8B030D-6E8A-4147-A177-3AD203B41FA5}">
                      <a16:colId xmlns:a16="http://schemas.microsoft.com/office/drawing/2014/main" val="3619794128"/>
                    </a:ext>
                  </a:extLst>
                </a:gridCol>
                <a:gridCol w="3073897">
                  <a:extLst>
                    <a:ext uri="{9D8B030D-6E8A-4147-A177-3AD203B41FA5}">
                      <a16:colId xmlns:a16="http://schemas.microsoft.com/office/drawing/2014/main" val="691786715"/>
                    </a:ext>
                  </a:extLst>
                </a:gridCol>
                <a:gridCol w="3769971">
                  <a:extLst>
                    <a:ext uri="{9D8B030D-6E8A-4147-A177-3AD203B41FA5}">
                      <a16:colId xmlns:a16="http://schemas.microsoft.com/office/drawing/2014/main" val="844048284"/>
                    </a:ext>
                  </a:extLst>
                </a:gridCol>
              </a:tblGrid>
              <a:tr h="398161">
                <a:tc>
                  <a:txBody>
                    <a:bodyPr/>
                    <a:lstStyle/>
                    <a:p>
                      <a:pPr algn="ctr">
                        <a:spcAft>
                          <a:spcPts val="0"/>
                        </a:spcAft>
                      </a:pPr>
                      <a:r>
                        <a:rPr lang="en-US" sz="1800" kern="100">
                          <a:effectLst/>
                        </a:rPr>
                        <a:t> </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marL="0" algn="ctr" defTabSz="914400" rtl="0" eaLnBrk="1" latinLnBrk="0" hangingPunct="1">
                        <a:spcAft>
                          <a:spcPts val="0"/>
                        </a:spcAft>
                      </a:pPr>
                      <a:r>
                        <a:rPr lang="zh-CN" altLang="en-US" sz="2200" b="1" kern="100" dirty="0">
                          <a:solidFill>
                            <a:schemeClr val="lt1"/>
                          </a:solidFill>
                          <a:effectLst/>
                          <a:latin typeface="+mn-lt"/>
                          <a:ea typeface="+mn-ea"/>
                          <a:cs typeface="+mn-cs"/>
                        </a:rPr>
                        <a:t>问题研究</a:t>
                      </a:r>
                    </a:p>
                  </a:txBody>
                  <a:tcPr marL="68580" marR="68580" marT="0" marB="0"/>
                </a:tc>
                <a:tc>
                  <a:txBody>
                    <a:bodyPr/>
                    <a:lstStyle/>
                    <a:p>
                      <a:pPr marL="0" algn="ctr" defTabSz="914400" rtl="0" eaLnBrk="1" latinLnBrk="0" hangingPunct="1">
                        <a:spcAft>
                          <a:spcPts val="0"/>
                        </a:spcAft>
                      </a:pPr>
                      <a:r>
                        <a:rPr lang="zh-CN" altLang="en-US" sz="2200" b="1" kern="100" dirty="0">
                          <a:solidFill>
                            <a:schemeClr val="lt1"/>
                          </a:solidFill>
                          <a:effectLst/>
                          <a:latin typeface="+mn-lt"/>
                          <a:ea typeface="+mn-ea"/>
                          <a:cs typeface="+mn-cs"/>
                        </a:rPr>
                        <a:t>解决方案设计</a:t>
                      </a:r>
                    </a:p>
                  </a:txBody>
                  <a:tcPr marL="68580" marR="68580" marT="0" marB="0"/>
                </a:tc>
                <a:tc>
                  <a:txBody>
                    <a:bodyPr/>
                    <a:lstStyle/>
                    <a:p>
                      <a:pPr marL="0" algn="ctr" defTabSz="914400" rtl="0" eaLnBrk="1" latinLnBrk="0" hangingPunct="1">
                        <a:spcAft>
                          <a:spcPts val="0"/>
                        </a:spcAft>
                      </a:pPr>
                      <a:r>
                        <a:rPr lang="zh-CN" altLang="en-US" sz="2200" b="1" kern="100" dirty="0">
                          <a:solidFill>
                            <a:schemeClr val="lt1"/>
                          </a:solidFill>
                          <a:effectLst/>
                          <a:latin typeface="+mn-lt"/>
                          <a:ea typeface="+mn-ea"/>
                          <a:cs typeface="+mn-cs"/>
                        </a:rPr>
                        <a:t>解决方案评估</a:t>
                      </a:r>
                    </a:p>
                  </a:txBody>
                  <a:tcPr marL="68580" marR="68580" marT="0" marB="0"/>
                </a:tc>
                <a:extLst>
                  <a:ext uri="{0D108BD9-81ED-4DB2-BD59-A6C34878D82A}">
                    <a16:rowId xmlns:a16="http://schemas.microsoft.com/office/drawing/2014/main" val="3451632094"/>
                  </a:ext>
                </a:extLst>
              </a:tr>
              <a:tr h="692330">
                <a:tc>
                  <a:txBody>
                    <a:bodyPr/>
                    <a:lstStyle/>
                    <a:p>
                      <a:pPr algn="just">
                        <a:spcAft>
                          <a:spcPts val="0"/>
                        </a:spcAft>
                      </a:pPr>
                      <a:r>
                        <a:rPr lang="zh-CN" sz="1800" kern="100" spc="40">
                          <a:effectLst/>
                        </a:rPr>
                        <a:t>作用</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spc="40" dirty="0">
                          <a:effectLst/>
                        </a:rPr>
                        <a:t>确认问题症状的原因</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spc="40">
                          <a:effectLst/>
                        </a:rPr>
                        <a:t>解决方案的设计</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spc="40" dirty="0">
                          <a:effectLst/>
                        </a:rPr>
                        <a:t>调研来获取数据，对解决方案进行评估</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60438437"/>
                  </a:ext>
                </a:extLst>
              </a:tr>
              <a:tr h="796322">
                <a:tc>
                  <a:txBody>
                    <a:bodyPr/>
                    <a:lstStyle/>
                    <a:p>
                      <a:pPr algn="just">
                        <a:spcAft>
                          <a:spcPts val="0"/>
                        </a:spcAft>
                      </a:pPr>
                      <a:r>
                        <a:rPr lang="zh-CN" sz="1800" kern="100" spc="40">
                          <a:effectLst/>
                        </a:rPr>
                        <a:t>侧重点</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spc="40">
                          <a:effectLst/>
                        </a:rPr>
                        <a:t>具有分析性，辅助问题的呈现</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spc="40" dirty="0">
                          <a:effectLst/>
                        </a:rPr>
                        <a:t>具有设计性，设计目标引导调研</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spc="40" dirty="0">
                          <a:effectLst/>
                        </a:rPr>
                        <a:t>具有评估性，其目的是为了评估解决方案的效用和设计假设</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886848664"/>
                  </a:ext>
                </a:extLst>
              </a:tr>
              <a:tr h="1038494">
                <a:tc>
                  <a:txBody>
                    <a:bodyPr/>
                    <a:lstStyle/>
                    <a:p>
                      <a:pPr algn="just">
                        <a:spcAft>
                          <a:spcPts val="0"/>
                        </a:spcAft>
                      </a:pPr>
                      <a:r>
                        <a:rPr lang="zh-CN" sz="1800" kern="100" spc="40" dirty="0">
                          <a:effectLst/>
                        </a:rPr>
                        <a:t>方法</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spc="40" dirty="0">
                          <a:effectLst/>
                        </a:rPr>
                        <a:t>原因和需求确认方法：观察、深入访谈、理解各方需求、形成共情等</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spc="40" dirty="0">
                          <a:effectLst/>
                        </a:rPr>
                        <a:t>解决方案设计方法：头脑风暴、共同创造、共同设计</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spc="40" dirty="0">
                          <a:effectLst/>
                        </a:rPr>
                        <a:t>评估方法：原型化、试验、案例等</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3789165"/>
                  </a:ext>
                </a:extLst>
              </a:tr>
              <a:tr h="796322">
                <a:tc>
                  <a:txBody>
                    <a:bodyPr/>
                    <a:lstStyle/>
                    <a:p>
                      <a:pPr algn="just">
                        <a:spcAft>
                          <a:spcPts val="0"/>
                        </a:spcAft>
                      </a:pPr>
                      <a:r>
                        <a:rPr lang="zh-CN" sz="1800" kern="100" spc="40">
                          <a:effectLst/>
                        </a:rPr>
                        <a:t>调研方式</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spc="40">
                          <a:effectLst/>
                        </a:rPr>
                        <a:t>案例、访谈、问卷、焦点小组讨论、文档资料</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spc="40" dirty="0">
                          <a:effectLst/>
                        </a:rPr>
                        <a:t>访谈、焦点小组讨论、文档资料</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spcAft>
                          <a:spcPts val="0"/>
                        </a:spcAft>
                      </a:pPr>
                      <a:r>
                        <a:rPr lang="zh-CN" sz="1800" kern="100" spc="40" dirty="0">
                          <a:effectLst/>
                        </a:rPr>
                        <a:t>案例、问卷调查、焦点小组讨论、访谈</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053711674"/>
                  </a:ext>
                </a:extLst>
              </a:tr>
            </a:tbl>
          </a:graphicData>
        </a:graphic>
      </p:graphicFrame>
    </p:spTree>
    <p:extLst>
      <p:ext uri="{BB962C8B-B14F-4D97-AF65-F5344CB8AC3E}">
        <p14:creationId xmlns:p14="http://schemas.microsoft.com/office/powerpoint/2010/main" val="11465284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a:extLst>
              <a:ext uri="{FF2B5EF4-FFF2-40B4-BE49-F238E27FC236}">
                <a16:creationId xmlns:a16="http://schemas.microsoft.com/office/drawing/2014/main" id="{D16B4868-7C4B-4F14-8C63-002BD366C7CB}"/>
              </a:ext>
            </a:extLst>
          </p:cNvPr>
          <p:cNvGraphicFramePr>
            <a:graphicFrameLocks noGrp="1"/>
          </p:cNvGraphicFramePr>
          <p:nvPr>
            <p:extLst>
              <p:ext uri="{D42A27DB-BD31-4B8C-83A1-F6EECF244321}">
                <p14:modId xmlns:p14="http://schemas.microsoft.com/office/powerpoint/2010/main" val="2100775777"/>
              </p:ext>
            </p:extLst>
          </p:nvPr>
        </p:nvGraphicFramePr>
        <p:xfrm>
          <a:off x="838200" y="1551080"/>
          <a:ext cx="9875520" cy="3231896"/>
        </p:xfrm>
        <a:graphic>
          <a:graphicData uri="http://schemas.openxmlformats.org/drawingml/2006/table">
            <a:tbl>
              <a:tblPr firstRow="1" firstCol="1" bandRow="1">
                <a:tableStyleId>{5C22544A-7EE6-4342-B048-85BDC9FD1C3A}</a:tableStyleId>
              </a:tblPr>
              <a:tblGrid>
                <a:gridCol w="1798320">
                  <a:extLst>
                    <a:ext uri="{9D8B030D-6E8A-4147-A177-3AD203B41FA5}">
                      <a16:colId xmlns:a16="http://schemas.microsoft.com/office/drawing/2014/main" val="3275103629"/>
                    </a:ext>
                  </a:extLst>
                </a:gridCol>
                <a:gridCol w="8077200">
                  <a:extLst>
                    <a:ext uri="{9D8B030D-6E8A-4147-A177-3AD203B41FA5}">
                      <a16:colId xmlns:a16="http://schemas.microsoft.com/office/drawing/2014/main" val="3906932077"/>
                    </a:ext>
                  </a:extLst>
                </a:gridCol>
              </a:tblGrid>
              <a:tr h="223657">
                <a:tc>
                  <a:txBody>
                    <a:bodyPr/>
                    <a:lstStyle/>
                    <a:p>
                      <a:pPr algn="ctr">
                        <a:lnSpc>
                          <a:spcPct val="125000"/>
                        </a:lnSpc>
                        <a:spcAft>
                          <a:spcPts val="0"/>
                        </a:spcAft>
                      </a:pPr>
                      <a:r>
                        <a:rPr lang="zh-CN" sz="1800" kern="100" dirty="0">
                          <a:effectLst/>
                        </a:rPr>
                        <a:t>检查项</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ctr">
                        <a:lnSpc>
                          <a:spcPct val="125000"/>
                        </a:lnSpc>
                        <a:spcAft>
                          <a:spcPts val="0"/>
                        </a:spcAft>
                      </a:pPr>
                      <a:r>
                        <a:rPr lang="zh-CN" sz="1800" kern="100">
                          <a:effectLst/>
                        </a:rPr>
                        <a:t>说明</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16521745"/>
                  </a:ext>
                </a:extLst>
              </a:tr>
              <a:tr h="223657">
                <a:tc rowSpan="3">
                  <a:txBody>
                    <a:bodyPr/>
                    <a:lstStyle/>
                    <a:p>
                      <a:pPr algn="just">
                        <a:lnSpc>
                          <a:spcPct val="125000"/>
                        </a:lnSpc>
                        <a:spcAft>
                          <a:spcPts val="0"/>
                        </a:spcAft>
                      </a:pPr>
                      <a:r>
                        <a:rPr lang="zh-CN" sz="1800" kern="100" dirty="0">
                          <a:effectLst/>
                        </a:rPr>
                        <a:t>完整性</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0"/>
                        </a:spcAft>
                      </a:pPr>
                      <a:r>
                        <a:rPr lang="zh-CN" sz="1800" kern="100">
                          <a:effectLst/>
                        </a:rPr>
                        <a:t>各部分是否包含了完整的研究方案内容</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393739295"/>
                  </a:ext>
                </a:extLst>
              </a:tr>
              <a:tr h="223657">
                <a:tc vMerge="1">
                  <a:txBody>
                    <a:bodyPr/>
                    <a:lstStyle/>
                    <a:p>
                      <a:endParaRPr lang="zh-CN" altLang="en-US"/>
                    </a:p>
                  </a:txBody>
                  <a:tcPr/>
                </a:tc>
                <a:tc>
                  <a:txBody>
                    <a:bodyPr/>
                    <a:lstStyle/>
                    <a:p>
                      <a:pPr algn="just">
                        <a:lnSpc>
                          <a:spcPct val="125000"/>
                        </a:lnSpc>
                        <a:spcAft>
                          <a:spcPts val="0"/>
                        </a:spcAft>
                      </a:pPr>
                      <a:r>
                        <a:rPr lang="zh-CN" sz="1800" kern="100" dirty="0">
                          <a:effectLst/>
                        </a:rPr>
                        <a:t>研究方法是否包括数据收集工具、对象选择、数据分析等内容</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238538424"/>
                  </a:ext>
                </a:extLst>
              </a:tr>
              <a:tr h="223657">
                <a:tc vMerge="1">
                  <a:txBody>
                    <a:bodyPr/>
                    <a:lstStyle/>
                    <a:p>
                      <a:endParaRPr lang="zh-CN" altLang="en-US"/>
                    </a:p>
                  </a:txBody>
                  <a:tcPr/>
                </a:tc>
                <a:tc>
                  <a:txBody>
                    <a:bodyPr/>
                    <a:lstStyle/>
                    <a:p>
                      <a:pPr algn="just">
                        <a:lnSpc>
                          <a:spcPct val="125000"/>
                        </a:lnSpc>
                        <a:spcAft>
                          <a:spcPts val="0"/>
                        </a:spcAft>
                      </a:pPr>
                      <a:r>
                        <a:rPr lang="zh-CN" sz="1800" kern="100" dirty="0">
                          <a:effectLst/>
                        </a:rPr>
                        <a:t>过程步骤是否进行清楚地说明</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724687340"/>
                  </a:ext>
                </a:extLst>
              </a:tr>
              <a:tr h="464723">
                <a:tc rowSpan="2">
                  <a:txBody>
                    <a:bodyPr/>
                    <a:lstStyle/>
                    <a:p>
                      <a:pPr algn="just">
                        <a:lnSpc>
                          <a:spcPct val="125000"/>
                        </a:lnSpc>
                        <a:spcAft>
                          <a:spcPts val="0"/>
                        </a:spcAft>
                      </a:pPr>
                      <a:r>
                        <a:rPr lang="zh-CN" sz="1800" kern="100">
                          <a:effectLst/>
                        </a:rPr>
                        <a:t>逻辑性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0"/>
                        </a:spcAft>
                      </a:pPr>
                      <a:r>
                        <a:rPr lang="zh-CN" sz="1800" kern="100" dirty="0">
                          <a:effectLst/>
                        </a:rPr>
                        <a:t>研究方法选择是否合理，是否能实现研究内容。该调研方式相比较其它的优势，如何补足该调研的劣势</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516715902"/>
                  </a:ext>
                </a:extLst>
              </a:tr>
              <a:tr h="223657">
                <a:tc vMerge="1">
                  <a:txBody>
                    <a:bodyPr/>
                    <a:lstStyle/>
                    <a:p>
                      <a:endParaRPr lang="zh-CN" altLang="en-US"/>
                    </a:p>
                  </a:txBody>
                  <a:tcPr/>
                </a:tc>
                <a:tc>
                  <a:txBody>
                    <a:bodyPr/>
                    <a:lstStyle/>
                    <a:p>
                      <a:pPr algn="just">
                        <a:lnSpc>
                          <a:spcPct val="125000"/>
                        </a:lnSpc>
                        <a:spcAft>
                          <a:spcPts val="0"/>
                        </a:spcAft>
                      </a:pPr>
                      <a:r>
                        <a:rPr lang="zh-CN" sz="1800" kern="100" dirty="0">
                          <a:effectLst/>
                        </a:rPr>
                        <a:t>研究方法中抽样、调研工具设计、数据分析方法是否合理；数据分析的效度、信度保证措施</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429220422"/>
                  </a:ext>
                </a:extLst>
              </a:tr>
              <a:tr h="223657">
                <a:tc rowSpan="2">
                  <a:txBody>
                    <a:bodyPr/>
                    <a:lstStyle/>
                    <a:p>
                      <a:pPr algn="just">
                        <a:lnSpc>
                          <a:spcPct val="125000"/>
                        </a:lnSpc>
                        <a:spcAft>
                          <a:spcPts val="0"/>
                        </a:spcAft>
                      </a:pPr>
                      <a:r>
                        <a:rPr lang="zh-CN" sz="1800" kern="100">
                          <a:effectLst/>
                        </a:rPr>
                        <a:t>透明和规范性</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tc>
                  <a:txBody>
                    <a:bodyPr/>
                    <a:lstStyle/>
                    <a:p>
                      <a:pPr algn="just">
                        <a:lnSpc>
                          <a:spcPct val="125000"/>
                        </a:lnSpc>
                        <a:spcAft>
                          <a:spcPts val="0"/>
                        </a:spcAft>
                      </a:pPr>
                      <a:r>
                        <a:rPr lang="zh-CN" sz="1800" kern="100" dirty="0">
                          <a:effectLst/>
                        </a:rPr>
                        <a:t>各部分合理性的论证是否清晰</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139168438"/>
                  </a:ext>
                </a:extLst>
              </a:tr>
              <a:tr h="223657">
                <a:tc vMerge="1">
                  <a:txBody>
                    <a:bodyPr/>
                    <a:lstStyle/>
                    <a:p>
                      <a:endParaRPr lang="zh-CN" altLang="en-US"/>
                    </a:p>
                  </a:txBody>
                  <a:tcPr/>
                </a:tc>
                <a:tc>
                  <a:txBody>
                    <a:bodyPr/>
                    <a:lstStyle/>
                    <a:p>
                      <a:pPr algn="just">
                        <a:lnSpc>
                          <a:spcPct val="125000"/>
                        </a:lnSpc>
                        <a:spcAft>
                          <a:spcPts val="0"/>
                        </a:spcAft>
                      </a:pPr>
                      <a:r>
                        <a:rPr lang="zh-CN" sz="1800" kern="100" dirty="0">
                          <a:effectLst/>
                        </a:rPr>
                        <a:t>各要素的表达是否准确</a:t>
                      </a:r>
                      <a:endParaRPr lang="zh-CN" sz="1800" kern="100" dirty="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046390718"/>
                  </a:ext>
                </a:extLst>
              </a:tr>
            </a:tbl>
          </a:graphicData>
        </a:graphic>
      </p:graphicFrame>
      <p:sp>
        <p:nvSpPr>
          <p:cNvPr id="3" name="标题 1">
            <a:extLst>
              <a:ext uri="{FF2B5EF4-FFF2-40B4-BE49-F238E27FC236}">
                <a16:creationId xmlns:a16="http://schemas.microsoft.com/office/drawing/2014/main" id="{5A685659-C2B9-4471-84CA-1D9497BDA9E8}"/>
              </a:ext>
            </a:extLst>
          </p:cNvPr>
          <p:cNvSpPr txBox="1">
            <a:spLocks noChangeArrowheads="1"/>
          </p:cNvSpPr>
          <p:nvPr/>
        </p:nvSpPr>
        <p:spPr>
          <a:xfrm>
            <a:off x="1733165" y="470463"/>
            <a:ext cx="6746806" cy="55279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3300" dirty="0">
                <a:latin typeface="+mn-ea"/>
                <a:ea typeface="+mn-ea"/>
              </a:rPr>
              <a:t>研究方案设计的总体要求</a:t>
            </a:r>
          </a:p>
        </p:txBody>
      </p:sp>
    </p:spTree>
    <p:extLst>
      <p:ext uri="{BB962C8B-B14F-4D97-AF65-F5344CB8AC3E}">
        <p14:creationId xmlns:p14="http://schemas.microsoft.com/office/powerpoint/2010/main" val="2352349251"/>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1651</TotalTime>
  <Words>5053</Words>
  <Application>Microsoft Office PowerPoint</Application>
  <PresentationFormat>宽屏</PresentationFormat>
  <Paragraphs>460</Paragraphs>
  <Slides>40</Slides>
  <Notes>0</Notes>
  <HiddenSlides>0</HiddenSlides>
  <MMClips>0</MMClips>
  <ScaleCrop>false</ScaleCrop>
  <HeadingPairs>
    <vt:vector size="8" baseType="variant">
      <vt:variant>
        <vt:lpstr>已用的字体</vt:lpstr>
      </vt:variant>
      <vt:variant>
        <vt:i4>8</vt:i4>
      </vt:variant>
      <vt:variant>
        <vt:lpstr>主题</vt:lpstr>
      </vt:variant>
      <vt:variant>
        <vt:i4>1</vt:i4>
      </vt:variant>
      <vt:variant>
        <vt:lpstr>嵌入 OLE 服务器</vt:lpstr>
      </vt:variant>
      <vt:variant>
        <vt:i4>1</vt:i4>
      </vt:variant>
      <vt:variant>
        <vt:lpstr>幻灯片标题</vt:lpstr>
      </vt:variant>
      <vt:variant>
        <vt:i4>40</vt:i4>
      </vt:variant>
    </vt:vector>
  </HeadingPairs>
  <TitlesOfParts>
    <vt:vector size="50" baseType="lpstr">
      <vt:lpstr>等线</vt:lpstr>
      <vt:lpstr>等线 Light</vt:lpstr>
      <vt:lpstr>宋体</vt:lpstr>
      <vt:lpstr>微软雅黑</vt:lpstr>
      <vt:lpstr>Arial</vt:lpstr>
      <vt:lpstr>Calibri</vt:lpstr>
      <vt:lpstr>Times New Roman</vt:lpstr>
      <vt:lpstr>Wingdings</vt:lpstr>
      <vt:lpstr>Office 主题​​</vt:lpstr>
      <vt:lpstr>Visio</vt:lpstr>
      <vt:lpstr>研究方案设计</vt:lpstr>
      <vt:lpstr>目 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Yan Ning</dc:creator>
  <cp:lastModifiedBy>Yan Ning</cp:lastModifiedBy>
  <cp:revision>438</cp:revision>
  <dcterms:created xsi:type="dcterms:W3CDTF">2023-02-21T01:12:16Z</dcterms:created>
  <dcterms:modified xsi:type="dcterms:W3CDTF">2025-02-28T02:09:05Z</dcterms:modified>
</cp:coreProperties>
</file>