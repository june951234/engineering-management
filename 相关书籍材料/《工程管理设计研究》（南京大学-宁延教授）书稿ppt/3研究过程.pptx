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623" r:id="rId2"/>
    <p:sldId id="633" r:id="rId3"/>
    <p:sldId id="1650" r:id="rId4"/>
    <p:sldId id="1654" r:id="rId5"/>
    <p:sldId id="1592" r:id="rId6"/>
    <p:sldId id="1645" r:id="rId7"/>
    <p:sldId id="1644" r:id="rId8"/>
    <p:sldId id="1652" r:id="rId9"/>
    <p:sldId id="1649" r:id="rId10"/>
    <p:sldId id="1647" r:id="rId11"/>
    <p:sldId id="1643" r:id="rId12"/>
    <p:sldId id="1648" r:id="rId13"/>
    <p:sldId id="165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3" autoAdjust="0"/>
    <p:restoredTop sz="86782" autoAdjust="0"/>
  </p:normalViewPr>
  <p:slideViewPr>
    <p:cSldViewPr snapToGrid="0">
      <p:cViewPr varScale="1">
        <p:scale>
          <a:sx n="66" d="100"/>
          <a:sy n="66" d="100"/>
        </p:scale>
        <p:origin x="2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c5e2e04bbef42de" providerId="LiveId" clId="{6E33C79E-0594-4C63-B5D5-04FB71B09931}"/>
    <pc:docChg chg="custSel modSld">
      <pc:chgData name="" userId="6c5e2e04bbef42de" providerId="LiveId" clId="{6E33C79E-0594-4C63-B5D5-04FB71B09931}" dt="2025-02-28T02:07:06.250" v="3" actId="478"/>
      <pc:docMkLst>
        <pc:docMk/>
      </pc:docMkLst>
      <pc:sldChg chg="addSp delSp modSp">
        <pc:chgData name="" userId="6c5e2e04bbef42de" providerId="LiveId" clId="{6E33C79E-0594-4C63-B5D5-04FB71B09931}" dt="2025-02-28T02:07:06.250" v="3" actId="478"/>
        <pc:sldMkLst>
          <pc:docMk/>
          <pc:sldMk cId="0" sldId="623"/>
        </pc:sldMkLst>
        <pc:spChg chg="del">
          <ac:chgData name="" userId="6c5e2e04bbef42de" providerId="LiveId" clId="{6E33C79E-0594-4C63-B5D5-04FB71B09931}" dt="2025-02-28T02:07:03.569" v="2" actId="478"/>
          <ac:spMkLst>
            <pc:docMk/>
            <pc:sldMk cId="0" sldId="623"/>
            <ac:spMk id="3" creationId="{00000000-0000-0000-0000-000000000000}"/>
          </ac:spMkLst>
        </pc:spChg>
        <pc:spChg chg="add del mod">
          <ac:chgData name="" userId="6c5e2e04bbef42de" providerId="LiveId" clId="{6E33C79E-0594-4C63-B5D5-04FB71B09931}" dt="2025-02-28T02:07:06.250" v="3" actId="478"/>
          <ac:spMkLst>
            <pc:docMk/>
            <pc:sldMk cId="0" sldId="623"/>
            <ac:spMk id="5" creationId="{CA4BE9FF-A60E-48A1-A4EC-54599D12AB32}"/>
          </ac:spMkLst>
        </pc:spChg>
        <pc:spChg chg="del">
          <ac:chgData name="" userId="6c5e2e04bbef42de" providerId="LiveId" clId="{6E33C79E-0594-4C63-B5D5-04FB71B09931}" dt="2025-02-28T02:07:02.504" v="1" actId="478"/>
          <ac:spMkLst>
            <pc:docMk/>
            <pc:sldMk cId="0" sldId="623"/>
            <ac:spMk id="10" creationId="{00000000-0000-0000-0000-000000000000}"/>
          </ac:spMkLst>
        </pc:spChg>
        <pc:picChg chg="del">
          <ac:chgData name="" userId="6c5e2e04bbef42de" providerId="LiveId" clId="{6E33C79E-0594-4C63-B5D5-04FB71B09931}" dt="2025-02-28T02:07:01.641" v="0" actId="478"/>
          <ac:picMkLst>
            <pc:docMk/>
            <pc:sldMk cId="0" sldId="623"/>
            <ac:picMk id="9" creationId="{00000000-0000-0000-0000-000000000000}"/>
          </ac:picMkLst>
        </pc:picChg>
      </pc:sldChg>
    </pc:docChg>
  </pc:docChgLst>
  <pc:docChgLst>
    <pc:chgData name=" " userId="1d39a4fa-c76e-4be0-a329-cd20bca6ab88" providerId="ADAL" clId="{E04E654E-D2F1-9F49-9E2E-FEAECA58B3A6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5255C-18F3-4DDB-BBD7-6518A0AFC2C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55024-9D59-46C3-A0DB-ED02D21441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544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103FD-515C-42D9-AF72-56D52BA7B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52415A-CA51-47E8-831A-9B7FA5656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AC152F-EA3D-466D-8166-2512400A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9156A4-88C8-4661-8F3F-81808A5A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7E36A7-D454-414F-A7CB-CA9B6FB8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668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66BBD-445B-4307-8404-3C9E55B3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D068DA-3777-43E3-B7F5-87BD9F7DD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E6E70B-04E4-4787-93CA-4EEA5718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0E928D-BC94-4F2D-B53A-3180E110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AB707-2271-4F55-B227-95FA6DE2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477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B1197-E440-4AF4-BC8B-C4B18456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FFCB6E-07BC-4035-87FE-67B6D5AE3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9FDF8-176C-413E-9AE9-D3DD2292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1E3DBA-C1DC-4FDE-B897-D715B0ED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5C9068-B7C5-4E02-8706-68F732E2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04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DC88F-1F41-4ABA-B8AE-64E8758B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1C596E-186D-4E06-BE39-819ECA422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D0014C-9470-4359-8795-896B4457E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32816E-1329-4A7C-83F4-D211A908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9A8283-12FB-42A2-B184-382079576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4BA166-08CB-4F4C-A82A-6A54DDBC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91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07D4A-718B-46FB-9811-CD73BEDD1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0F18E6-DD1F-4427-9E70-B443C1EE8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CA2D10-8BE2-484B-BA12-2FDE39385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1C370B-FEA8-40FC-982D-1CFA1C5B5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B43256-EAAE-489B-89B2-EB0EBD298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2B2BF0-982E-4DCC-9CC1-5E73E8EA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6C86D8-C38D-40EF-B7DC-51300925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643910-70FD-48E3-BDE2-540CFB14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64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7AE02-50CD-4FB2-BD02-76F3E8B9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F0A67C-4CAE-49DF-BA3A-4A627B6F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F947EE-D3CC-4D0F-9EC9-EAA0F192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04809-3C78-497A-82B1-CC426F67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16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CF1B75-484E-4AFA-844B-6697E847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878834-27C0-417E-938E-4D9D4146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7DEB67-743D-4873-85E6-5A9F3177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14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ED83F-DB22-46D9-855F-6D5C5789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01C7E-B5A2-476B-B1D7-7AEF7B33D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5D8587-D98D-4514-B904-29CE95B85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2B46D-9F74-4FD2-BC3B-AE943DF10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93ACDA-2B9C-40FD-A239-C52FDD97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528C01-34A5-420B-A604-B4011101D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1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EE2D2-414A-4935-81A3-07ECCFF5E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4B0647-724F-465D-AA4A-1AAA05CF3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28AC01-7925-49DD-826D-336FE3055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78FF29-AFCB-4793-AA26-1F2C8479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C631CD-DD99-4AC5-8574-019DEED9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DD9507-DDDB-4831-9B20-1DE84C9C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04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5657E-53E5-4008-9F21-BAFEA01D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BB134A-EF2A-4612-BC2E-DCF530219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533070-3ECC-4FFD-AFFC-4BB61603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0E874-F2CB-4755-8443-A856D521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F74974-6194-47AD-A321-333EF064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97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43C0A9-02E0-4757-93E3-A84929FDE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27089F-D812-49A7-8AA6-82DB9C87A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BF6DC3-3372-4FFF-A693-8DC10F2F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297473-017C-4371-AE98-6F8ECB38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5BA15-09D9-4092-9CD2-72EE0EF7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490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6774180"/>
            <a:ext cx="12192000" cy="83820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Autofit/>
          </a:bodyPr>
          <a:lstStyle/>
          <a:p>
            <a:pPr algn="ctr"/>
            <a:endParaRPr lang="zh-CN" altLang="en-US" sz="1200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0" t="18187" r="19659" b="49773"/>
          <a:stretch>
            <a:fillRect/>
          </a:stretch>
        </p:blipFill>
        <p:spPr>
          <a:xfrm>
            <a:off x="301112" y="342433"/>
            <a:ext cx="1447301" cy="682507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49968CE-9441-48AB-B411-308267690CDF}"/>
              </a:ext>
            </a:extLst>
          </p:cNvPr>
          <p:cNvCxnSpPr/>
          <p:nvPr userDrawn="1"/>
        </p:nvCxnSpPr>
        <p:spPr>
          <a:xfrm>
            <a:off x="1748413" y="1024934"/>
            <a:ext cx="9462064" cy="0"/>
          </a:xfrm>
          <a:prstGeom prst="line">
            <a:avLst/>
          </a:prstGeom>
          <a:ln w="28575">
            <a:solidFill>
              <a:srgbClr val="6306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13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01E131-1FE4-4CF8-BDA2-A6829A75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3B0D38-8EE9-4BBC-82CA-C5EFDBD04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C13A21-B67E-4186-B0F1-D945AA00F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385BAA-8800-4379-B9C9-AA88427CE5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22A6E2-4DAD-4670-955D-2A6C7F14F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67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-1329"/>
            <a:ext cx="12188826" cy="696320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1590" y="1155103"/>
            <a:ext cx="12192002" cy="5119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69753" y="1621971"/>
            <a:ext cx="9541048" cy="1395549"/>
          </a:xfrm>
        </p:spPr>
        <p:txBody>
          <a:bodyPr>
            <a:noAutofit/>
          </a:bodyPr>
          <a:lstStyle/>
          <a:p>
            <a:r>
              <a:rPr lang="zh-CN" altLang="en-US" b="1" dirty="0"/>
              <a:t>学位论文研究过程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DA459-582E-4875-97CA-FFEC227C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3316"/>
            <a:ext cx="10972800" cy="1143000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133B08-690A-47F3-AB13-7CE43E7A7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495798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学位论文研究过程</a:t>
            </a: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研究特征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过程的要求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514350" lvl="1" indent="-514350">
              <a:buFont typeface="+mj-lt"/>
              <a:buAutoNum type="arabicPeriod" startAt="2"/>
            </a:pPr>
            <a:r>
              <a:rPr lang="zh-CN" altLang="en-US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学位论文研究过程管理的策略</a:t>
            </a:r>
            <a:endParaRPr lang="en-US" altLang="zh-CN" b="1" dirty="0">
              <a:solidFill>
                <a:srgbClr val="7030A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认识与动手的统一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分阶段管理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问题管理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5128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565CE21-2BAF-FC4E-A8FB-DABC46E27690}"/>
              </a:ext>
            </a:extLst>
          </p:cNvPr>
          <p:cNvSpPr txBox="1"/>
          <p:nvPr/>
        </p:nvSpPr>
        <p:spPr>
          <a:xfrm>
            <a:off x="4792735" y="2247900"/>
            <a:ext cx="2287573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管理研究过程的策略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BD0548-99A8-2C4B-B369-9411429FE9D9}"/>
              </a:ext>
            </a:extLst>
          </p:cNvPr>
          <p:cNvSpPr txBox="1"/>
          <p:nvPr/>
        </p:nvSpPr>
        <p:spPr>
          <a:xfrm>
            <a:off x="971550" y="2299216"/>
            <a:ext cx="2434380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学位论文研究的特征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86BE9B-01B6-40C4-853E-78D5AB2197EF}"/>
              </a:ext>
            </a:extLst>
          </p:cNvPr>
          <p:cNvSpPr txBox="1"/>
          <p:nvPr/>
        </p:nvSpPr>
        <p:spPr>
          <a:xfrm>
            <a:off x="8374834" y="2247899"/>
            <a:ext cx="2287573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研究的计划与实施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F7A81B18-2CCC-49D6-9420-E69795D03AAB}"/>
              </a:ext>
            </a:extLst>
          </p:cNvPr>
          <p:cNvSpPr/>
          <p:nvPr/>
        </p:nvSpPr>
        <p:spPr>
          <a:xfrm>
            <a:off x="3558242" y="2515227"/>
            <a:ext cx="989901" cy="419450"/>
          </a:xfrm>
          <a:prstGeom prst="rightArrow">
            <a:avLst/>
          </a:prstGeom>
          <a:noFill/>
          <a:ln w="63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5DD41EEE-98A7-4456-BBCA-C37B07FA42D9}"/>
              </a:ext>
            </a:extLst>
          </p:cNvPr>
          <p:cNvSpPr/>
          <p:nvPr/>
        </p:nvSpPr>
        <p:spPr>
          <a:xfrm>
            <a:off x="7232620" y="2566544"/>
            <a:ext cx="989901" cy="419450"/>
          </a:xfrm>
          <a:prstGeom prst="rightArrow">
            <a:avLst/>
          </a:prstGeom>
          <a:noFill/>
          <a:ln w="63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47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E32AE7-A367-4622-AA8D-F3C3E162DA5A}"/>
              </a:ext>
            </a:extLst>
          </p:cNvPr>
          <p:cNvSpPr/>
          <p:nvPr/>
        </p:nvSpPr>
        <p:spPr>
          <a:xfrm>
            <a:off x="986790" y="3105834"/>
            <a:ext cx="8408670" cy="881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研究生的回答示例：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创新、研究不足、专业、选题比较细、实践性、知识系统化、指导性、逻辑严密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5B67A5-4AE5-41F4-89FF-3F80DAFC73A8}"/>
              </a:ext>
            </a:extLst>
          </p:cNvPr>
          <p:cNvSpPr txBox="1"/>
          <p:nvPr/>
        </p:nvSpPr>
        <p:spPr>
          <a:xfrm>
            <a:off x="986790" y="1773436"/>
            <a:ext cx="494157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学位论文研究具有什么特征？</a:t>
            </a:r>
          </a:p>
        </p:txBody>
      </p:sp>
    </p:spTree>
    <p:extLst>
      <p:ext uri="{BB962C8B-B14F-4D97-AF65-F5344CB8AC3E}">
        <p14:creationId xmlns:p14="http://schemas.microsoft.com/office/powerpoint/2010/main" val="3573141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D02045-7FF2-41CA-A0BE-346D799B377D}"/>
              </a:ext>
            </a:extLst>
          </p:cNvPr>
          <p:cNvSpPr/>
          <p:nvPr/>
        </p:nvSpPr>
        <p:spPr>
          <a:xfrm>
            <a:off x="423949" y="1181149"/>
            <a:ext cx="10746972" cy="4620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不确定性。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学位论文研究过程存在大量过程性决策。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复杂性。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子问题之间存在紧密的逻辑关系。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模糊性。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问题的认识不清，对选择的可能性难以定夺，花很长时间纠结。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独特性。</a:t>
            </a:r>
            <a:endParaRPr lang="en-US" altLang="zh-CN" b="1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研究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创新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点的要求。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情境和边界条件的差异性（如时间约束、研究者的知识理解程度、期望等）。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主体的认知不足及多主体认知的差异性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研究生的认知不足；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导师、学生、评审等的认知差异。</a:t>
            </a:r>
            <a:endParaRPr lang="zh-CN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这些问题交织在一起决定了研究过程区别于其他工作（如行政管理工作）。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3FCC5E6-BEA9-41EF-B3C8-D3853209A9A0}"/>
              </a:ext>
            </a:extLst>
          </p:cNvPr>
          <p:cNvSpPr txBox="1">
            <a:spLocks/>
          </p:cNvSpPr>
          <p:nvPr/>
        </p:nvSpPr>
        <p:spPr>
          <a:xfrm>
            <a:off x="1745673" y="403860"/>
            <a:ext cx="9425247" cy="632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/>
              <a:t>学位论文研究的特征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8ECB8F-BA91-4A15-A236-7FE92BB467DE}"/>
              </a:ext>
            </a:extLst>
          </p:cNvPr>
          <p:cNvGrpSpPr/>
          <p:nvPr/>
        </p:nvGrpSpPr>
        <p:grpSpPr>
          <a:xfrm>
            <a:off x="7814821" y="2416657"/>
            <a:ext cx="3454980" cy="690793"/>
            <a:chOff x="7814821" y="2416657"/>
            <a:chExt cx="3454980" cy="690793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53BCC220-2A1F-412A-8E39-2B8D6068F82F}"/>
                </a:ext>
              </a:extLst>
            </p:cNvPr>
            <p:cNvCxnSpPr/>
            <p:nvPr/>
          </p:nvCxnSpPr>
          <p:spPr>
            <a:xfrm flipV="1">
              <a:off x="7814821" y="2488676"/>
              <a:ext cx="669303" cy="395926"/>
            </a:xfrm>
            <a:prstGeom prst="line">
              <a:avLst/>
            </a:prstGeom>
            <a:ln w="635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25853D3-86A6-45C6-AB02-0D648159D366}"/>
                </a:ext>
              </a:extLst>
            </p:cNvPr>
            <p:cNvCxnSpPr>
              <a:cxnSpLocks/>
            </p:cNvCxnSpPr>
            <p:nvPr/>
          </p:nvCxnSpPr>
          <p:spPr>
            <a:xfrm>
              <a:off x="8484124" y="2488676"/>
              <a:ext cx="744717" cy="0"/>
            </a:xfrm>
            <a:prstGeom prst="line">
              <a:avLst/>
            </a:prstGeom>
            <a:ln w="635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7E4C7416-CAF9-4CB2-8E0D-33AF6577B1E3}"/>
                </a:ext>
              </a:extLst>
            </p:cNvPr>
            <p:cNvCxnSpPr>
              <a:cxnSpLocks/>
            </p:cNvCxnSpPr>
            <p:nvPr/>
          </p:nvCxnSpPr>
          <p:spPr>
            <a:xfrm>
              <a:off x="9228841" y="2488676"/>
              <a:ext cx="669303" cy="546755"/>
            </a:xfrm>
            <a:prstGeom prst="line">
              <a:avLst/>
            </a:prstGeom>
            <a:ln w="635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C0840E2-D457-4FC2-B51D-3D03AD8247BD}"/>
                </a:ext>
              </a:extLst>
            </p:cNvPr>
            <p:cNvCxnSpPr>
              <a:cxnSpLocks/>
            </p:cNvCxnSpPr>
            <p:nvPr/>
          </p:nvCxnSpPr>
          <p:spPr>
            <a:xfrm>
              <a:off x="9898144" y="3044858"/>
              <a:ext cx="1300899" cy="0"/>
            </a:xfrm>
            <a:prstGeom prst="line">
              <a:avLst/>
            </a:prstGeom>
            <a:ln w="635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2E9F134-4D3E-4596-A202-D67913800045}"/>
                </a:ext>
              </a:extLst>
            </p:cNvPr>
            <p:cNvSpPr/>
            <p:nvPr/>
          </p:nvSpPr>
          <p:spPr>
            <a:xfrm>
              <a:off x="8413366" y="2426083"/>
              <a:ext cx="141515" cy="12518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75DC5E12-A60D-4B52-84DF-8BFC99DC687F}"/>
                </a:ext>
              </a:extLst>
            </p:cNvPr>
            <p:cNvSpPr/>
            <p:nvPr/>
          </p:nvSpPr>
          <p:spPr>
            <a:xfrm>
              <a:off x="9153426" y="2416657"/>
              <a:ext cx="141515" cy="12518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B3F33A9-1492-440D-9B41-BDDBC66DC49A}"/>
                </a:ext>
              </a:extLst>
            </p:cNvPr>
            <p:cNvSpPr/>
            <p:nvPr/>
          </p:nvSpPr>
          <p:spPr>
            <a:xfrm>
              <a:off x="9827386" y="2972840"/>
              <a:ext cx="141515" cy="12518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5E1BE88-F9B8-4990-8B18-02733AD66FF6}"/>
                </a:ext>
              </a:extLst>
            </p:cNvPr>
            <p:cNvSpPr/>
            <p:nvPr/>
          </p:nvSpPr>
          <p:spPr>
            <a:xfrm>
              <a:off x="11128286" y="2982266"/>
              <a:ext cx="141515" cy="12518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1613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022FC1-2FF1-4813-85FA-B6B333821559}"/>
              </a:ext>
            </a:extLst>
          </p:cNvPr>
          <p:cNvSpPr/>
          <p:nvPr/>
        </p:nvSpPr>
        <p:spPr>
          <a:xfrm>
            <a:off x="498764" y="1246066"/>
            <a:ext cx="10623666" cy="4620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、迭代现象：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反复修改、反复调整、逐渐清晰</a:t>
            </a: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迭代的原因</a:t>
            </a:r>
            <a:endParaRPr lang="zh-CN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研究者认知有限。认知是一个累积和生成的过程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早期认知存在局限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逐渐对问题有更深的认识。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问题的研究和认识是慢慢呈现的过程。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方案评估的阶段性和解决方案的涌现性。解决方案的搜索存在多步骤过程，每一步解决其中的一个问题，然后再进入下一步。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+mj-ea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solidFill>
                  <a:srgbClr val="000000"/>
                </a:solidFill>
                <a:latin typeface="+mj-ea"/>
                <a:cs typeface="Times New Roman" panose="02020603050405020304" pitchFamily="18" charset="0"/>
              </a:rPr>
              <a:t>、迭代对研究者的要求</a:t>
            </a:r>
            <a:endParaRPr lang="en-US" altLang="zh-CN" kern="100" dirty="0">
              <a:solidFill>
                <a:srgbClr val="000000"/>
              </a:solidFill>
              <a:latin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接受和容忍未知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和失败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。容忍早期信息的不完整、理解有限、容忍试验、容忍失败。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探索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精神和反复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调整的韧性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尝试不同方案、不同途径，进行反复迭代。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熟悉和理解解决问题的工具和方法。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如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资料收集和整理的能力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从一些混乱的信息中整理出规则性、条理性的认识。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BACDC0F-B7E5-4CB4-841B-70B868E0562A}"/>
              </a:ext>
            </a:extLst>
          </p:cNvPr>
          <p:cNvSpPr txBox="1">
            <a:spLocks/>
          </p:cNvSpPr>
          <p:nvPr/>
        </p:nvSpPr>
        <p:spPr>
          <a:xfrm>
            <a:off x="1745673" y="403860"/>
            <a:ext cx="9425247" cy="632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/>
              <a:t>特征举例：迭代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390849-F430-46AF-830A-23B661104399}"/>
              </a:ext>
            </a:extLst>
          </p:cNvPr>
          <p:cNvSpPr txBox="1"/>
          <p:nvPr/>
        </p:nvSpPr>
        <p:spPr>
          <a:xfrm>
            <a:off x="8007189" y="5930920"/>
            <a:ext cx="3361538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挑战：动机和能力</a:t>
            </a:r>
          </a:p>
        </p:txBody>
      </p:sp>
    </p:spTree>
    <p:extLst>
      <p:ext uri="{BB962C8B-B14F-4D97-AF65-F5344CB8AC3E}">
        <p14:creationId xmlns:p14="http://schemas.microsoft.com/office/powerpoint/2010/main" val="719745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53CA378-13E3-4076-B347-CEBB763E5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390714"/>
              </p:ext>
            </p:extLst>
          </p:nvPr>
        </p:nvGraphicFramePr>
        <p:xfrm>
          <a:off x="314907" y="1160060"/>
          <a:ext cx="6204738" cy="47358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9073">
                  <a:extLst>
                    <a:ext uri="{9D8B030D-6E8A-4147-A177-3AD203B41FA5}">
                      <a16:colId xmlns:a16="http://schemas.microsoft.com/office/drawing/2014/main" val="3268198194"/>
                    </a:ext>
                  </a:extLst>
                </a:gridCol>
                <a:gridCol w="2451091">
                  <a:extLst>
                    <a:ext uri="{9D8B030D-6E8A-4147-A177-3AD203B41FA5}">
                      <a16:colId xmlns:a16="http://schemas.microsoft.com/office/drawing/2014/main" val="3648623474"/>
                    </a:ext>
                  </a:extLst>
                </a:gridCol>
                <a:gridCol w="2704574">
                  <a:extLst>
                    <a:ext uri="{9D8B030D-6E8A-4147-A177-3AD203B41FA5}">
                      <a16:colId xmlns:a16="http://schemas.microsoft.com/office/drawing/2014/main" val="1938325400"/>
                    </a:ext>
                  </a:extLst>
                </a:gridCol>
              </a:tblGrid>
              <a:tr h="44074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类型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说明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示例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0613552"/>
                  </a:ext>
                </a:extLst>
              </a:tr>
              <a:tr h="486030">
                <a:tc rowSpan="2"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不确定性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知道的不知道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方法、理论、工具等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1258980"/>
                  </a:ext>
                </a:extLst>
              </a:tr>
              <a:tr h="7869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不知道的不知道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研究</a:t>
                      </a:r>
                      <a:r>
                        <a:rPr lang="zh-CN" altLang="zh-CN" sz="1800" kern="100" dirty="0">
                          <a:effectLst/>
                        </a:rPr>
                        <a:t>内容的</a:t>
                      </a:r>
                      <a:r>
                        <a:rPr lang="zh-CN" sz="1800" kern="100" dirty="0">
                          <a:effectLst/>
                        </a:rPr>
                        <a:t>迭代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9951441"/>
                  </a:ext>
                </a:extLst>
              </a:tr>
              <a:tr h="88174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复杂性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子问题多、交织在一起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问题研究、解决方案等相互关联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683734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模糊性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子问题、以及子问题的解决方案认识存在争议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评价分析中，到底是用</a:t>
                      </a:r>
                      <a:r>
                        <a:rPr lang="en-US" sz="1800" kern="100" dirty="0">
                          <a:effectLst/>
                        </a:rPr>
                        <a:t>AHP</a:t>
                      </a:r>
                      <a:r>
                        <a:rPr lang="zh-CN" sz="1800" kern="100" dirty="0">
                          <a:effectLst/>
                        </a:rPr>
                        <a:t>、模糊综合评价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6850221"/>
                  </a:ext>
                </a:extLst>
              </a:tr>
              <a:tr h="48603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独特性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研究需要创新点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研究中的创新点</a:t>
                      </a:r>
                      <a:r>
                        <a:rPr lang="zh-CN" altLang="en-US" sz="1800" kern="100" dirty="0">
                          <a:effectLst/>
                        </a:rPr>
                        <a:t>和贡献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9294222"/>
                  </a:ext>
                </a:extLst>
              </a:tr>
              <a:tr h="81609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主体认知差异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学生与导师、评审</a:t>
                      </a:r>
                      <a:r>
                        <a:rPr lang="zh-CN" altLang="en-US" sz="1800" kern="100" dirty="0">
                          <a:effectLst/>
                        </a:rPr>
                        <a:t>之间的认知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</a:rPr>
                        <a:t>“我不理解评审给的意见”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9951403"/>
                  </a:ext>
                </a:extLst>
              </a:tr>
            </a:tbl>
          </a:graphicData>
        </a:graphic>
      </p:graphicFrame>
      <p:sp>
        <p:nvSpPr>
          <p:cNvPr id="3" name="标题 1">
            <a:extLst>
              <a:ext uri="{FF2B5EF4-FFF2-40B4-BE49-F238E27FC236}">
                <a16:creationId xmlns:a16="http://schemas.microsoft.com/office/drawing/2014/main" id="{F166F248-BC3E-4A1D-902B-EA9742088E3D}"/>
              </a:ext>
            </a:extLst>
          </p:cNvPr>
          <p:cNvSpPr txBox="1">
            <a:spLocks/>
          </p:cNvSpPr>
          <p:nvPr/>
        </p:nvSpPr>
        <p:spPr>
          <a:xfrm>
            <a:off x="1745673" y="403860"/>
            <a:ext cx="9425247" cy="632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/>
              <a:t>学位论文研究的特征与策略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4D1AF5E-C42D-422B-8818-A50FBFA8A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88649"/>
              </p:ext>
            </p:extLst>
          </p:nvPr>
        </p:nvGraphicFramePr>
        <p:xfrm>
          <a:off x="6765306" y="1160060"/>
          <a:ext cx="5111787" cy="47358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7291">
                  <a:extLst>
                    <a:ext uri="{9D8B030D-6E8A-4147-A177-3AD203B41FA5}">
                      <a16:colId xmlns:a16="http://schemas.microsoft.com/office/drawing/2014/main" val="1210629199"/>
                    </a:ext>
                  </a:extLst>
                </a:gridCol>
                <a:gridCol w="2874496">
                  <a:extLst>
                    <a:ext uri="{9D8B030D-6E8A-4147-A177-3AD203B41FA5}">
                      <a16:colId xmlns:a16="http://schemas.microsoft.com/office/drawing/2014/main" val="4243044041"/>
                    </a:ext>
                  </a:extLst>
                </a:gridCol>
              </a:tblGrid>
              <a:tr h="44074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策略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难点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2635499"/>
                  </a:ext>
                </a:extLst>
              </a:tr>
              <a:tr h="48603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学习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花时间、思考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5013489"/>
                  </a:ext>
                </a:extLst>
              </a:tr>
              <a:tr h="78699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练习、迭代、积累经验、快速调整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不可预期、难以实现规划和计划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5942134"/>
                  </a:ext>
                </a:extLst>
              </a:tr>
              <a:tr h="88174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对问题进行分解，抓重点、抓系统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</a:rPr>
                        <a:t>理</a:t>
                      </a:r>
                      <a:r>
                        <a:rPr lang="zh-CN" sz="1800" kern="100" dirty="0">
                          <a:effectLst/>
                        </a:rPr>
                        <a:t>不清楚，抓不住关键和重点，无从下手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803504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咨询相关专家的建议、多讨论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对模糊的东西进行评价难度大，难以轻易做决策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212991"/>
                  </a:ext>
                </a:extLst>
              </a:tr>
              <a:tr h="48603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学习、迭代、逼近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难以评价、抽象性高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0088309"/>
                  </a:ext>
                </a:extLst>
              </a:tr>
              <a:tr h="81609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交流、讨论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需要花时间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0896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03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565CE21-2BAF-FC4E-A8FB-DABC46E27690}"/>
              </a:ext>
            </a:extLst>
          </p:cNvPr>
          <p:cNvSpPr txBox="1"/>
          <p:nvPr/>
        </p:nvSpPr>
        <p:spPr>
          <a:xfrm>
            <a:off x="4792735" y="2247900"/>
            <a:ext cx="2287573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管理研究过程的策略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BD0548-99A8-2C4B-B369-9411429FE9D9}"/>
              </a:ext>
            </a:extLst>
          </p:cNvPr>
          <p:cNvSpPr txBox="1"/>
          <p:nvPr/>
        </p:nvSpPr>
        <p:spPr>
          <a:xfrm>
            <a:off x="971550" y="2299216"/>
            <a:ext cx="2434380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学位论文研究的特征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86BE9B-01B6-40C4-853E-78D5AB2197EF}"/>
              </a:ext>
            </a:extLst>
          </p:cNvPr>
          <p:cNvSpPr txBox="1"/>
          <p:nvPr/>
        </p:nvSpPr>
        <p:spPr>
          <a:xfrm>
            <a:off x="8374834" y="2247899"/>
            <a:ext cx="2287573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研究的计划与实施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F7A81B18-2CCC-49D6-9420-E69795D03AAB}"/>
              </a:ext>
            </a:extLst>
          </p:cNvPr>
          <p:cNvSpPr/>
          <p:nvPr/>
        </p:nvSpPr>
        <p:spPr>
          <a:xfrm>
            <a:off x="3558242" y="2515227"/>
            <a:ext cx="989901" cy="419450"/>
          </a:xfrm>
          <a:prstGeom prst="rightArrow">
            <a:avLst/>
          </a:prstGeom>
          <a:noFill/>
          <a:ln w="63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5DD41EEE-98A7-4456-BBCA-C37B07FA42D9}"/>
              </a:ext>
            </a:extLst>
          </p:cNvPr>
          <p:cNvSpPr/>
          <p:nvPr/>
        </p:nvSpPr>
        <p:spPr>
          <a:xfrm>
            <a:off x="7232620" y="2566544"/>
            <a:ext cx="989901" cy="419450"/>
          </a:xfrm>
          <a:prstGeom prst="rightArrow">
            <a:avLst/>
          </a:prstGeom>
          <a:noFill/>
          <a:ln w="63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AE6FFD-EC63-494E-B400-DAE579A1BF19}"/>
              </a:ext>
            </a:extLst>
          </p:cNvPr>
          <p:cNvSpPr txBox="1"/>
          <p:nvPr/>
        </p:nvSpPr>
        <p:spPr>
          <a:xfrm>
            <a:off x="1106260" y="4104001"/>
            <a:ext cx="216495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抓主要矛盾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6AD244-2A7E-43D5-B7B9-01E7D7426764}"/>
              </a:ext>
            </a:extLst>
          </p:cNvPr>
          <p:cNvSpPr txBox="1"/>
          <p:nvPr/>
        </p:nvSpPr>
        <p:spPr>
          <a:xfrm>
            <a:off x="4890469" y="4104001"/>
            <a:ext cx="2342151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确定主要方向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C066F4-5169-4B15-BBA2-8C6E51FA4C05}"/>
              </a:ext>
            </a:extLst>
          </p:cNvPr>
          <p:cNvSpPr txBox="1"/>
          <p:nvPr/>
        </p:nvSpPr>
        <p:spPr>
          <a:xfrm>
            <a:off x="8374834" y="4084889"/>
            <a:ext cx="2342151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操作、实施</a:t>
            </a:r>
          </a:p>
        </p:txBody>
      </p:sp>
    </p:spTree>
    <p:extLst>
      <p:ext uri="{BB962C8B-B14F-4D97-AF65-F5344CB8AC3E}">
        <p14:creationId xmlns:p14="http://schemas.microsoft.com/office/powerpoint/2010/main" val="3358056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C15C2-D18C-4818-9F9F-669424637AC8}"/>
              </a:ext>
            </a:extLst>
          </p:cNvPr>
          <p:cNvSpPr txBox="1">
            <a:spLocks/>
          </p:cNvSpPr>
          <p:nvPr/>
        </p:nvSpPr>
        <p:spPr>
          <a:xfrm>
            <a:off x="1745673" y="403860"/>
            <a:ext cx="9425247" cy="632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/>
              <a:t>策略一：认知与动手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A9B646-9D6C-4ECB-85A9-67B88E0129C1}"/>
              </a:ext>
            </a:extLst>
          </p:cNvPr>
          <p:cNvSpPr/>
          <p:nvPr/>
        </p:nvSpPr>
        <p:spPr>
          <a:xfrm>
            <a:off x="391885" y="1036320"/>
            <a:ext cx="10893335" cy="3789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系统认知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从全局角度认知研究的整体结构、关键问题和难点，并熟知解决研究过程问题的思路和步骤。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研究的整体结构。包括研究的整体性、各部分的难易、解决问题的策略、方法、工具。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边界和约束条件的分析。自身的优劣势、时间安排、导师的特征等。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动手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动手是收集资料和写作，形成书面成果，及时呈现阶段性报告，及时参加开题、中期、答辩等。并在各环节做好意见记录和反馈。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认知和动手实施的螺旋上升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干中学，及时总结经验，反省前期研究工作中存在的问题。</a:t>
            </a:r>
            <a:endParaRPr lang="zh-CN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298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30BAE-0EC4-429C-9D65-074840A06D54}"/>
              </a:ext>
            </a:extLst>
          </p:cNvPr>
          <p:cNvSpPr txBox="1">
            <a:spLocks/>
          </p:cNvSpPr>
          <p:nvPr/>
        </p:nvSpPr>
        <p:spPr>
          <a:xfrm>
            <a:off x="1745673" y="403860"/>
            <a:ext cx="9425247" cy="632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/>
              <a:t>策略二：分阶段管理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51DFDEE-CF03-44F1-AF8C-51BEC5ACD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200874"/>
              </p:ext>
            </p:extLst>
          </p:nvPr>
        </p:nvGraphicFramePr>
        <p:xfrm>
          <a:off x="205740" y="1249783"/>
          <a:ext cx="11742420" cy="28380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2684">
                  <a:extLst>
                    <a:ext uri="{9D8B030D-6E8A-4147-A177-3AD203B41FA5}">
                      <a16:colId xmlns:a16="http://schemas.microsoft.com/office/drawing/2014/main" val="888138465"/>
                    </a:ext>
                  </a:extLst>
                </a:gridCol>
                <a:gridCol w="2533637">
                  <a:extLst>
                    <a:ext uri="{9D8B030D-6E8A-4147-A177-3AD203B41FA5}">
                      <a16:colId xmlns:a16="http://schemas.microsoft.com/office/drawing/2014/main" val="372190657"/>
                    </a:ext>
                  </a:extLst>
                </a:gridCol>
                <a:gridCol w="3345410">
                  <a:extLst>
                    <a:ext uri="{9D8B030D-6E8A-4147-A177-3AD203B41FA5}">
                      <a16:colId xmlns:a16="http://schemas.microsoft.com/office/drawing/2014/main" val="4082519695"/>
                    </a:ext>
                  </a:extLst>
                </a:gridCol>
                <a:gridCol w="2955616">
                  <a:extLst>
                    <a:ext uri="{9D8B030D-6E8A-4147-A177-3AD203B41FA5}">
                      <a16:colId xmlns:a16="http://schemas.microsoft.com/office/drawing/2014/main" val="2841209525"/>
                    </a:ext>
                  </a:extLst>
                </a:gridCol>
                <a:gridCol w="2005073">
                  <a:extLst>
                    <a:ext uri="{9D8B030D-6E8A-4147-A177-3AD203B41FA5}">
                      <a16:colId xmlns:a16="http://schemas.microsoft.com/office/drawing/2014/main" val="1565913368"/>
                    </a:ext>
                  </a:extLst>
                </a:gridCol>
              </a:tblGrid>
              <a:tr h="367191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j-ea"/>
                          <a:ea typeface="+mj-ea"/>
                        </a:rPr>
                        <a:t>选题</a:t>
                      </a:r>
                      <a:endParaRPr lang="zh-CN" sz="20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j-ea"/>
                          <a:ea typeface="+mj-ea"/>
                        </a:rPr>
                        <a:t>研究规划</a:t>
                      </a:r>
                      <a:endParaRPr lang="zh-CN" sz="20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j-ea"/>
                          <a:ea typeface="+mj-ea"/>
                        </a:rPr>
                        <a:t>调研实施</a:t>
                      </a:r>
                      <a:endParaRPr lang="zh-CN" sz="20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+mj-ea"/>
                          <a:ea typeface="+mj-ea"/>
                        </a:rPr>
                        <a:t>论文撰写</a:t>
                      </a:r>
                      <a:endParaRPr lang="zh-CN" sz="20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3046806"/>
                  </a:ext>
                </a:extLst>
              </a:tr>
              <a:tr h="848145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主要工作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2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实践问题的理论化</a:t>
                      </a:r>
                    </a:p>
                    <a:p>
                      <a:pPr marL="342900" indent="-342900" algn="just">
                        <a:lnSpc>
                          <a:spcPct val="12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研究问题的提出</a:t>
                      </a:r>
                    </a:p>
                    <a:p>
                      <a:pPr marL="342900" indent="-342900" algn="just">
                        <a:lnSpc>
                          <a:spcPct val="12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预期的理论贡献</a:t>
                      </a:r>
                      <a:endParaRPr lang="en-US" altLang="zh-CN" sz="18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marL="342900" indent="-342900" algn="just">
                        <a:lnSpc>
                          <a:spcPct val="12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可行性分析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2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关键概念、理论和方法</a:t>
                      </a:r>
                    </a:p>
                    <a:p>
                      <a:pPr marL="342900" indent="-342900" algn="just">
                        <a:lnSpc>
                          <a:spcPct val="12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调研方案（包括调研工具）</a:t>
                      </a:r>
                    </a:p>
                    <a:p>
                      <a:pPr marL="342900" indent="-342900" algn="just">
                        <a:lnSpc>
                          <a:spcPct val="12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核心章节安排</a:t>
                      </a:r>
                      <a:endParaRPr lang="en-US" altLang="zh-CN" sz="18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marL="342900" indent="-342900" algn="just">
                        <a:lnSpc>
                          <a:spcPct val="12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可行性分析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2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调研与数据分析（可能存在多轮调研）</a:t>
                      </a:r>
                    </a:p>
                    <a:p>
                      <a:pPr marL="342900" indent="-342900" algn="just">
                        <a:lnSpc>
                          <a:spcPct val="12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获得关键结论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2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全文撰写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1778862"/>
                  </a:ext>
                </a:extLst>
              </a:tr>
              <a:tr h="1123902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交流的载体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口头、草图、</a:t>
                      </a: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PPT</a:t>
                      </a: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等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文献综述文档、开题报告、调研方案文档、章节安排文档等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数据文档、数据分析过程文档、数据结果整理文档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论文全文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615196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F22343B-1722-413C-9D99-440971863167}"/>
              </a:ext>
            </a:extLst>
          </p:cNvPr>
          <p:cNvSpPr/>
          <p:nvPr/>
        </p:nvSpPr>
        <p:spPr>
          <a:xfrm>
            <a:off x="285205" y="4245953"/>
            <a:ext cx="11621589" cy="212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1" dirty="0">
                <a:latin typeface="+mj-ea"/>
                <a:ea typeface="+mj-ea"/>
                <a:cs typeface="Times New Roman" panose="02020603050405020304" pitchFamily="18" charset="0"/>
              </a:rPr>
              <a:t>阶段之间的特征</a:t>
            </a:r>
            <a:r>
              <a:rPr lang="zh-CN" altLang="en-US" b="1" dirty="0"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endParaRPr lang="en-US" altLang="zh-CN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</a:rPr>
              <a:t>由粗到细的迭代。不确定性逐渐减少的过程；计划越来越聚焦和清晰。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</a:rPr>
              <a:t>聚焦于各阶段的关键问题。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</a:rPr>
              <a:t>各阶段内容的迭代一致。</a:t>
            </a:r>
            <a:r>
              <a:rPr lang="zh-CN" altLang="en-US" dirty="0">
                <a:latin typeface="+mj-ea"/>
                <a:ea typeface="+mj-ea"/>
              </a:rPr>
              <a:t>规划</a:t>
            </a:r>
            <a:r>
              <a:rPr lang="zh-CN" altLang="zh-CN" dirty="0">
                <a:latin typeface="+mj-ea"/>
                <a:ea typeface="+mj-ea"/>
              </a:rPr>
              <a:t>、实施、书面报告三个阶段保持较好一致性。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+mj-ea"/>
                <a:ea typeface="+mj-ea"/>
              </a:rPr>
              <a:t>研究者的认知不断深入的过程。</a:t>
            </a:r>
            <a:endParaRPr lang="zh-CN" altLang="en-US" dirty="0">
              <a:latin typeface="+mj-ea"/>
              <a:ea typeface="+mj-ea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A1A218A-BB31-4EC0-92D4-1828543FD41F}"/>
              </a:ext>
            </a:extLst>
          </p:cNvPr>
          <p:cNvGrpSpPr/>
          <p:nvPr/>
        </p:nvGrpSpPr>
        <p:grpSpPr>
          <a:xfrm>
            <a:off x="9712374" y="4452681"/>
            <a:ext cx="1875568" cy="1606535"/>
            <a:chOff x="9712374" y="4452681"/>
            <a:chExt cx="1875568" cy="1606535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B986B65-1550-4036-A225-E505F0694E57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9712374" y="4452681"/>
              <a:ext cx="460352" cy="680664"/>
            </a:xfrm>
            <a:prstGeom prst="line">
              <a:avLst/>
            </a:prstGeom>
            <a:ln w="635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8ACB7EB-093E-4D45-811D-3D88E39CAB2B}"/>
                </a:ext>
              </a:extLst>
            </p:cNvPr>
            <p:cNvCxnSpPr>
              <a:cxnSpLocks/>
              <a:stCxn id="10" idx="5"/>
              <a:endCxn id="11" idx="4"/>
            </p:cNvCxnSpPr>
            <p:nvPr/>
          </p:nvCxnSpPr>
          <p:spPr>
            <a:xfrm>
              <a:off x="10222759" y="5240196"/>
              <a:ext cx="202403" cy="807036"/>
            </a:xfrm>
            <a:prstGeom prst="line">
              <a:avLst/>
            </a:prstGeom>
            <a:ln w="635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29FD79E-BD1D-4479-A4A2-88C0373188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33123" y="4452681"/>
              <a:ext cx="354819" cy="658618"/>
            </a:xfrm>
            <a:prstGeom prst="line">
              <a:avLst/>
            </a:prstGeom>
            <a:ln w="635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3EFF19C-367D-4C12-B1F6-5BE28E7C299D}"/>
                </a:ext>
              </a:extLst>
            </p:cNvPr>
            <p:cNvCxnSpPr>
              <a:cxnSpLocks/>
              <a:endCxn id="13" idx="7"/>
            </p:cNvCxnSpPr>
            <p:nvPr/>
          </p:nvCxnSpPr>
          <p:spPr>
            <a:xfrm flipH="1">
              <a:off x="11039118" y="5140116"/>
              <a:ext cx="197112" cy="812249"/>
            </a:xfrm>
            <a:prstGeom prst="line">
              <a:avLst/>
            </a:prstGeom>
            <a:ln w="635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A5BACC4-75E4-4FCA-8644-218C732CC550}"/>
                </a:ext>
              </a:extLst>
            </p:cNvPr>
            <p:cNvSpPr/>
            <p:nvPr/>
          </p:nvSpPr>
          <p:spPr>
            <a:xfrm>
              <a:off x="10101968" y="5133345"/>
              <a:ext cx="141515" cy="12518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5EBA059B-A8FA-45B8-B71E-EF634E331BCB}"/>
                </a:ext>
              </a:extLst>
            </p:cNvPr>
            <p:cNvSpPr/>
            <p:nvPr/>
          </p:nvSpPr>
          <p:spPr>
            <a:xfrm>
              <a:off x="10354404" y="5922048"/>
              <a:ext cx="141515" cy="12518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B12F87DA-3317-49F5-8259-8E810FD16417}"/>
                </a:ext>
              </a:extLst>
            </p:cNvPr>
            <p:cNvSpPr/>
            <p:nvPr/>
          </p:nvSpPr>
          <p:spPr>
            <a:xfrm>
              <a:off x="11155122" y="5036643"/>
              <a:ext cx="141515" cy="12518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C8723E8-3694-42AF-B733-5181030BFD1F}"/>
                </a:ext>
              </a:extLst>
            </p:cNvPr>
            <p:cNvSpPr/>
            <p:nvPr/>
          </p:nvSpPr>
          <p:spPr>
            <a:xfrm>
              <a:off x="10918327" y="5934032"/>
              <a:ext cx="141515" cy="12518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3794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D9C8CC5-4FBA-4CEA-B43C-9C70B0C84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020204"/>
              </p:ext>
            </p:extLst>
          </p:nvPr>
        </p:nvGraphicFramePr>
        <p:xfrm>
          <a:off x="579121" y="1477152"/>
          <a:ext cx="11125198" cy="37195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3795">
                  <a:extLst>
                    <a:ext uri="{9D8B030D-6E8A-4147-A177-3AD203B41FA5}">
                      <a16:colId xmlns:a16="http://schemas.microsoft.com/office/drawing/2014/main" val="800620572"/>
                    </a:ext>
                  </a:extLst>
                </a:gridCol>
                <a:gridCol w="2026119">
                  <a:extLst>
                    <a:ext uri="{9D8B030D-6E8A-4147-A177-3AD203B41FA5}">
                      <a16:colId xmlns:a16="http://schemas.microsoft.com/office/drawing/2014/main" val="3646232236"/>
                    </a:ext>
                  </a:extLst>
                </a:gridCol>
                <a:gridCol w="2479380">
                  <a:extLst>
                    <a:ext uri="{9D8B030D-6E8A-4147-A177-3AD203B41FA5}">
                      <a16:colId xmlns:a16="http://schemas.microsoft.com/office/drawing/2014/main" val="3796403582"/>
                    </a:ext>
                  </a:extLst>
                </a:gridCol>
                <a:gridCol w="5685904">
                  <a:extLst>
                    <a:ext uri="{9D8B030D-6E8A-4147-A177-3AD203B41FA5}">
                      <a16:colId xmlns:a16="http://schemas.microsoft.com/office/drawing/2014/main" val="3667072311"/>
                    </a:ext>
                  </a:extLst>
                </a:gridCol>
              </a:tblGrid>
              <a:tr h="428378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准备资料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流程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结果情形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extLst>
                  <a:ext uri="{0D108BD9-81ED-4DB2-BD59-A6C34878D82A}">
                    <a16:rowId xmlns:a16="http://schemas.microsoft.com/office/drawing/2014/main" val="2256045462"/>
                  </a:ext>
                </a:extLst>
              </a:tr>
              <a:tr h="66218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开题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开题报告、开题答辩</a:t>
                      </a: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PPT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提交开题报告、答辩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通过与不通过。不通过情形下，需再组织开题答辩。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extLst>
                  <a:ext uri="{0D108BD9-81ED-4DB2-BD59-A6C34878D82A}">
                    <a16:rowId xmlns:a16="http://schemas.microsoft.com/office/drawing/2014/main" val="3043679187"/>
                  </a:ext>
                </a:extLst>
              </a:tr>
              <a:tr h="69919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中期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中期报告、中期答辩</a:t>
                      </a: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PPT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提交中期报告、答辩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通过与不通过。不通过情形下，需再次答辩。通过情形下，在一定时间后，可申请答辩。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extLst>
                  <a:ext uri="{0D108BD9-81ED-4DB2-BD59-A6C34878D82A}">
                    <a16:rowId xmlns:a16="http://schemas.microsoft.com/office/drawing/2014/main" val="2086311863"/>
                  </a:ext>
                </a:extLst>
              </a:tr>
              <a:tr h="98090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盲审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论文全稿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提交论文全稿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通过与不通过。不通过需再次送审（再送审次数在不同学校有明确要求），通过情形下，可能存在不同的档次，如直接答辩或修改后答辩等。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extLst>
                  <a:ext uri="{0D108BD9-81ED-4DB2-BD59-A6C34878D82A}">
                    <a16:rowId xmlns:a16="http://schemas.microsoft.com/office/drawing/2014/main" val="1498091958"/>
                  </a:ext>
                </a:extLst>
              </a:tr>
              <a:tr h="92577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答辩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论文全稿、答辩</a:t>
                      </a: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PPT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申请答辩、答辩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通过与不通过。不通过情形下，需要再次答辩。通过情形下，送学位分委会讨论。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3371" marR="53371" marT="0" marB="0"/>
                </a:tc>
                <a:extLst>
                  <a:ext uri="{0D108BD9-81ED-4DB2-BD59-A6C34878D82A}">
                    <a16:rowId xmlns:a16="http://schemas.microsoft.com/office/drawing/2014/main" val="788803907"/>
                  </a:ext>
                </a:extLst>
              </a:tr>
            </a:tbl>
          </a:graphicData>
        </a:graphic>
      </p:graphicFrame>
      <p:sp>
        <p:nvSpPr>
          <p:cNvPr id="6" name="标题 1">
            <a:extLst>
              <a:ext uri="{FF2B5EF4-FFF2-40B4-BE49-F238E27FC236}">
                <a16:creationId xmlns:a16="http://schemas.microsoft.com/office/drawing/2014/main" id="{755E05A6-8EA4-43C7-ADFE-74540EF2EB3F}"/>
              </a:ext>
            </a:extLst>
          </p:cNvPr>
          <p:cNvSpPr txBox="1">
            <a:spLocks/>
          </p:cNvSpPr>
          <p:nvPr/>
        </p:nvSpPr>
        <p:spPr>
          <a:xfrm>
            <a:off x="1745673" y="403860"/>
            <a:ext cx="9425247" cy="632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/>
              <a:t>策略二：分阶段管理</a:t>
            </a:r>
          </a:p>
        </p:txBody>
      </p:sp>
    </p:spTree>
    <p:extLst>
      <p:ext uri="{BB962C8B-B14F-4D97-AF65-F5344CB8AC3E}">
        <p14:creationId xmlns:p14="http://schemas.microsoft.com/office/powerpoint/2010/main" val="32633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3B8FFB4-BAF2-4BC9-A327-50DBB320D30A}"/>
              </a:ext>
            </a:extLst>
          </p:cNvPr>
          <p:cNvSpPr/>
          <p:nvPr/>
        </p:nvSpPr>
        <p:spPr>
          <a:xfrm>
            <a:off x="381001" y="1112903"/>
            <a:ext cx="11216640" cy="2543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整体认识问题。列出来三部分（问题研究、解决方案设计、解决方案评估）的结构和主要问题。</a:t>
            </a: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分析边界条件。三个部分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内容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总体时间安排、数据的可获得性、方法和工具的掌握程度。</a:t>
            </a: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问题分解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。对三部分内容涉及的问题进行分解，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确定三个部分中最核心的问题。</a:t>
            </a: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分析关键子问题的相互关系，确定解决子问题的策略。</a:t>
            </a: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规划总体的问题解决。例如先解决哪些子问题，如何平衡问题之间的时间分配，如何在不同的子问题之间进行较好的综合和协调。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C35747B-1A78-4BEA-A031-D55EAD7B15DB}"/>
              </a:ext>
            </a:extLst>
          </p:cNvPr>
          <p:cNvSpPr txBox="1">
            <a:spLocks/>
          </p:cNvSpPr>
          <p:nvPr/>
        </p:nvSpPr>
        <p:spPr>
          <a:xfrm>
            <a:off x="1745673" y="403860"/>
            <a:ext cx="9425247" cy="632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/>
              <a:t>策略三：问题管理</a:t>
            </a:r>
          </a:p>
        </p:txBody>
      </p:sp>
    </p:spTree>
    <p:extLst>
      <p:ext uri="{BB962C8B-B14F-4D97-AF65-F5344CB8AC3E}">
        <p14:creationId xmlns:p14="http://schemas.microsoft.com/office/powerpoint/2010/main" val="3534403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565CE21-2BAF-FC4E-A8FB-DABC46E27690}"/>
              </a:ext>
            </a:extLst>
          </p:cNvPr>
          <p:cNvSpPr txBox="1"/>
          <p:nvPr/>
        </p:nvSpPr>
        <p:spPr>
          <a:xfrm>
            <a:off x="4792735" y="2247900"/>
            <a:ext cx="2287573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管理研究过程的策略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BD0548-99A8-2C4B-B369-9411429FE9D9}"/>
              </a:ext>
            </a:extLst>
          </p:cNvPr>
          <p:cNvSpPr txBox="1"/>
          <p:nvPr/>
        </p:nvSpPr>
        <p:spPr>
          <a:xfrm>
            <a:off x="971550" y="2299216"/>
            <a:ext cx="2434380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学位论文研究的特征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86BE9B-01B6-40C4-853E-78D5AB2197EF}"/>
              </a:ext>
            </a:extLst>
          </p:cNvPr>
          <p:cNvSpPr txBox="1"/>
          <p:nvPr/>
        </p:nvSpPr>
        <p:spPr>
          <a:xfrm>
            <a:off x="8374834" y="2247899"/>
            <a:ext cx="2287573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研究的计划与实施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F7A81B18-2CCC-49D6-9420-E69795D03AAB}"/>
              </a:ext>
            </a:extLst>
          </p:cNvPr>
          <p:cNvSpPr/>
          <p:nvPr/>
        </p:nvSpPr>
        <p:spPr>
          <a:xfrm>
            <a:off x="3558242" y="2515227"/>
            <a:ext cx="989901" cy="419450"/>
          </a:xfrm>
          <a:prstGeom prst="rightArrow">
            <a:avLst/>
          </a:prstGeom>
          <a:noFill/>
          <a:ln w="63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5DD41EEE-98A7-4456-BBCA-C37B07FA42D9}"/>
              </a:ext>
            </a:extLst>
          </p:cNvPr>
          <p:cNvSpPr/>
          <p:nvPr/>
        </p:nvSpPr>
        <p:spPr>
          <a:xfrm>
            <a:off x="7232620" y="2566544"/>
            <a:ext cx="989901" cy="419450"/>
          </a:xfrm>
          <a:prstGeom prst="rightArrow">
            <a:avLst/>
          </a:prstGeom>
          <a:noFill/>
          <a:ln w="63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FAC804-2070-4A15-A02A-669E66A777AA}"/>
              </a:ext>
            </a:extLst>
          </p:cNvPr>
          <p:cNvSpPr txBox="1"/>
          <p:nvPr/>
        </p:nvSpPr>
        <p:spPr>
          <a:xfrm>
            <a:off x="971550" y="3283528"/>
            <a:ext cx="2434380" cy="17986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+mj-ea"/>
                <a:cs typeface="Times New Roman" panose="02020603050405020304" pitchFamily="18" charset="0"/>
              </a:rPr>
              <a:t>1</a:t>
            </a:r>
            <a:r>
              <a:rPr lang="zh-CN" altLang="en-US" kern="100" dirty="0">
                <a:latin typeface="+mj-ea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+mj-ea"/>
                <a:cs typeface="Times New Roman" panose="02020603050405020304" pitchFamily="18" charset="0"/>
              </a:rPr>
              <a:t>不确定性</a:t>
            </a:r>
            <a:endParaRPr lang="en-US" altLang="zh-CN" kern="100" dirty="0">
              <a:latin typeface="+mj-ea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+mj-ea"/>
                <a:cs typeface="Times New Roman" panose="02020603050405020304" pitchFamily="18" charset="0"/>
              </a:rPr>
              <a:t>2</a:t>
            </a:r>
            <a:r>
              <a:rPr lang="zh-CN" altLang="en-US" kern="100" dirty="0">
                <a:latin typeface="+mj-ea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+mj-ea"/>
                <a:cs typeface="Times New Roman" panose="02020603050405020304" pitchFamily="18" charset="0"/>
              </a:rPr>
              <a:t>复杂性</a:t>
            </a:r>
            <a:endParaRPr lang="en-US" altLang="zh-CN" kern="100" dirty="0">
              <a:latin typeface="+mj-ea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+mj-ea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latin typeface="+mj-ea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+mj-ea"/>
                <a:cs typeface="Times New Roman" panose="02020603050405020304" pitchFamily="18" charset="0"/>
              </a:rPr>
              <a:t>模糊性</a:t>
            </a:r>
            <a:endParaRPr lang="en-US" altLang="zh-CN" kern="100" dirty="0">
              <a:latin typeface="+mj-ea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+mj-ea"/>
                <a:cs typeface="Times New Roman" panose="02020603050405020304" pitchFamily="18" charset="0"/>
              </a:rPr>
              <a:t>4</a:t>
            </a:r>
            <a:r>
              <a:rPr lang="zh-CN" altLang="en-US" kern="100" dirty="0">
                <a:latin typeface="+mj-ea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+mj-ea"/>
                <a:cs typeface="Times New Roman" panose="02020603050405020304" pitchFamily="18" charset="0"/>
              </a:rPr>
              <a:t>独特性</a:t>
            </a:r>
            <a:endParaRPr lang="en-US" altLang="zh-CN" kern="100" dirty="0">
              <a:latin typeface="+mj-ea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+mj-ea"/>
                <a:cs typeface="Times New Roman" panose="02020603050405020304" pitchFamily="18" charset="0"/>
              </a:rPr>
              <a:t>5</a:t>
            </a:r>
            <a:r>
              <a:rPr lang="zh-CN" altLang="en-US" kern="100" dirty="0">
                <a:latin typeface="+mj-ea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+mj-ea"/>
                <a:cs typeface="Times New Roman" panose="02020603050405020304" pitchFamily="18" charset="0"/>
              </a:rPr>
              <a:t>主体的认知不足</a:t>
            </a:r>
            <a:endParaRPr lang="en-US" altLang="zh-CN" kern="100" dirty="0"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FF3E0E-7315-48F8-9B5A-CA9CA5183E1B}"/>
              </a:ext>
            </a:extLst>
          </p:cNvPr>
          <p:cNvSpPr/>
          <p:nvPr/>
        </p:nvSpPr>
        <p:spPr>
          <a:xfrm>
            <a:off x="4686300" y="3331682"/>
            <a:ext cx="2819400" cy="1106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CN" kern="100" dirty="0">
                <a:latin typeface="+mj-ea"/>
                <a:cs typeface="Times New Roman" panose="02020603050405020304" pitchFamily="18" charset="0"/>
              </a:rPr>
              <a:t>1</a:t>
            </a:r>
            <a:r>
              <a:rPr lang="zh-CN" altLang="en-US" kern="100" dirty="0">
                <a:latin typeface="+mj-ea"/>
                <a:cs typeface="Times New Roman" panose="02020603050405020304" pitchFamily="18" charset="0"/>
              </a:rPr>
              <a:t>、认识与动手的统一</a:t>
            </a:r>
            <a:endParaRPr lang="en-US" altLang="zh-CN" kern="100" dirty="0">
              <a:latin typeface="+mj-ea"/>
              <a:cs typeface="Times New Roman" panose="02020603050405020304" pitchFamily="18" charset="0"/>
            </a:endParaRPr>
          </a:p>
          <a:p>
            <a:pPr marL="0" lvl="1">
              <a:lnSpc>
                <a:spcPct val="125000"/>
              </a:lnSpc>
            </a:pPr>
            <a:r>
              <a:rPr lang="en-US" altLang="zh-CN" kern="100" dirty="0">
                <a:latin typeface="+mj-ea"/>
                <a:cs typeface="Times New Roman" panose="02020603050405020304" pitchFamily="18" charset="0"/>
              </a:rPr>
              <a:t>2</a:t>
            </a:r>
            <a:r>
              <a:rPr lang="zh-CN" altLang="en-US" kern="100" dirty="0">
                <a:latin typeface="+mj-ea"/>
                <a:cs typeface="Times New Roman" panose="02020603050405020304" pitchFamily="18" charset="0"/>
              </a:rPr>
              <a:t>、分阶段管理</a:t>
            </a:r>
            <a:endParaRPr lang="en-US" altLang="zh-CN" kern="100" dirty="0">
              <a:latin typeface="+mj-ea"/>
              <a:cs typeface="Times New Roman" panose="02020603050405020304" pitchFamily="18" charset="0"/>
            </a:endParaRPr>
          </a:p>
          <a:p>
            <a:pPr marL="0" lvl="1">
              <a:lnSpc>
                <a:spcPct val="125000"/>
              </a:lnSpc>
            </a:pPr>
            <a:r>
              <a:rPr lang="en-US" altLang="zh-CN" kern="100" dirty="0">
                <a:latin typeface="+mj-ea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latin typeface="+mj-ea"/>
                <a:cs typeface="Times New Roman" panose="02020603050405020304" pitchFamily="18" charset="0"/>
              </a:rPr>
              <a:t>、问题管理</a:t>
            </a:r>
            <a:endParaRPr lang="en-US" altLang="zh-CN" kern="100" dirty="0"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074530-5D3F-418C-8071-F3FE2252A9CB}"/>
              </a:ext>
            </a:extLst>
          </p:cNvPr>
          <p:cNvSpPr txBox="1"/>
          <p:nvPr/>
        </p:nvSpPr>
        <p:spPr>
          <a:xfrm>
            <a:off x="1106260" y="5301034"/>
            <a:ext cx="216495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抓主要矛盾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940F0A-BA84-4594-859F-84446301F257}"/>
              </a:ext>
            </a:extLst>
          </p:cNvPr>
          <p:cNvSpPr txBox="1"/>
          <p:nvPr/>
        </p:nvSpPr>
        <p:spPr>
          <a:xfrm>
            <a:off x="4890469" y="5301034"/>
            <a:ext cx="2342151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确定主要方向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2158DED-4467-47D5-81A4-5345238D68B5}"/>
              </a:ext>
            </a:extLst>
          </p:cNvPr>
          <p:cNvSpPr txBox="1">
            <a:spLocks/>
          </p:cNvSpPr>
          <p:nvPr/>
        </p:nvSpPr>
        <p:spPr>
          <a:xfrm>
            <a:off x="1745673" y="403860"/>
            <a:ext cx="9425247" cy="632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/>
              <a:t>小结</a:t>
            </a:r>
          </a:p>
        </p:txBody>
      </p:sp>
    </p:spTree>
    <p:extLst>
      <p:ext uri="{BB962C8B-B14F-4D97-AF65-F5344CB8AC3E}">
        <p14:creationId xmlns:p14="http://schemas.microsoft.com/office/powerpoint/2010/main" val="2599053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1244</Words>
  <Application>Microsoft Office PowerPoint</Application>
  <PresentationFormat>宽屏</PresentationFormat>
  <Paragraphs>158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等线 Light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学位论文研究过程</vt:lpstr>
      <vt:lpstr>目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 Ning</dc:creator>
  <cp:lastModifiedBy>Yan Ning</cp:lastModifiedBy>
  <cp:revision>331</cp:revision>
  <dcterms:created xsi:type="dcterms:W3CDTF">2023-02-21T01:12:16Z</dcterms:created>
  <dcterms:modified xsi:type="dcterms:W3CDTF">2025-02-28T02:07:11Z</dcterms:modified>
</cp:coreProperties>
</file>