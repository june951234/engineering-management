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623" r:id="rId2"/>
    <p:sldId id="1636" r:id="rId3"/>
    <p:sldId id="1616" r:id="rId4"/>
    <p:sldId id="1617" r:id="rId5"/>
    <p:sldId id="1637" r:id="rId6"/>
    <p:sldId id="1638" r:id="rId7"/>
    <p:sldId id="1639" r:id="rId8"/>
    <p:sldId id="1640" r:id="rId9"/>
    <p:sldId id="1618" r:id="rId10"/>
    <p:sldId id="1641" r:id="rId11"/>
    <p:sldId id="657" r:id="rId12"/>
    <p:sldId id="1648" r:id="rId13"/>
    <p:sldId id="1650" r:id="rId14"/>
    <p:sldId id="1649" r:id="rId15"/>
    <p:sldId id="1651" r:id="rId16"/>
    <p:sldId id="1652" r:id="rId17"/>
    <p:sldId id="1654" r:id="rId18"/>
    <p:sldId id="1653" r:id="rId19"/>
    <p:sldId id="1655" r:id="rId20"/>
    <p:sldId id="1657" r:id="rId21"/>
    <p:sldId id="1656" r:id="rId22"/>
    <p:sldId id="631" r:id="rId23"/>
    <p:sldId id="1642" r:id="rId24"/>
    <p:sldId id="663" r:id="rId25"/>
    <p:sldId id="664" r:id="rId26"/>
    <p:sldId id="1619" r:id="rId27"/>
    <p:sldId id="660" r:id="rId28"/>
    <p:sldId id="642" r:id="rId29"/>
    <p:sldId id="1646" r:id="rId30"/>
    <p:sldId id="628" r:id="rId31"/>
    <p:sldId id="1645" r:id="rId32"/>
    <p:sldId id="630"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60" autoAdjust="0"/>
    <p:restoredTop sz="94558" autoAdjust="0"/>
  </p:normalViewPr>
  <p:slideViewPr>
    <p:cSldViewPr snapToGrid="0">
      <p:cViewPr varScale="1">
        <p:scale>
          <a:sx n="72" d="100"/>
          <a:sy n="72" d="100"/>
        </p:scale>
        <p:origin x="2235"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c5e2e04bbef42de" providerId="LiveId" clId="{4A960238-E0DE-4E47-92A3-3B7DD3CE72EA}"/>
    <pc:docChg chg="undo custSel modSld">
      <pc:chgData name="" userId="6c5e2e04bbef42de" providerId="LiveId" clId="{4A960238-E0DE-4E47-92A3-3B7DD3CE72EA}" dt="2025-02-28T02:01:27.218" v="4" actId="478"/>
      <pc:docMkLst>
        <pc:docMk/>
      </pc:docMkLst>
      <pc:sldChg chg="addSp delSp modSp">
        <pc:chgData name="" userId="6c5e2e04bbef42de" providerId="LiveId" clId="{4A960238-E0DE-4E47-92A3-3B7DD3CE72EA}" dt="2025-02-28T02:01:27.218" v="4" actId="478"/>
        <pc:sldMkLst>
          <pc:docMk/>
          <pc:sldMk cId="0" sldId="623"/>
        </pc:sldMkLst>
        <pc:spChg chg="del">
          <ac:chgData name="" userId="6c5e2e04bbef42de" providerId="LiveId" clId="{4A960238-E0DE-4E47-92A3-3B7DD3CE72EA}" dt="2025-02-28T02:01:27.218" v="4" actId="478"/>
          <ac:spMkLst>
            <pc:docMk/>
            <pc:sldMk cId="0" sldId="623"/>
            <ac:spMk id="3" creationId="{00000000-0000-0000-0000-000000000000}"/>
          </ac:spMkLst>
        </pc:spChg>
        <pc:spChg chg="add mod">
          <ac:chgData name="" userId="6c5e2e04bbef42de" providerId="LiveId" clId="{4A960238-E0DE-4E47-92A3-3B7DD3CE72EA}" dt="2025-02-28T02:01:27.218" v="4" actId="478"/>
          <ac:spMkLst>
            <pc:docMk/>
            <pc:sldMk cId="0" sldId="623"/>
            <ac:spMk id="5" creationId="{4EEFC7DA-312D-41BC-9617-851FC75A5479}"/>
          </ac:spMkLst>
        </pc:spChg>
        <pc:spChg chg="add del">
          <ac:chgData name="" userId="6c5e2e04bbef42de" providerId="LiveId" clId="{4A960238-E0DE-4E47-92A3-3B7DD3CE72EA}" dt="2025-02-28T02:01:25.397" v="3" actId="478"/>
          <ac:spMkLst>
            <pc:docMk/>
            <pc:sldMk cId="0" sldId="623"/>
            <ac:spMk id="7" creationId="{00000000-0000-0000-0000-000000000000}"/>
          </ac:spMkLst>
        </pc:spChg>
        <pc:spChg chg="del">
          <ac:chgData name="" userId="6c5e2e04bbef42de" providerId="LiveId" clId="{4A960238-E0DE-4E47-92A3-3B7DD3CE72EA}" dt="2025-02-28T02:01:23.015" v="1" actId="478"/>
          <ac:spMkLst>
            <pc:docMk/>
            <pc:sldMk cId="0" sldId="623"/>
            <ac:spMk id="10" creationId="{00000000-0000-0000-0000-000000000000}"/>
          </ac:spMkLst>
        </pc:spChg>
        <pc:picChg chg="del">
          <ac:chgData name="" userId="6c5e2e04bbef42de" providerId="LiveId" clId="{4A960238-E0DE-4E47-92A3-3B7DD3CE72EA}" dt="2025-02-28T02:01:22.011" v="0" actId="478"/>
          <ac:picMkLst>
            <pc:docMk/>
            <pc:sldMk cId="0" sldId="623"/>
            <ac:picMk id="9" creationId="{00000000-0000-0000-0000-000000000000}"/>
          </ac:picMkLst>
        </pc:picChg>
      </pc:sldChg>
    </pc:docChg>
  </pc:docChgLst>
  <pc:docChgLst>
    <pc:chgData userId="6c5e2e04bbef42de" providerId="LiveId" clId="{E6FC44B0-169B-4C10-85AF-4E046FCE89D9}"/>
    <pc:docChg chg="custSel modSld">
      <pc:chgData name="" userId="6c5e2e04bbef42de" providerId="LiveId" clId="{E6FC44B0-169B-4C10-85AF-4E046FCE89D9}" dt="2025-02-28T02:09:53.077" v="0" actId="478"/>
      <pc:docMkLst>
        <pc:docMk/>
      </pc:docMkLst>
      <pc:sldChg chg="delSp">
        <pc:chgData name="" userId="6c5e2e04bbef42de" providerId="LiveId" clId="{E6FC44B0-169B-4C10-85AF-4E046FCE89D9}" dt="2025-02-28T02:09:53.077" v="0" actId="478"/>
        <pc:sldMkLst>
          <pc:docMk/>
          <pc:sldMk cId="0" sldId="623"/>
        </pc:sldMkLst>
        <pc:spChg chg="del">
          <ac:chgData name="" userId="6c5e2e04bbef42de" providerId="LiveId" clId="{E6FC44B0-169B-4C10-85AF-4E046FCE89D9}" dt="2025-02-28T02:09:53.077" v="0" actId="478"/>
          <ac:spMkLst>
            <pc:docMk/>
            <pc:sldMk cId="0" sldId="623"/>
            <ac:spMk id="5" creationId="{4EEFC7DA-312D-41BC-9617-851FC75A5479}"/>
          </ac:spMkLst>
        </pc:spChg>
      </pc:sldChg>
    </pc:docChg>
  </pc:docChgLst>
  <pc:docChgLst>
    <pc:chgData name=" " userId="1d39a4fa-c76e-4be0-a329-cd20bca6ab88" providerId="ADAL" clId="{941EB134-2513-DB48-BE46-3A21DA77AB2A}"/>
    <pc:docChg chg="modSld">
      <pc:chgData name=" " userId="1d39a4fa-c76e-4be0-a329-cd20bca6ab88" providerId="ADAL" clId="{941EB134-2513-DB48-BE46-3A21DA77AB2A}" dt="2025-02-19T15:00:10.410" v="27" actId="20577"/>
      <pc:docMkLst>
        <pc:docMk/>
      </pc:docMkLst>
      <pc:sldChg chg="addSp modSp">
        <pc:chgData name=" " userId="1d39a4fa-c76e-4be0-a329-cd20bca6ab88" providerId="ADAL" clId="{941EB134-2513-DB48-BE46-3A21DA77AB2A}" dt="2025-02-17T14:09:04.217" v="10"/>
        <pc:sldMkLst>
          <pc:docMk/>
          <pc:sldMk cId="19949111" sldId="628"/>
        </pc:sldMkLst>
        <pc:spChg chg="add mod">
          <ac:chgData name=" " userId="1d39a4fa-c76e-4be0-a329-cd20bca6ab88" providerId="ADAL" clId="{941EB134-2513-DB48-BE46-3A21DA77AB2A}" dt="2025-02-17T14:09:04.217" v="10"/>
          <ac:spMkLst>
            <pc:docMk/>
            <pc:sldMk cId="19949111" sldId="628"/>
            <ac:spMk id="4" creationId="{93B476A6-816A-9147-95DE-47FB1F0747DC}"/>
          </ac:spMkLst>
        </pc:spChg>
      </pc:sldChg>
      <pc:sldChg chg="addSp modSp">
        <pc:chgData name=" " userId="1d39a4fa-c76e-4be0-a329-cd20bca6ab88" providerId="ADAL" clId="{941EB134-2513-DB48-BE46-3A21DA77AB2A}" dt="2025-02-17T14:09:15.016" v="12"/>
        <pc:sldMkLst>
          <pc:docMk/>
          <pc:sldMk cId="2023458010" sldId="630"/>
        </pc:sldMkLst>
        <pc:spChg chg="add mod">
          <ac:chgData name=" " userId="1d39a4fa-c76e-4be0-a329-cd20bca6ab88" providerId="ADAL" clId="{941EB134-2513-DB48-BE46-3A21DA77AB2A}" dt="2025-02-17T14:09:15.016" v="12"/>
          <ac:spMkLst>
            <pc:docMk/>
            <pc:sldMk cId="2023458010" sldId="630"/>
            <ac:spMk id="5" creationId="{E85EB2C7-C106-424D-A9CE-049C5499A8EE}"/>
          </ac:spMkLst>
        </pc:spChg>
      </pc:sldChg>
      <pc:sldChg chg="modSp mod">
        <pc:chgData name=" " userId="1d39a4fa-c76e-4be0-a329-cd20bca6ab88" providerId="ADAL" clId="{941EB134-2513-DB48-BE46-3A21DA77AB2A}" dt="2025-02-19T14:59:52.035" v="26" actId="20577"/>
        <pc:sldMkLst>
          <pc:docMk/>
          <pc:sldMk cId="3163261001" sldId="1637"/>
        </pc:sldMkLst>
        <pc:spChg chg="mod">
          <ac:chgData name=" " userId="1d39a4fa-c76e-4be0-a329-cd20bca6ab88" providerId="ADAL" clId="{941EB134-2513-DB48-BE46-3A21DA77AB2A}" dt="2025-02-19T14:59:52.035" v="26" actId="20577"/>
          <ac:spMkLst>
            <pc:docMk/>
            <pc:sldMk cId="3163261001" sldId="1637"/>
            <ac:spMk id="4" creationId="{9D1DB88B-13A3-4393-9EFE-EBEF94086187}"/>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255C-18F3-4DDB-BBD7-6518A0AFC2C0}"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55024-9D59-46C3-A0DB-ED02D2144145}" type="slidenum">
              <a:rPr lang="zh-CN" altLang="en-US" smtClean="0"/>
              <a:t>‹#›</a:t>
            </a:fld>
            <a:endParaRPr lang="zh-CN" altLang="en-US"/>
          </a:p>
        </p:txBody>
      </p:sp>
    </p:spTree>
    <p:extLst>
      <p:ext uri="{BB962C8B-B14F-4D97-AF65-F5344CB8AC3E}">
        <p14:creationId xmlns:p14="http://schemas.microsoft.com/office/powerpoint/2010/main" val="35365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3</a:t>
            </a:fld>
            <a:endParaRPr lang="zh-CN" altLang="en-US"/>
          </a:p>
        </p:txBody>
      </p:sp>
    </p:spTree>
    <p:extLst>
      <p:ext uri="{BB962C8B-B14F-4D97-AF65-F5344CB8AC3E}">
        <p14:creationId xmlns:p14="http://schemas.microsoft.com/office/powerpoint/2010/main" val="3968169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4</a:t>
            </a:fld>
            <a:endParaRPr lang="zh-CN" altLang="en-US"/>
          </a:p>
        </p:txBody>
      </p:sp>
    </p:spTree>
    <p:extLst>
      <p:ext uri="{BB962C8B-B14F-4D97-AF65-F5344CB8AC3E}">
        <p14:creationId xmlns:p14="http://schemas.microsoft.com/office/powerpoint/2010/main" val="2359839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5</a:t>
            </a:fld>
            <a:endParaRPr lang="zh-CN" altLang="en-US"/>
          </a:p>
        </p:txBody>
      </p:sp>
    </p:spTree>
    <p:extLst>
      <p:ext uri="{BB962C8B-B14F-4D97-AF65-F5344CB8AC3E}">
        <p14:creationId xmlns:p14="http://schemas.microsoft.com/office/powerpoint/2010/main" val="2691947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6</a:t>
            </a:fld>
            <a:endParaRPr lang="zh-CN" altLang="en-US"/>
          </a:p>
        </p:txBody>
      </p:sp>
    </p:spTree>
    <p:extLst>
      <p:ext uri="{BB962C8B-B14F-4D97-AF65-F5344CB8AC3E}">
        <p14:creationId xmlns:p14="http://schemas.microsoft.com/office/powerpoint/2010/main" val="2917009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7</a:t>
            </a:fld>
            <a:endParaRPr lang="zh-CN" altLang="en-US"/>
          </a:p>
        </p:txBody>
      </p:sp>
    </p:spTree>
    <p:extLst>
      <p:ext uri="{BB962C8B-B14F-4D97-AF65-F5344CB8AC3E}">
        <p14:creationId xmlns:p14="http://schemas.microsoft.com/office/powerpoint/2010/main" val="2533095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22</a:t>
            </a:fld>
            <a:endParaRPr lang="zh-CN" altLang="en-US"/>
          </a:p>
        </p:txBody>
      </p:sp>
    </p:spTree>
    <p:extLst>
      <p:ext uri="{BB962C8B-B14F-4D97-AF65-F5344CB8AC3E}">
        <p14:creationId xmlns:p14="http://schemas.microsoft.com/office/powerpoint/2010/main" val="1244616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pPr/>
              <a:t>27</a:t>
            </a:fld>
            <a:endParaRPr lang="zh-CN" altLang="en-US"/>
          </a:p>
        </p:txBody>
      </p:sp>
    </p:spTree>
    <p:extLst>
      <p:ext uri="{BB962C8B-B14F-4D97-AF65-F5344CB8AC3E}">
        <p14:creationId xmlns:p14="http://schemas.microsoft.com/office/powerpoint/2010/main" val="267568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anose="020B0600000101010101" pitchFamily="34" charset="-127"/>
                <a:ea typeface="Gulim" panose="020B0600000101010101" pitchFamily="34" charset="-127"/>
              </a:defRPr>
            </a:lvl1pPr>
            <a:lvl2pPr marL="742950" indent="-285750">
              <a:defRPr kumimoji="1" sz="2400">
                <a:solidFill>
                  <a:schemeClr val="tx1"/>
                </a:solidFill>
                <a:latin typeface="Gulim" panose="020B0600000101010101" pitchFamily="34" charset="-127"/>
                <a:ea typeface="Gulim" panose="020B0600000101010101" pitchFamily="34" charset="-127"/>
              </a:defRPr>
            </a:lvl2pPr>
            <a:lvl3pPr marL="1143000" indent="-228600">
              <a:defRPr kumimoji="1" sz="2400">
                <a:solidFill>
                  <a:schemeClr val="tx1"/>
                </a:solidFill>
                <a:latin typeface="Gulim" panose="020B0600000101010101" pitchFamily="34" charset="-127"/>
                <a:ea typeface="Gulim" panose="020B0600000101010101" pitchFamily="34" charset="-127"/>
              </a:defRPr>
            </a:lvl3pPr>
            <a:lvl4pPr marL="1600200" indent="-228600">
              <a:defRPr kumimoji="1" sz="2400">
                <a:solidFill>
                  <a:schemeClr val="tx1"/>
                </a:solidFill>
                <a:latin typeface="Gulim" panose="020B0600000101010101" pitchFamily="34" charset="-127"/>
                <a:ea typeface="Gulim" panose="020B0600000101010101" pitchFamily="34" charset="-127"/>
              </a:defRPr>
            </a:lvl4pPr>
            <a:lvl5pPr marL="2057400" indent="-228600">
              <a:defRPr kumimoji="1" sz="2400">
                <a:solidFill>
                  <a:schemeClr val="tx1"/>
                </a:solidFill>
                <a:latin typeface="Gulim" panose="020B0600000101010101" pitchFamily="34" charset="-127"/>
                <a:ea typeface="Gulim" panose="020B0600000101010101" pitchFamily="34" charset="-127"/>
              </a:defRPr>
            </a:lvl5pPr>
            <a:lvl6pPr marL="25146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6pPr>
            <a:lvl7pPr marL="29718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7pPr>
            <a:lvl8pPr marL="34290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8pPr>
            <a:lvl9pPr marL="38862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9pPr>
          </a:lstStyle>
          <a:p>
            <a:fld id="{7374D7B4-4AED-487C-B944-A898E14B1181}" type="slidenum">
              <a:rPr lang="zh-CN" altLang="en-US" sz="1200" smtClean="0"/>
              <a:t>30</a:t>
            </a:fld>
            <a:endParaRPr lang="zh-CN" altLang="en-US" sz="1200"/>
          </a:p>
        </p:txBody>
      </p:sp>
    </p:spTree>
    <p:extLst>
      <p:ext uri="{BB962C8B-B14F-4D97-AF65-F5344CB8AC3E}">
        <p14:creationId xmlns:p14="http://schemas.microsoft.com/office/powerpoint/2010/main" val="2152526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Gulim" panose="020B0600000101010101" pitchFamily="34" charset="-127"/>
                <a:ea typeface="Gulim" panose="020B0600000101010101" pitchFamily="34" charset="-127"/>
              </a:defRPr>
            </a:lvl1pPr>
            <a:lvl2pPr marL="742950" indent="-285750">
              <a:defRPr kumimoji="1" sz="2400">
                <a:solidFill>
                  <a:schemeClr val="tx1"/>
                </a:solidFill>
                <a:latin typeface="Gulim" panose="020B0600000101010101" pitchFamily="34" charset="-127"/>
                <a:ea typeface="Gulim" panose="020B0600000101010101" pitchFamily="34" charset="-127"/>
              </a:defRPr>
            </a:lvl2pPr>
            <a:lvl3pPr marL="1143000" indent="-228600">
              <a:defRPr kumimoji="1" sz="2400">
                <a:solidFill>
                  <a:schemeClr val="tx1"/>
                </a:solidFill>
                <a:latin typeface="Gulim" panose="020B0600000101010101" pitchFamily="34" charset="-127"/>
                <a:ea typeface="Gulim" panose="020B0600000101010101" pitchFamily="34" charset="-127"/>
              </a:defRPr>
            </a:lvl3pPr>
            <a:lvl4pPr marL="1600200" indent="-228600">
              <a:defRPr kumimoji="1" sz="2400">
                <a:solidFill>
                  <a:schemeClr val="tx1"/>
                </a:solidFill>
                <a:latin typeface="Gulim" panose="020B0600000101010101" pitchFamily="34" charset="-127"/>
                <a:ea typeface="Gulim" panose="020B0600000101010101" pitchFamily="34" charset="-127"/>
              </a:defRPr>
            </a:lvl4pPr>
            <a:lvl5pPr marL="2057400" indent="-228600">
              <a:defRPr kumimoji="1" sz="2400">
                <a:solidFill>
                  <a:schemeClr val="tx1"/>
                </a:solidFill>
                <a:latin typeface="Gulim" panose="020B0600000101010101" pitchFamily="34" charset="-127"/>
                <a:ea typeface="Gulim" panose="020B0600000101010101" pitchFamily="34" charset="-127"/>
              </a:defRPr>
            </a:lvl5pPr>
            <a:lvl6pPr marL="25146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6pPr>
            <a:lvl7pPr marL="29718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7pPr>
            <a:lvl8pPr marL="34290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8pPr>
            <a:lvl9pPr marL="3886200" indent="-228600" eaLnBrk="0" fontAlgn="base" hangingPunct="0">
              <a:spcBef>
                <a:spcPct val="0"/>
              </a:spcBef>
              <a:spcAft>
                <a:spcPct val="0"/>
              </a:spcAft>
              <a:defRPr kumimoji="1" sz="2400">
                <a:solidFill>
                  <a:schemeClr val="tx1"/>
                </a:solidFill>
                <a:latin typeface="Gulim" panose="020B0600000101010101" pitchFamily="34" charset="-127"/>
                <a:ea typeface="Gulim" panose="020B0600000101010101" pitchFamily="34" charset="-127"/>
              </a:defRPr>
            </a:lvl9pPr>
          </a:lstStyle>
          <a:p>
            <a:fld id="{7374D7B4-4AED-487C-B944-A898E14B1181}" type="slidenum">
              <a:rPr lang="zh-CN" altLang="en-US" sz="1200" smtClean="0"/>
              <a:t>31</a:t>
            </a:fld>
            <a:endParaRPr lang="zh-CN" altLang="en-US" sz="1200"/>
          </a:p>
        </p:txBody>
      </p:sp>
    </p:spTree>
    <p:extLst>
      <p:ext uri="{BB962C8B-B14F-4D97-AF65-F5344CB8AC3E}">
        <p14:creationId xmlns:p14="http://schemas.microsoft.com/office/powerpoint/2010/main" val="4034976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5E54D9-9C73-4B20-A770-06A213075666}" type="slidenum">
              <a:rPr lang="zh-CN" altLang="en-US" smtClean="0"/>
              <a:t>32</a:t>
            </a:fld>
            <a:endParaRPr lang="zh-CN" altLang="en-US"/>
          </a:p>
        </p:txBody>
      </p:sp>
    </p:spTree>
    <p:extLst>
      <p:ext uri="{BB962C8B-B14F-4D97-AF65-F5344CB8AC3E}">
        <p14:creationId xmlns:p14="http://schemas.microsoft.com/office/powerpoint/2010/main" val="3581921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103FD-515C-42D9-AF72-56D52BA7B6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52415A-CA51-47E8-831A-9B7FA56563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AC152F-EA3D-466D-8166-2512400AB678}"/>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E9156A4-88C8-4661-8F3F-81808A5A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7E36A7-D454-414F-A7CB-CA9B6FB8FD8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043668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66BBD-445B-4307-8404-3C9E55B3C9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D068DA-3777-43E3-B7F5-87BD9F7DDE84}"/>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7E6E70B-04E4-4787-93CA-4EEA57185260}"/>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0C0E928D-BC94-4F2D-B53A-3180E1102B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CAB707-2271-4F55-B227-95FA6DE280F9}"/>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8447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B1197-E440-4AF4-BC8B-C4B1845650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FFCB6E-07BC-4035-87FE-67B6D5AE33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AB9FDF8-176C-413E-9AE9-D3DD2292988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E1E3DBA-C1DC-4FDE-B897-D715B0ED9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C9068-B7C5-4E02-8706-68F732E2522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21104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DC88F-1F41-4ABA-B8AE-64E8758BF9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1C596E-186D-4E06-BE39-819ECA4228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D0014C-9470-4359-8795-896B4457EDB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32816E-1329-4A7C-83F4-D211A908AC0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9A8283-12FB-42A2-B184-3820795762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4BA166-08CB-4F4C-A82A-6A54DDBC704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959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07D4A-718B-46FB-9811-CD73BEDD13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0F18E6-DD1F-4427-9E70-B443C1EE8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4CA2D10-8BE2-484B-BA12-2FDE393856D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A1C370B-FEA8-40FC-982D-1CFA1C5B5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0B43256-EAAE-489B-89B2-EB0EBD29855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2B2BF0-982E-4DCC-9CC1-5E73E8EA94A6}"/>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996C86D8-C38D-40EF-B7DC-513009258B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643910-70FD-48E3-BDE2-540CFB142A3B}"/>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0364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7AE02-50CD-4FB2-BD02-76F3E8B98D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F0A67C-4CAE-49DF-BA3A-4A627B6FE1F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C2F947EE-D3CC-4D0F-9EC9-EAA0F19235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704809-3C78-497A-82B1-CC426F67937A}"/>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18716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CF1B75-484E-4AFA-844B-6697E8473A93}"/>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61878834-27C0-417E-938E-4D9D4146DC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DEB67-743D-4873-85E6-5A9F3177ECED}"/>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74914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D83F-DB22-46D9-855F-6D5C57894A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1C7E-B5A2-476B-B1D7-7AEF7B33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5D8587-D98D-4514-B904-29CE95B85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E02B46D-9F74-4FD2-BC3B-AE943DF1086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2793ACDA-2B9C-40FD-A239-C52FDD9766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528C01-34A5-420B-A604-B4011101D956}"/>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67841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EE2D2-414A-4935-81A3-07ECCFF5EC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4B0647-724F-465D-AA4A-1AAA05CF3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28AC01-7925-49DD-826D-336FE3055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78FF29-AFCB-4793-AA26-1F2C84797BB2}"/>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EEC631CD-DD99-4AC5-8574-019DEED951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D9507-DDDB-4831-9B20-1DE84C9C372F}"/>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7580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657E-53E5-4008-9F21-BAFEA01D39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BB134A-EF2A-4612-BC2E-DCF53021909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533070-3ECC-4FFD-AFFC-4BB616032A27}"/>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E1B0E874-F2CB-4755-8443-A856D5218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F74974-6194-47AD-A321-333EF064BA8E}"/>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83597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43C0A9-02E0-4757-93E3-A84929FDED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227089F-D812-49A7-8AA6-82DB9C87A01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BF6DC3-3372-4FFF-A693-8DC10F2FB2C1}"/>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F0297473-017C-4371-AE98-6F8ECB38A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65BA15-09D9-4092-9CD2-72EE0EF73BA0}"/>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85449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01E131-1FE4-4CF8-BDA2-A6829A759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3B0D38-8EE9-4BBC-82CA-C5EFDBD0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C13A21-B67E-4186-B0F1-D945AA00F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B9385BAA-8800-4379-B9C9-AA88427CE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22A6E2-4DAD-4670-955D-2A6C7F14F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848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Visio_Drawing1.vsdx"/></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2061625"/>
          </a:xfrm>
        </p:spPr>
        <p:txBody>
          <a:bodyPr>
            <a:noAutofit/>
          </a:bodyPr>
          <a:lstStyle/>
          <a:p>
            <a:r>
              <a:rPr lang="zh-CN" altLang="en-US" b="1"/>
              <a:t>解决方案评估</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BED8D74-7BC2-4E0A-B9D1-0804D833C0D0}"/>
              </a:ext>
            </a:extLst>
          </p:cNvPr>
          <p:cNvGraphicFramePr>
            <a:graphicFrameLocks noChangeAspect="1"/>
          </p:cNvGraphicFramePr>
          <p:nvPr>
            <p:extLst>
              <p:ext uri="{D42A27DB-BD31-4B8C-83A1-F6EECF244321}">
                <p14:modId xmlns:p14="http://schemas.microsoft.com/office/powerpoint/2010/main" val="382611473"/>
              </p:ext>
            </p:extLst>
          </p:nvPr>
        </p:nvGraphicFramePr>
        <p:xfrm>
          <a:off x="3282535" y="991666"/>
          <a:ext cx="3864429" cy="5328557"/>
        </p:xfrm>
        <a:graphic>
          <a:graphicData uri="http://schemas.openxmlformats.org/presentationml/2006/ole">
            <mc:AlternateContent xmlns:mc="http://schemas.openxmlformats.org/markup-compatibility/2006">
              <mc:Choice xmlns:v="urn:schemas-microsoft-com:vml" Requires="v">
                <p:oleObj spid="_x0000_s1026" name="Visio" r:id="rId3" imgW="2111730" imgH="3265793" progId="Visio.Drawing.15">
                  <p:embed/>
                </p:oleObj>
              </mc:Choice>
              <mc:Fallback>
                <p:oleObj name="Visio" r:id="rId3" imgW="2111730" imgH="3265793" progId="Visio.Drawing.15">
                  <p:embed/>
                  <p:pic>
                    <p:nvPicPr>
                      <p:cNvPr id="3" name="对象 2">
                        <a:extLst>
                          <a:ext uri="{FF2B5EF4-FFF2-40B4-BE49-F238E27FC236}">
                            <a16:creationId xmlns:a16="http://schemas.microsoft.com/office/drawing/2014/main" id="{0BED8D74-7BC2-4E0A-B9D1-0804D833C0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2535" y="991666"/>
                        <a:ext cx="3864429" cy="5328557"/>
                      </a:xfrm>
                      <a:prstGeom prst="rect">
                        <a:avLst/>
                      </a:prstGeom>
                      <a:noFill/>
                    </p:spPr>
                  </p:pic>
                </p:oleObj>
              </mc:Fallback>
            </mc:AlternateContent>
          </a:graphicData>
        </a:graphic>
      </p:graphicFrame>
      <p:sp>
        <p:nvSpPr>
          <p:cNvPr id="4" name="标题 1">
            <a:extLst>
              <a:ext uri="{FF2B5EF4-FFF2-40B4-BE49-F238E27FC236}">
                <a16:creationId xmlns:a16="http://schemas.microsoft.com/office/drawing/2014/main" id="{128A7C94-F099-4A0A-AF19-917F61C033B3}"/>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工程管理设计研究的三个步骤</a:t>
            </a:r>
          </a:p>
        </p:txBody>
      </p:sp>
    </p:spTree>
    <p:extLst>
      <p:ext uri="{BB962C8B-B14F-4D97-AF65-F5344CB8AC3E}">
        <p14:creationId xmlns:p14="http://schemas.microsoft.com/office/powerpoint/2010/main" val="2054226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65207-3CBE-4C6D-A208-AC942A14C1DD}"/>
              </a:ext>
            </a:extLst>
          </p:cNvPr>
          <p:cNvSpPr txBox="1">
            <a:spLocks noChangeArrowheads="1"/>
          </p:cNvSpPr>
          <p:nvPr/>
        </p:nvSpPr>
        <p:spPr>
          <a:xfrm>
            <a:off x="1629228" y="501831"/>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评估的定义和内涵</a:t>
            </a:r>
          </a:p>
        </p:txBody>
      </p:sp>
      <p:sp>
        <p:nvSpPr>
          <p:cNvPr id="4" name="矩形 3">
            <a:extLst>
              <a:ext uri="{FF2B5EF4-FFF2-40B4-BE49-F238E27FC236}">
                <a16:creationId xmlns:a16="http://schemas.microsoft.com/office/drawing/2014/main" id="{9D1DB88B-13A3-4393-9EFE-EBEF94086187}"/>
              </a:ext>
            </a:extLst>
          </p:cNvPr>
          <p:cNvSpPr/>
          <p:nvPr/>
        </p:nvSpPr>
        <p:spPr>
          <a:xfrm>
            <a:off x="424543" y="1251482"/>
            <a:ext cx="10831286" cy="834139"/>
          </a:xfrm>
          <a:prstGeom prst="rect">
            <a:avLst/>
          </a:prstGeom>
        </p:spPr>
        <p:txBody>
          <a:bodyPr wrap="square">
            <a:spAutoFit/>
          </a:bodyPr>
          <a:lstStyle/>
          <a:p>
            <a:pPr>
              <a:lnSpc>
                <a:spcPct val="125000"/>
              </a:lnSpc>
            </a:pPr>
            <a:r>
              <a:rPr lang="zh-CN" altLang="en-US" sz="2000" b="1" dirty="0">
                <a:latin typeface="+mj-ea"/>
                <a:ea typeface="+mj-ea"/>
              </a:rPr>
              <a:t>评估</a:t>
            </a:r>
            <a:r>
              <a:rPr lang="zh-CN" altLang="en-US" sz="2000" dirty="0">
                <a:latin typeface="+mj-ea"/>
                <a:ea typeface="+mj-ea"/>
              </a:rPr>
              <a:t>：对</a:t>
            </a:r>
            <a:r>
              <a:rPr lang="zh-CN" altLang="zh-CN" sz="2000" dirty="0">
                <a:latin typeface="+mj-ea"/>
                <a:ea typeface="+mj-ea"/>
              </a:rPr>
              <a:t>解决方案的属性和特征（如价值、效用、安全性、公平性等）做系统性评价</a:t>
            </a:r>
            <a:endParaRPr lang="en-US" altLang="zh-CN" sz="2000" dirty="0">
              <a:latin typeface="+mj-ea"/>
              <a:ea typeface="+mj-ea"/>
            </a:endParaRPr>
          </a:p>
          <a:p>
            <a:pPr>
              <a:lnSpc>
                <a:spcPct val="125000"/>
              </a:lnSpc>
            </a:pPr>
            <a:endParaRPr lang="en-US" altLang="zh-CN" sz="2000" dirty="0">
              <a:latin typeface="+mj-ea"/>
              <a:ea typeface="+mj-ea"/>
            </a:endParaRPr>
          </a:p>
        </p:txBody>
      </p:sp>
      <p:sp>
        <p:nvSpPr>
          <p:cNvPr id="6" name="矩形: 圆角 5">
            <a:extLst>
              <a:ext uri="{FF2B5EF4-FFF2-40B4-BE49-F238E27FC236}">
                <a16:creationId xmlns:a16="http://schemas.microsoft.com/office/drawing/2014/main" id="{9CA3E4F1-930E-4C6E-8133-567C94CCD79A}"/>
              </a:ext>
            </a:extLst>
          </p:cNvPr>
          <p:cNvSpPr/>
          <p:nvPr/>
        </p:nvSpPr>
        <p:spPr>
          <a:xfrm>
            <a:off x="424543" y="2730732"/>
            <a:ext cx="1537855" cy="69826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被评估过的解决方案</a:t>
            </a:r>
          </a:p>
        </p:txBody>
      </p:sp>
      <p:sp>
        <p:nvSpPr>
          <p:cNvPr id="7" name="矩形: 圆角 6">
            <a:extLst>
              <a:ext uri="{FF2B5EF4-FFF2-40B4-BE49-F238E27FC236}">
                <a16:creationId xmlns:a16="http://schemas.microsoft.com/office/drawing/2014/main" id="{41737048-01FC-4AE8-A18C-C7B715D31B9A}"/>
              </a:ext>
            </a:extLst>
          </p:cNvPr>
          <p:cNvSpPr/>
          <p:nvPr/>
        </p:nvSpPr>
        <p:spPr>
          <a:xfrm>
            <a:off x="2775856" y="2730731"/>
            <a:ext cx="1633452" cy="69826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尚未评估过的解决方案</a:t>
            </a:r>
          </a:p>
        </p:txBody>
      </p:sp>
      <p:sp>
        <p:nvSpPr>
          <p:cNvPr id="9" name="文本框 8">
            <a:extLst>
              <a:ext uri="{FF2B5EF4-FFF2-40B4-BE49-F238E27FC236}">
                <a16:creationId xmlns:a16="http://schemas.microsoft.com/office/drawing/2014/main" id="{476D7A9D-9218-4649-8504-7E3A87757F74}"/>
              </a:ext>
            </a:extLst>
          </p:cNvPr>
          <p:cNvSpPr txBox="1"/>
          <p:nvPr/>
        </p:nvSpPr>
        <p:spPr>
          <a:xfrm>
            <a:off x="2086395" y="2826723"/>
            <a:ext cx="565462" cy="369332"/>
          </a:xfrm>
          <a:prstGeom prst="rect">
            <a:avLst/>
          </a:prstGeom>
          <a:noFill/>
        </p:spPr>
        <p:txBody>
          <a:bodyPr wrap="square" rtlCol="0">
            <a:spAutoFit/>
          </a:bodyPr>
          <a:lstStyle/>
          <a:p>
            <a:pPr algn="ctr"/>
            <a:r>
              <a:rPr lang="en-US" altLang="zh-CN" dirty="0"/>
              <a:t>VS.</a:t>
            </a:r>
            <a:endParaRPr lang="zh-CN" altLang="en-US" dirty="0"/>
          </a:p>
        </p:txBody>
      </p:sp>
      <p:sp>
        <p:nvSpPr>
          <p:cNvPr id="10" name="文本框 9">
            <a:extLst>
              <a:ext uri="{FF2B5EF4-FFF2-40B4-BE49-F238E27FC236}">
                <a16:creationId xmlns:a16="http://schemas.microsoft.com/office/drawing/2014/main" id="{3E17DEF5-20AB-433D-86FE-56ADB8ECDDB5}"/>
              </a:ext>
            </a:extLst>
          </p:cNvPr>
          <p:cNvSpPr txBox="1"/>
          <p:nvPr/>
        </p:nvSpPr>
        <p:spPr>
          <a:xfrm>
            <a:off x="448309" y="3876208"/>
            <a:ext cx="4095569" cy="461665"/>
          </a:xfrm>
          <a:prstGeom prst="rect">
            <a:avLst/>
          </a:prstGeom>
          <a:solidFill>
            <a:schemeClr val="accent6">
              <a:lumMod val="40000"/>
              <a:lumOff val="60000"/>
            </a:schemeClr>
          </a:solidFill>
          <a:ln>
            <a:solidFill>
              <a:schemeClr val="accent6">
                <a:lumMod val="60000"/>
                <a:lumOff val="40000"/>
              </a:schemeClr>
            </a:solidFill>
          </a:ln>
        </p:spPr>
        <p:txBody>
          <a:bodyPr wrap="square" rtlCol="0">
            <a:spAutoFit/>
          </a:bodyPr>
          <a:lstStyle/>
          <a:p>
            <a:pPr algn="ctr"/>
            <a:r>
              <a:rPr lang="zh-CN" altLang="en-US" sz="2400" b="1" dirty="0"/>
              <a:t>类比：研发新药的临床试验</a:t>
            </a:r>
          </a:p>
        </p:txBody>
      </p:sp>
      <p:sp>
        <p:nvSpPr>
          <p:cNvPr id="3" name="Rectangle 2">
            <a:extLst>
              <a:ext uri="{FF2B5EF4-FFF2-40B4-BE49-F238E27FC236}">
                <a16:creationId xmlns:a16="http://schemas.microsoft.com/office/drawing/2014/main" id="{D11AAFD2-13A1-4645-8D78-BF4C84889055}"/>
              </a:ext>
            </a:extLst>
          </p:cNvPr>
          <p:cNvSpPr>
            <a:spLocks noChangeArrowheads="1"/>
          </p:cNvSpPr>
          <p:nvPr/>
        </p:nvSpPr>
        <p:spPr bwMode="auto">
          <a:xfrm>
            <a:off x="6096000" y="433768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5" name="对象 14">
            <a:extLst>
              <a:ext uri="{FF2B5EF4-FFF2-40B4-BE49-F238E27FC236}">
                <a16:creationId xmlns:a16="http://schemas.microsoft.com/office/drawing/2014/main" id="{07DC24E0-8087-4AFB-8CDF-150EC38A260E}"/>
              </a:ext>
            </a:extLst>
          </p:cNvPr>
          <p:cNvGraphicFramePr>
            <a:graphicFrameLocks noChangeAspect="1"/>
          </p:cNvGraphicFramePr>
          <p:nvPr>
            <p:extLst>
              <p:ext uri="{D42A27DB-BD31-4B8C-83A1-F6EECF244321}">
                <p14:modId xmlns:p14="http://schemas.microsoft.com/office/powerpoint/2010/main" val="2444023699"/>
              </p:ext>
            </p:extLst>
          </p:nvPr>
        </p:nvGraphicFramePr>
        <p:xfrm>
          <a:off x="6096000" y="2641715"/>
          <a:ext cx="4466492" cy="1574569"/>
        </p:xfrm>
        <a:graphic>
          <a:graphicData uri="http://schemas.openxmlformats.org/presentationml/2006/ole">
            <mc:AlternateContent xmlns:mc="http://schemas.openxmlformats.org/markup-compatibility/2006">
              <mc:Choice xmlns:v="urn:schemas-microsoft-com:vml" Requires="v">
                <p:oleObj spid="_x0000_s2050" name="Visio" r:id="rId4" imgW="2514625" imgH="925273" progId="Visio.Drawing.15">
                  <p:embed/>
                </p:oleObj>
              </mc:Choice>
              <mc:Fallback>
                <p:oleObj name="Visio" r:id="rId4" imgW="2514625" imgH="925273" progId="Visio.Drawing.15">
                  <p:embed/>
                  <p:pic>
                    <p:nvPicPr>
                      <p:cNvPr id="15" name="对象 14">
                        <a:extLst>
                          <a:ext uri="{FF2B5EF4-FFF2-40B4-BE49-F238E27FC236}">
                            <a16:creationId xmlns:a16="http://schemas.microsoft.com/office/drawing/2014/main" id="{07DC24E0-8087-4AFB-8CDF-150EC38A26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641715"/>
                        <a:ext cx="4466492" cy="1574569"/>
                      </a:xfrm>
                      <a:prstGeom prst="rect">
                        <a:avLst/>
                      </a:prstGeom>
                      <a:noFill/>
                    </p:spPr>
                  </p:pic>
                </p:oleObj>
              </mc:Fallback>
            </mc:AlternateContent>
          </a:graphicData>
        </a:graphic>
      </p:graphicFrame>
    </p:spTree>
    <p:extLst>
      <p:ext uri="{BB962C8B-B14F-4D97-AF65-F5344CB8AC3E}">
        <p14:creationId xmlns:p14="http://schemas.microsoft.com/office/powerpoint/2010/main" val="1660478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1DB88B-13A3-4393-9EFE-EBEF94086187}"/>
              </a:ext>
            </a:extLst>
          </p:cNvPr>
          <p:cNvSpPr/>
          <p:nvPr/>
        </p:nvSpPr>
        <p:spPr>
          <a:xfrm>
            <a:off x="371203" y="1045029"/>
            <a:ext cx="10820400" cy="4124206"/>
          </a:xfrm>
          <a:prstGeom prst="rect">
            <a:avLst/>
          </a:prstGeom>
        </p:spPr>
        <p:txBody>
          <a:bodyPr wrap="square">
            <a:spAutoFit/>
          </a:bodyPr>
          <a:lstStyle/>
          <a:p>
            <a:pPr>
              <a:lnSpc>
                <a:spcPct val="150000"/>
              </a:lnSpc>
            </a:pPr>
            <a:r>
              <a:rPr lang="en-US" altLang="zh-CN" sz="2000" b="1" dirty="0">
                <a:latin typeface="+mj-ea"/>
              </a:rPr>
              <a:t>1</a:t>
            </a:r>
            <a:r>
              <a:rPr lang="zh-CN" altLang="en-US" sz="2000" b="1" dirty="0">
                <a:latin typeface="+mj-ea"/>
              </a:rPr>
              <a:t>、</a:t>
            </a:r>
            <a:r>
              <a:rPr lang="zh-CN" altLang="zh-CN" sz="2000" b="1" dirty="0">
                <a:latin typeface="+mj-ea"/>
              </a:rPr>
              <a:t>理论层面</a:t>
            </a:r>
            <a:r>
              <a:rPr lang="zh-CN" altLang="en-US" sz="2000" dirty="0">
                <a:latin typeface="+mj-ea"/>
              </a:rPr>
              <a:t>：</a:t>
            </a:r>
            <a:r>
              <a:rPr lang="zh-CN" altLang="zh-CN" sz="2000" dirty="0">
                <a:latin typeface="+mj-ea"/>
              </a:rPr>
              <a:t>证明设计假设是否成立</a:t>
            </a:r>
            <a:endParaRPr lang="en-US" altLang="zh-CN" sz="2000" dirty="0">
              <a:latin typeface="+mj-ea"/>
            </a:endParaRPr>
          </a:p>
          <a:p>
            <a:pPr marL="342900" lvl="1" indent="-342900">
              <a:lnSpc>
                <a:spcPct val="150000"/>
              </a:lnSpc>
              <a:buFont typeface="Wingdings" panose="05000000000000000000" pitchFamily="2" charset="2"/>
              <a:buChar char="ü"/>
            </a:pPr>
            <a:r>
              <a:rPr lang="zh-CN" altLang="en-US" dirty="0">
                <a:latin typeface="+mj-ea"/>
              </a:rPr>
              <a:t>检验设计假设，形成</a:t>
            </a:r>
            <a:r>
              <a:rPr lang="zh-CN" altLang="zh-CN" dirty="0">
                <a:latin typeface="+mj-ea"/>
              </a:rPr>
              <a:t>对设计理论的贡献</a:t>
            </a:r>
            <a:endParaRPr lang="en-US" altLang="zh-CN" dirty="0">
              <a:latin typeface="+mj-ea"/>
            </a:endParaRPr>
          </a:p>
          <a:p>
            <a:pPr marL="342900" lvl="1" indent="-342900">
              <a:lnSpc>
                <a:spcPct val="150000"/>
              </a:lnSpc>
              <a:buFont typeface="Wingdings" panose="05000000000000000000" pitchFamily="2" charset="2"/>
              <a:buChar char="ü"/>
            </a:pPr>
            <a:r>
              <a:rPr lang="zh-CN" altLang="en-US" dirty="0">
                <a:latin typeface="+mj-ea"/>
              </a:rPr>
              <a:t>解释解决方案的工作机理</a:t>
            </a:r>
            <a:endParaRPr lang="en-US" altLang="zh-CN" dirty="0">
              <a:latin typeface="+mj-ea"/>
            </a:endParaRPr>
          </a:p>
          <a:p>
            <a:pPr marL="342900" lvl="1" indent="-342900">
              <a:lnSpc>
                <a:spcPct val="150000"/>
              </a:lnSpc>
              <a:buFont typeface="Wingdings" panose="05000000000000000000" pitchFamily="2" charset="2"/>
              <a:buChar char="ü"/>
            </a:pPr>
            <a:r>
              <a:rPr lang="zh-CN" altLang="zh-CN" dirty="0">
                <a:latin typeface="+mj-ea"/>
              </a:rPr>
              <a:t>评估解决方案在理论贡献方面意外或负面效果</a:t>
            </a:r>
            <a:endParaRPr lang="en-US" altLang="zh-CN" dirty="0">
              <a:latin typeface="+mj-ea"/>
            </a:endParaRPr>
          </a:p>
          <a:p>
            <a:pPr>
              <a:lnSpc>
                <a:spcPct val="150000"/>
              </a:lnSpc>
            </a:pPr>
            <a:r>
              <a:rPr lang="en-US" altLang="zh-CN" sz="2000" b="1" dirty="0">
                <a:latin typeface="+mj-ea"/>
                <a:ea typeface="+mj-ea"/>
              </a:rPr>
              <a:t>2</a:t>
            </a:r>
            <a:r>
              <a:rPr lang="zh-CN" altLang="en-US" sz="2000" b="1" dirty="0">
                <a:latin typeface="+mj-ea"/>
                <a:ea typeface="+mj-ea"/>
              </a:rPr>
              <a:t>、实践层面</a:t>
            </a:r>
            <a:r>
              <a:rPr lang="zh-CN" altLang="en-US" sz="2000" dirty="0">
                <a:latin typeface="+mj-ea"/>
                <a:ea typeface="+mj-ea"/>
              </a:rPr>
              <a:t>：</a:t>
            </a:r>
            <a:r>
              <a:rPr lang="zh-CN" altLang="zh-CN" sz="2000" dirty="0">
                <a:latin typeface="+mj-ea"/>
                <a:ea typeface="+mj-ea"/>
              </a:rPr>
              <a:t>评估</a:t>
            </a:r>
            <a:r>
              <a:rPr lang="zh-CN" altLang="en-US" sz="2000" dirty="0">
                <a:latin typeface="+mj-ea"/>
                <a:ea typeface="+mj-ea"/>
              </a:rPr>
              <a:t>解决方案</a:t>
            </a:r>
            <a:r>
              <a:rPr lang="zh-CN" altLang="zh-CN" sz="2000" dirty="0">
                <a:latin typeface="+mj-ea"/>
                <a:ea typeface="+mj-ea"/>
              </a:rPr>
              <a:t>实现目标的程度及有效性。</a:t>
            </a:r>
            <a:endParaRPr lang="en-US" altLang="zh-CN" sz="2000" dirty="0">
              <a:latin typeface="+mj-ea"/>
              <a:ea typeface="+mj-ea"/>
            </a:endParaRPr>
          </a:p>
          <a:p>
            <a:pPr marL="457200" lvl="2" indent="-285750">
              <a:lnSpc>
                <a:spcPct val="150000"/>
              </a:lnSpc>
              <a:buFont typeface="Wingdings" panose="05000000000000000000" pitchFamily="2" charset="2"/>
              <a:buChar char="ü"/>
            </a:pPr>
            <a:r>
              <a:rPr lang="zh-CN" altLang="en-US" b="1" dirty="0">
                <a:latin typeface="+mj-ea"/>
                <a:ea typeface="+mj-ea"/>
              </a:rPr>
              <a:t>解决方案有效性</a:t>
            </a:r>
            <a:r>
              <a:rPr lang="zh-CN" altLang="en-US" dirty="0">
                <a:latin typeface="+mj-ea"/>
                <a:ea typeface="+mj-ea"/>
              </a:rPr>
              <a:t>：</a:t>
            </a:r>
            <a:r>
              <a:rPr lang="zh-CN" altLang="zh-CN" dirty="0">
                <a:latin typeface="+mj-ea"/>
                <a:ea typeface="+mj-ea"/>
              </a:rPr>
              <a:t>评估</a:t>
            </a:r>
            <a:r>
              <a:rPr lang="zh-CN" altLang="en-US" dirty="0">
                <a:latin typeface="+mj-ea"/>
                <a:ea typeface="+mj-ea"/>
              </a:rPr>
              <a:t>解决</a:t>
            </a:r>
            <a:r>
              <a:rPr lang="zh-CN" altLang="zh-CN" dirty="0">
                <a:latin typeface="+mj-ea"/>
                <a:ea typeface="+mj-ea"/>
              </a:rPr>
              <a:t>方案实现预期目标的效果和能力</a:t>
            </a:r>
            <a:endParaRPr lang="en-US" altLang="zh-CN" dirty="0">
              <a:latin typeface="+mj-ea"/>
              <a:ea typeface="+mj-ea"/>
            </a:endParaRPr>
          </a:p>
          <a:p>
            <a:pPr marL="457200" lvl="2" indent="-285750">
              <a:lnSpc>
                <a:spcPct val="150000"/>
              </a:lnSpc>
              <a:buFont typeface="Wingdings" panose="05000000000000000000" pitchFamily="2" charset="2"/>
              <a:buChar char="ü"/>
            </a:pPr>
            <a:r>
              <a:rPr lang="zh-CN" altLang="en-US" b="1" dirty="0">
                <a:latin typeface="+mj-ea"/>
                <a:ea typeface="+mj-ea"/>
              </a:rPr>
              <a:t>情境</a:t>
            </a:r>
            <a:r>
              <a:rPr lang="zh-CN" altLang="zh-CN" b="1" dirty="0">
                <a:latin typeface="+mj-ea"/>
                <a:ea typeface="+mj-ea"/>
              </a:rPr>
              <a:t>有效性</a:t>
            </a:r>
            <a:r>
              <a:rPr lang="zh-CN" altLang="zh-CN" dirty="0">
                <a:latin typeface="+mj-ea"/>
                <a:ea typeface="+mj-ea"/>
              </a:rPr>
              <a:t>：如何在多个相关</a:t>
            </a:r>
            <a:r>
              <a:rPr lang="zh-CN" altLang="en-US" dirty="0">
                <a:latin typeface="+mj-ea"/>
                <a:ea typeface="+mj-ea"/>
              </a:rPr>
              <a:t>或类似情境</a:t>
            </a:r>
            <a:r>
              <a:rPr lang="zh-CN" altLang="zh-CN" dirty="0">
                <a:latin typeface="+mj-ea"/>
                <a:ea typeface="+mj-ea"/>
              </a:rPr>
              <a:t>中有效使用</a:t>
            </a:r>
            <a:endParaRPr lang="en-US" altLang="zh-CN" dirty="0">
              <a:latin typeface="+mj-ea"/>
              <a:ea typeface="+mj-ea"/>
            </a:endParaRPr>
          </a:p>
          <a:p>
            <a:pPr marL="457200" lvl="2" indent="-285750">
              <a:lnSpc>
                <a:spcPct val="150000"/>
              </a:lnSpc>
              <a:buFont typeface="Wingdings" panose="05000000000000000000" pitchFamily="2" charset="2"/>
              <a:buChar char="ü"/>
            </a:pPr>
            <a:r>
              <a:rPr lang="zh-CN" altLang="en-US" b="1" dirty="0">
                <a:latin typeface="+mj-ea"/>
                <a:ea typeface="+mj-ea"/>
              </a:rPr>
              <a:t>潜在副作用和意外发现</a:t>
            </a:r>
            <a:r>
              <a:rPr lang="zh-CN" altLang="en-US" dirty="0">
                <a:latin typeface="+mj-ea"/>
                <a:ea typeface="+mj-ea"/>
              </a:rPr>
              <a:t>：</a:t>
            </a:r>
            <a:endParaRPr lang="en-US" altLang="zh-CN" dirty="0">
              <a:latin typeface="+mj-ea"/>
              <a:ea typeface="+mj-ea"/>
            </a:endParaRPr>
          </a:p>
          <a:p>
            <a:pPr marL="800100" lvl="2" indent="-342900">
              <a:buFont typeface="Wingdings" panose="05000000000000000000" pitchFamily="2" charset="2"/>
              <a:buChar char="ü"/>
            </a:pPr>
            <a:endParaRPr lang="zh-CN" altLang="zh-CN" sz="2000" dirty="0">
              <a:latin typeface="+mj-ea"/>
            </a:endParaRPr>
          </a:p>
          <a:p>
            <a:endParaRPr lang="zh-CN" altLang="zh-CN" sz="2000" dirty="0">
              <a:latin typeface="+mj-ea"/>
              <a:ea typeface="+mj-ea"/>
            </a:endParaRPr>
          </a:p>
        </p:txBody>
      </p:sp>
      <p:sp>
        <p:nvSpPr>
          <p:cNvPr id="5" name="标题 1">
            <a:extLst>
              <a:ext uri="{FF2B5EF4-FFF2-40B4-BE49-F238E27FC236}">
                <a16:creationId xmlns:a16="http://schemas.microsoft.com/office/drawing/2014/main" id="{F5BE109C-31C2-40D1-B079-2D34A94011AD}"/>
              </a:ext>
            </a:extLst>
          </p:cNvPr>
          <p:cNvSpPr txBox="1">
            <a:spLocks noChangeArrowheads="1"/>
          </p:cNvSpPr>
          <p:nvPr/>
        </p:nvSpPr>
        <p:spPr>
          <a:xfrm>
            <a:off x="1632857" y="508989"/>
            <a:ext cx="5814786" cy="5360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评估的目的</a:t>
            </a:r>
          </a:p>
        </p:txBody>
      </p:sp>
    </p:spTree>
    <p:extLst>
      <p:ext uri="{BB962C8B-B14F-4D97-AF65-F5344CB8AC3E}">
        <p14:creationId xmlns:p14="http://schemas.microsoft.com/office/powerpoint/2010/main" val="382145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1DB88B-13A3-4393-9EFE-EBEF94086187}"/>
              </a:ext>
            </a:extLst>
          </p:cNvPr>
          <p:cNvSpPr/>
          <p:nvPr/>
        </p:nvSpPr>
        <p:spPr>
          <a:xfrm>
            <a:off x="373379" y="974482"/>
            <a:ext cx="11346181" cy="4851456"/>
          </a:xfrm>
          <a:prstGeom prst="rect">
            <a:avLst/>
          </a:prstGeom>
        </p:spPr>
        <p:txBody>
          <a:bodyPr wrap="square">
            <a:spAutoFit/>
          </a:bodyPr>
          <a:lstStyle/>
          <a:p>
            <a:pPr>
              <a:lnSpc>
                <a:spcPct val="150000"/>
              </a:lnSpc>
            </a:pPr>
            <a:r>
              <a:rPr lang="en-US" altLang="zh-CN" sz="2000" b="1" dirty="0">
                <a:latin typeface="+mn-ea"/>
              </a:rPr>
              <a:t>1</a:t>
            </a:r>
            <a:r>
              <a:rPr lang="zh-CN" altLang="en-US" sz="2000" b="1" dirty="0">
                <a:latin typeface="+mn-ea"/>
              </a:rPr>
              <a:t>、</a:t>
            </a:r>
            <a:r>
              <a:rPr lang="zh-CN" altLang="zh-CN" sz="2000" b="1" dirty="0">
                <a:latin typeface="+mn-ea"/>
              </a:rPr>
              <a:t>伦理要求</a:t>
            </a:r>
            <a:endParaRPr lang="zh-CN" altLang="zh-CN" sz="2000" dirty="0">
              <a:latin typeface="+mn-ea"/>
            </a:endParaRPr>
          </a:p>
          <a:p>
            <a:pPr marL="285750" indent="-285750">
              <a:lnSpc>
                <a:spcPct val="150000"/>
              </a:lnSpc>
              <a:buFont typeface="Arial" panose="020B0604020202020204" pitchFamily="34" charset="0"/>
              <a:buChar char="•"/>
            </a:pPr>
            <a:r>
              <a:rPr lang="zh-CN" altLang="zh-CN" dirty="0">
                <a:latin typeface="+mn-ea"/>
              </a:rPr>
              <a:t>严格遵照伦理审查要求。不能将参与评估的主体置于风险之下，要确保参与主体的安全和知情等。</a:t>
            </a:r>
          </a:p>
          <a:p>
            <a:pPr>
              <a:lnSpc>
                <a:spcPct val="150000"/>
              </a:lnSpc>
            </a:pPr>
            <a:r>
              <a:rPr lang="en-US" altLang="zh-CN" sz="2000" b="1" dirty="0">
                <a:latin typeface="+mn-ea"/>
              </a:rPr>
              <a:t>2</a:t>
            </a:r>
            <a:r>
              <a:rPr lang="zh-CN" altLang="en-US" sz="2000" b="1" dirty="0">
                <a:latin typeface="+mn-ea"/>
              </a:rPr>
              <a:t>、</a:t>
            </a:r>
            <a:r>
              <a:rPr lang="zh-CN" altLang="zh-CN" sz="2000" b="1" dirty="0">
                <a:latin typeface="+mn-ea"/>
              </a:rPr>
              <a:t>严谨</a:t>
            </a:r>
            <a:endParaRPr lang="zh-CN" altLang="zh-CN" sz="2000" dirty="0">
              <a:latin typeface="+mn-ea"/>
            </a:endParaRPr>
          </a:p>
          <a:p>
            <a:pPr marL="457200" indent="-457200">
              <a:lnSpc>
                <a:spcPct val="150000"/>
              </a:lnSpc>
              <a:buFont typeface="Arial" panose="020B0604020202020204" pitchFamily="34" charset="0"/>
              <a:buChar char="•"/>
            </a:pPr>
            <a:r>
              <a:rPr lang="zh-CN" altLang="zh-CN" dirty="0">
                <a:latin typeface="+mn-ea"/>
              </a:rPr>
              <a:t>结果维度：解决方案实现设计目标。</a:t>
            </a:r>
            <a:endParaRPr lang="en-US" altLang="zh-CN" dirty="0">
              <a:latin typeface="+mn-ea"/>
            </a:endParaRPr>
          </a:p>
          <a:p>
            <a:pPr lvl="1" indent="-457200">
              <a:lnSpc>
                <a:spcPct val="150000"/>
              </a:lnSpc>
              <a:buFont typeface="Arial" panose="020B0604020202020204" pitchFamily="34" charset="0"/>
              <a:buChar char="•"/>
            </a:pPr>
            <a:r>
              <a:rPr lang="zh-CN" altLang="zh-CN" dirty="0">
                <a:latin typeface="+mn-ea"/>
              </a:rPr>
              <a:t>过程维度</a:t>
            </a:r>
            <a:r>
              <a:rPr lang="zh-CN" altLang="en-US" dirty="0">
                <a:latin typeface="+mn-ea"/>
              </a:rPr>
              <a:t>：</a:t>
            </a:r>
            <a:r>
              <a:rPr lang="zh-CN" altLang="zh-CN" dirty="0">
                <a:latin typeface="+mn-ea"/>
              </a:rPr>
              <a:t>满足过程可复制性，流程透明等要求。</a:t>
            </a:r>
          </a:p>
          <a:p>
            <a:pPr>
              <a:lnSpc>
                <a:spcPct val="150000"/>
              </a:lnSpc>
            </a:pPr>
            <a:r>
              <a:rPr lang="en-US" altLang="zh-CN" sz="2000" b="1" dirty="0">
                <a:latin typeface="+mn-ea"/>
              </a:rPr>
              <a:t>3</a:t>
            </a:r>
            <a:r>
              <a:rPr lang="zh-CN" altLang="en-US" sz="2000" b="1" dirty="0">
                <a:latin typeface="+mn-ea"/>
              </a:rPr>
              <a:t>、</a:t>
            </a:r>
            <a:r>
              <a:rPr lang="zh-CN" altLang="zh-CN" sz="2000" b="1" dirty="0">
                <a:latin typeface="+mn-ea"/>
              </a:rPr>
              <a:t>最满意评估</a:t>
            </a:r>
            <a:endParaRPr lang="zh-CN" altLang="zh-CN" sz="2000" dirty="0">
              <a:latin typeface="+mn-ea"/>
            </a:endParaRPr>
          </a:p>
          <a:p>
            <a:pPr marL="285750" indent="-285750">
              <a:lnSpc>
                <a:spcPct val="150000"/>
              </a:lnSpc>
              <a:buFont typeface="Arial" panose="020B0604020202020204" pitchFamily="34" charset="0"/>
              <a:buChar char="•"/>
            </a:pPr>
            <a:r>
              <a:rPr lang="zh-CN" altLang="zh-CN" dirty="0">
                <a:latin typeface="+mn-ea"/>
              </a:rPr>
              <a:t>最满意评估是对针对各参与主体，体现了各参与主体价值诉求及公平价值导向原则。</a:t>
            </a:r>
            <a:endParaRPr lang="en-US" altLang="zh-CN" dirty="0">
              <a:latin typeface="+mn-ea"/>
            </a:endParaRPr>
          </a:p>
          <a:p>
            <a:pPr>
              <a:lnSpc>
                <a:spcPct val="150000"/>
              </a:lnSpc>
            </a:pPr>
            <a:r>
              <a:rPr lang="en-US" altLang="zh-CN" sz="2000" b="1" dirty="0">
                <a:latin typeface="+mn-ea"/>
              </a:rPr>
              <a:t>4</a:t>
            </a:r>
            <a:r>
              <a:rPr lang="zh-CN" altLang="en-US" sz="2000" b="1" dirty="0">
                <a:latin typeface="+mn-ea"/>
              </a:rPr>
              <a:t>、</a:t>
            </a:r>
            <a:r>
              <a:rPr lang="zh-CN" altLang="zh-CN" sz="2000" b="1" dirty="0">
                <a:latin typeface="+mn-ea"/>
              </a:rPr>
              <a:t>特定情境及边界条件</a:t>
            </a:r>
            <a:endParaRPr lang="zh-CN" altLang="zh-CN" sz="2000" dirty="0">
              <a:latin typeface="+mn-ea"/>
            </a:endParaRPr>
          </a:p>
          <a:p>
            <a:pPr marL="285750" indent="-285750">
              <a:lnSpc>
                <a:spcPct val="150000"/>
              </a:lnSpc>
              <a:buFont typeface="Arial" panose="020B0604020202020204" pitchFamily="34" charset="0"/>
              <a:buChar char="•"/>
            </a:pPr>
            <a:r>
              <a:rPr lang="zh-CN" altLang="zh-CN" dirty="0">
                <a:latin typeface="+mn-ea"/>
              </a:rPr>
              <a:t>评估过程和评估结果的解读需要明确其所处的情境，特定主体以及适用的边界条件。</a:t>
            </a:r>
            <a:endParaRPr lang="en-US" altLang="zh-CN" dirty="0">
              <a:latin typeface="+mn-ea"/>
            </a:endParaRPr>
          </a:p>
          <a:p>
            <a:pPr>
              <a:lnSpc>
                <a:spcPct val="150000"/>
              </a:lnSpc>
            </a:pPr>
            <a:r>
              <a:rPr lang="en-US" altLang="zh-CN" sz="2000" b="1" dirty="0">
                <a:latin typeface="+mn-ea"/>
              </a:rPr>
              <a:t>5</a:t>
            </a:r>
            <a:r>
              <a:rPr lang="zh-CN" altLang="en-US" sz="2000" b="1" dirty="0">
                <a:latin typeface="+mn-ea"/>
              </a:rPr>
              <a:t>、</a:t>
            </a:r>
            <a:r>
              <a:rPr lang="zh-CN" altLang="zh-CN" sz="2000" b="1" dirty="0">
                <a:latin typeface="+mn-ea"/>
              </a:rPr>
              <a:t>效率和可行性准则</a:t>
            </a:r>
            <a:endParaRPr lang="zh-CN" altLang="zh-CN" sz="2000" dirty="0">
              <a:latin typeface="+mn-ea"/>
            </a:endParaRPr>
          </a:p>
          <a:p>
            <a:pPr marL="285750" indent="-285750">
              <a:lnSpc>
                <a:spcPct val="150000"/>
              </a:lnSpc>
              <a:buFont typeface="Arial" panose="020B0604020202020204" pitchFamily="34" charset="0"/>
              <a:buChar char="•"/>
            </a:pPr>
            <a:r>
              <a:rPr lang="zh-CN" altLang="zh-CN" dirty="0">
                <a:latin typeface="+mn-ea"/>
              </a:rPr>
              <a:t>考虑费用、时间、数据可获得性等方面的可行性。</a:t>
            </a:r>
            <a:endParaRPr lang="zh-CN" altLang="zh-CN" sz="2000" dirty="0">
              <a:latin typeface="+mj-ea"/>
              <a:ea typeface="+mj-ea"/>
            </a:endParaRPr>
          </a:p>
        </p:txBody>
      </p:sp>
      <p:sp>
        <p:nvSpPr>
          <p:cNvPr id="5" name="标题 1">
            <a:extLst>
              <a:ext uri="{FF2B5EF4-FFF2-40B4-BE49-F238E27FC236}">
                <a16:creationId xmlns:a16="http://schemas.microsoft.com/office/drawing/2014/main" id="{3028A9E3-BC2E-4582-AC7C-3318B002C375}"/>
              </a:ext>
            </a:extLst>
          </p:cNvPr>
          <p:cNvSpPr txBox="1">
            <a:spLocks noChangeArrowheads="1"/>
          </p:cNvSpPr>
          <p:nvPr/>
        </p:nvSpPr>
        <p:spPr>
          <a:xfrm>
            <a:off x="1640114" y="487668"/>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评估的准则</a:t>
            </a:r>
          </a:p>
        </p:txBody>
      </p:sp>
    </p:spTree>
    <p:extLst>
      <p:ext uri="{BB962C8B-B14F-4D97-AF65-F5344CB8AC3E}">
        <p14:creationId xmlns:p14="http://schemas.microsoft.com/office/powerpoint/2010/main" val="3163261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1DB88B-13A3-4393-9EFE-EBEF94086187}"/>
              </a:ext>
            </a:extLst>
          </p:cNvPr>
          <p:cNvSpPr/>
          <p:nvPr/>
        </p:nvSpPr>
        <p:spPr>
          <a:xfrm>
            <a:off x="358139" y="974482"/>
            <a:ext cx="10927081" cy="3050963"/>
          </a:xfrm>
          <a:prstGeom prst="rect">
            <a:avLst/>
          </a:prstGeom>
        </p:spPr>
        <p:txBody>
          <a:bodyPr wrap="square">
            <a:spAutoFit/>
          </a:bodyPr>
          <a:lstStyle/>
          <a:p>
            <a:pPr>
              <a:lnSpc>
                <a:spcPct val="150000"/>
              </a:lnSpc>
            </a:pPr>
            <a:r>
              <a:rPr lang="en-US" altLang="zh-CN" sz="2000" b="1" dirty="0">
                <a:latin typeface="+mn-ea"/>
              </a:rPr>
              <a:t>1</a:t>
            </a:r>
            <a:r>
              <a:rPr lang="zh-CN" altLang="en-US" sz="2000" b="1" dirty="0">
                <a:latin typeface="+mn-ea"/>
              </a:rPr>
              <a:t>、</a:t>
            </a:r>
            <a:r>
              <a:rPr lang="zh-CN" altLang="zh-CN" sz="2000" b="1" dirty="0">
                <a:latin typeface="+mn-ea"/>
              </a:rPr>
              <a:t>从评估目角度</a:t>
            </a:r>
          </a:p>
          <a:p>
            <a:pPr marL="285750" indent="-285750">
              <a:lnSpc>
                <a:spcPct val="150000"/>
              </a:lnSpc>
              <a:buFont typeface="Arial" panose="020B0604020202020204" pitchFamily="34" charset="0"/>
              <a:buChar char="•"/>
            </a:pPr>
            <a:r>
              <a:rPr lang="zh-CN" altLang="zh-CN" dirty="0"/>
              <a:t>形成性评估</a:t>
            </a:r>
            <a:r>
              <a:rPr lang="zh-CN" altLang="en-US" dirty="0"/>
              <a:t>：</a:t>
            </a:r>
            <a:r>
              <a:rPr lang="zh-CN" altLang="zh-CN" dirty="0"/>
              <a:t>解决方案实施前或实施过程中，是为改进解决方案而进行的评估</a:t>
            </a:r>
            <a:endParaRPr lang="en-US" altLang="zh-CN" dirty="0"/>
          </a:p>
          <a:p>
            <a:pPr marL="285750" indent="-285750">
              <a:lnSpc>
                <a:spcPct val="150000"/>
              </a:lnSpc>
              <a:buFont typeface="Arial" panose="020B0604020202020204" pitchFamily="34" charset="0"/>
              <a:buChar char="•"/>
            </a:pPr>
            <a:r>
              <a:rPr lang="zh-CN" altLang="zh-CN" dirty="0"/>
              <a:t>总结性评估</a:t>
            </a:r>
            <a:r>
              <a:rPr lang="zh-CN" altLang="en-US" dirty="0"/>
              <a:t>：</a:t>
            </a:r>
            <a:r>
              <a:rPr lang="zh-CN" altLang="zh-CN" dirty="0"/>
              <a:t>总结性评估是在解决方案实施后，评估实施结果是否满足预期目标，以及满足预期目标的程度。</a:t>
            </a:r>
            <a:endParaRPr lang="zh-CN" altLang="zh-CN" dirty="0">
              <a:latin typeface="+mn-ea"/>
            </a:endParaRPr>
          </a:p>
          <a:p>
            <a:pPr>
              <a:lnSpc>
                <a:spcPct val="150000"/>
              </a:lnSpc>
            </a:pPr>
            <a:r>
              <a:rPr lang="en-US" altLang="zh-CN" sz="2000" b="1" dirty="0">
                <a:latin typeface="+mn-ea"/>
              </a:rPr>
              <a:t>2</a:t>
            </a:r>
            <a:r>
              <a:rPr lang="zh-CN" altLang="en-US" sz="2000" b="1" dirty="0">
                <a:latin typeface="+mn-ea"/>
              </a:rPr>
              <a:t>、</a:t>
            </a:r>
            <a:r>
              <a:rPr lang="zh-CN" altLang="zh-CN" sz="2000" b="1" dirty="0">
                <a:latin typeface="+mn-ea"/>
              </a:rPr>
              <a:t>从实施角度</a:t>
            </a:r>
          </a:p>
          <a:p>
            <a:pPr marL="285750" indent="-285750">
              <a:lnSpc>
                <a:spcPct val="150000"/>
              </a:lnSpc>
              <a:buFont typeface="Arial" panose="020B0604020202020204" pitchFamily="34" charset="0"/>
              <a:buChar char="•"/>
            </a:pPr>
            <a:r>
              <a:rPr lang="zh-CN" altLang="zh-CN" dirty="0"/>
              <a:t>实施评估</a:t>
            </a:r>
            <a:r>
              <a:rPr lang="zh-CN" altLang="zh-CN" dirty="0">
                <a:latin typeface="+mn-ea"/>
              </a:rPr>
              <a:t>：</a:t>
            </a:r>
            <a:r>
              <a:rPr lang="zh-CN" altLang="zh-CN" dirty="0"/>
              <a:t>执行或者部分执行解决方案，从而评估解决方案</a:t>
            </a:r>
            <a:r>
              <a:rPr lang="zh-CN" altLang="en-US" dirty="0"/>
              <a:t>，如</a:t>
            </a:r>
            <a:r>
              <a:rPr lang="zh-CN" altLang="zh-CN" dirty="0"/>
              <a:t>案例研究、准试验设计。</a:t>
            </a:r>
            <a:endParaRPr lang="en-US" altLang="zh-CN" dirty="0"/>
          </a:p>
          <a:p>
            <a:pPr marL="285750" indent="-285750">
              <a:lnSpc>
                <a:spcPct val="150000"/>
              </a:lnSpc>
              <a:buFont typeface="Arial" panose="020B0604020202020204" pitchFamily="34" charset="0"/>
              <a:buChar char="•"/>
            </a:pPr>
            <a:r>
              <a:rPr lang="zh-CN" altLang="zh-CN" dirty="0"/>
              <a:t>推演评估</a:t>
            </a:r>
            <a:r>
              <a:rPr lang="zh-CN" altLang="en-US" dirty="0">
                <a:latin typeface="+mn-ea"/>
              </a:rPr>
              <a:t>：</a:t>
            </a:r>
            <a:r>
              <a:rPr lang="zh-CN" altLang="zh-CN" dirty="0"/>
              <a:t>评估过程无需对已有活动进行修改，主要是基于认知和理论层推演，如通过仿真、专家评估。</a:t>
            </a:r>
            <a:endParaRPr lang="zh-CN" altLang="zh-CN" sz="2000" dirty="0">
              <a:latin typeface="+mj-ea"/>
              <a:ea typeface="+mj-ea"/>
            </a:endParaRPr>
          </a:p>
        </p:txBody>
      </p:sp>
      <p:sp>
        <p:nvSpPr>
          <p:cNvPr id="5" name="标题 1">
            <a:extLst>
              <a:ext uri="{FF2B5EF4-FFF2-40B4-BE49-F238E27FC236}">
                <a16:creationId xmlns:a16="http://schemas.microsoft.com/office/drawing/2014/main" id="{3028A9E3-BC2E-4582-AC7C-3318B002C375}"/>
              </a:ext>
            </a:extLst>
          </p:cNvPr>
          <p:cNvSpPr txBox="1">
            <a:spLocks noChangeArrowheads="1"/>
          </p:cNvSpPr>
          <p:nvPr/>
        </p:nvSpPr>
        <p:spPr>
          <a:xfrm>
            <a:off x="1640114" y="487668"/>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评估的分类</a:t>
            </a:r>
          </a:p>
        </p:txBody>
      </p:sp>
      <p:graphicFrame>
        <p:nvGraphicFramePr>
          <p:cNvPr id="2" name="表格 1">
            <a:extLst>
              <a:ext uri="{FF2B5EF4-FFF2-40B4-BE49-F238E27FC236}">
                <a16:creationId xmlns:a16="http://schemas.microsoft.com/office/drawing/2014/main" id="{79FC205F-0F30-42E5-A8C5-402CB3103C99}"/>
              </a:ext>
            </a:extLst>
          </p:cNvPr>
          <p:cNvGraphicFramePr>
            <a:graphicFrameLocks noGrp="1"/>
          </p:cNvGraphicFramePr>
          <p:nvPr>
            <p:extLst>
              <p:ext uri="{D42A27DB-BD31-4B8C-83A1-F6EECF244321}">
                <p14:modId xmlns:p14="http://schemas.microsoft.com/office/powerpoint/2010/main" val="3898346132"/>
              </p:ext>
            </p:extLst>
          </p:nvPr>
        </p:nvGraphicFramePr>
        <p:xfrm>
          <a:off x="2278610" y="4295241"/>
          <a:ext cx="6697748" cy="1852095"/>
        </p:xfrm>
        <a:graphic>
          <a:graphicData uri="http://schemas.openxmlformats.org/drawingml/2006/table">
            <a:tbl>
              <a:tblPr firstRow="1" firstCol="1" bandRow="1">
                <a:tableStyleId>{5C22544A-7EE6-4342-B048-85BDC9FD1C3A}</a:tableStyleId>
              </a:tblPr>
              <a:tblGrid>
                <a:gridCol w="696670">
                  <a:extLst>
                    <a:ext uri="{9D8B030D-6E8A-4147-A177-3AD203B41FA5}">
                      <a16:colId xmlns:a16="http://schemas.microsoft.com/office/drawing/2014/main" val="1313260389"/>
                    </a:ext>
                  </a:extLst>
                </a:gridCol>
                <a:gridCol w="2937840">
                  <a:extLst>
                    <a:ext uri="{9D8B030D-6E8A-4147-A177-3AD203B41FA5}">
                      <a16:colId xmlns:a16="http://schemas.microsoft.com/office/drawing/2014/main" val="3750163007"/>
                    </a:ext>
                  </a:extLst>
                </a:gridCol>
                <a:gridCol w="3063238">
                  <a:extLst>
                    <a:ext uri="{9D8B030D-6E8A-4147-A177-3AD203B41FA5}">
                      <a16:colId xmlns:a16="http://schemas.microsoft.com/office/drawing/2014/main" val="405038948"/>
                    </a:ext>
                  </a:extLst>
                </a:gridCol>
              </a:tblGrid>
              <a:tr h="280144">
                <a:tc>
                  <a:txBody>
                    <a:bodyPr/>
                    <a:lstStyle/>
                    <a:p>
                      <a:pPr algn="just">
                        <a:spcAft>
                          <a:spcPts val="0"/>
                        </a:spcAft>
                      </a:pPr>
                      <a:r>
                        <a:rPr lang="en-US" sz="1600" kern="100">
                          <a:effectLst/>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rPr>
                        <a:t>实施评估</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600" kern="100" dirty="0">
                          <a:effectLst/>
                        </a:rPr>
                        <a:t>推演评估</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17560804"/>
                  </a:ext>
                </a:extLst>
              </a:tr>
              <a:tr h="543036">
                <a:tc>
                  <a:txBody>
                    <a:bodyPr/>
                    <a:lstStyle/>
                    <a:p>
                      <a:pPr algn="just">
                        <a:spcAft>
                          <a:spcPts val="0"/>
                        </a:spcAft>
                      </a:pPr>
                      <a:r>
                        <a:rPr lang="zh-CN" sz="1600" kern="100">
                          <a:effectLst/>
                        </a:rPr>
                        <a:t>侧重</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实例化，在环境中实施解决方案，演示和验证在真实环境中的有效性</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rPr>
                        <a:t>推演解决方案的效用，理论上是否成立</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9919532"/>
                  </a:ext>
                </a:extLst>
              </a:tr>
              <a:tr h="560287">
                <a:tc>
                  <a:txBody>
                    <a:bodyPr/>
                    <a:lstStyle/>
                    <a:p>
                      <a:pPr algn="just">
                        <a:spcAft>
                          <a:spcPts val="0"/>
                        </a:spcAft>
                      </a:pPr>
                      <a:r>
                        <a:rPr lang="zh-CN" sz="1600" kern="100">
                          <a:effectLst/>
                        </a:rPr>
                        <a:t>优点</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提供了对解决方案现实有效性的评估</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简单、直接、成本低，控制明显的干扰因素</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97435003"/>
                  </a:ext>
                </a:extLst>
              </a:tr>
              <a:tr h="280144">
                <a:tc>
                  <a:txBody>
                    <a:bodyPr/>
                    <a:lstStyle/>
                    <a:p>
                      <a:pPr algn="just">
                        <a:spcAft>
                          <a:spcPts val="0"/>
                        </a:spcAft>
                      </a:pPr>
                      <a:r>
                        <a:rPr lang="zh-CN" sz="1600" kern="100">
                          <a:effectLst/>
                        </a:rPr>
                        <a:t>缺点</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a:effectLst/>
                        </a:rPr>
                        <a:t>受到干扰因素的影响</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600" kern="100" dirty="0">
                          <a:effectLst/>
                        </a:rPr>
                        <a:t>简化抽象了现实的复杂、多变</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07597063"/>
                  </a:ext>
                </a:extLst>
              </a:tr>
            </a:tbl>
          </a:graphicData>
        </a:graphic>
      </p:graphicFrame>
    </p:spTree>
    <p:extLst>
      <p:ext uri="{BB962C8B-B14F-4D97-AF65-F5344CB8AC3E}">
        <p14:creationId xmlns:p14="http://schemas.microsoft.com/office/powerpoint/2010/main" val="1199978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1DB88B-13A3-4393-9EFE-EBEF94086187}"/>
              </a:ext>
            </a:extLst>
          </p:cNvPr>
          <p:cNvSpPr/>
          <p:nvPr/>
        </p:nvSpPr>
        <p:spPr>
          <a:xfrm>
            <a:off x="358139" y="1096402"/>
            <a:ext cx="10858501" cy="2173800"/>
          </a:xfrm>
          <a:prstGeom prst="rect">
            <a:avLst/>
          </a:prstGeom>
        </p:spPr>
        <p:txBody>
          <a:bodyPr wrap="square">
            <a:spAutoFit/>
          </a:bodyPr>
          <a:lstStyle/>
          <a:p>
            <a:pPr>
              <a:lnSpc>
                <a:spcPct val="150000"/>
              </a:lnSpc>
            </a:pPr>
            <a:r>
              <a:rPr lang="en-US" altLang="zh-CN" sz="2000" b="1" dirty="0">
                <a:latin typeface="+mn-ea"/>
              </a:rPr>
              <a:t>3</a:t>
            </a:r>
            <a:r>
              <a:rPr lang="zh-CN" altLang="en-US" sz="2000" b="1" dirty="0">
                <a:latin typeface="+mn-ea"/>
              </a:rPr>
              <a:t>、</a:t>
            </a:r>
            <a:r>
              <a:rPr lang="zh-CN" altLang="zh-CN" b="1" dirty="0"/>
              <a:t>按阶段</a:t>
            </a:r>
            <a:r>
              <a:rPr lang="zh-CN" altLang="zh-CN" sz="2000" b="1" dirty="0">
                <a:latin typeface="+mn-ea"/>
              </a:rPr>
              <a:t>分类</a:t>
            </a:r>
          </a:p>
          <a:p>
            <a:pPr marL="285750" indent="-285750">
              <a:lnSpc>
                <a:spcPct val="150000"/>
              </a:lnSpc>
              <a:buFont typeface="Arial" panose="020B0604020202020204" pitchFamily="34" charset="0"/>
              <a:buChar char="•"/>
            </a:pPr>
            <a:r>
              <a:rPr lang="zh-CN" altLang="zh-CN" dirty="0">
                <a:latin typeface="+mn-ea"/>
              </a:rPr>
              <a:t>事前评估和决策</a:t>
            </a:r>
            <a:r>
              <a:rPr lang="zh-CN" altLang="en-US" dirty="0">
                <a:latin typeface="+mn-ea"/>
              </a:rPr>
              <a:t>：</a:t>
            </a:r>
            <a:r>
              <a:rPr lang="zh-CN" altLang="zh-CN" dirty="0">
                <a:latin typeface="+mn-ea"/>
              </a:rPr>
              <a:t>为了预测未来情况而进行的预测性评估。</a:t>
            </a:r>
          </a:p>
          <a:p>
            <a:pPr marL="285750" indent="-285750">
              <a:lnSpc>
                <a:spcPct val="150000"/>
              </a:lnSpc>
              <a:buFont typeface="Arial" panose="020B0604020202020204" pitchFamily="34" charset="0"/>
              <a:buChar char="•"/>
            </a:pPr>
            <a:r>
              <a:rPr lang="zh-CN" altLang="zh-CN" dirty="0">
                <a:latin typeface="+mn-ea"/>
              </a:rPr>
              <a:t>过程评估和改进</a:t>
            </a:r>
            <a:r>
              <a:rPr lang="zh-CN" altLang="en-US" dirty="0">
                <a:latin typeface="+mn-ea"/>
              </a:rPr>
              <a:t>：</a:t>
            </a:r>
            <a:r>
              <a:rPr lang="zh-CN" altLang="zh-CN" dirty="0">
                <a:latin typeface="+mn-ea"/>
              </a:rPr>
              <a:t>针对实施过程中出现的新情况和干扰等进行评估，基于评估做出相应的调整和改进。</a:t>
            </a:r>
          </a:p>
          <a:p>
            <a:pPr marL="285750" indent="-285750">
              <a:lnSpc>
                <a:spcPct val="150000"/>
              </a:lnSpc>
              <a:buFont typeface="Arial" panose="020B0604020202020204" pitchFamily="34" charset="0"/>
              <a:buChar char="•"/>
            </a:pPr>
            <a:r>
              <a:rPr lang="zh-CN" altLang="zh-CN" dirty="0">
                <a:latin typeface="+mn-ea"/>
              </a:rPr>
              <a:t>事后评估和总结。解决方案实施后的总结评估，该阶段的评估结果可提供责任考量，并促进更深层次的认识。</a:t>
            </a:r>
          </a:p>
        </p:txBody>
      </p:sp>
      <p:sp>
        <p:nvSpPr>
          <p:cNvPr id="5" name="标题 1">
            <a:extLst>
              <a:ext uri="{FF2B5EF4-FFF2-40B4-BE49-F238E27FC236}">
                <a16:creationId xmlns:a16="http://schemas.microsoft.com/office/drawing/2014/main" id="{3028A9E3-BC2E-4582-AC7C-3318B002C375}"/>
              </a:ext>
            </a:extLst>
          </p:cNvPr>
          <p:cNvSpPr txBox="1">
            <a:spLocks noChangeArrowheads="1"/>
          </p:cNvSpPr>
          <p:nvPr/>
        </p:nvSpPr>
        <p:spPr>
          <a:xfrm>
            <a:off x="1640114" y="487668"/>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评估的分类</a:t>
            </a:r>
          </a:p>
        </p:txBody>
      </p:sp>
    </p:spTree>
    <p:extLst>
      <p:ext uri="{BB962C8B-B14F-4D97-AF65-F5344CB8AC3E}">
        <p14:creationId xmlns:p14="http://schemas.microsoft.com/office/powerpoint/2010/main" val="2705372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A4FF79E-43FB-4B3B-9D9B-7459C30A674A}"/>
              </a:ext>
            </a:extLst>
          </p:cNvPr>
          <p:cNvSpPr/>
          <p:nvPr/>
        </p:nvSpPr>
        <p:spPr>
          <a:xfrm>
            <a:off x="416924" y="1130821"/>
            <a:ext cx="10765970" cy="3277116"/>
          </a:xfrm>
          <a:prstGeom prst="rect">
            <a:avLst/>
          </a:prstGeom>
        </p:spPr>
        <p:txBody>
          <a:bodyPr wrap="square">
            <a:spAutoFit/>
          </a:bodyPr>
          <a:lstStyle/>
          <a:p>
            <a:pPr marL="0" lvl="2">
              <a:lnSpc>
                <a:spcPct val="150000"/>
              </a:lnSpc>
            </a:pPr>
            <a:r>
              <a:rPr lang="zh-CN" altLang="en-US" sz="2000" b="1" dirty="0">
                <a:latin typeface="+mn-ea"/>
              </a:rPr>
              <a:t>评估指标的建立</a:t>
            </a:r>
            <a:endParaRPr lang="en-US" altLang="zh-CN" sz="2000" b="1" dirty="0">
              <a:latin typeface="+mn-ea"/>
            </a:endParaRPr>
          </a:p>
          <a:p>
            <a:pPr marL="342900" lvl="2" indent="-342900">
              <a:lnSpc>
                <a:spcPct val="150000"/>
              </a:lnSpc>
              <a:buFont typeface="Arial" panose="020B0604020202020204" pitchFamily="34" charset="0"/>
              <a:buChar char="•"/>
            </a:pPr>
            <a:r>
              <a:rPr lang="zh-CN" altLang="zh-CN" sz="2000" dirty="0">
                <a:latin typeface="+mn-ea"/>
              </a:rPr>
              <a:t>指标的选取。评估指标的选择可以基于理论、实证分析、经验分析、以及相关来源的综合等。</a:t>
            </a:r>
            <a:endParaRPr lang="en-US" altLang="zh-CN" sz="2000" dirty="0">
              <a:latin typeface="+mn-ea"/>
            </a:endParaRPr>
          </a:p>
          <a:p>
            <a:pPr marL="342900" lvl="2" indent="-342900">
              <a:lnSpc>
                <a:spcPct val="150000"/>
              </a:lnSpc>
              <a:buFont typeface="Arial" panose="020B0604020202020204" pitchFamily="34" charset="0"/>
              <a:buChar char="•"/>
            </a:pPr>
            <a:r>
              <a:rPr lang="zh-CN" altLang="zh-CN" sz="2000" dirty="0">
                <a:latin typeface="+mn-ea"/>
              </a:rPr>
              <a:t>评估指标内涵和边界</a:t>
            </a:r>
            <a:endParaRPr lang="en-US" altLang="zh-CN" sz="2000" dirty="0">
              <a:latin typeface="+mn-ea"/>
            </a:endParaRPr>
          </a:p>
          <a:p>
            <a:pPr marL="0" lvl="2">
              <a:lnSpc>
                <a:spcPct val="150000"/>
              </a:lnSpc>
            </a:pPr>
            <a:r>
              <a:rPr lang="zh-CN" altLang="zh-CN" sz="2000" b="1" dirty="0">
                <a:latin typeface="+mn-ea"/>
              </a:rPr>
              <a:t>指标测量</a:t>
            </a:r>
            <a:endParaRPr lang="en-US" altLang="zh-CN" sz="2000" b="1" dirty="0">
              <a:latin typeface="+mn-ea"/>
            </a:endParaRPr>
          </a:p>
          <a:p>
            <a:pPr marL="342900" lvl="2" indent="-342900">
              <a:lnSpc>
                <a:spcPct val="150000"/>
              </a:lnSpc>
              <a:buFont typeface="Arial" panose="020B0604020202020204" pitchFamily="34" charset="0"/>
              <a:buChar char="•"/>
            </a:pPr>
            <a:r>
              <a:rPr lang="zh-CN" altLang="zh-CN" sz="2000" dirty="0">
                <a:latin typeface="+mn-ea"/>
              </a:rPr>
              <a:t>定量和定性测量</a:t>
            </a:r>
            <a:endParaRPr lang="en-US" altLang="zh-CN" sz="2000" dirty="0">
              <a:latin typeface="+mn-ea"/>
            </a:endParaRPr>
          </a:p>
          <a:p>
            <a:pPr marL="342900" lvl="2" indent="-342900">
              <a:lnSpc>
                <a:spcPct val="150000"/>
              </a:lnSpc>
              <a:buFont typeface="Arial" panose="020B0604020202020204" pitchFamily="34" charset="0"/>
              <a:buChar char="•"/>
            </a:pPr>
            <a:r>
              <a:rPr lang="zh-CN" altLang="zh-CN" sz="2000" dirty="0">
                <a:latin typeface="+mn-ea"/>
              </a:rPr>
              <a:t>测量数据的可获得性</a:t>
            </a:r>
            <a:endParaRPr lang="en-US" altLang="zh-CN" sz="2000" dirty="0">
              <a:latin typeface="+mn-ea"/>
            </a:endParaRPr>
          </a:p>
          <a:p>
            <a:pPr marL="0" lvl="2">
              <a:lnSpc>
                <a:spcPct val="150000"/>
              </a:lnSpc>
            </a:pPr>
            <a:r>
              <a:rPr lang="zh-CN" altLang="en-US" sz="2000" b="1" dirty="0">
                <a:latin typeface="+mn-ea"/>
              </a:rPr>
              <a:t>指标权重</a:t>
            </a:r>
          </a:p>
        </p:txBody>
      </p:sp>
      <p:sp>
        <p:nvSpPr>
          <p:cNvPr id="4" name="标题 1">
            <a:extLst>
              <a:ext uri="{FF2B5EF4-FFF2-40B4-BE49-F238E27FC236}">
                <a16:creationId xmlns:a16="http://schemas.microsoft.com/office/drawing/2014/main" id="{FE50CB96-80AA-4154-B0BC-09FC0564CB84}"/>
              </a:ext>
            </a:extLst>
          </p:cNvPr>
          <p:cNvSpPr txBox="1">
            <a:spLocks noChangeArrowheads="1"/>
          </p:cNvSpPr>
          <p:nvPr/>
        </p:nvSpPr>
        <p:spPr>
          <a:xfrm>
            <a:off x="1738087" y="455744"/>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评估指标</a:t>
            </a:r>
          </a:p>
        </p:txBody>
      </p:sp>
    </p:spTree>
    <p:extLst>
      <p:ext uri="{BB962C8B-B14F-4D97-AF65-F5344CB8AC3E}">
        <p14:creationId xmlns:p14="http://schemas.microsoft.com/office/powerpoint/2010/main" val="665157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A4FF79E-43FB-4B3B-9D9B-7459C30A674A}"/>
              </a:ext>
            </a:extLst>
          </p:cNvPr>
          <p:cNvSpPr/>
          <p:nvPr/>
        </p:nvSpPr>
        <p:spPr>
          <a:xfrm>
            <a:off x="462644" y="1028413"/>
            <a:ext cx="10765970" cy="3334824"/>
          </a:xfrm>
          <a:prstGeom prst="rect">
            <a:avLst/>
          </a:prstGeom>
        </p:spPr>
        <p:txBody>
          <a:bodyPr wrap="square">
            <a:spAutoFit/>
          </a:bodyPr>
          <a:lstStyle/>
          <a:p>
            <a:pPr marL="0" lvl="2">
              <a:lnSpc>
                <a:spcPct val="150000"/>
              </a:lnSpc>
            </a:pPr>
            <a:r>
              <a:rPr lang="zh-CN" altLang="zh-CN" sz="2000" b="1" dirty="0">
                <a:latin typeface="+mn-ea"/>
              </a:rPr>
              <a:t>基准是评价结果中程度的大小</a:t>
            </a:r>
          </a:p>
          <a:p>
            <a:pPr marL="342900" lvl="2" indent="-342900">
              <a:lnSpc>
                <a:spcPct val="150000"/>
              </a:lnSpc>
              <a:buFont typeface="Wingdings" panose="05000000000000000000" pitchFamily="2" charset="2"/>
              <a:buChar char="ü"/>
            </a:pPr>
            <a:r>
              <a:rPr lang="zh-CN" altLang="zh-CN" dirty="0">
                <a:latin typeface="+mj-ea"/>
                <a:ea typeface="+mj-ea"/>
              </a:rPr>
              <a:t>相对基准</a:t>
            </a:r>
          </a:p>
          <a:p>
            <a:pPr marL="742950" lvl="1" indent="-285750">
              <a:lnSpc>
                <a:spcPct val="150000"/>
              </a:lnSpc>
              <a:buFont typeface="Arial" panose="020B0604020202020204" pitchFamily="34" charset="0"/>
              <a:buChar char="•"/>
            </a:pPr>
            <a:r>
              <a:rPr lang="zh-CN" altLang="zh-CN" dirty="0"/>
              <a:t>基于过去的基准效果进行比较。</a:t>
            </a:r>
            <a:endParaRPr lang="en-US" altLang="zh-CN" dirty="0"/>
          </a:p>
          <a:p>
            <a:pPr marL="742950" lvl="1" indent="-285750">
              <a:lnSpc>
                <a:spcPct val="150000"/>
              </a:lnSpc>
              <a:buFont typeface="Arial" panose="020B0604020202020204" pitchFamily="34" charset="0"/>
              <a:buChar char="•"/>
            </a:pPr>
            <a:r>
              <a:rPr lang="zh-CN" altLang="zh-CN" dirty="0"/>
              <a:t>与已有模型效果的比较。</a:t>
            </a:r>
            <a:endParaRPr lang="en-US" altLang="zh-CN" dirty="0"/>
          </a:p>
          <a:p>
            <a:pPr marL="742950" lvl="1" indent="-285750">
              <a:lnSpc>
                <a:spcPct val="150000"/>
              </a:lnSpc>
              <a:buFont typeface="Arial" panose="020B0604020202020204" pitchFamily="34" charset="0"/>
              <a:buChar char="•"/>
            </a:pPr>
            <a:r>
              <a:rPr lang="zh-CN" altLang="zh-CN" dirty="0"/>
              <a:t>与设定的目标的比较。</a:t>
            </a:r>
          </a:p>
          <a:p>
            <a:pPr marL="285750" lvl="2" indent="-285750">
              <a:lnSpc>
                <a:spcPct val="150000"/>
              </a:lnSpc>
              <a:buFont typeface="Wingdings" panose="05000000000000000000" pitchFamily="2" charset="2"/>
              <a:buChar char="ü"/>
            </a:pPr>
            <a:r>
              <a:rPr lang="zh-CN" altLang="zh-CN" dirty="0">
                <a:latin typeface="+mj-ea"/>
                <a:ea typeface="+mj-ea"/>
              </a:rPr>
              <a:t>绝对基准</a:t>
            </a:r>
          </a:p>
          <a:p>
            <a:pPr marL="1257300" lvl="2" indent="-342900">
              <a:lnSpc>
                <a:spcPct val="125000"/>
              </a:lnSpc>
              <a:buFont typeface="Arial" panose="020B0604020202020204" pitchFamily="34" charset="0"/>
              <a:buChar char="•"/>
            </a:pPr>
            <a:endParaRPr lang="en-US" altLang="zh-CN" dirty="0">
              <a:latin typeface="+mj-ea"/>
              <a:ea typeface="+mj-ea"/>
            </a:endParaRPr>
          </a:p>
          <a:p>
            <a:pPr marL="0" lvl="2">
              <a:lnSpc>
                <a:spcPct val="125000"/>
              </a:lnSpc>
            </a:pPr>
            <a:endParaRPr lang="zh-CN" altLang="en-US" sz="2000" dirty="0">
              <a:latin typeface="+mj-ea"/>
              <a:ea typeface="+mj-ea"/>
            </a:endParaRPr>
          </a:p>
        </p:txBody>
      </p:sp>
      <p:sp>
        <p:nvSpPr>
          <p:cNvPr id="4" name="标题 1">
            <a:extLst>
              <a:ext uri="{FF2B5EF4-FFF2-40B4-BE49-F238E27FC236}">
                <a16:creationId xmlns:a16="http://schemas.microsoft.com/office/drawing/2014/main" id="{FE50CB96-80AA-4154-B0BC-09FC0564CB84}"/>
              </a:ext>
            </a:extLst>
          </p:cNvPr>
          <p:cNvSpPr txBox="1">
            <a:spLocks noChangeArrowheads="1"/>
          </p:cNvSpPr>
          <p:nvPr/>
        </p:nvSpPr>
        <p:spPr>
          <a:xfrm>
            <a:off x="1738087" y="455744"/>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评估基准</a:t>
            </a:r>
          </a:p>
        </p:txBody>
      </p:sp>
    </p:spTree>
    <p:extLst>
      <p:ext uri="{BB962C8B-B14F-4D97-AF65-F5344CB8AC3E}">
        <p14:creationId xmlns:p14="http://schemas.microsoft.com/office/powerpoint/2010/main" val="2301637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A4FF79E-43FB-4B3B-9D9B-7459C30A674A}"/>
              </a:ext>
            </a:extLst>
          </p:cNvPr>
          <p:cNvSpPr/>
          <p:nvPr/>
        </p:nvSpPr>
        <p:spPr>
          <a:xfrm>
            <a:off x="439784" y="1092721"/>
            <a:ext cx="10765970" cy="4712957"/>
          </a:xfrm>
          <a:prstGeom prst="rect">
            <a:avLst/>
          </a:prstGeom>
        </p:spPr>
        <p:txBody>
          <a:bodyPr wrap="square">
            <a:spAutoFit/>
          </a:bodyPr>
          <a:lstStyle/>
          <a:p>
            <a:pPr>
              <a:lnSpc>
                <a:spcPct val="150000"/>
              </a:lnSpc>
            </a:pPr>
            <a:r>
              <a:rPr lang="zh-CN" altLang="zh-CN" sz="2000" dirty="0"/>
              <a:t>由于解决方案评估立足于一定立场，因此需要明确评估主体</a:t>
            </a:r>
            <a:r>
              <a:rPr lang="zh-CN" altLang="en-US" sz="2000" dirty="0"/>
              <a:t>。</a:t>
            </a:r>
            <a:r>
              <a:rPr lang="zh-CN" altLang="zh-CN" sz="2000" dirty="0"/>
              <a:t>评估主体可能存在以下情形：</a:t>
            </a:r>
          </a:p>
          <a:p>
            <a:pPr marL="342900" indent="-342900">
              <a:lnSpc>
                <a:spcPct val="150000"/>
              </a:lnSpc>
              <a:buFont typeface="Arial" panose="020B0604020202020204" pitchFamily="34" charset="0"/>
              <a:buChar char="•"/>
            </a:pPr>
            <a:r>
              <a:rPr lang="zh-CN" altLang="zh-CN" dirty="0"/>
              <a:t>解决方案设计者进行评估。</a:t>
            </a:r>
          </a:p>
          <a:p>
            <a:pPr marL="342900" indent="-342900">
              <a:lnSpc>
                <a:spcPct val="150000"/>
              </a:lnSpc>
              <a:buFont typeface="Arial" panose="020B0604020202020204" pitchFamily="34" charset="0"/>
              <a:buChar char="•"/>
            </a:pPr>
            <a:r>
              <a:rPr lang="zh-CN" altLang="zh-CN" dirty="0"/>
              <a:t>研究人员在研究情境下进行评估。</a:t>
            </a:r>
          </a:p>
          <a:p>
            <a:pPr marL="342900" indent="-342900">
              <a:lnSpc>
                <a:spcPct val="150000"/>
              </a:lnSpc>
              <a:buFont typeface="Arial" panose="020B0604020202020204" pitchFamily="34" charset="0"/>
              <a:buChar char="•"/>
            </a:pPr>
            <a:r>
              <a:rPr lang="zh-CN" altLang="zh-CN" dirty="0"/>
              <a:t>在使用情境下进行评估，如使用者。</a:t>
            </a:r>
          </a:p>
          <a:p>
            <a:pPr marL="342900" indent="-342900">
              <a:lnSpc>
                <a:spcPct val="150000"/>
              </a:lnSpc>
              <a:buFont typeface="Arial" panose="020B0604020202020204" pitchFamily="34" charset="0"/>
              <a:buChar char="•"/>
            </a:pPr>
            <a:r>
              <a:rPr lang="zh-CN" altLang="zh-CN" dirty="0"/>
              <a:t>也可以是多类型评估人员参与评估。</a:t>
            </a:r>
          </a:p>
          <a:p>
            <a:pPr>
              <a:lnSpc>
                <a:spcPct val="150000"/>
              </a:lnSpc>
            </a:pPr>
            <a:r>
              <a:rPr lang="zh-CN" altLang="zh-CN" sz="2000" dirty="0"/>
              <a:t>评估主体选择过程有以下考虑：</a:t>
            </a:r>
          </a:p>
          <a:p>
            <a:pPr marL="342900" indent="-342900">
              <a:lnSpc>
                <a:spcPct val="150000"/>
              </a:lnSpc>
              <a:buFont typeface="Arial" panose="020B0604020202020204" pitchFamily="34" charset="0"/>
              <a:buChar char="•"/>
            </a:pPr>
            <a:r>
              <a:rPr lang="zh-CN" altLang="zh-CN" dirty="0"/>
              <a:t>以最能满足设计目标作为评估主体选择的依据。</a:t>
            </a:r>
          </a:p>
          <a:p>
            <a:pPr marL="342900" indent="-342900">
              <a:lnSpc>
                <a:spcPct val="150000"/>
              </a:lnSpc>
              <a:buFont typeface="Arial" panose="020B0604020202020204" pitchFamily="34" charset="0"/>
              <a:buChar char="•"/>
            </a:pPr>
            <a:r>
              <a:rPr lang="zh-CN" altLang="zh-CN" dirty="0"/>
              <a:t>考虑解决方案实施过程中受影响的主体，如用户、客户等。</a:t>
            </a:r>
          </a:p>
          <a:p>
            <a:pPr marL="342900" indent="-342900">
              <a:lnSpc>
                <a:spcPct val="150000"/>
              </a:lnSpc>
              <a:buFont typeface="Arial" panose="020B0604020202020204" pitchFamily="34" charset="0"/>
              <a:buChar char="•"/>
            </a:pPr>
            <a:r>
              <a:rPr lang="zh-CN" altLang="zh-CN" dirty="0"/>
              <a:t>考虑解决方案的决策主体。</a:t>
            </a:r>
          </a:p>
          <a:p>
            <a:pPr marL="342900" indent="-342900">
              <a:lnSpc>
                <a:spcPct val="150000"/>
              </a:lnSpc>
              <a:buFont typeface="Arial" panose="020B0604020202020204" pitchFamily="34" charset="0"/>
              <a:buChar char="•"/>
            </a:pPr>
            <a:r>
              <a:rPr lang="zh-CN" altLang="zh-CN" dirty="0"/>
              <a:t>作为社会公正性的角色，评估主体作为中立的第三方或评估者作为社会公正角色。</a:t>
            </a:r>
          </a:p>
          <a:p>
            <a:pPr marL="342900" indent="-342900">
              <a:lnSpc>
                <a:spcPct val="150000"/>
              </a:lnSpc>
              <a:buFont typeface="Arial" panose="020B0604020202020204" pitchFamily="34" charset="0"/>
              <a:buChar char="•"/>
            </a:pPr>
            <a:r>
              <a:rPr lang="zh-CN" altLang="zh-CN" dirty="0"/>
              <a:t>有时，评估主体兼具以上多种角色。</a:t>
            </a:r>
            <a:endParaRPr lang="zh-CN" altLang="en-US" dirty="0">
              <a:latin typeface="+mj-ea"/>
              <a:ea typeface="+mj-ea"/>
            </a:endParaRPr>
          </a:p>
        </p:txBody>
      </p:sp>
      <p:sp>
        <p:nvSpPr>
          <p:cNvPr id="4" name="标题 1">
            <a:extLst>
              <a:ext uri="{FF2B5EF4-FFF2-40B4-BE49-F238E27FC236}">
                <a16:creationId xmlns:a16="http://schemas.microsoft.com/office/drawing/2014/main" id="{FE50CB96-80AA-4154-B0BC-09FC0564CB84}"/>
              </a:ext>
            </a:extLst>
          </p:cNvPr>
          <p:cNvSpPr txBox="1">
            <a:spLocks noChangeArrowheads="1"/>
          </p:cNvSpPr>
          <p:nvPr/>
        </p:nvSpPr>
        <p:spPr>
          <a:xfrm>
            <a:off x="1738087" y="455744"/>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评估主体</a:t>
            </a:r>
          </a:p>
        </p:txBody>
      </p:sp>
    </p:spTree>
    <p:extLst>
      <p:ext uri="{BB962C8B-B14F-4D97-AF65-F5344CB8AC3E}">
        <p14:creationId xmlns:p14="http://schemas.microsoft.com/office/powerpoint/2010/main" val="1444703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p>
        </p:txBody>
      </p:sp>
      <p:graphicFrame>
        <p:nvGraphicFramePr>
          <p:cNvPr id="4" name="表格 3">
            <a:extLst>
              <a:ext uri="{FF2B5EF4-FFF2-40B4-BE49-F238E27FC236}">
                <a16:creationId xmlns:a16="http://schemas.microsoft.com/office/drawing/2014/main" id="{7129BD77-6A8C-46FB-A939-3F9C58D7294F}"/>
              </a:ext>
            </a:extLst>
          </p:cNvPr>
          <p:cNvGraphicFramePr>
            <a:graphicFrameLocks noGrp="1"/>
          </p:cNvGraphicFramePr>
          <p:nvPr>
            <p:extLst>
              <p:ext uri="{D42A27DB-BD31-4B8C-83A1-F6EECF244321}">
                <p14:modId xmlns:p14="http://schemas.microsoft.com/office/powerpoint/2010/main" val="136188573"/>
              </p:ext>
            </p:extLst>
          </p:nvPr>
        </p:nvGraphicFramePr>
        <p:xfrm>
          <a:off x="124722" y="1091941"/>
          <a:ext cx="11942555" cy="5023155"/>
        </p:xfrm>
        <a:graphic>
          <a:graphicData uri="http://schemas.openxmlformats.org/drawingml/2006/table">
            <a:tbl>
              <a:tblPr firstRow="1" firstCol="1" bandRow="1">
                <a:tableStyleId>{5C22544A-7EE6-4342-B048-85BDC9FD1C3A}</a:tableStyleId>
              </a:tblPr>
              <a:tblGrid>
                <a:gridCol w="213959">
                  <a:extLst>
                    <a:ext uri="{9D8B030D-6E8A-4147-A177-3AD203B41FA5}">
                      <a16:colId xmlns:a16="http://schemas.microsoft.com/office/drawing/2014/main" val="581959193"/>
                    </a:ext>
                  </a:extLst>
                </a:gridCol>
                <a:gridCol w="2333135">
                  <a:extLst>
                    <a:ext uri="{9D8B030D-6E8A-4147-A177-3AD203B41FA5}">
                      <a16:colId xmlns:a16="http://schemas.microsoft.com/office/drawing/2014/main" val="4211603700"/>
                    </a:ext>
                  </a:extLst>
                </a:gridCol>
                <a:gridCol w="2247900">
                  <a:extLst>
                    <a:ext uri="{9D8B030D-6E8A-4147-A177-3AD203B41FA5}">
                      <a16:colId xmlns:a16="http://schemas.microsoft.com/office/drawing/2014/main" val="1782008913"/>
                    </a:ext>
                  </a:extLst>
                </a:gridCol>
                <a:gridCol w="2766011">
                  <a:extLst>
                    <a:ext uri="{9D8B030D-6E8A-4147-A177-3AD203B41FA5}">
                      <a16:colId xmlns:a16="http://schemas.microsoft.com/office/drawing/2014/main" val="337708881"/>
                    </a:ext>
                  </a:extLst>
                </a:gridCol>
                <a:gridCol w="2548674">
                  <a:extLst>
                    <a:ext uri="{9D8B030D-6E8A-4147-A177-3AD203B41FA5}">
                      <a16:colId xmlns:a16="http://schemas.microsoft.com/office/drawing/2014/main" val="3816053146"/>
                    </a:ext>
                  </a:extLst>
                </a:gridCol>
                <a:gridCol w="1832876">
                  <a:extLst>
                    <a:ext uri="{9D8B030D-6E8A-4147-A177-3AD203B41FA5}">
                      <a16:colId xmlns:a16="http://schemas.microsoft.com/office/drawing/2014/main" val="2395188344"/>
                    </a:ext>
                  </a:extLst>
                </a:gridCol>
              </a:tblGrid>
              <a:tr h="237379">
                <a:tc>
                  <a:txBody>
                    <a:bodyPr/>
                    <a:lstStyle/>
                    <a:p>
                      <a:pPr algn="l">
                        <a:spcAft>
                          <a:spcPts val="0"/>
                        </a:spcAft>
                      </a:pPr>
                      <a:r>
                        <a:rPr lang="en-US" sz="1700" kern="100">
                          <a:effectLst/>
                        </a:rPr>
                        <a:t> </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ctr">
                        <a:spcAft>
                          <a:spcPts val="0"/>
                        </a:spcAft>
                      </a:pPr>
                      <a:r>
                        <a:rPr lang="zh-CN" sz="1700" kern="100">
                          <a:effectLst/>
                        </a:rPr>
                        <a:t>专家评估</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ctr">
                        <a:spcAft>
                          <a:spcPts val="0"/>
                        </a:spcAft>
                      </a:pPr>
                      <a:r>
                        <a:rPr lang="zh-CN" sz="1700" kern="100">
                          <a:effectLst/>
                        </a:rPr>
                        <a:t>案例评估</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ctr">
                        <a:spcAft>
                          <a:spcPts val="0"/>
                        </a:spcAft>
                      </a:pPr>
                      <a:r>
                        <a:rPr lang="zh-CN" sz="1700" kern="100">
                          <a:effectLst/>
                        </a:rPr>
                        <a:t>准实验设计</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ctr">
                        <a:spcAft>
                          <a:spcPts val="0"/>
                        </a:spcAft>
                      </a:pPr>
                      <a:r>
                        <a:rPr lang="zh-CN" sz="1700" kern="100">
                          <a:effectLst/>
                        </a:rPr>
                        <a:t>数值实验与仿真</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ctr">
                        <a:spcAft>
                          <a:spcPts val="0"/>
                        </a:spcAft>
                      </a:pPr>
                      <a:r>
                        <a:rPr lang="zh-CN" sz="1700" kern="100" dirty="0">
                          <a:effectLst/>
                        </a:rPr>
                        <a:t>原型开发</a:t>
                      </a:r>
                      <a:endParaRPr lang="zh-CN" sz="17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extLst>
                  <a:ext uri="{0D108BD9-81ED-4DB2-BD59-A6C34878D82A}">
                    <a16:rowId xmlns:a16="http://schemas.microsoft.com/office/drawing/2014/main" val="2970528300"/>
                  </a:ext>
                </a:extLst>
              </a:tr>
              <a:tr h="782709">
                <a:tc>
                  <a:txBody>
                    <a:bodyPr/>
                    <a:lstStyle/>
                    <a:p>
                      <a:pPr algn="ctr">
                        <a:spcAft>
                          <a:spcPts val="0"/>
                        </a:spcAft>
                      </a:pPr>
                      <a:r>
                        <a:rPr lang="zh-CN" sz="1700" kern="100">
                          <a:effectLst/>
                        </a:rPr>
                        <a:t>描述</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zh-CN" sz="1600" kern="100" dirty="0">
                          <a:effectLst/>
                        </a:rPr>
                        <a:t>通过专家主观评价。用专家已有的知识基础来证实解决方案的效用。</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zh-CN" sz="1600" kern="100" dirty="0">
                          <a:effectLst/>
                        </a:rPr>
                        <a:t>在一个、多个真是案例中对解决方案的实施，以展示解决方案的效用。</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zh-CN" sz="1600" kern="100">
                          <a:effectLst/>
                        </a:rPr>
                        <a:t>在受控的环境中通过设置对照组来分析解决方案的效用。</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zh-CN" sz="1600" kern="100">
                          <a:effectLst/>
                        </a:rPr>
                        <a:t>用虚拟或真实数据来执行解决方案，以评价其效用。</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zh-CN" sz="1600" kern="100">
                          <a:effectLst/>
                        </a:rPr>
                        <a:t>对解决方案的展现来展示其有效性和适合性。</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extLst>
                  <a:ext uri="{0D108BD9-81ED-4DB2-BD59-A6C34878D82A}">
                    <a16:rowId xmlns:a16="http://schemas.microsoft.com/office/drawing/2014/main" val="3000383479"/>
                  </a:ext>
                </a:extLst>
              </a:tr>
              <a:tr h="2110935">
                <a:tc>
                  <a:txBody>
                    <a:bodyPr/>
                    <a:lstStyle/>
                    <a:p>
                      <a:pPr algn="ctr">
                        <a:spcAft>
                          <a:spcPts val="0"/>
                        </a:spcAft>
                      </a:pPr>
                      <a:r>
                        <a:rPr lang="zh-CN" sz="1700" kern="100">
                          <a:effectLst/>
                        </a:rPr>
                        <a:t>优势</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a:effectLst/>
                        </a:rPr>
                        <a:t>1.</a:t>
                      </a:r>
                      <a:r>
                        <a:rPr lang="zh-CN" sz="1600" kern="100">
                          <a:effectLst/>
                        </a:rPr>
                        <a:t>适合非线性问题或复杂系统。</a:t>
                      </a:r>
                    </a:p>
                    <a:p>
                      <a:pPr algn="just">
                        <a:spcAft>
                          <a:spcPts val="0"/>
                        </a:spcAft>
                      </a:pPr>
                      <a:r>
                        <a:rPr lang="en-US" sz="1600" kern="100">
                          <a:effectLst/>
                        </a:rPr>
                        <a:t>2.</a:t>
                      </a:r>
                      <a:r>
                        <a:rPr lang="zh-CN" sz="1600" kern="100">
                          <a:effectLst/>
                        </a:rPr>
                        <a:t>快速迭代。</a:t>
                      </a:r>
                    </a:p>
                    <a:p>
                      <a:pPr algn="just">
                        <a:spcAft>
                          <a:spcPts val="0"/>
                        </a:spcAft>
                      </a:pPr>
                      <a:r>
                        <a:rPr lang="en-US" sz="1600" kern="100">
                          <a:effectLst/>
                        </a:rPr>
                        <a:t>3.</a:t>
                      </a:r>
                      <a:r>
                        <a:rPr lang="zh-CN" sz="1600" kern="100">
                          <a:effectLst/>
                        </a:rPr>
                        <a:t>控制性强，成本低，理论有效性好。</a:t>
                      </a:r>
                    </a:p>
                    <a:p>
                      <a:pPr algn="just">
                        <a:spcAft>
                          <a:spcPts val="0"/>
                        </a:spcAft>
                      </a:pPr>
                      <a:r>
                        <a:rPr lang="en-US" sz="1600" kern="100">
                          <a:effectLst/>
                        </a:rPr>
                        <a:t>4.</a:t>
                      </a:r>
                      <a:r>
                        <a:rPr lang="zh-CN" sz="1600" kern="100">
                          <a:effectLst/>
                        </a:rPr>
                        <a:t>较强针对性。</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en-US" sz="1600" kern="100">
                          <a:effectLst/>
                        </a:rPr>
                        <a:t>1.</a:t>
                      </a:r>
                      <a:r>
                        <a:rPr lang="zh-CN" sz="1600" kern="100">
                          <a:effectLst/>
                        </a:rPr>
                        <a:t>现实性好。</a:t>
                      </a:r>
                    </a:p>
                    <a:p>
                      <a:pPr algn="l">
                        <a:spcAft>
                          <a:spcPts val="0"/>
                        </a:spcAft>
                      </a:pPr>
                      <a:r>
                        <a:rPr lang="en-US" sz="1600" kern="100">
                          <a:effectLst/>
                        </a:rPr>
                        <a:t>2.</a:t>
                      </a:r>
                      <a:r>
                        <a:rPr lang="zh-CN" sz="1600" kern="100">
                          <a:effectLst/>
                        </a:rPr>
                        <a:t>外部效度。</a:t>
                      </a:r>
                    </a:p>
                    <a:p>
                      <a:pPr algn="l">
                        <a:spcAft>
                          <a:spcPts val="0"/>
                        </a:spcAft>
                      </a:pPr>
                      <a:r>
                        <a:rPr lang="en-US" sz="1600" kern="100">
                          <a:effectLst/>
                        </a:rPr>
                        <a:t>3.</a:t>
                      </a:r>
                      <a:r>
                        <a:rPr lang="zh-CN" sz="1600" kern="100">
                          <a:effectLst/>
                        </a:rPr>
                        <a:t>描述细节和现象。</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dirty="0">
                          <a:effectLst/>
                        </a:rPr>
                        <a:t>1.</a:t>
                      </a:r>
                      <a:r>
                        <a:rPr lang="zh-CN" sz="1600" kern="100" dirty="0">
                          <a:effectLst/>
                        </a:rPr>
                        <a:t>比大多数真实实验更高的外部有效性。</a:t>
                      </a:r>
                    </a:p>
                    <a:p>
                      <a:pPr algn="just">
                        <a:spcAft>
                          <a:spcPts val="0"/>
                        </a:spcAft>
                      </a:pPr>
                      <a:r>
                        <a:rPr lang="en-US" sz="1600" kern="100" dirty="0">
                          <a:effectLst/>
                        </a:rPr>
                        <a:t>2.</a:t>
                      </a:r>
                      <a:r>
                        <a:rPr lang="zh-CN" sz="1600" kern="100" dirty="0">
                          <a:effectLst/>
                        </a:rPr>
                        <a:t>更好地控制混杂变量。</a:t>
                      </a:r>
                    </a:p>
                    <a:p>
                      <a:pPr algn="just">
                        <a:spcAft>
                          <a:spcPts val="0"/>
                        </a:spcAft>
                      </a:pPr>
                      <a:r>
                        <a:rPr lang="en-US" sz="1600" kern="100" dirty="0">
                          <a:effectLst/>
                        </a:rPr>
                        <a:t>3.</a:t>
                      </a:r>
                      <a:r>
                        <a:rPr lang="zh-CN" sz="1600" kern="100" dirty="0">
                          <a:effectLst/>
                        </a:rPr>
                        <a:t>评估结果较为直观。</a:t>
                      </a:r>
                    </a:p>
                    <a:p>
                      <a:pPr algn="just">
                        <a:spcAft>
                          <a:spcPts val="0"/>
                        </a:spcAft>
                      </a:pPr>
                      <a:r>
                        <a:rPr lang="en-US" sz="1600" kern="100" dirty="0">
                          <a:effectLst/>
                        </a:rPr>
                        <a:t>4.</a:t>
                      </a:r>
                      <a:r>
                        <a:rPr lang="zh-CN" sz="1600" kern="100" dirty="0">
                          <a:effectLst/>
                        </a:rPr>
                        <a:t>较为严格的因果推断逻辑。</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dirty="0">
                          <a:effectLst/>
                        </a:rPr>
                        <a:t>1.</a:t>
                      </a:r>
                      <a:r>
                        <a:rPr lang="zh-CN" sz="1600" kern="100" dirty="0">
                          <a:effectLst/>
                        </a:rPr>
                        <a:t>适用于不便于或不能在真实系统中评估的情形。</a:t>
                      </a:r>
                    </a:p>
                    <a:p>
                      <a:pPr algn="just">
                        <a:spcAft>
                          <a:spcPts val="0"/>
                        </a:spcAft>
                      </a:pPr>
                      <a:r>
                        <a:rPr lang="en-US" sz="1600" kern="100" dirty="0">
                          <a:effectLst/>
                        </a:rPr>
                        <a:t>2.</a:t>
                      </a:r>
                      <a:r>
                        <a:rPr lang="zh-CN" sz="1600" kern="100" dirty="0">
                          <a:effectLst/>
                        </a:rPr>
                        <a:t>重复性高、灵活性强。</a:t>
                      </a:r>
                    </a:p>
                    <a:p>
                      <a:pPr algn="just">
                        <a:spcAft>
                          <a:spcPts val="0"/>
                        </a:spcAft>
                      </a:pPr>
                      <a:r>
                        <a:rPr lang="en-US" sz="1600" kern="100" dirty="0">
                          <a:effectLst/>
                        </a:rPr>
                        <a:t>3.</a:t>
                      </a:r>
                      <a:r>
                        <a:rPr lang="zh-CN" sz="1600" kern="100" dirty="0">
                          <a:effectLst/>
                        </a:rPr>
                        <a:t>安全地测试不同的“假设”场景。</a:t>
                      </a:r>
                    </a:p>
                    <a:p>
                      <a:pPr algn="just">
                        <a:spcAft>
                          <a:spcPts val="0"/>
                        </a:spcAft>
                      </a:pPr>
                      <a:r>
                        <a:rPr lang="en-US" sz="1600" kern="100" dirty="0">
                          <a:effectLst/>
                        </a:rPr>
                        <a:t>4.</a:t>
                      </a:r>
                      <a:r>
                        <a:rPr lang="zh-CN" sz="1600" kern="100" dirty="0">
                          <a:effectLst/>
                        </a:rPr>
                        <a:t>准确表达概念和想法。</a:t>
                      </a:r>
                    </a:p>
                    <a:p>
                      <a:pPr algn="just">
                        <a:spcAft>
                          <a:spcPts val="0"/>
                        </a:spcAft>
                      </a:pPr>
                      <a:r>
                        <a:rPr lang="en-US" sz="1600" kern="100" dirty="0">
                          <a:effectLst/>
                        </a:rPr>
                        <a:t>5.</a:t>
                      </a:r>
                      <a:r>
                        <a:rPr lang="zh-CN" sz="1600" kern="100" dirty="0">
                          <a:effectLst/>
                        </a:rPr>
                        <a:t>在多颗粒度上观察解决方案的变化。</a:t>
                      </a:r>
                    </a:p>
                    <a:p>
                      <a:pPr algn="just">
                        <a:spcAft>
                          <a:spcPts val="0"/>
                        </a:spcAft>
                      </a:pPr>
                      <a:r>
                        <a:rPr lang="en-US" sz="1600" kern="100" dirty="0">
                          <a:effectLst/>
                        </a:rPr>
                        <a:t>6.</a:t>
                      </a:r>
                      <a:r>
                        <a:rPr lang="zh-CN" sz="1600" kern="100" dirty="0">
                          <a:effectLst/>
                        </a:rPr>
                        <a:t>实现量化。</a:t>
                      </a:r>
                    </a:p>
                    <a:p>
                      <a:pPr algn="just">
                        <a:spcAft>
                          <a:spcPts val="0"/>
                        </a:spcAft>
                      </a:pPr>
                      <a:r>
                        <a:rPr lang="en-US" sz="1600" kern="100" dirty="0">
                          <a:effectLst/>
                        </a:rPr>
                        <a:t>7.</a:t>
                      </a:r>
                      <a:r>
                        <a:rPr lang="zh-CN" sz="1600" kern="100" dirty="0">
                          <a:effectLst/>
                        </a:rPr>
                        <a:t>可观察时间维度的变化。</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dirty="0">
                          <a:effectLst/>
                        </a:rPr>
                        <a:t>1.</a:t>
                      </a:r>
                      <a:r>
                        <a:rPr lang="zh-CN" sz="1600" kern="100" dirty="0">
                          <a:effectLst/>
                        </a:rPr>
                        <a:t>内部有效性更高，更切合实际。</a:t>
                      </a:r>
                    </a:p>
                    <a:p>
                      <a:pPr algn="just">
                        <a:spcAft>
                          <a:spcPts val="0"/>
                        </a:spcAft>
                      </a:pPr>
                      <a:r>
                        <a:rPr lang="en-US" sz="1600" kern="100" dirty="0">
                          <a:effectLst/>
                        </a:rPr>
                        <a:t>2.</a:t>
                      </a:r>
                      <a:r>
                        <a:rPr lang="zh-CN" sz="1600" kern="100" dirty="0">
                          <a:effectLst/>
                        </a:rPr>
                        <a:t>结果真实有效。</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extLst>
                  <a:ext uri="{0D108BD9-81ED-4DB2-BD59-A6C34878D82A}">
                    <a16:rowId xmlns:a16="http://schemas.microsoft.com/office/drawing/2014/main" val="3179398437"/>
                  </a:ext>
                </a:extLst>
              </a:tr>
              <a:tr h="1542966">
                <a:tc>
                  <a:txBody>
                    <a:bodyPr/>
                    <a:lstStyle/>
                    <a:p>
                      <a:pPr algn="ctr">
                        <a:spcAft>
                          <a:spcPts val="0"/>
                        </a:spcAft>
                      </a:pPr>
                      <a:r>
                        <a:rPr lang="zh-CN" sz="1700" kern="100">
                          <a:effectLst/>
                        </a:rPr>
                        <a:t>劣势</a:t>
                      </a:r>
                      <a:endParaRPr lang="zh-CN" sz="1700" kern="10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en-US" sz="1600" kern="100" dirty="0">
                          <a:effectLst/>
                        </a:rPr>
                        <a:t>1.</a:t>
                      </a:r>
                      <a:r>
                        <a:rPr lang="zh-CN" sz="1600" kern="100" dirty="0">
                          <a:effectLst/>
                        </a:rPr>
                        <a:t>与真实环境下的评估效果相比有差距。</a:t>
                      </a:r>
                    </a:p>
                    <a:p>
                      <a:pPr algn="l">
                        <a:spcAft>
                          <a:spcPts val="0"/>
                        </a:spcAft>
                      </a:pPr>
                      <a:r>
                        <a:rPr lang="en-US" sz="1600" kern="100" dirty="0">
                          <a:effectLst/>
                        </a:rPr>
                        <a:t>2.</a:t>
                      </a:r>
                      <a:r>
                        <a:rPr lang="zh-CN" sz="1600" kern="100" dirty="0">
                          <a:effectLst/>
                        </a:rPr>
                        <a:t>主观性较强。</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dirty="0">
                          <a:effectLst/>
                        </a:rPr>
                        <a:t>1.</a:t>
                      </a:r>
                      <a:r>
                        <a:rPr lang="zh-CN" sz="1600" kern="100" dirty="0">
                          <a:effectLst/>
                        </a:rPr>
                        <a:t>主观因素影响。</a:t>
                      </a:r>
                    </a:p>
                    <a:p>
                      <a:pPr algn="just">
                        <a:spcAft>
                          <a:spcPts val="0"/>
                        </a:spcAft>
                      </a:pPr>
                      <a:r>
                        <a:rPr lang="en-US" sz="1600" kern="100" dirty="0">
                          <a:effectLst/>
                        </a:rPr>
                        <a:t>2.</a:t>
                      </a:r>
                      <a:r>
                        <a:rPr lang="zh-CN" sz="1600" kern="100" dirty="0">
                          <a:effectLst/>
                        </a:rPr>
                        <a:t>耗时较长。</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dirty="0">
                          <a:effectLst/>
                        </a:rPr>
                        <a:t>1.</a:t>
                      </a:r>
                      <a:r>
                        <a:rPr lang="zh-CN" sz="1600" kern="100" dirty="0">
                          <a:effectLst/>
                        </a:rPr>
                        <a:t>操作较为复杂，成本较高。</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just">
                        <a:spcAft>
                          <a:spcPts val="0"/>
                        </a:spcAft>
                      </a:pPr>
                      <a:r>
                        <a:rPr lang="en-US" sz="1600" kern="100" dirty="0">
                          <a:effectLst/>
                        </a:rPr>
                        <a:t>1.</a:t>
                      </a:r>
                      <a:r>
                        <a:rPr lang="zh-CN" sz="1600" kern="100" dirty="0">
                          <a:effectLst/>
                        </a:rPr>
                        <a:t>真实环境会更复杂。</a:t>
                      </a:r>
                    </a:p>
                    <a:p>
                      <a:pPr algn="just">
                        <a:spcAft>
                          <a:spcPts val="0"/>
                        </a:spcAft>
                      </a:pPr>
                      <a:r>
                        <a:rPr lang="en-US" sz="1600" kern="100" dirty="0">
                          <a:effectLst/>
                        </a:rPr>
                        <a:t>2.</a:t>
                      </a:r>
                      <a:r>
                        <a:rPr lang="zh-CN" sz="1600" kern="100" dirty="0">
                          <a:effectLst/>
                        </a:rPr>
                        <a:t>运行多个不同的模拟的成本可能较高。</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tc>
                  <a:txBody>
                    <a:bodyPr/>
                    <a:lstStyle/>
                    <a:p>
                      <a:pPr algn="l">
                        <a:spcAft>
                          <a:spcPts val="0"/>
                        </a:spcAft>
                      </a:pPr>
                      <a:r>
                        <a:rPr lang="en-US" sz="1600" kern="100" dirty="0">
                          <a:effectLst/>
                        </a:rPr>
                        <a:t>1.</a:t>
                      </a:r>
                      <a:r>
                        <a:rPr lang="zh-CN" sz="1600" kern="100" dirty="0">
                          <a:effectLst/>
                        </a:rPr>
                        <a:t>事后测试，风险相对较高。</a:t>
                      </a:r>
                    </a:p>
                    <a:p>
                      <a:pPr algn="l">
                        <a:spcAft>
                          <a:spcPts val="0"/>
                        </a:spcAft>
                      </a:pPr>
                      <a:r>
                        <a:rPr lang="en-US" sz="1600" kern="100" dirty="0">
                          <a:effectLst/>
                        </a:rPr>
                        <a:t>2.</a:t>
                      </a:r>
                      <a:r>
                        <a:rPr lang="zh-CN" sz="1600" kern="100" dirty="0">
                          <a:effectLst/>
                        </a:rPr>
                        <a:t>外部效度不及案例评估方法。</a:t>
                      </a:r>
                    </a:p>
                    <a:p>
                      <a:pPr algn="l">
                        <a:spcAft>
                          <a:spcPts val="0"/>
                        </a:spcAft>
                      </a:pPr>
                      <a:r>
                        <a:rPr lang="en-US" sz="1600" kern="100" dirty="0">
                          <a:effectLst/>
                        </a:rPr>
                        <a:t>3.</a:t>
                      </a:r>
                      <a:r>
                        <a:rPr lang="zh-CN" sz="1600" kern="100" dirty="0">
                          <a:effectLst/>
                        </a:rPr>
                        <a:t>成本较高。</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1050" marR="41050" marT="0" marB="0"/>
                </a:tc>
                <a:extLst>
                  <a:ext uri="{0D108BD9-81ED-4DB2-BD59-A6C34878D82A}">
                    <a16:rowId xmlns:a16="http://schemas.microsoft.com/office/drawing/2014/main" val="2980259555"/>
                  </a:ext>
                </a:extLst>
              </a:tr>
            </a:tbl>
          </a:graphicData>
        </a:graphic>
      </p:graphicFrame>
    </p:spTree>
    <p:extLst>
      <p:ext uri="{BB962C8B-B14F-4D97-AF65-F5344CB8AC3E}">
        <p14:creationId xmlns:p14="http://schemas.microsoft.com/office/powerpoint/2010/main" val="2939851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评估方法：专家评估</a:t>
            </a: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3789627"/>
          </a:xfrm>
          <a:prstGeom prst="rect">
            <a:avLst/>
          </a:prstGeom>
        </p:spPr>
        <p:txBody>
          <a:bodyPr wrap="square">
            <a:spAutoFit/>
          </a:bodyPr>
          <a:lstStyle/>
          <a:p>
            <a:pPr>
              <a:lnSpc>
                <a:spcPct val="150000"/>
              </a:lnSpc>
            </a:pPr>
            <a:r>
              <a:rPr lang="zh-CN" altLang="zh-CN" dirty="0"/>
              <a:t>专家评估法是以专家作为信息提供对象，依靠专家的知识和经验对解决方案做出逻辑判断和评价的一种方法。主要包括专家个人调查法、焦点小组、德尔菲法等。</a:t>
            </a:r>
            <a:endParaRPr lang="en-US" altLang="zh-CN" dirty="0"/>
          </a:p>
          <a:p>
            <a:pPr>
              <a:lnSpc>
                <a:spcPct val="150000"/>
              </a:lnSpc>
            </a:pPr>
            <a:endParaRPr lang="zh-CN" altLang="zh-CN" dirty="0"/>
          </a:p>
          <a:p>
            <a:pPr>
              <a:lnSpc>
                <a:spcPct val="150000"/>
              </a:lnSpc>
            </a:pPr>
            <a:r>
              <a:rPr lang="zh-CN" altLang="zh-CN" dirty="0"/>
              <a:t>专家评估法适合于以下典型情况：</a:t>
            </a:r>
          </a:p>
          <a:p>
            <a:pPr marL="285750" indent="-285750">
              <a:lnSpc>
                <a:spcPct val="150000"/>
              </a:lnSpc>
              <a:buFont typeface="Arial" panose="020B0604020202020204" pitchFamily="34" charset="0"/>
              <a:buChar char="•"/>
            </a:pPr>
            <a:r>
              <a:rPr lang="zh-CN" altLang="zh-CN" dirty="0"/>
              <a:t>数据缺乏。</a:t>
            </a:r>
          </a:p>
          <a:p>
            <a:pPr marL="285750" indent="-285750">
              <a:lnSpc>
                <a:spcPct val="150000"/>
              </a:lnSpc>
              <a:buFont typeface="Arial" panose="020B0604020202020204" pitchFamily="34" charset="0"/>
              <a:buChar char="•"/>
            </a:pPr>
            <a:r>
              <a:rPr lang="zh-CN" altLang="zh-CN" dirty="0"/>
              <a:t>新解决方案的评估。</a:t>
            </a:r>
          </a:p>
          <a:p>
            <a:pPr marL="285750" indent="-285750">
              <a:lnSpc>
                <a:spcPct val="150000"/>
              </a:lnSpc>
              <a:buFont typeface="Arial" panose="020B0604020202020204" pitchFamily="34" charset="0"/>
              <a:buChar char="•"/>
            </a:pPr>
            <a:r>
              <a:rPr lang="zh-CN" altLang="zh-CN" dirty="0"/>
              <a:t>非技术因素起主要作用的解决方案。</a:t>
            </a:r>
          </a:p>
          <a:p>
            <a:pPr marL="285750" indent="-285750">
              <a:lnSpc>
                <a:spcPct val="150000"/>
              </a:lnSpc>
              <a:buFont typeface="Arial" panose="020B0604020202020204" pitchFamily="34" charset="0"/>
              <a:buChar char="•"/>
            </a:pPr>
            <a:r>
              <a:rPr lang="zh-CN" altLang="zh-CN" dirty="0"/>
              <a:t>由于信息量极大，决策涉及相关因素（技术、政治、经济、环境、心理、文化传统等）过多，因素间关系和联系难以通过模型进行刻画，也可采用专家评估法。</a:t>
            </a:r>
            <a:endParaRPr lang="zh-CN" altLang="en-US" sz="2000" dirty="0">
              <a:latin typeface="+mj-ea"/>
              <a:ea typeface="+mj-ea"/>
            </a:endParaRPr>
          </a:p>
        </p:txBody>
      </p:sp>
    </p:spTree>
    <p:extLst>
      <p:ext uri="{BB962C8B-B14F-4D97-AF65-F5344CB8AC3E}">
        <p14:creationId xmlns:p14="http://schemas.microsoft.com/office/powerpoint/2010/main" val="1155540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评估方法：专家评估</a:t>
            </a: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4205126"/>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zh-CN" b="1" dirty="0"/>
              <a:t>专家评估的优势</a:t>
            </a:r>
            <a:endParaRPr lang="zh-CN" altLang="zh-CN" dirty="0"/>
          </a:p>
          <a:p>
            <a:pPr marL="742950" lvl="1" indent="-285750">
              <a:lnSpc>
                <a:spcPct val="150000"/>
              </a:lnSpc>
              <a:buFont typeface="Arial" panose="020B0604020202020204" pitchFamily="34" charset="0"/>
              <a:buChar char="•"/>
            </a:pPr>
            <a:r>
              <a:rPr lang="zh-CN" altLang="zh-CN" dirty="0"/>
              <a:t>适合非线性或复杂问题。该类问题难以建模及量化，或者是量化会忽略某些特殊性。</a:t>
            </a:r>
          </a:p>
          <a:p>
            <a:pPr marL="742950" lvl="1" indent="-285750">
              <a:lnSpc>
                <a:spcPct val="150000"/>
              </a:lnSpc>
              <a:buFont typeface="Arial" panose="020B0604020202020204" pitchFamily="34" charset="0"/>
              <a:buChar char="•"/>
            </a:pPr>
            <a:r>
              <a:rPr lang="zh-CN" altLang="zh-CN" dirty="0"/>
              <a:t>快速迭代。</a:t>
            </a:r>
            <a:endParaRPr lang="en-US" altLang="zh-CN" dirty="0"/>
          </a:p>
          <a:p>
            <a:pPr marL="742950" lvl="1" indent="-285750">
              <a:lnSpc>
                <a:spcPct val="150000"/>
              </a:lnSpc>
              <a:buFont typeface="Arial" panose="020B0604020202020204" pitchFamily="34" charset="0"/>
              <a:buChar char="•"/>
            </a:pPr>
            <a:r>
              <a:rPr lang="zh-CN" altLang="zh-CN" dirty="0"/>
              <a:t>控制性强，成本低，理论有效性好。</a:t>
            </a:r>
          </a:p>
          <a:p>
            <a:pPr marL="742950" lvl="1" indent="-285750">
              <a:lnSpc>
                <a:spcPct val="150000"/>
              </a:lnSpc>
              <a:buFont typeface="Arial" panose="020B0604020202020204" pitchFamily="34" charset="0"/>
              <a:buChar char="•"/>
            </a:pPr>
            <a:r>
              <a:rPr lang="zh-CN" altLang="zh-CN" dirty="0"/>
              <a:t>针对性强。</a:t>
            </a:r>
          </a:p>
          <a:p>
            <a:pPr marL="285750" indent="-285750">
              <a:lnSpc>
                <a:spcPct val="150000"/>
              </a:lnSpc>
              <a:buFont typeface="Wingdings" panose="05000000000000000000" pitchFamily="2" charset="2"/>
              <a:buChar char="ü"/>
            </a:pPr>
            <a:r>
              <a:rPr lang="zh-CN" altLang="zh-CN" b="1" dirty="0"/>
              <a:t>专家评估的不足</a:t>
            </a:r>
            <a:endParaRPr lang="zh-CN" altLang="zh-CN" dirty="0"/>
          </a:p>
          <a:p>
            <a:pPr marL="742950" lvl="1" indent="-285750">
              <a:lnSpc>
                <a:spcPct val="150000"/>
              </a:lnSpc>
              <a:buFont typeface="Arial" panose="020B0604020202020204" pitchFamily="34" charset="0"/>
              <a:buChar char="•"/>
            </a:pPr>
            <a:r>
              <a:rPr lang="zh-CN" altLang="zh-CN" dirty="0"/>
              <a:t>与真实环境下的评估效果相比存在差距。</a:t>
            </a:r>
            <a:endParaRPr lang="en-US" altLang="zh-CN" dirty="0"/>
          </a:p>
          <a:p>
            <a:pPr marL="742950" lvl="1" indent="-285750">
              <a:lnSpc>
                <a:spcPct val="150000"/>
              </a:lnSpc>
              <a:buFont typeface="Arial" panose="020B0604020202020204" pitchFamily="34" charset="0"/>
              <a:buChar char="•"/>
            </a:pPr>
            <a:r>
              <a:rPr lang="zh-CN" altLang="zh-CN" dirty="0"/>
              <a:t>依靠专家的知识和经验，主观性较强。</a:t>
            </a:r>
          </a:p>
          <a:p>
            <a:pPr marL="742950" lvl="1" indent="-285750">
              <a:lnSpc>
                <a:spcPct val="150000"/>
              </a:lnSpc>
              <a:buFont typeface="Arial" panose="020B0604020202020204" pitchFamily="34" charset="0"/>
              <a:buChar char="•"/>
            </a:pPr>
            <a:r>
              <a:rPr lang="zh-CN" altLang="zh-CN" dirty="0"/>
              <a:t>对评估对象的数量与规模有限制。</a:t>
            </a:r>
            <a:endParaRPr lang="en-US" altLang="zh-CN" dirty="0"/>
          </a:p>
          <a:p>
            <a:pPr marL="742950" lvl="1" indent="-285750">
              <a:lnSpc>
                <a:spcPct val="150000"/>
              </a:lnSpc>
              <a:buFont typeface="Arial" panose="020B0604020202020204" pitchFamily="34" charset="0"/>
              <a:buChar char="•"/>
            </a:pPr>
            <a:r>
              <a:rPr lang="zh-CN" altLang="zh-CN" dirty="0"/>
              <a:t>专业分工与解决方案集成性的矛盾性。</a:t>
            </a:r>
            <a:endParaRPr lang="zh-CN" altLang="en-US" sz="2000" dirty="0">
              <a:latin typeface="+mj-ea"/>
              <a:ea typeface="+mj-ea"/>
            </a:endParaRPr>
          </a:p>
        </p:txBody>
      </p:sp>
    </p:spTree>
    <p:extLst>
      <p:ext uri="{BB962C8B-B14F-4D97-AF65-F5344CB8AC3E}">
        <p14:creationId xmlns:p14="http://schemas.microsoft.com/office/powerpoint/2010/main" val="3934800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评估方法：专家评估</a:t>
            </a: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4708277"/>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zh-CN" b="1" dirty="0"/>
              <a:t>实施步骤</a:t>
            </a:r>
            <a:endParaRPr lang="zh-CN" altLang="zh-CN" dirty="0"/>
          </a:p>
          <a:p>
            <a:pPr marL="742950" lvl="1" indent="-285750">
              <a:lnSpc>
                <a:spcPct val="150000"/>
              </a:lnSpc>
              <a:buFont typeface="Arial" panose="020B0604020202020204" pitchFamily="34" charset="0"/>
              <a:buChar char="•"/>
            </a:pPr>
            <a:r>
              <a:rPr lang="zh-CN" altLang="zh-CN" dirty="0"/>
              <a:t>明确评估目标，成立评估小组并制订实施计划。</a:t>
            </a:r>
          </a:p>
          <a:p>
            <a:pPr marL="742950" lvl="1" indent="-285750">
              <a:lnSpc>
                <a:spcPct val="150000"/>
              </a:lnSpc>
              <a:buFont typeface="Arial" panose="020B0604020202020204" pitchFamily="34" charset="0"/>
              <a:buChar char="•"/>
            </a:pPr>
            <a:r>
              <a:rPr lang="zh-CN" altLang="zh-CN" dirty="0"/>
              <a:t>选择参加评估的专家。</a:t>
            </a:r>
          </a:p>
          <a:p>
            <a:pPr marL="742950" lvl="1" indent="-285750">
              <a:lnSpc>
                <a:spcPct val="150000"/>
              </a:lnSpc>
              <a:buFont typeface="Arial" panose="020B0604020202020204" pitchFamily="34" charset="0"/>
              <a:buChar char="•"/>
            </a:pPr>
            <a:r>
              <a:rPr lang="zh-CN" altLang="zh-CN" dirty="0"/>
              <a:t>对关键评估指标和问题进行设计。</a:t>
            </a:r>
          </a:p>
          <a:p>
            <a:pPr marL="742950" lvl="1" indent="-285750">
              <a:lnSpc>
                <a:spcPct val="150000"/>
              </a:lnSpc>
              <a:buFont typeface="Arial" panose="020B0604020202020204" pitchFamily="34" charset="0"/>
              <a:buChar char="•"/>
            </a:pPr>
            <a:r>
              <a:rPr lang="zh-CN" altLang="zh-CN" dirty="0"/>
              <a:t>开展调查，直至找出较为一致的专家意见，形成最终的评估结果。</a:t>
            </a:r>
          </a:p>
          <a:p>
            <a:pPr marL="742950" lvl="1" indent="-285750">
              <a:lnSpc>
                <a:spcPct val="150000"/>
              </a:lnSpc>
              <a:buFont typeface="Arial" panose="020B0604020202020204" pitchFamily="34" charset="0"/>
              <a:buChar char="•"/>
            </a:pPr>
            <a:r>
              <a:rPr lang="zh-CN" altLang="zh-CN" dirty="0"/>
              <a:t>编写评估报告。</a:t>
            </a:r>
          </a:p>
          <a:p>
            <a:pPr marL="285750" indent="-285750">
              <a:lnSpc>
                <a:spcPct val="150000"/>
              </a:lnSpc>
              <a:buFont typeface="Wingdings" panose="05000000000000000000" pitchFamily="2" charset="2"/>
              <a:buChar char="ü"/>
            </a:pPr>
            <a:r>
              <a:rPr lang="zh-CN" altLang="zh-CN" b="1" dirty="0"/>
              <a:t>控制干扰因素的措施</a:t>
            </a:r>
            <a:endParaRPr lang="zh-CN" altLang="zh-CN" dirty="0"/>
          </a:p>
          <a:p>
            <a:pPr marL="742950" lvl="1" indent="-285750">
              <a:lnSpc>
                <a:spcPct val="150000"/>
              </a:lnSpc>
              <a:buFont typeface="Arial" panose="020B0604020202020204" pitchFamily="34" charset="0"/>
              <a:buChar char="•"/>
            </a:pPr>
            <a:r>
              <a:rPr lang="zh-CN" altLang="zh-CN" dirty="0"/>
              <a:t>专家选取</a:t>
            </a:r>
          </a:p>
          <a:p>
            <a:pPr marL="742950" lvl="1" indent="-285750">
              <a:lnSpc>
                <a:spcPct val="150000"/>
              </a:lnSpc>
              <a:buFont typeface="Arial" panose="020B0604020202020204" pitchFamily="34" charset="0"/>
              <a:buChar char="•"/>
            </a:pPr>
            <a:r>
              <a:rPr lang="zh-CN" altLang="zh-CN" dirty="0"/>
              <a:t>评估过程的控制</a:t>
            </a:r>
          </a:p>
          <a:p>
            <a:pPr>
              <a:lnSpc>
                <a:spcPct val="150000"/>
              </a:lnSpc>
            </a:pPr>
            <a:endParaRPr lang="en-US" altLang="zh-CN" sz="2000" b="1" dirty="0">
              <a:latin typeface="+mj-ea"/>
              <a:ea typeface="+mj-ea"/>
            </a:endParaRPr>
          </a:p>
          <a:p>
            <a:pPr>
              <a:lnSpc>
                <a:spcPct val="150000"/>
              </a:lnSpc>
            </a:pPr>
            <a:endParaRPr lang="zh-CN" altLang="en-US" sz="2000" dirty="0">
              <a:latin typeface="+mj-ea"/>
              <a:ea typeface="+mj-ea"/>
            </a:endParaRPr>
          </a:p>
        </p:txBody>
      </p:sp>
    </p:spTree>
    <p:extLst>
      <p:ext uri="{BB962C8B-B14F-4D97-AF65-F5344CB8AC3E}">
        <p14:creationId xmlns:p14="http://schemas.microsoft.com/office/powerpoint/2010/main" val="1102025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案例评估</a:t>
            </a:r>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1471" y="990881"/>
            <a:ext cx="10765970" cy="5451621"/>
          </a:xfrm>
          <a:prstGeom prst="rect">
            <a:avLst/>
          </a:prstGeom>
        </p:spPr>
        <p:txBody>
          <a:bodyPr wrap="square">
            <a:spAutoFit/>
          </a:bodyPr>
          <a:lstStyle/>
          <a:p>
            <a:pPr>
              <a:lnSpc>
                <a:spcPct val="150000"/>
              </a:lnSpc>
            </a:pPr>
            <a:r>
              <a:rPr lang="zh-CN" altLang="zh-CN" dirty="0"/>
              <a:t>案例评估是对解决方案在真实案例中实施，进而评估解决方案在真实案例中的效果。案例评估用于调查处于某特定情境下的当前现象，特别是适合这个现象和它的情境间的边界不是很清楚</a:t>
            </a:r>
            <a:r>
              <a:rPr lang="zh-CN" altLang="en-US" dirty="0"/>
              <a:t>的情形</a:t>
            </a:r>
            <a:r>
              <a:rPr lang="zh-CN" altLang="zh-CN" dirty="0"/>
              <a:t>。</a:t>
            </a:r>
            <a:endParaRPr lang="en-US" altLang="zh-CN" dirty="0"/>
          </a:p>
          <a:p>
            <a:pPr marL="285750" indent="-285750">
              <a:lnSpc>
                <a:spcPct val="150000"/>
              </a:lnSpc>
              <a:buFont typeface="Wingdings" panose="05000000000000000000" pitchFamily="2" charset="2"/>
              <a:buChar char="ü"/>
            </a:pPr>
            <a:r>
              <a:rPr lang="zh-CN" altLang="zh-CN" b="1" dirty="0"/>
              <a:t>案例评估的优势</a:t>
            </a:r>
            <a:endParaRPr lang="zh-CN" altLang="zh-CN" dirty="0"/>
          </a:p>
          <a:p>
            <a:pPr marL="742950" lvl="1" indent="-285750">
              <a:lnSpc>
                <a:spcPct val="150000"/>
              </a:lnSpc>
              <a:buFont typeface="Arial" panose="020B0604020202020204" pitchFamily="34" charset="0"/>
              <a:buChar char="•"/>
            </a:pPr>
            <a:r>
              <a:rPr lang="zh-CN" altLang="zh-CN" dirty="0"/>
              <a:t>案例环境是真实发生的，区别于实验的人造环境。</a:t>
            </a:r>
          </a:p>
          <a:p>
            <a:pPr marL="742950" lvl="1" indent="-285750">
              <a:lnSpc>
                <a:spcPct val="150000"/>
              </a:lnSpc>
              <a:buFont typeface="Arial" panose="020B0604020202020204" pitchFamily="34" charset="0"/>
              <a:buChar char="•"/>
            </a:pPr>
            <a:r>
              <a:rPr lang="zh-CN" altLang="zh-CN" dirty="0"/>
              <a:t>可比较解决方案实施前后的变化。</a:t>
            </a:r>
          </a:p>
          <a:p>
            <a:pPr marL="742950" lvl="1" indent="-285750">
              <a:lnSpc>
                <a:spcPct val="150000"/>
              </a:lnSpc>
              <a:buFont typeface="Arial" panose="020B0604020202020204" pitchFamily="34" charset="0"/>
              <a:buChar char="•"/>
            </a:pPr>
            <a:r>
              <a:rPr lang="zh-CN" altLang="zh-CN" dirty="0"/>
              <a:t>案例评估可能发现统计方法忽视的特殊现象，如意外、突发效果等。</a:t>
            </a:r>
          </a:p>
          <a:p>
            <a:pPr marL="742950" lvl="1" indent="-285750">
              <a:lnSpc>
                <a:spcPct val="150000"/>
              </a:lnSpc>
              <a:buFont typeface="Arial" panose="020B0604020202020204" pitchFamily="34" charset="0"/>
              <a:buChar char="•"/>
            </a:pPr>
            <a:r>
              <a:rPr lang="zh-CN" altLang="zh-CN" dirty="0"/>
              <a:t>可更为有效地解释设计假设成立或被改进的原因。</a:t>
            </a:r>
          </a:p>
          <a:p>
            <a:pPr marL="285750" indent="-285750">
              <a:lnSpc>
                <a:spcPct val="150000"/>
              </a:lnSpc>
              <a:buFont typeface="Wingdings" panose="05000000000000000000" pitchFamily="2" charset="2"/>
              <a:buChar char="ü"/>
            </a:pPr>
            <a:r>
              <a:rPr lang="zh-CN" altLang="zh-CN" b="1" dirty="0"/>
              <a:t>存在以下问题</a:t>
            </a:r>
            <a:endParaRPr lang="zh-CN" altLang="zh-CN" dirty="0"/>
          </a:p>
          <a:p>
            <a:pPr marL="742950" lvl="1" indent="-285750">
              <a:lnSpc>
                <a:spcPct val="150000"/>
              </a:lnSpc>
              <a:buFont typeface="Arial" panose="020B0604020202020204" pitchFamily="34" charset="0"/>
              <a:buChar char="•"/>
            </a:pPr>
            <a:r>
              <a:rPr lang="zh-CN" altLang="zh-CN" dirty="0"/>
              <a:t>案例评估处于真实环境，干扰因素较多，存在对干扰因素控制不足的问题。</a:t>
            </a:r>
          </a:p>
          <a:p>
            <a:pPr marL="742950" lvl="1" indent="-285750">
              <a:lnSpc>
                <a:spcPct val="150000"/>
              </a:lnSpc>
              <a:buFont typeface="Arial" panose="020B0604020202020204" pitchFamily="34" charset="0"/>
              <a:buChar char="•"/>
            </a:pPr>
            <a:r>
              <a:rPr lang="zh-CN" altLang="zh-CN" dirty="0"/>
              <a:t>应用于多个案例时，外部情境并非完全一样，有混杂因素影响。</a:t>
            </a:r>
          </a:p>
          <a:p>
            <a:pPr marL="742950" lvl="1" indent="-285750">
              <a:lnSpc>
                <a:spcPct val="150000"/>
              </a:lnSpc>
              <a:buFont typeface="Arial" panose="020B0604020202020204" pitchFamily="34" charset="0"/>
              <a:buChar char="•"/>
            </a:pPr>
            <a:r>
              <a:rPr lang="zh-CN" altLang="zh-CN" dirty="0"/>
              <a:t>评估结果可能会受到主观因素影响。</a:t>
            </a:r>
          </a:p>
          <a:p>
            <a:pPr marL="742950" lvl="1" indent="-285750">
              <a:lnSpc>
                <a:spcPct val="150000"/>
              </a:lnSpc>
              <a:buFont typeface="Arial" panose="020B0604020202020204" pitchFamily="34" charset="0"/>
              <a:buChar char="•"/>
            </a:pPr>
            <a:r>
              <a:rPr lang="zh-CN" altLang="zh-CN" dirty="0"/>
              <a:t>案例实施过程中，如何界定解决方案的影响时间跨度仍是一个挑战。</a:t>
            </a:r>
          </a:p>
          <a:p>
            <a:pPr marL="742950" lvl="1" indent="-285750">
              <a:lnSpc>
                <a:spcPct val="150000"/>
              </a:lnSpc>
              <a:buFont typeface="Arial" panose="020B0604020202020204" pitchFamily="34" charset="0"/>
              <a:buChar char="•"/>
            </a:pPr>
            <a:r>
              <a:rPr lang="zh-CN" altLang="zh-CN" dirty="0"/>
              <a:t>案例研究耗费时间较长。</a:t>
            </a:r>
            <a:endParaRPr lang="zh-CN" altLang="en-US" sz="2000" dirty="0">
              <a:latin typeface="+mj-ea"/>
              <a:ea typeface="+mj-ea"/>
            </a:endParaRPr>
          </a:p>
        </p:txBody>
      </p:sp>
    </p:spTree>
    <p:extLst>
      <p:ext uri="{BB962C8B-B14F-4D97-AF65-F5344CB8AC3E}">
        <p14:creationId xmlns:p14="http://schemas.microsoft.com/office/powerpoint/2010/main" val="1909234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案例评估</a:t>
            </a:r>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3046283"/>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zh-CN" b="1" dirty="0"/>
              <a:t>控制干扰因素的措施</a:t>
            </a:r>
            <a:endParaRPr lang="zh-CN" altLang="zh-CN" dirty="0"/>
          </a:p>
          <a:p>
            <a:pPr marL="742950" lvl="1" indent="-285750">
              <a:lnSpc>
                <a:spcPct val="150000"/>
              </a:lnSpc>
              <a:buFont typeface="Arial" panose="020B0604020202020204" pitchFamily="34" charset="0"/>
              <a:buChar char="•"/>
            </a:pPr>
            <a:r>
              <a:rPr lang="zh-CN" altLang="zh-CN" dirty="0"/>
              <a:t>案例的选取：基于设计假设和设计理论发展的需要，选择能更有效地用于评估解决方案的案例，或选取多个相似案例。</a:t>
            </a:r>
          </a:p>
          <a:p>
            <a:pPr marL="742950" lvl="1" indent="-285750">
              <a:lnSpc>
                <a:spcPct val="150000"/>
              </a:lnSpc>
              <a:buFont typeface="Arial" panose="020B0604020202020204" pitchFamily="34" charset="0"/>
              <a:buChar char="•"/>
            </a:pPr>
            <a:r>
              <a:rPr lang="zh-CN" altLang="zh-CN" dirty="0"/>
              <a:t>案例评估效度和信度</a:t>
            </a:r>
            <a:r>
              <a:rPr lang="zh-CN" altLang="en-US" dirty="0"/>
              <a:t>：</a:t>
            </a:r>
            <a:r>
              <a:rPr lang="zh-CN" altLang="zh-CN" dirty="0"/>
              <a:t>与案例研究类似，案例评估需要从效度和信度两方面进行控制，以保证评估结果的可信。</a:t>
            </a:r>
          </a:p>
          <a:p>
            <a:pPr>
              <a:lnSpc>
                <a:spcPct val="150000"/>
              </a:lnSpc>
            </a:pPr>
            <a:endParaRPr lang="en-US" altLang="zh-CN" sz="2000" b="1" dirty="0">
              <a:latin typeface="+mj-ea"/>
              <a:ea typeface="+mj-ea"/>
            </a:endParaRPr>
          </a:p>
          <a:p>
            <a:pPr>
              <a:lnSpc>
                <a:spcPct val="150000"/>
              </a:lnSpc>
            </a:pPr>
            <a:endParaRPr lang="zh-CN" altLang="en-US" sz="2000" dirty="0">
              <a:latin typeface="+mj-ea"/>
              <a:ea typeface="+mj-ea"/>
            </a:endParaRPr>
          </a:p>
        </p:txBody>
      </p:sp>
      <p:graphicFrame>
        <p:nvGraphicFramePr>
          <p:cNvPr id="2" name="表格 1">
            <a:extLst>
              <a:ext uri="{FF2B5EF4-FFF2-40B4-BE49-F238E27FC236}">
                <a16:creationId xmlns:a16="http://schemas.microsoft.com/office/drawing/2014/main" id="{319A07B8-C63A-4297-AFD3-6DA14C274A39}"/>
              </a:ext>
            </a:extLst>
          </p:cNvPr>
          <p:cNvGraphicFramePr>
            <a:graphicFrameLocks noGrp="1"/>
          </p:cNvGraphicFramePr>
          <p:nvPr>
            <p:extLst>
              <p:ext uri="{D42A27DB-BD31-4B8C-83A1-F6EECF244321}">
                <p14:modId xmlns:p14="http://schemas.microsoft.com/office/powerpoint/2010/main" val="4093911467"/>
              </p:ext>
            </p:extLst>
          </p:nvPr>
        </p:nvGraphicFramePr>
        <p:xfrm>
          <a:off x="1305097" y="3487722"/>
          <a:ext cx="7848600" cy="2340886"/>
        </p:xfrm>
        <a:graphic>
          <a:graphicData uri="http://schemas.openxmlformats.org/drawingml/2006/table">
            <a:tbl>
              <a:tblPr firstRow="1" firstCol="1" bandRow="1">
                <a:tableStyleId>{5C22544A-7EE6-4342-B048-85BDC9FD1C3A}</a:tableStyleId>
              </a:tblPr>
              <a:tblGrid>
                <a:gridCol w="924098">
                  <a:extLst>
                    <a:ext uri="{9D8B030D-6E8A-4147-A177-3AD203B41FA5}">
                      <a16:colId xmlns:a16="http://schemas.microsoft.com/office/drawing/2014/main" val="766070253"/>
                    </a:ext>
                  </a:extLst>
                </a:gridCol>
                <a:gridCol w="2215342">
                  <a:extLst>
                    <a:ext uri="{9D8B030D-6E8A-4147-A177-3AD203B41FA5}">
                      <a16:colId xmlns:a16="http://schemas.microsoft.com/office/drawing/2014/main" val="3898030337"/>
                    </a:ext>
                  </a:extLst>
                </a:gridCol>
                <a:gridCol w="1569720">
                  <a:extLst>
                    <a:ext uri="{9D8B030D-6E8A-4147-A177-3AD203B41FA5}">
                      <a16:colId xmlns:a16="http://schemas.microsoft.com/office/drawing/2014/main" val="3701616134"/>
                    </a:ext>
                  </a:extLst>
                </a:gridCol>
                <a:gridCol w="1569720">
                  <a:extLst>
                    <a:ext uri="{9D8B030D-6E8A-4147-A177-3AD203B41FA5}">
                      <a16:colId xmlns:a16="http://schemas.microsoft.com/office/drawing/2014/main" val="584286102"/>
                    </a:ext>
                  </a:extLst>
                </a:gridCol>
                <a:gridCol w="1569720">
                  <a:extLst>
                    <a:ext uri="{9D8B030D-6E8A-4147-A177-3AD203B41FA5}">
                      <a16:colId xmlns:a16="http://schemas.microsoft.com/office/drawing/2014/main" val="2287977193"/>
                    </a:ext>
                  </a:extLst>
                </a:gridCol>
              </a:tblGrid>
              <a:tr h="307916">
                <a:tc>
                  <a:txBody>
                    <a:bodyPr/>
                    <a:lstStyle/>
                    <a:p>
                      <a:pPr algn="just">
                        <a:spcAft>
                          <a:spcPts val="0"/>
                        </a:spcAft>
                      </a:pPr>
                      <a:r>
                        <a:rPr lang="en-US" sz="1400" kern="100" dirty="0">
                          <a:effectLst/>
                        </a:rPr>
                        <a:t> </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构念效度</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内部效度</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外部效度</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dirty="0">
                          <a:effectLst/>
                        </a:rPr>
                        <a:t>信度</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1590785"/>
                  </a:ext>
                </a:extLst>
              </a:tr>
              <a:tr h="923745">
                <a:tc>
                  <a:txBody>
                    <a:bodyPr/>
                    <a:lstStyle/>
                    <a:p>
                      <a:pPr algn="just">
                        <a:spcAft>
                          <a:spcPts val="0"/>
                        </a:spcAft>
                      </a:pPr>
                      <a:r>
                        <a:rPr lang="zh-CN" sz="1400" kern="100">
                          <a:effectLst/>
                        </a:rPr>
                        <a:t>内涵</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dirty="0">
                          <a:effectLst/>
                        </a:rPr>
                        <a:t>对所要评估的设计假设形成一套具有可操作性、且成体系的研究指标。</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dirty="0">
                          <a:effectLst/>
                        </a:rPr>
                        <a:t>验证设计假设的解释和因果关系。</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dirty="0">
                          <a:effectLst/>
                        </a:rPr>
                        <a:t>明确外部有效、结论可扩展性的范围。</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a:effectLst/>
                        </a:rPr>
                        <a:t>每一个步骤都具有可重复性。</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08999615"/>
                  </a:ext>
                </a:extLst>
              </a:tr>
              <a:tr h="1109225">
                <a:tc>
                  <a:txBody>
                    <a:bodyPr/>
                    <a:lstStyle/>
                    <a:p>
                      <a:pPr algn="just">
                        <a:spcAft>
                          <a:spcPts val="0"/>
                        </a:spcAft>
                      </a:pPr>
                      <a:r>
                        <a:rPr lang="zh-CN" sz="1400" kern="100">
                          <a:effectLst/>
                        </a:rPr>
                        <a:t>控制方式</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a:effectLst/>
                        </a:rPr>
                        <a:t>采用多元的信息来源；形成证据链；信息的关键提供者对案例评估报告进行检查。</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dirty="0">
                          <a:effectLst/>
                        </a:rPr>
                        <a:t>模式匹配；建立解释；分析备择解释；使用逻辑模型。</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dirty="0">
                          <a:effectLst/>
                        </a:rPr>
                        <a:t>用设计假设指导单个案例研究；通过重复逻辑进行多案例的研究。</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400" kern="100" dirty="0">
                          <a:effectLst/>
                        </a:rPr>
                        <a:t>案例评估草案；建立案例评估的资料库。</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21722767"/>
                  </a:ext>
                </a:extLst>
              </a:tr>
            </a:tbl>
          </a:graphicData>
        </a:graphic>
      </p:graphicFrame>
    </p:spTree>
    <p:extLst>
      <p:ext uri="{BB962C8B-B14F-4D97-AF65-F5344CB8AC3E}">
        <p14:creationId xmlns:p14="http://schemas.microsoft.com/office/powerpoint/2010/main" val="3399622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准实验评估</a:t>
            </a:r>
          </a:p>
          <a:p>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4662110"/>
          </a:xfrm>
          <a:prstGeom prst="rect">
            <a:avLst/>
          </a:prstGeom>
        </p:spPr>
        <p:txBody>
          <a:bodyPr wrap="square">
            <a:spAutoFit/>
          </a:bodyPr>
          <a:lstStyle/>
          <a:p>
            <a:pPr>
              <a:lnSpc>
                <a:spcPct val="150000"/>
              </a:lnSpc>
            </a:pPr>
            <a:r>
              <a:rPr lang="zh-CN" altLang="zh-CN" dirty="0"/>
              <a:t>准实验设计方法是设置实验组和控制组进行评估。</a:t>
            </a:r>
            <a:endParaRPr lang="en-US" altLang="zh-CN" dirty="0"/>
          </a:p>
          <a:p>
            <a:pPr>
              <a:lnSpc>
                <a:spcPct val="150000"/>
              </a:lnSpc>
            </a:pPr>
            <a:endParaRPr lang="zh-CN" altLang="zh-CN" dirty="0"/>
          </a:p>
          <a:p>
            <a:pPr marL="285750" indent="-285750">
              <a:lnSpc>
                <a:spcPct val="150000"/>
              </a:lnSpc>
              <a:buFont typeface="Wingdings" panose="05000000000000000000" pitchFamily="2" charset="2"/>
              <a:buChar char="ü"/>
            </a:pPr>
            <a:r>
              <a:rPr lang="zh-CN" altLang="zh-CN" b="1" dirty="0"/>
              <a:t>准实验评估的优势</a:t>
            </a:r>
            <a:endParaRPr lang="zh-CN" altLang="zh-CN" dirty="0"/>
          </a:p>
          <a:p>
            <a:pPr marL="742950" lvl="1" indent="-285750">
              <a:lnSpc>
                <a:spcPct val="150000"/>
              </a:lnSpc>
              <a:buFont typeface="Arial" panose="020B0604020202020204" pitchFamily="34" charset="0"/>
              <a:buChar char="•"/>
            </a:pPr>
            <a:r>
              <a:rPr lang="zh-CN" altLang="zh-CN" dirty="0"/>
              <a:t>较好的外部有效性，评估结果的生成遵循较为严格的因果推断逻辑。</a:t>
            </a:r>
          </a:p>
          <a:p>
            <a:pPr marL="742950" lvl="1" indent="-285750">
              <a:lnSpc>
                <a:spcPct val="150000"/>
              </a:lnSpc>
              <a:buFont typeface="Arial" panose="020B0604020202020204" pitchFamily="34" charset="0"/>
              <a:buChar char="•"/>
            </a:pPr>
            <a:r>
              <a:rPr lang="zh-CN" altLang="zh-CN" dirty="0"/>
              <a:t>更好地控制混杂变量，比其他非实验类型的研究具有更高内部效度。</a:t>
            </a:r>
          </a:p>
          <a:p>
            <a:pPr marL="742950" lvl="1" indent="-285750">
              <a:lnSpc>
                <a:spcPct val="150000"/>
              </a:lnSpc>
              <a:buFont typeface="Arial" panose="020B0604020202020204" pitchFamily="34" charset="0"/>
              <a:buChar char="•"/>
            </a:pPr>
            <a:r>
              <a:rPr lang="zh-CN" altLang="zh-CN" dirty="0"/>
              <a:t>评估结果较为直观。</a:t>
            </a:r>
          </a:p>
          <a:p>
            <a:pPr marL="285750" indent="-285750">
              <a:lnSpc>
                <a:spcPct val="150000"/>
              </a:lnSpc>
              <a:buFont typeface="Wingdings" panose="05000000000000000000" pitchFamily="2" charset="2"/>
              <a:buChar char="ü"/>
            </a:pPr>
            <a:r>
              <a:rPr lang="zh-CN" altLang="zh-CN" b="1" dirty="0"/>
              <a:t>准实验评估的劣势</a:t>
            </a:r>
            <a:endParaRPr lang="zh-CN" altLang="zh-CN" dirty="0"/>
          </a:p>
          <a:p>
            <a:pPr marL="742950" lvl="1" indent="-285750">
              <a:lnSpc>
                <a:spcPct val="150000"/>
              </a:lnSpc>
              <a:buFont typeface="Arial" panose="020B0604020202020204" pitchFamily="34" charset="0"/>
              <a:buChar char="•"/>
            </a:pPr>
            <a:r>
              <a:rPr lang="zh-CN" altLang="zh-CN" dirty="0"/>
              <a:t>外部有效性低于真实环境下的实验效果。</a:t>
            </a:r>
          </a:p>
          <a:p>
            <a:pPr marL="742950" lvl="1" indent="-285750">
              <a:lnSpc>
                <a:spcPct val="150000"/>
              </a:lnSpc>
              <a:buFont typeface="Arial" panose="020B0604020202020204" pitchFamily="34" charset="0"/>
              <a:buChar char="•"/>
            </a:pPr>
            <a:r>
              <a:rPr lang="zh-CN" altLang="zh-CN" dirty="0"/>
              <a:t>实验的场所的其它因素会影响评估效果，也可能会受到干扰因素的影响。</a:t>
            </a:r>
          </a:p>
          <a:p>
            <a:pPr marL="742950" lvl="1" indent="-285750">
              <a:lnSpc>
                <a:spcPct val="150000"/>
              </a:lnSpc>
              <a:buFont typeface="Arial" panose="020B0604020202020204" pitchFamily="34" charset="0"/>
              <a:buChar char="•"/>
            </a:pPr>
            <a:r>
              <a:rPr lang="zh-CN" altLang="zh-CN" dirty="0"/>
              <a:t>操作较为复杂，成本较高，可能时间跨度较长。</a:t>
            </a:r>
          </a:p>
          <a:p>
            <a:pPr>
              <a:lnSpc>
                <a:spcPct val="150000"/>
              </a:lnSpc>
            </a:pPr>
            <a:endParaRPr lang="zh-CN" altLang="en-US" sz="2000" dirty="0">
              <a:latin typeface="+mj-ea"/>
              <a:ea typeface="+mj-ea"/>
            </a:endParaRPr>
          </a:p>
        </p:txBody>
      </p:sp>
    </p:spTree>
    <p:extLst>
      <p:ext uri="{BB962C8B-B14F-4D97-AF65-F5344CB8AC3E}">
        <p14:creationId xmlns:p14="http://schemas.microsoft.com/office/powerpoint/2010/main" val="3233075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准实验评估</a:t>
            </a:r>
          </a:p>
          <a:p>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5539273"/>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zh-CN" b="1" dirty="0"/>
              <a:t>干扰因素的控制</a:t>
            </a:r>
            <a:endParaRPr lang="zh-CN" altLang="zh-CN" dirty="0"/>
          </a:p>
          <a:p>
            <a:pPr marL="742950" lvl="1" indent="-285750">
              <a:lnSpc>
                <a:spcPct val="150000"/>
              </a:lnSpc>
              <a:buFont typeface="Arial" panose="020B0604020202020204" pitchFamily="34" charset="0"/>
              <a:buChar char="•"/>
            </a:pPr>
            <a:r>
              <a:rPr lang="zh-CN" altLang="zh-CN" dirty="0"/>
              <a:t>设立对照组，以控制干扰因素作用。</a:t>
            </a:r>
          </a:p>
          <a:p>
            <a:pPr marL="742950" lvl="1" indent="-285750">
              <a:lnSpc>
                <a:spcPct val="150000"/>
              </a:lnSpc>
              <a:buFont typeface="Arial" panose="020B0604020202020204" pitchFamily="34" charset="0"/>
              <a:buChar char="•"/>
            </a:pPr>
            <a:r>
              <a:rPr lang="zh-CN" altLang="zh-CN" dirty="0"/>
              <a:t>在分析中控制或选择尽可能相似的组来解释干扰因素。</a:t>
            </a:r>
          </a:p>
          <a:p>
            <a:pPr marL="742950" lvl="1" indent="-285750">
              <a:lnSpc>
                <a:spcPct val="150000"/>
              </a:lnSpc>
              <a:buFont typeface="Arial" panose="020B0604020202020204" pitchFamily="34" charset="0"/>
              <a:buChar char="•"/>
            </a:pPr>
            <a:r>
              <a:rPr lang="zh-CN" altLang="zh-CN" dirty="0"/>
              <a:t>控制无关变量。</a:t>
            </a:r>
          </a:p>
          <a:p>
            <a:pPr marL="742950" lvl="1" indent="-285750">
              <a:lnSpc>
                <a:spcPct val="150000"/>
              </a:lnSpc>
              <a:buFont typeface="Arial" panose="020B0604020202020204" pitchFamily="34" charset="0"/>
              <a:buChar char="•"/>
            </a:pPr>
            <a:r>
              <a:rPr lang="zh-CN" altLang="zh-CN" dirty="0"/>
              <a:t>控制实验对象预先存在的差异。</a:t>
            </a:r>
          </a:p>
          <a:p>
            <a:pPr marL="285750" indent="-285750">
              <a:lnSpc>
                <a:spcPct val="150000"/>
              </a:lnSpc>
              <a:buFont typeface="Wingdings" panose="05000000000000000000" pitchFamily="2" charset="2"/>
              <a:buChar char="ü"/>
            </a:pPr>
            <a:r>
              <a:rPr lang="zh-CN" altLang="zh-CN" b="1" dirty="0"/>
              <a:t>操作步骤</a:t>
            </a:r>
            <a:endParaRPr lang="zh-CN" altLang="zh-CN" dirty="0"/>
          </a:p>
          <a:p>
            <a:pPr marL="742950" lvl="1" indent="-285750">
              <a:lnSpc>
                <a:spcPct val="150000"/>
              </a:lnSpc>
              <a:buFont typeface="Arial" panose="020B0604020202020204" pitchFamily="34" charset="0"/>
              <a:buChar char="•"/>
            </a:pPr>
            <a:r>
              <a:rPr lang="zh-CN" altLang="zh-CN" dirty="0"/>
              <a:t>确定研究场景与对象。</a:t>
            </a:r>
          </a:p>
          <a:p>
            <a:pPr marL="742950" lvl="1" indent="-285750">
              <a:lnSpc>
                <a:spcPct val="150000"/>
              </a:lnSpc>
              <a:buFont typeface="Arial" panose="020B0604020202020204" pitchFamily="34" charset="0"/>
              <a:buChar char="•"/>
            </a:pPr>
            <a:r>
              <a:rPr lang="zh-CN" altLang="zh-CN" dirty="0"/>
              <a:t>设置对照组，对设计假设之外的因素进行控制。</a:t>
            </a:r>
          </a:p>
          <a:p>
            <a:pPr marL="742950" lvl="1" indent="-285750">
              <a:lnSpc>
                <a:spcPct val="150000"/>
              </a:lnSpc>
              <a:buFont typeface="Arial" panose="020B0604020202020204" pitchFamily="34" charset="0"/>
              <a:buChar char="•"/>
            </a:pPr>
            <a:r>
              <a:rPr lang="zh-CN" altLang="zh-CN" dirty="0"/>
              <a:t>执行实验。</a:t>
            </a:r>
          </a:p>
          <a:p>
            <a:pPr marL="742950" lvl="1" indent="-285750">
              <a:lnSpc>
                <a:spcPct val="150000"/>
              </a:lnSpc>
              <a:buFont typeface="Arial" panose="020B0604020202020204" pitchFamily="34" charset="0"/>
              <a:buChar char="•"/>
            </a:pPr>
            <a:r>
              <a:rPr lang="zh-CN" altLang="zh-CN" dirty="0"/>
              <a:t>数据记录收集及处理。</a:t>
            </a:r>
          </a:p>
          <a:p>
            <a:pPr marL="742950" lvl="1" indent="-285750">
              <a:lnSpc>
                <a:spcPct val="150000"/>
              </a:lnSpc>
              <a:buFont typeface="Arial" panose="020B0604020202020204" pitchFamily="34" charset="0"/>
              <a:buChar char="•"/>
            </a:pPr>
            <a:r>
              <a:rPr lang="zh-CN" altLang="zh-CN" dirty="0"/>
              <a:t>分析数据处理结果，验证设计假设，形成结论。</a:t>
            </a:r>
          </a:p>
          <a:p>
            <a:pPr>
              <a:lnSpc>
                <a:spcPct val="150000"/>
              </a:lnSpc>
            </a:pPr>
            <a:endParaRPr lang="en-US" altLang="zh-CN" sz="2000" b="1" dirty="0">
              <a:latin typeface="+mj-ea"/>
              <a:ea typeface="+mj-ea"/>
            </a:endParaRPr>
          </a:p>
          <a:p>
            <a:pPr>
              <a:lnSpc>
                <a:spcPct val="150000"/>
              </a:lnSpc>
            </a:pPr>
            <a:endParaRPr lang="zh-CN" altLang="en-US" sz="2000" dirty="0">
              <a:latin typeface="+mj-ea"/>
              <a:ea typeface="+mj-ea"/>
            </a:endParaRPr>
          </a:p>
        </p:txBody>
      </p:sp>
    </p:spTree>
    <p:extLst>
      <p:ext uri="{BB962C8B-B14F-4D97-AF65-F5344CB8AC3E}">
        <p14:creationId xmlns:p14="http://schemas.microsoft.com/office/powerpoint/2010/main" val="1427496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数值实验</a:t>
            </a:r>
          </a:p>
          <a:p>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4251292"/>
          </a:xfrm>
          <a:prstGeom prst="rect">
            <a:avLst/>
          </a:prstGeom>
        </p:spPr>
        <p:txBody>
          <a:bodyPr wrap="square">
            <a:spAutoFit/>
          </a:bodyPr>
          <a:lstStyle/>
          <a:p>
            <a:pPr>
              <a:lnSpc>
                <a:spcPct val="150000"/>
              </a:lnSpc>
            </a:pPr>
            <a:r>
              <a:rPr lang="zh-CN" altLang="zh-CN" sz="2000" dirty="0"/>
              <a:t>对数值实验评估可用真实或虚拟数据来验证解决方案的效果，而非用于实际应用。</a:t>
            </a:r>
          </a:p>
          <a:p>
            <a:pPr marL="285750" indent="-285750">
              <a:lnSpc>
                <a:spcPct val="150000"/>
              </a:lnSpc>
              <a:buFont typeface="Wingdings" panose="05000000000000000000" pitchFamily="2" charset="2"/>
              <a:buChar char="ü"/>
            </a:pPr>
            <a:r>
              <a:rPr lang="zh-CN" altLang="zh-CN" b="1" dirty="0"/>
              <a:t>数值实验评估的优势</a:t>
            </a:r>
            <a:endParaRPr lang="zh-CN" altLang="zh-CN" dirty="0"/>
          </a:p>
          <a:p>
            <a:pPr marL="742950" lvl="1" indent="-285750">
              <a:lnSpc>
                <a:spcPct val="150000"/>
              </a:lnSpc>
              <a:buFont typeface="Arial" panose="020B0604020202020204" pitchFamily="34" charset="0"/>
              <a:buChar char="•"/>
            </a:pPr>
            <a:r>
              <a:rPr lang="zh-CN" altLang="zh-CN" dirty="0"/>
              <a:t>当不便于在真实环境中评估时，可用数值实验进行评估。</a:t>
            </a:r>
          </a:p>
          <a:p>
            <a:pPr marL="742950" lvl="1" indent="-285750">
              <a:lnSpc>
                <a:spcPct val="150000"/>
              </a:lnSpc>
              <a:buFont typeface="Arial" panose="020B0604020202020204" pitchFamily="34" charset="0"/>
              <a:buChar char="•"/>
            </a:pPr>
            <a:r>
              <a:rPr lang="zh-CN" altLang="zh-CN" dirty="0"/>
              <a:t>相较于真实环境下的评估方法，时间段重复性高、灵活性强。</a:t>
            </a:r>
          </a:p>
          <a:p>
            <a:pPr marL="742950" lvl="1" indent="-285750">
              <a:lnSpc>
                <a:spcPct val="150000"/>
              </a:lnSpc>
              <a:buFont typeface="Arial" panose="020B0604020202020204" pitchFamily="34" charset="0"/>
              <a:buChar char="•"/>
            </a:pPr>
            <a:r>
              <a:rPr lang="zh-CN" altLang="zh-CN" dirty="0"/>
              <a:t>可探索不同的“假设”场景。</a:t>
            </a:r>
          </a:p>
          <a:p>
            <a:pPr marL="742950" lvl="1" indent="-285750">
              <a:lnSpc>
                <a:spcPct val="150000"/>
              </a:lnSpc>
              <a:buFont typeface="Arial" panose="020B0604020202020204" pitchFamily="34" charset="0"/>
              <a:buChar char="•"/>
            </a:pPr>
            <a:r>
              <a:rPr lang="zh-CN" altLang="zh-CN" dirty="0"/>
              <a:t>允许在不同细节级别上随时间观察系统行为。</a:t>
            </a:r>
          </a:p>
          <a:p>
            <a:pPr marL="742950" lvl="1" indent="-285750">
              <a:lnSpc>
                <a:spcPct val="150000"/>
              </a:lnSpc>
              <a:buFont typeface="Arial" panose="020B0604020202020204" pitchFamily="34" charset="0"/>
              <a:buChar char="•"/>
            </a:pPr>
            <a:r>
              <a:rPr lang="zh-CN" altLang="zh-CN" dirty="0"/>
              <a:t>模拟模型可以捕获更多的细节，从而提供更高的准确性。</a:t>
            </a:r>
          </a:p>
          <a:p>
            <a:pPr marL="742950" lvl="1" indent="-285750">
              <a:lnSpc>
                <a:spcPct val="150000"/>
              </a:lnSpc>
              <a:buFont typeface="Arial" panose="020B0604020202020204" pitchFamily="34" charset="0"/>
              <a:buChar char="•"/>
            </a:pPr>
            <a:r>
              <a:rPr lang="zh-CN" altLang="zh-CN" dirty="0"/>
              <a:t>操作时间和结果的不确定性可以通过模型中展示出来，从而实现风险量化，并对解决方案进行优化。</a:t>
            </a:r>
          </a:p>
          <a:p>
            <a:pPr marL="742950" lvl="1" indent="-285750">
              <a:lnSpc>
                <a:spcPct val="150000"/>
              </a:lnSpc>
              <a:buFont typeface="Arial" panose="020B0604020202020204" pitchFamily="34" charset="0"/>
              <a:buChar char="•"/>
            </a:pPr>
            <a:r>
              <a:rPr lang="zh-CN" altLang="zh-CN" dirty="0"/>
              <a:t>可以在相同的情况下反复测试不同的解决方案，可方便测试和比较不同的解决方案。</a:t>
            </a:r>
          </a:p>
          <a:p>
            <a:pPr marL="742950" lvl="1" indent="-285750">
              <a:lnSpc>
                <a:spcPct val="150000"/>
              </a:lnSpc>
              <a:buFont typeface="Arial" panose="020B0604020202020204" pitchFamily="34" charset="0"/>
              <a:buChar char="•"/>
            </a:pPr>
            <a:r>
              <a:rPr lang="zh-CN" altLang="zh-CN" dirty="0"/>
              <a:t>通过在短短几秒钟内对长周期影响进行建模。</a:t>
            </a:r>
            <a:endParaRPr lang="zh-CN" altLang="en-US" sz="2000" dirty="0">
              <a:latin typeface="+mj-ea"/>
              <a:ea typeface="+mj-ea"/>
            </a:endParaRPr>
          </a:p>
        </p:txBody>
      </p:sp>
    </p:spTree>
    <p:extLst>
      <p:ext uri="{BB962C8B-B14F-4D97-AF65-F5344CB8AC3E}">
        <p14:creationId xmlns:p14="http://schemas.microsoft.com/office/powerpoint/2010/main" val="1464145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数值实验</a:t>
            </a:r>
          </a:p>
          <a:p>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3877280"/>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zh-CN" b="1" dirty="0"/>
              <a:t>数值实验评估的劣势</a:t>
            </a:r>
            <a:endParaRPr lang="zh-CN" altLang="zh-CN" dirty="0"/>
          </a:p>
          <a:p>
            <a:pPr marL="742950" lvl="1" indent="-285750">
              <a:lnSpc>
                <a:spcPct val="150000"/>
              </a:lnSpc>
              <a:buFont typeface="Arial" panose="020B0604020202020204" pitchFamily="34" charset="0"/>
              <a:buChar char="•"/>
            </a:pPr>
            <a:r>
              <a:rPr lang="zh-CN" altLang="zh-CN" dirty="0"/>
              <a:t>现实情况可能会更复杂，与真实环境下的评估效果相比有差距。</a:t>
            </a:r>
          </a:p>
          <a:p>
            <a:pPr marL="742950" lvl="1" indent="-285750">
              <a:lnSpc>
                <a:spcPct val="150000"/>
              </a:lnSpc>
              <a:buFont typeface="Arial" panose="020B0604020202020204" pitchFamily="34" charset="0"/>
              <a:buChar char="•"/>
            </a:pPr>
            <a:r>
              <a:rPr lang="zh-CN" altLang="zh-CN" dirty="0"/>
              <a:t>得到的评估结果属于数值解或近似解。</a:t>
            </a:r>
          </a:p>
          <a:p>
            <a:pPr marL="285750" indent="-285750">
              <a:lnSpc>
                <a:spcPct val="150000"/>
              </a:lnSpc>
              <a:buFont typeface="Wingdings" panose="05000000000000000000" pitchFamily="2" charset="2"/>
              <a:buChar char="ü"/>
            </a:pPr>
            <a:r>
              <a:rPr lang="zh-CN" altLang="zh-CN" b="1" dirty="0"/>
              <a:t>干扰因素的控制</a:t>
            </a:r>
            <a:endParaRPr lang="zh-CN" altLang="zh-CN" dirty="0"/>
          </a:p>
          <a:p>
            <a:pPr marL="742950" lvl="1" indent="-285750">
              <a:lnSpc>
                <a:spcPct val="150000"/>
              </a:lnSpc>
              <a:buFont typeface="Arial" panose="020B0604020202020204" pitchFamily="34" charset="0"/>
              <a:buChar char="•"/>
            </a:pPr>
            <a:r>
              <a:rPr lang="zh-CN" altLang="zh-CN" dirty="0"/>
              <a:t>需要证明模型假设的合理性。</a:t>
            </a:r>
          </a:p>
          <a:p>
            <a:pPr marL="742950" lvl="1" indent="-285750">
              <a:lnSpc>
                <a:spcPct val="150000"/>
              </a:lnSpc>
              <a:buFont typeface="Arial" panose="020B0604020202020204" pitchFamily="34" charset="0"/>
              <a:buChar char="•"/>
            </a:pPr>
            <a:r>
              <a:rPr lang="zh-CN" altLang="zh-CN" dirty="0"/>
              <a:t>合理增加使用数据的规模。</a:t>
            </a:r>
          </a:p>
          <a:p>
            <a:pPr marL="742950" lvl="1" indent="-285750">
              <a:lnSpc>
                <a:spcPct val="150000"/>
              </a:lnSpc>
              <a:buFont typeface="Arial" panose="020B0604020202020204" pitchFamily="34" charset="0"/>
              <a:buChar char="•"/>
            </a:pPr>
            <a:r>
              <a:rPr lang="zh-CN" altLang="zh-CN" dirty="0"/>
              <a:t>与真实情境的一致程度比较，并说明模型的简化和假设是合理的。</a:t>
            </a:r>
          </a:p>
          <a:p>
            <a:pPr>
              <a:lnSpc>
                <a:spcPct val="150000"/>
              </a:lnSpc>
            </a:pPr>
            <a:endParaRPr lang="en-US" altLang="zh-CN" sz="2000" b="1" dirty="0">
              <a:latin typeface="+mj-ea"/>
              <a:ea typeface="+mj-ea"/>
            </a:endParaRPr>
          </a:p>
          <a:p>
            <a:pPr>
              <a:lnSpc>
                <a:spcPct val="150000"/>
              </a:lnSpc>
            </a:pPr>
            <a:endParaRPr lang="zh-CN" altLang="en-US" sz="2000" dirty="0">
              <a:latin typeface="+mj-ea"/>
              <a:ea typeface="+mj-ea"/>
            </a:endParaRPr>
          </a:p>
        </p:txBody>
      </p:sp>
    </p:spTree>
    <p:extLst>
      <p:ext uri="{BB962C8B-B14F-4D97-AF65-F5344CB8AC3E}">
        <p14:creationId xmlns:p14="http://schemas.microsoft.com/office/powerpoint/2010/main" val="212962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72772" y="455743"/>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评估方法：</a:t>
            </a:r>
            <a:r>
              <a:rPr lang="zh-CN" altLang="zh-CN" sz="3300" dirty="0">
                <a:latin typeface="+mn-ea"/>
                <a:ea typeface="+mn-ea"/>
              </a:rPr>
              <a:t>原型测试</a:t>
            </a:r>
          </a:p>
          <a:p>
            <a:endParaRPr lang="zh-CN" altLang="en-US" sz="3300" dirty="0">
              <a:latin typeface="+mn-ea"/>
              <a:ea typeface="+mn-ea"/>
            </a:endParaRPr>
          </a:p>
        </p:txBody>
      </p:sp>
      <p:sp>
        <p:nvSpPr>
          <p:cNvPr id="5" name="矩形 4">
            <a:extLst>
              <a:ext uri="{FF2B5EF4-FFF2-40B4-BE49-F238E27FC236}">
                <a16:creationId xmlns:a16="http://schemas.microsoft.com/office/drawing/2014/main" id="{F9A061E1-0516-4A3F-8DCE-267CE8A82DF3}"/>
              </a:ext>
            </a:extLst>
          </p:cNvPr>
          <p:cNvSpPr/>
          <p:nvPr/>
        </p:nvSpPr>
        <p:spPr>
          <a:xfrm>
            <a:off x="439784" y="1092721"/>
            <a:ext cx="10765970" cy="968791"/>
          </a:xfrm>
          <a:prstGeom prst="rect">
            <a:avLst/>
          </a:prstGeom>
        </p:spPr>
        <p:txBody>
          <a:bodyPr wrap="square">
            <a:spAutoFit/>
          </a:bodyPr>
          <a:lstStyle/>
          <a:p>
            <a:pPr>
              <a:lnSpc>
                <a:spcPct val="150000"/>
              </a:lnSpc>
            </a:pPr>
            <a:endParaRPr lang="en-US" altLang="zh-CN" sz="2000" b="1" dirty="0">
              <a:latin typeface="+mj-ea"/>
              <a:ea typeface="+mj-ea"/>
            </a:endParaRPr>
          </a:p>
          <a:p>
            <a:pPr>
              <a:lnSpc>
                <a:spcPct val="150000"/>
              </a:lnSpc>
            </a:pPr>
            <a:endParaRPr lang="zh-CN" altLang="en-US" sz="2000" dirty="0">
              <a:latin typeface="+mj-ea"/>
              <a:ea typeface="+mj-ea"/>
            </a:endParaRPr>
          </a:p>
        </p:txBody>
      </p:sp>
      <p:sp>
        <p:nvSpPr>
          <p:cNvPr id="4" name="矩形 3">
            <a:extLst>
              <a:ext uri="{FF2B5EF4-FFF2-40B4-BE49-F238E27FC236}">
                <a16:creationId xmlns:a16="http://schemas.microsoft.com/office/drawing/2014/main" id="{CDC678E7-76F2-4B35-9C40-60801A953A4F}"/>
              </a:ext>
            </a:extLst>
          </p:cNvPr>
          <p:cNvSpPr/>
          <p:nvPr/>
        </p:nvSpPr>
        <p:spPr>
          <a:xfrm>
            <a:off x="439784" y="1092721"/>
            <a:ext cx="10765970" cy="4431278"/>
          </a:xfrm>
          <a:prstGeom prst="rect">
            <a:avLst/>
          </a:prstGeom>
        </p:spPr>
        <p:txBody>
          <a:bodyPr wrap="square">
            <a:spAutoFit/>
          </a:bodyPr>
          <a:lstStyle/>
          <a:p>
            <a:pPr>
              <a:lnSpc>
                <a:spcPct val="150000"/>
              </a:lnSpc>
            </a:pPr>
            <a:r>
              <a:rPr lang="zh-CN" altLang="zh-CN" sz="2000" dirty="0"/>
              <a:t>原型测试是设计一个初始性或早期的框架，并体现在原型中，进而进行评价。在原型是对通过解决方案的展现来展示其有效性和适合性。</a:t>
            </a:r>
          </a:p>
          <a:p>
            <a:pPr marL="342900" indent="-342900">
              <a:lnSpc>
                <a:spcPct val="150000"/>
              </a:lnSpc>
              <a:buFont typeface="Wingdings" panose="05000000000000000000" pitchFamily="2" charset="2"/>
              <a:buChar char="ü"/>
            </a:pPr>
            <a:r>
              <a:rPr lang="zh-CN" altLang="zh-CN" sz="2000" b="1" dirty="0"/>
              <a:t>优势</a:t>
            </a:r>
            <a:endParaRPr lang="zh-CN" altLang="zh-CN" sz="2000" dirty="0"/>
          </a:p>
          <a:p>
            <a:pPr marL="800100" lvl="1" indent="-342900">
              <a:lnSpc>
                <a:spcPct val="150000"/>
              </a:lnSpc>
              <a:buFont typeface="Arial" panose="020B0604020202020204" pitchFamily="34" charset="0"/>
              <a:buChar char="•"/>
            </a:pPr>
            <a:r>
              <a:rPr lang="zh-CN" altLang="zh-CN" dirty="0"/>
              <a:t>有效性更高，更切合实际情况。</a:t>
            </a:r>
          </a:p>
          <a:p>
            <a:pPr marL="800100" lvl="1" indent="-342900">
              <a:lnSpc>
                <a:spcPct val="150000"/>
              </a:lnSpc>
              <a:buFont typeface="Arial" panose="020B0604020202020204" pitchFamily="34" charset="0"/>
              <a:buChar char="•"/>
            </a:pPr>
            <a:r>
              <a:rPr lang="zh-CN" altLang="zh-CN" dirty="0"/>
              <a:t>结果真实有效，有利于评估。</a:t>
            </a:r>
          </a:p>
          <a:p>
            <a:pPr marL="342900" indent="-342900">
              <a:lnSpc>
                <a:spcPct val="150000"/>
              </a:lnSpc>
              <a:buFont typeface="Wingdings" panose="05000000000000000000" pitchFamily="2" charset="2"/>
              <a:buChar char="ü"/>
            </a:pPr>
            <a:r>
              <a:rPr lang="zh-CN" altLang="zh-CN" sz="2000" b="1" dirty="0"/>
              <a:t>劣势</a:t>
            </a:r>
            <a:endParaRPr lang="zh-CN" altLang="zh-CN" sz="2000" dirty="0"/>
          </a:p>
          <a:p>
            <a:pPr marL="800100" lvl="1" indent="-342900">
              <a:lnSpc>
                <a:spcPct val="150000"/>
              </a:lnSpc>
              <a:buFont typeface="Arial" panose="020B0604020202020204" pitchFamily="34" charset="0"/>
              <a:buChar char="•"/>
            </a:pPr>
            <a:r>
              <a:rPr lang="zh-CN" altLang="zh-CN" dirty="0"/>
              <a:t>外部效度不及案例评估。</a:t>
            </a:r>
          </a:p>
          <a:p>
            <a:pPr marL="800100" lvl="1" indent="-342900">
              <a:lnSpc>
                <a:spcPct val="150000"/>
              </a:lnSpc>
              <a:buFont typeface="Arial" panose="020B0604020202020204" pitchFamily="34" charset="0"/>
              <a:buChar char="•"/>
            </a:pPr>
            <a:r>
              <a:rPr lang="zh-CN" altLang="zh-CN" dirty="0"/>
              <a:t>适用于特定的行业和领域，对管理解决方案原型化的难度较大。</a:t>
            </a:r>
          </a:p>
          <a:p>
            <a:pPr marL="800100" lvl="1" indent="-342900">
              <a:lnSpc>
                <a:spcPct val="150000"/>
              </a:lnSpc>
              <a:buFont typeface="Arial" panose="020B0604020202020204" pitchFamily="34" charset="0"/>
              <a:buChar char="•"/>
            </a:pPr>
            <a:r>
              <a:rPr lang="zh-CN" altLang="zh-CN" dirty="0"/>
              <a:t>成本较高。</a:t>
            </a:r>
          </a:p>
          <a:p>
            <a:pPr>
              <a:lnSpc>
                <a:spcPct val="150000"/>
              </a:lnSpc>
            </a:pPr>
            <a:endParaRPr lang="zh-CN" altLang="en-US" sz="2000" dirty="0">
              <a:latin typeface="+mj-ea"/>
              <a:ea typeface="+mj-ea"/>
            </a:endParaRPr>
          </a:p>
        </p:txBody>
      </p:sp>
    </p:spTree>
    <p:extLst>
      <p:ext uri="{BB962C8B-B14F-4D97-AF65-F5344CB8AC3E}">
        <p14:creationId xmlns:p14="http://schemas.microsoft.com/office/powerpoint/2010/main" val="519984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65207-3CBE-4C6D-A208-AC942A14C1DD}"/>
              </a:ext>
            </a:extLst>
          </p:cNvPr>
          <p:cNvSpPr txBox="1">
            <a:spLocks noChangeArrowheads="1"/>
          </p:cNvSpPr>
          <p:nvPr/>
        </p:nvSpPr>
        <p:spPr>
          <a:xfrm>
            <a:off x="1744705" y="433105"/>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评估</a:t>
            </a:r>
            <a:r>
              <a:rPr lang="zh-CN" altLang="en-US" sz="3300" dirty="0">
                <a:latin typeface="+mn-ea"/>
                <a:ea typeface="+mn-ea"/>
              </a:rPr>
              <a:t>流程</a:t>
            </a:r>
          </a:p>
        </p:txBody>
      </p:sp>
      <p:sp>
        <p:nvSpPr>
          <p:cNvPr id="3" name="矩形 2"/>
          <p:cNvSpPr/>
          <p:nvPr/>
        </p:nvSpPr>
        <p:spPr>
          <a:xfrm>
            <a:off x="4659355" y="1139362"/>
            <a:ext cx="1487445" cy="500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schemeClr val="tx1"/>
                </a:solidFill>
              </a:rPr>
              <a:t>评估</a:t>
            </a:r>
            <a:r>
              <a:rPr lang="zh-CN" altLang="en-US" sz="2000" dirty="0">
                <a:solidFill>
                  <a:schemeClr val="tx1"/>
                </a:solidFill>
              </a:rPr>
              <a:t>目标</a:t>
            </a:r>
          </a:p>
        </p:txBody>
      </p:sp>
      <p:sp>
        <p:nvSpPr>
          <p:cNvPr id="6" name="矩形 5"/>
          <p:cNvSpPr/>
          <p:nvPr/>
        </p:nvSpPr>
        <p:spPr>
          <a:xfrm>
            <a:off x="3824402" y="1983288"/>
            <a:ext cx="3092866" cy="5549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schemeClr val="tx1"/>
                </a:solidFill>
              </a:rPr>
              <a:t>范围界定</a:t>
            </a:r>
            <a:r>
              <a:rPr lang="zh-CN" altLang="en-US" sz="2000" dirty="0">
                <a:solidFill>
                  <a:schemeClr val="tx1"/>
                </a:solidFill>
              </a:rPr>
              <a:t>（边界、对象）</a:t>
            </a:r>
          </a:p>
        </p:txBody>
      </p:sp>
      <p:sp>
        <p:nvSpPr>
          <p:cNvPr id="4" name="下箭头 3"/>
          <p:cNvSpPr/>
          <p:nvPr/>
        </p:nvSpPr>
        <p:spPr>
          <a:xfrm>
            <a:off x="5225773" y="1639877"/>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 name="矩形 6"/>
          <p:cNvSpPr/>
          <p:nvPr/>
        </p:nvSpPr>
        <p:spPr>
          <a:xfrm>
            <a:off x="3564467" y="2954041"/>
            <a:ext cx="3615266" cy="10468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总体策略</a:t>
            </a:r>
            <a:endParaRPr lang="en-US" altLang="zh-CN" sz="2000" dirty="0">
              <a:solidFill>
                <a:schemeClr val="tx1"/>
              </a:solidFill>
            </a:endParaRPr>
          </a:p>
          <a:p>
            <a:pPr algn="ctr"/>
            <a:r>
              <a:rPr lang="zh-CN" altLang="en-US" sz="2000" dirty="0">
                <a:solidFill>
                  <a:schemeClr val="tx1"/>
                </a:solidFill>
              </a:rPr>
              <a:t>（评估方法、排除干扰措施、评估指标、数据来源等）</a:t>
            </a:r>
          </a:p>
        </p:txBody>
      </p:sp>
      <p:sp>
        <p:nvSpPr>
          <p:cNvPr id="8" name="下箭头 7"/>
          <p:cNvSpPr/>
          <p:nvPr/>
        </p:nvSpPr>
        <p:spPr>
          <a:xfrm>
            <a:off x="5225773" y="2582000"/>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 name="矩形 9"/>
          <p:cNvSpPr/>
          <p:nvPr/>
        </p:nvSpPr>
        <p:spPr>
          <a:xfrm>
            <a:off x="4157133" y="4405552"/>
            <a:ext cx="2472268" cy="5549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收集数据进行评估</a:t>
            </a:r>
          </a:p>
        </p:txBody>
      </p:sp>
      <p:sp>
        <p:nvSpPr>
          <p:cNvPr id="11" name="矩形 10"/>
          <p:cNvSpPr/>
          <p:nvPr/>
        </p:nvSpPr>
        <p:spPr>
          <a:xfrm>
            <a:off x="4428067" y="5405997"/>
            <a:ext cx="1981200" cy="4564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检验评估结果</a:t>
            </a:r>
          </a:p>
        </p:txBody>
      </p:sp>
      <p:sp>
        <p:nvSpPr>
          <p:cNvPr id="12" name="矩形 11"/>
          <p:cNvSpPr/>
          <p:nvPr/>
        </p:nvSpPr>
        <p:spPr>
          <a:xfrm>
            <a:off x="4554443" y="6198237"/>
            <a:ext cx="1781423" cy="5549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形成结论</a:t>
            </a:r>
          </a:p>
        </p:txBody>
      </p:sp>
      <p:sp>
        <p:nvSpPr>
          <p:cNvPr id="13" name="下箭头 12"/>
          <p:cNvSpPr/>
          <p:nvPr/>
        </p:nvSpPr>
        <p:spPr>
          <a:xfrm>
            <a:off x="5225773" y="4034936"/>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4" name="下箭头 13"/>
          <p:cNvSpPr/>
          <p:nvPr/>
        </p:nvSpPr>
        <p:spPr>
          <a:xfrm>
            <a:off x="5290465" y="5002839"/>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5" name="下箭头 14"/>
          <p:cNvSpPr/>
          <p:nvPr/>
        </p:nvSpPr>
        <p:spPr>
          <a:xfrm>
            <a:off x="5293363" y="5869963"/>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cxnSp>
        <p:nvCxnSpPr>
          <p:cNvPr id="9" name="直接连接符 8">
            <a:extLst>
              <a:ext uri="{FF2B5EF4-FFF2-40B4-BE49-F238E27FC236}">
                <a16:creationId xmlns:a16="http://schemas.microsoft.com/office/drawing/2014/main" id="{8AE8723B-E687-4EA0-99DA-EA998C8950CE}"/>
              </a:ext>
            </a:extLst>
          </p:cNvPr>
          <p:cNvCxnSpPr/>
          <p:nvPr/>
        </p:nvCxnSpPr>
        <p:spPr>
          <a:xfrm>
            <a:off x="3564468" y="1080655"/>
            <a:ext cx="56820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9559310-1D30-4504-9B74-6684505C3022}"/>
              </a:ext>
            </a:extLst>
          </p:cNvPr>
          <p:cNvCxnSpPr>
            <a:cxnSpLocks/>
          </p:cNvCxnSpPr>
          <p:nvPr/>
        </p:nvCxnSpPr>
        <p:spPr>
          <a:xfrm>
            <a:off x="3254971" y="4164677"/>
            <a:ext cx="60497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0DF4A24-E616-40A2-B3EC-3BB0FA791855}"/>
              </a:ext>
            </a:extLst>
          </p:cNvPr>
          <p:cNvCxnSpPr>
            <a:cxnSpLocks/>
          </p:cNvCxnSpPr>
          <p:nvPr/>
        </p:nvCxnSpPr>
        <p:spPr>
          <a:xfrm>
            <a:off x="3071129" y="6691746"/>
            <a:ext cx="60497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F02B37CB-8790-4082-A41C-7DB80DCD786A}"/>
              </a:ext>
            </a:extLst>
          </p:cNvPr>
          <p:cNvCxnSpPr>
            <a:cxnSpLocks/>
          </p:cNvCxnSpPr>
          <p:nvPr/>
        </p:nvCxnSpPr>
        <p:spPr>
          <a:xfrm flipH="1" flipV="1">
            <a:off x="7851049" y="1080792"/>
            <a:ext cx="6350" cy="572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5E9A4A6F-3F38-4737-8A98-4B1896E1E369}"/>
              </a:ext>
            </a:extLst>
          </p:cNvPr>
          <p:cNvSpPr/>
          <p:nvPr/>
        </p:nvSpPr>
        <p:spPr>
          <a:xfrm>
            <a:off x="7310462" y="1645661"/>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准备</a:t>
            </a:r>
          </a:p>
        </p:txBody>
      </p:sp>
      <p:cxnSp>
        <p:nvCxnSpPr>
          <p:cNvPr id="25" name="直接箭头连接符 24">
            <a:extLst>
              <a:ext uri="{FF2B5EF4-FFF2-40B4-BE49-F238E27FC236}">
                <a16:creationId xmlns:a16="http://schemas.microsoft.com/office/drawing/2014/main" id="{81085A60-A0EF-4509-A2EE-1B47E9EB80CF}"/>
              </a:ext>
            </a:extLst>
          </p:cNvPr>
          <p:cNvCxnSpPr>
            <a:cxnSpLocks/>
          </p:cNvCxnSpPr>
          <p:nvPr/>
        </p:nvCxnSpPr>
        <p:spPr>
          <a:xfrm>
            <a:off x="7857399" y="2130899"/>
            <a:ext cx="0" cy="570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92988E94-975F-475B-BF00-CCB21D70CA70}"/>
              </a:ext>
            </a:extLst>
          </p:cNvPr>
          <p:cNvCxnSpPr>
            <a:cxnSpLocks/>
          </p:cNvCxnSpPr>
          <p:nvPr/>
        </p:nvCxnSpPr>
        <p:spPr>
          <a:xfrm>
            <a:off x="3254971" y="5331113"/>
            <a:ext cx="60497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EC04A390-04AD-4E16-A615-7374B26E2953}"/>
              </a:ext>
            </a:extLst>
          </p:cNvPr>
          <p:cNvCxnSpPr>
            <a:cxnSpLocks/>
          </p:cNvCxnSpPr>
          <p:nvPr/>
        </p:nvCxnSpPr>
        <p:spPr>
          <a:xfrm flipV="1">
            <a:off x="7857399" y="4168289"/>
            <a:ext cx="0" cy="34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052F50FB-6C36-408A-B69A-F9A9E2E53823}"/>
              </a:ext>
            </a:extLst>
          </p:cNvPr>
          <p:cNvSpPr/>
          <p:nvPr/>
        </p:nvSpPr>
        <p:spPr>
          <a:xfrm>
            <a:off x="7297763" y="4517738"/>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实施</a:t>
            </a:r>
          </a:p>
        </p:txBody>
      </p:sp>
      <p:cxnSp>
        <p:nvCxnSpPr>
          <p:cNvPr id="33" name="直接箭头连接符 32">
            <a:extLst>
              <a:ext uri="{FF2B5EF4-FFF2-40B4-BE49-F238E27FC236}">
                <a16:creationId xmlns:a16="http://schemas.microsoft.com/office/drawing/2014/main" id="{3AEB42F7-14AD-43EB-907F-02BF5D5840A4}"/>
              </a:ext>
            </a:extLst>
          </p:cNvPr>
          <p:cNvCxnSpPr>
            <a:cxnSpLocks/>
          </p:cNvCxnSpPr>
          <p:nvPr/>
        </p:nvCxnSpPr>
        <p:spPr>
          <a:xfrm>
            <a:off x="7857399" y="4995219"/>
            <a:ext cx="0" cy="328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634330F6-5E2E-4EEA-A03A-4F8DDE848104}"/>
              </a:ext>
            </a:extLst>
          </p:cNvPr>
          <p:cNvCxnSpPr>
            <a:cxnSpLocks/>
          </p:cNvCxnSpPr>
          <p:nvPr/>
        </p:nvCxnSpPr>
        <p:spPr>
          <a:xfrm flipV="1">
            <a:off x="7857399" y="5323494"/>
            <a:ext cx="0" cy="272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矩形 43">
            <a:extLst>
              <a:ext uri="{FF2B5EF4-FFF2-40B4-BE49-F238E27FC236}">
                <a16:creationId xmlns:a16="http://schemas.microsoft.com/office/drawing/2014/main" id="{C772CFB6-E5D4-4DF1-BAC6-785526EBB02D}"/>
              </a:ext>
            </a:extLst>
          </p:cNvPr>
          <p:cNvSpPr/>
          <p:nvPr/>
        </p:nvSpPr>
        <p:spPr>
          <a:xfrm>
            <a:off x="7310462" y="5592994"/>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结论</a:t>
            </a:r>
          </a:p>
        </p:txBody>
      </p:sp>
      <p:cxnSp>
        <p:nvCxnSpPr>
          <p:cNvPr id="45" name="直接箭头连接符 44">
            <a:extLst>
              <a:ext uri="{FF2B5EF4-FFF2-40B4-BE49-F238E27FC236}">
                <a16:creationId xmlns:a16="http://schemas.microsoft.com/office/drawing/2014/main" id="{82F942A8-F35B-4911-9C70-AF7910BDB4BD}"/>
              </a:ext>
            </a:extLst>
          </p:cNvPr>
          <p:cNvCxnSpPr>
            <a:cxnSpLocks/>
          </p:cNvCxnSpPr>
          <p:nvPr/>
        </p:nvCxnSpPr>
        <p:spPr>
          <a:xfrm>
            <a:off x="7857399" y="6084896"/>
            <a:ext cx="12700" cy="599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8F26806A-1C41-48F6-9968-B6989F63B4BD}"/>
              </a:ext>
            </a:extLst>
          </p:cNvPr>
          <p:cNvCxnSpPr>
            <a:cxnSpLocks/>
          </p:cNvCxnSpPr>
          <p:nvPr/>
        </p:nvCxnSpPr>
        <p:spPr>
          <a:xfrm>
            <a:off x="3310994" y="2708927"/>
            <a:ext cx="6049742"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EC1DDBF-E1D8-4570-A246-ACFC9844062C}"/>
              </a:ext>
            </a:extLst>
          </p:cNvPr>
          <p:cNvSpPr/>
          <p:nvPr/>
        </p:nvSpPr>
        <p:spPr>
          <a:xfrm>
            <a:off x="7353786" y="3108202"/>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策略</a:t>
            </a:r>
          </a:p>
        </p:txBody>
      </p:sp>
      <p:cxnSp>
        <p:nvCxnSpPr>
          <p:cNvPr id="58" name="直接箭头连接符 57">
            <a:extLst>
              <a:ext uri="{FF2B5EF4-FFF2-40B4-BE49-F238E27FC236}">
                <a16:creationId xmlns:a16="http://schemas.microsoft.com/office/drawing/2014/main" id="{8A4A0A86-D6EA-45CC-9102-EDC18D513975}"/>
              </a:ext>
            </a:extLst>
          </p:cNvPr>
          <p:cNvCxnSpPr>
            <a:cxnSpLocks/>
            <a:stCxn id="57" idx="0"/>
          </p:cNvCxnSpPr>
          <p:nvPr/>
        </p:nvCxnSpPr>
        <p:spPr>
          <a:xfrm flipV="1">
            <a:off x="7858151" y="2701309"/>
            <a:ext cx="0" cy="4068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D30E01BF-FC19-4F24-A02C-08C357BF6CE5}"/>
              </a:ext>
            </a:extLst>
          </p:cNvPr>
          <p:cNvCxnSpPr>
            <a:cxnSpLocks/>
          </p:cNvCxnSpPr>
          <p:nvPr/>
        </p:nvCxnSpPr>
        <p:spPr>
          <a:xfrm>
            <a:off x="7862587" y="3600104"/>
            <a:ext cx="0" cy="570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239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A4FF79E-43FB-4B3B-9D9B-7459C30A674A}"/>
              </a:ext>
            </a:extLst>
          </p:cNvPr>
          <p:cNvSpPr/>
          <p:nvPr/>
        </p:nvSpPr>
        <p:spPr>
          <a:xfrm>
            <a:off x="409304" y="1092721"/>
            <a:ext cx="10765970" cy="3835794"/>
          </a:xfrm>
          <a:prstGeom prst="rect">
            <a:avLst/>
          </a:prstGeom>
        </p:spPr>
        <p:txBody>
          <a:bodyPr wrap="square">
            <a:spAutoFit/>
          </a:bodyPr>
          <a:lstStyle/>
          <a:p>
            <a:pPr>
              <a:lnSpc>
                <a:spcPct val="150000"/>
              </a:lnSpc>
            </a:pPr>
            <a:r>
              <a:rPr lang="en-US" altLang="zh-CN" sz="2000" b="1" dirty="0"/>
              <a:t>1</a:t>
            </a:r>
            <a:r>
              <a:rPr lang="zh-CN" altLang="en-US" sz="2000" b="1" dirty="0"/>
              <a:t>、</a:t>
            </a:r>
            <a:r>
              <a:rPr lang="zh-CN" altLang="zh-CN" sz="2000" b="1" dirty="0"/>
              <a:t>评估准备</a:t>
            </a:r>
            <a:endParaRPr lang="zh-CN" altLang="zh-CN" sz="2000" dirty="0"/>
          </a:p>
          <a:p>
            <a:pPr marL="342900" indent="-342900">
              <a:lnSpc>
                <a:spcPct val="150000"/>
              </a:lnSpc>
              <a:buFont typeface="Wingdings" panose="05000000000000000000" pitchFamily="2" charset="2"/>
              <a:buChar char="ü"/>
            </a:pPr>
            <a:r>
              <a:rPr lang="zh-CN" altLang="zh-CN" dirty="0"/>
              <a:t>明确评估目标。评估设计假设、评估解决方案实现预期目的。</a:t>
            </a:r>
          </a:p>
          <a:p>
            <a:pPr marL="342900" indent="-342900">
              <a:lnSpc>
                <a:spcPct val="150000"/>
              </a:lnSpc>
              <a:buFont typeface="Wingdings" panose="05000000000000000000" pitchFamily="2" charset="2"/>
              <a:buChar char="ü"/>
            </a:pPr>
            <a:r>
              <a:rPr lang="zh-CN" altLang="zh-CN" dirty="0"/>
              <a:t>界定评估对象和范围</a:t>
            </a:r>
            <a:endParaRPr lang="en-US" altLang="zh-CN" dirty="0"/>
          </a:p>
          <a:p>
            <a:pPr marL="800100" lvl="1" indent="-342900">
              <a:lnSpc>
                <a:spcPct val="150000"/>
              </a:lnSpc>
              <a:buFont typeface="Arial" panose="020B0604020202020204" pitchFamily="34" charset="0"/>
              <a:buChar char="•"/>
            </a:pPr>
            <a:r>
              <a:rPr lang="zh-CN" altLang="zh-CN" dirty="0"/>
              <a:t>确定评估对象所在的分析层级，如个人层面、组织层面、跨组织层面等。不同的层面影响数据收集对象的选择。</a:t>
            </a:r>
            <a:endParaRPr lang="en-US" altLang="zh-CN" dirty="0"/>
          </a:p>
          <a:p>
            <a:pPr marL="800100" lvl="1" indent="-342900">
              <a:lnSpc>
                <a:spcPct val="150000"/>
              </a:lnSpc>
              <a:buFont typeface="Arial" panose="020B0604020202020204" pitchFamily="34" charset="0"/>
              <a:buChar char="•"/>
            </a:pPr>
            <a:r>
              <a:rPr lang="zh-CN" altLang="zh-CN" dirty="0"/>
              <a:t>分析评估对象以及所处环境等边界条件，边界环境会直接影响干扰因素的控制</a:t>
            </a:r>
          </a:p>
          <a:p>
            <a:pPr marL="342900" indent="-342900">
              <a:lnSpc>
                <a:spcPct val="150000"/>
              </a:lnSpc>
              <a:buFont typeface="Wingdings" panose="05000000000000000000" pitchFamily="2" charset="2"/>
              <a:buChar char="ü"/>
            </a:pPr>
            <a:r>
              <a:rPr lang="zh-CN" altLang="zh-CN" dirty="0"/>
              <a:t>评估类型。选择评估类型，如总结性、过程性评估。</a:t>
            </a:r>
          </a:p>
          <a:p>
            <a:pPr marL="342900" indent="-342900">
              <a:lnSpc>
                <a:spcPct val="150000"/>
              </a:lnSpc>
              <a:buFont typeface="Wingdings" panose="05000000000000000000" pitchFamily="2" charset="2"/>
              <a:buChar char="ü"/>
            </a:pPr>
            <a:r>
              <a:rPr lang="zh-CN" altLang="zh-CN" dirty="0"/>
              <a:t>确定比较的基准。</a:t>
            </a:r>
          </a:p>
          <a:p>
            <a:pPr>
              <a:lnSpc>
                <a:spcPct val="150000"/>
              </a:lnSpc>
            </a:pPr>
            <a:r>
              <a:rPr lang="zh-CN" altLang="en-US" dirty="0">
                <a:latin typeface="+mj-ea"/>
                <a:ea typeface="+mj-ea"/>
              </a:rPr>
              <a:t> </a:t>
            </a:r>
          </a:p>
        </p:txBody>
      </p:sp>
      <p:sp>
        <p:nvSpPr>
          <p:cNvPr id="4" name="标题 1">
            <a:extLst>
              <a:ext uri="{FF2B5EF4-FFF2-40B4-BE49-F238E27FC236}">
                <a16:creationId xmlns:a16="http://schemas.microsoft.com/office/drawing/2014/main" id="{FE50CB96-80AA-4154-B0BC-09FC0564CB84}"/>
              </a:ext>
            </a:extLst>
          </p:cNvPr>
          <p:cNvSpPr txBox="1">
            <a:spLocks noChangeArrowheads="1"/>
          </p:cNvSpPr>
          <p:nvPr/>
        </p:nvSpPr>
        <p:spPr>
          <a:xfrm>
            <a:off x="1738087" y="455744"/>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评估流程</a:t>
            </a:r>
          </a:p>
        </p:txBody>
      </p:sp>
    </p:spTree>
    <p:extLst>
      <p:ext uri="{BB962C8B-B14F-4D97-AF65-F5344CB8AC3E}">
        <p14:creationId xmlns:p14="http://schemas.microsoft.com/office/powerpoint/2010/main" val="2014655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2604BC-896D-4FAA-B169-17F911D08059}"/>
              </a:ext>
            </a:extLst>
          </p:cNvPr>
          <p:cNvSpPr/>
          <p:nvPr/>
        </p:nvSpPr>
        <p:spPr>
          <a:xfrm>
            <a:off x="468086" y="1133627"/>
            <a:ext cx="10809514" cy="5492016"/>
          </a:xfrm>
          <a:prstGeom prst="rect">
            <a:avLst/>
          </a:prstGeom>
        </p:spPr>
        <p:txBody>
          <a:bodyPr wrap="square">
            <a:spAutoFit/>
          </a:bodyPr>
          <a:lstStyle/>
          <a:p>
            <a:pPr>
              <a:lnSpc>
                <a:spcPct val="125000"/>
              </a:lnSpc>
            </a:pPr>
            <a:r>
              <a:rPr lang="en-US" altLang="zh-CN" sz="2000" b="1" dirty="0"/>
              <a:t>2</a:t>
            </a:r>
            <a:r>
              <a:rPr lang="zh-CN" altLang="en-US" sz="2000" b="1" dirty="0"/>
              <a:t>、</a:t>
            </a:r>
            <a:r>
              <a:rPr lang="zh-CN" altLang="zh-CN" sz="2000" b="1" dirty="0"/>
              <a:t>评估策略设计</a:t>
            </a:r>
            <a:endParaRPr lang="en-US" altLang="zh-CN" sz="2000" b="1" dirty="0"/>
          </a:p>
          <a:p>
            <a:pPr marL="342900" indent="-342900">
              <a:lnSpc>
                <a:spcPct val="125000"/>
              </a:lnSpc>
              <a:buFont typeface="Wingdings" panose="05000000000000000000" pitchFamily="2" charset="2"/>
              <a:buChar char="ü"/>
            </a:pPr>
            <a:r>
              <a:rPr lang="zh-CN" altLang="zh-CN" sz="2000" dirty="0"/>
              <a:t>评估方法的选择</a:t>
            </a:r>
            <a:endParaRPr lang="en-US" altLang="zh-CN" sz="2000" dirty="0"/>
          </a:p>
          <a:p>
            <a:pPr marL="800100" lvl="1" indent="-342900">
              <a:lnSpc>
                <a:spcPct val="125000"/>
              </a:lnSpc>
              <a:buFont typeface="Arial" panose="020B0604020202020204" pitchFamily="34" charset="0"/>
              <a:buChar char="•"/>
            </a:pPr>
            <a:r>
              <a:rPr lang="zh-CN" altLang="zh-CN" sz="2000" dirty="0">
                <a:latin typeface="+mj-ea"/>
                <a:ea typeface="+mj-ea"/>
              </a:rPr>
              <a:t>选择案例、专家、数值实验、原型测试等，并说明理由。</a:t>
            </a:r>
          </a:p>
          <a:p>
            <a:pPr marL="342900" indent="-342900">
              <a:lnSpc>
                <a:spcPct val="125000"/>
              </a:lnSpc>
              <a:buFont typeface="Wingdings" panose="05000000000000000000" pitchFamily="2" charset="2"/>
              <a:buChar char="ü"/>
            </a:pPr>
            <a:r>
              <a:rPr lang="zh-CN" altLang="en-US" sz="2000" b="1" dirty="0">
                <a:latin typeface="+mj-ea"/>
                <a:ea typeface="+mj-ea"/>
              </a:rPr>
              <a:t>评估指标的来源：</a:t>
            </a:r>
            <a:endParaRPr lang="en-US" altLang="zh-CN" sz="2000" b="1" dirty="0">
              <a:latin typeface="+mj-ea"/>
              <a:ea typeface="+mj-ea"/>
            </a:endParaRPr>
          </a:p>
          <a:p>
            <a:pPr marL="800100" lvl="1" indent="-342900">
              <a:lnSpc>
                <a:spcPct val="125000"/>
              </a:lnSpc>
              <a:buFont typeface="Arial" panose="020B0604020202020204" pitchFamily="34" charset="0"/>
              <a:buChar char="•"/>
            </a:pPr>
            <a:r>
              <a:rPr lang="zh-CN" altLang="en-US" dirty="0">
                <a:latin typeface="+mj-ea"/>
                <a:ea typeface="+mj-ea"/>
              </a:rPr>
              <a:t>如何获得相关的指标，理论、实践，还是两者的结合。 </a:t>
            </a:r>
          </a:p>
          <a:p>
            <a:pPr marL="342900" indent="-342900">
              <a:lnSpc>
                <a:spcPct val="125000"/>
              </a:lnSpc>
              <a:buFont typeface="Wingdings" panose="05000000000000000000" pitchFamily="2" charset="2"/>
              <a:buChar char="ü"/>
            </a:pPr>
            <a:r>
              <a:rPr lang="zh-CN" altLang="en-US" sz="2000" b="1" dirty="0">
                <a:latin typeface="+mj-ea"/>
                <a:ea typeface="+mj-ea"/>
              </a:rPr>
              <a:t>各主体的参与方式</a:t>
            </a:r>
            <a:r>
              <a:rPr lang="zh-CN" altLang="en-US" sz="2000" dirty="0">
                <a:latin typeface="+mj-ea"/>
                <a:ea typeface="+mj-ea"/>
              </a:rPr>
              <a:t>：</a:t>
            </a:r>
            <a:endParaRPr lang="en-US" altLang="zh-CN" sz="2000" dirty="0">
              <a:latin typeface="+mj-ea"/>
              <a:ea typeface="+mj-ea"/>
            </a:endParaRPr>
          </a:p>
          <a:p>
            <a:pPr marL="800100" lvl="1" indent="-342900">
              <a:lnSpc>
                <a:spcPct val="125000"/>
              </a:lnSpc>
              <a:buFont typeface="Arial" panose="020B0604020202020204" pitchFamily="34" charset="0"/>
              <a:buChar char="•"/>
            </a:pPr>
            <a:r>
              <a:rPr lang="zh-CN" altLang="en-US" dirty="0">
                <a:latin typeface="+mj-ea"/>
                <a:ea typeface="+mj-ea"/>
              </a:rPr>
              <a:t>评估者（评估者的信息，如年龄、专业、经验等）、评估结果的使用方、评估的参与方等；</a:t>
            </a:r>
            <a:endParaRPr lang="en-US" altLang="zh-CN" dirty="0">
              <a:latin typeface="+mj-ea"/>
              <a:ea typeface="+mj-ea"/>
            </a:endParaRPr>
          </a:p>
          <a:p>
            <a:pPr marL="800100" lvl="1" indent="-342900">
              <a:lnSpc>
                <a:spcPct val="125000"/>
              </a:lnSpc>
              <a:buFont typeface="Arial" panose="020B0604020202020204" pitchFamily="34" charset="0"/>
              <a:buChar char="•"/>
            </a:pPr>
            <a:r>
              <a:rPr lang="zh-CN" altLang="en-US" dirty="0">
                <a:latin typeface="+mj-ea"/>
                <a:ea typeface="+mj-ea"/>
              </a:rPr>
              <a:t>选择和确定相关者的流程，包括如何确定评估者、评估结果使用方、参与对象等。</a:t>
            </a:r>
            <a:endParaRPr lang="en-US" altLang="zh-CN" dirty="0">
              <a:latin typeface="+mj-ea"/>
              <a:ea typeface="+mj-ea"/>
            </a:endParaRPr>
          </a:p>
          <a:p>
            <a:pPr marL="800100" lvl="1" indent="-342900">
              <a:lnSpc>
                <a:spcPct val="125000"/>
              </a:lnSpc>
              <a:buFont typeface="Arial" panose="020B0604020202020204" pitchFamily="34" charset="0"/>
              <a:buChar char="•"/>
            </a:pPr>
            <a:r>
              <a:rPr lang="zh-CN" altLang="en-US" dirty="0">
                <a:latin typeface="+mj-ea"/>
                <a:ea typeface="+mj-ea"/>
              </a:rPr>
              <a:t>相关者参与到评估中的流程，包括评估者如何参与，使用方如何使用评估结果。 </a:t>
            </a:r>
          </a:p>
          <a:p>
            <a:pPr marL="342900" indent="-342900">
              <a:lnSpc>
                <a:spcPct val="125000"/>
              </a:lnSpc>
              <a:buFont typeface="Wingdings" panose="05000000000000000000" pitchFamily="2" charset="2"/>
              <a:buChar char="ü"/>
            </a:pPr>
            <a:r>
              <a:rPr lang="zh-CN" altLang="en-US" sz="2000" dirty="0">
                <a:latin typeface="+mj-ea"/>
                <a:ea typeface="+mj-ea"/>
              </a:rPr>
              <a:t>数据收集方法、工具和数据分析方法。</a:t>
            </a:r>
            <a:endParaRPr lang="en-US" altLang="zh-CN" sz="2000" dirty="0">
              <a:latin typeface="+mj-ea"/>
              <a:ea typeface="+mj-ea"/>
            </a:endParaRPr>
          </a:p>
          <a:p>
            <a:pPr marL="800100" lvl="1" indent="-342900">
              <a:lnSpc>
                <a:spcPct val="125000"/>
              </a:lnSpc>
              <a:buFont typeface="Arial" panose="020B0604020202020204" pitchFamily="34" charset="0"/>
              <a:buChar char="•"/>
            </a:pPr>
            <a:r>
              <a:rPr lang="zh-CN" altLang="en-US" dirty="0">
                <a:latin typeface="+mj-ea"/>
                <a:ea typeface="+mj-ea"/>
              </a:rPr>
              <a:t>收集方法：</a:t>
            </a:r>
            <a:endParaRPr lang="en-US" altLang="zh-CN" dirty="0">
              <a:latin typeface="+mj-ea"/>
              <a:ea typeface="+mj-ea"/>
            </a:endParaRPr>
          </a:p>
          <a:p>
            <a:pPr marL="1257300" lvl="2" indent="-342900">
              <a:lnSpc>
                <a:spcPct val="125000"/>
              </a:lnSpc>
              <a:buFont typeface="Arial" panose="020B0604020202020204" pitchFamily="34" charset="0"/>
              <a:buChar char="•"/>
            </a:pPr>
            <a:r>
              <a:rPr lang="zh-CN" altLang="en-US" dirty="0">
                <a:latin typeface="+mj-ea"/>
                <a:ea typeface="+mj-ea"/>
              </a:rPr>
              <a:t>问卷调查方式，如何进行抽样，样本大小和样本描述；</a:t>
            </a:r>
            <a:endParaRPr lang="en-US" altLang="zh-CN" dirty="0">
              <a:latin typeface="+mj-ea"/>
              <a:ea typeface="+mj-ea"/>
            </a:endParaRPr>
          </a:p>
          <a:p>
            <a:pPr marL="1257300" lvl="2" indent="-342900">
              <a:lnSpc>
                <a:spcPct val="125000"/>
              </a:lnSpc>
              <a:buFont typeface="Arial" panose="020B0604020202020204" pitchFamily="34" charset="0"/>
              <a:buChar char="•"/>
            </a:pPr>
            <a:r>
              <a:rPr lang="zh-CN" altLang="en-US" dirty="0">
                <a:latin typeface="+mj-ea"/>
                <a:ea typeface="+mj-ea"/>
              </a:rPr>
              <a:t>采用专家访谈方式，如何进行专家选择，如果涉及使用时间</a:t>
            </a:r>
            <a:endParaRPr lang="en-US" altLang="zh-CN" dirty="0">
              <a:latin typeface="+mj-ea"/>
              <a:ea typeface="+mj-ea"/>
            </a:endParaRPr>
          </a:p>
          <a:p>
            <a:pPr marL="1257300" lvl="2" indent="-342900">
              <a:lnSpc>
                <a:spcPct val="125000"/>
              </a:lnSpc>
              <a:buFont typeface="Arial" panose="020B0604020202020204" pitchFamily="34" charset="0"/>
              <a:buChar char="•"/>
            </a:pPr>
            <a:r>
              <a:rPr lang="zh-CN" altLang="en-US" dirty="0">
                <a:latin typeface="+mj-ea"/>
                <a:ea typeface="+mj-ea"/>
              </a:rPr>
              <a:t>案例研究中，明确使用的时间和数据收集的时点。</a:t>
            </a:r>
            <a:endParaRPr lang="en-US" altLang="zh-CN" dirty="0">
              <a:latin typeface="+mj-ea"/>
              <a:ea typeface="+mj-ea"/>
            </a:endParaRPr>
          </a:p>
          <a:p>
            <a:pPr marL="800100" lvl="1" indent="-342900">
              <a:lnSpc>
                <a:spcPct val="125000"/>
              </a:lnSpc>
              <a:buFont typeface="Arial" panose="020B0604020202020204" pitchFamily="34" charset="0"/>
              <a:buChar char="•"/>
            </a:pPr>
            <a:r>
              <a:rPr lang="zh-CN" altLang="en-US" dirty="0">
                <a:latin typeface="+mj-ea"/>
                <a:ea typeface="+mj-ea"/>
              </a:rPr>
              <a:t>数据分析方法：收集的数据采用何种分析方法。 </a:t>
            </a:r>
          </a:p>
        </p:txBody>
      </p:sp>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83658" y="444858"/>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rPr>
              <a:t>评估</a:t>
            </a:r>
            <a:r>
              <a:rPr lang="zh-CN" altLang="en-US" sz="3300" dirty="0">
                <a:latin typeface="+mn-ea"/>
                <a:ea typeface="+mn-ea"/>
              </a:rPr>
              <a:t>流程</a:t>
            </a:r>
          </a:p>
        </p:txBody>
      </p:sp>
    </p:spTree>
    <p:extLst>
      <p:ext uri="{BB962C8B-B14F-4D97-AF65-F5344CB8AC3E}">
        <p14:creationId xmlns:p14="http://schemas.microsoft.com/office/powerpoint/2010/main" val="2976164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32604BC-896D-4FAA-B169-17F911D08059}"/>
              </a:ext>
            </a:extLst>
          </p:cNvPr>
          <p:cNvSpPr/>
          <p:nvPr/>
        </p:nvSpPr>
        <p:spPr>
          <a:xfrm>
            <a:off x="435429" y="1133627"/>
            <a:ext cx="10820400" cy="1991058"/>
          </a:xfrm>
          <a:prstGeom prst="rect">
            <a:avLst/>
          </a:prstGeom>
        </p:spPr>
        <p:txBody>
          <a:bodyPr wrap="square">
            <a:spAutoFit/>
          </a:bodyPr>
          <a:lstStyle/>
          <a:p>
            <a:pPr marL="342900" indent="-342900">
              <a:lnSpc>
                <a:spcPct val="125000"/>
              </a:lnSpc>
              <a:spcBef>
                <a:spcPts val="600"/>
              </a:spcBef>
              <a:buFont typeface="Wingdings" panose="05000000000000000000" pitchFamily="2" charset="2"/>
              <a:buChar char="ü"/>
            </a:pPr>
            <a:r>
              <a:rPr lang="zh-CN" altLang="en-US" sz="2000" dirty="0">
                <a:latin typeface="+mj-ea"/>
                <a:ea typeface="+mj-ea"/>
              </a:rPr>
              <a:t>评估质量控制重点分析一类错误和二类错误，也称为假阳性和假阴性（</a:t>
            </a:r>
            <a:r>
              <a:rPr lang="en-US" altLang="zh-CN" sz="2000" dirty="0">
                <a:latin typeface="+mj-ea"/>
                <a:ea typeface="+mj-ea"/>
              </a:rPr>
              <a:t>Baskerville</a:t>
            </a:r>
            <a:r>
              <a:rPr lang="zh-CN" altLang="en-US" sz="2000" dirty="0">
                <a:latin typeface="+mj-ea"/>
                <a:ea typeface="+mj-ea"/>
              </a:rPr>
              <a:t>，</a:t>
            </a:r>
            <a:r>
              <a:rPr lang="en-US" altLang="zh-CN" sz="2000" dirty="0">
                <a:latin typeface="+mj-ea"/>
                <a:ea typeface="+mj-ea"/>
              </a:rPr>
              <a:t>2007</a:t>
            </a:r>
            <a:r>
              <a:rPr lang="zh-CN" altLang="en-US" sz="2000" dirty="0">
                <a:latin typeface="+mj-ea"/>
                <a:ea typeface="+mj-ea"/>
              </a:rPr>
              <a:t>）：</a:t>
            </a:r>
            <a:endParaRPr lang="en-US" altLang="zh-CN" sz="2000" dirty="0">
              <a:latin typeface="+mj-ea"/>
              <a:ea typeface="+mj-ea"/>
            </a:endParaRPr>
          </a:p>
          <a:p>
            <a:pPr marL="800100" lvl="1" indent="-342900">
              <a:lnSpc>
                <a:spcPct val="125000"/>
              </a:lnSpc>
              <a:spcBef>
                <a:spcPts val="600"/>
              </a:spcBef>
              <a:buFont typeface="Arial" panose="020B0604020202020204" pitchFamily="34" charset="0"/>
              <a:buChar char="•"/>
            </a:pPr>
            <a:r>
              <a:rPr lang="zh-CN" altLang="en-US" b="1" dirty="0">
                <a:latin typeface="+mj-ea"/>
                <a:ea typeface="+mj-ea"/>
              </a:rPr>
              <a:t>假阳性</a:t>
            </a:r>
            <a:r>
              <a:rPr lang="zh-CN" altLang="en-US" dirty="0">
                <a:latin typeface="+mj-ea"/>
                <a:ea typeface="+mj-ea"/>
              </a:rPr>
              <a:t>：发现解决方案的有效性（或其相应的设计假设正确），而实际上该解决方案不起作用（或其相应的设计假设不正确）；</a:t>
            </a:r>
            <a:endParaRPr lang="en-US" altLang="zh-CN" dirty="0">
              <a:latin typeface="+mj-ea"/>
              <a:ea typeface="+mj-ea"/>
            </a:endParaRPr>
          </a:p>
          <a:p>
            <a:pPr marL="800100" lvl="1" indent="-342900">
              <a:lnSpc>
                <a:spcPct val="125000"/>
              </a:lnSpc>
              <a:spcBef>
                <a:spcPts val="600"/>
              </a:spcBef>
              <a:buFont typeface="Arial" panose="020B0604020202020204" pitchFamily="34" charset="0"/>
              <a:buChar char="•"/>
            </a:pPr>
            <a:r>
              <a:rPr lang="zh-CN" altLang="en-US" b="1" dirty="0">
                <a:latin typeface="+mj-ea"/>
                <a:ea typeface="+mj-ea"/>
              </a:rPr>
              <a:t>假阴性</a:t>
            </a:r>
            <a:r>
              <a:rPr lang="zh-CN" altLang="en-US" dirty="0">
                <a:latin typeface="+mj-ea"/>
                <a:ea typeface="+mj-ea"/>
              </a:rPr>
              <a:t>：发现解决方案不起作用（或其相应的设计假设不成立），而实际上该解决方案是有效的（或其相应的设计假设正确）</a:t>
            </a:r>
            <a:r>
              <a:rPr lang="zh-CN" altLang="en-US" sz="1600" dirty="0"/>
              <a:t>。 </a:t>
            </a:r>
          </a:p>
        </p:txBody>
      </p:sp>
      <p:sp>
        <p:nvSpPr>
          <p:cNvPr id="3" name="标题 1">
            <a:extLst>
              <a:ext uri="{FF2B5EF4-FFF2-40B4-BE49-F238E27FC236}">
                <a16:creationId xmlns:a16="http://schemas.microsoft.com/office/drawing/2014/main" id="{D0B08950-4E86-40FE-A0AF-E0C9E1027FB9}"/>
              </a:ext>
            </a:extLst>
          </p:cNvPr>
          <p:cNvSpPr txBox="1">
            <a:spLocks noChangeArrowheads="1"/>
          </p:cNvSpPr>
          <p:nvPr/>
        </p:nvSpPr>
        <p:spPr>
          <a:xfrm>
            <a:off x="1694544" y="499286"/>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评估流程</a:t>
            </a:r>
          </a:p>
        </p:txBody>
      </p:sp>
    </p:spTree>
    <p:extLst>
      <p:ext uri="{BB962C8B-B14F-4D97-AF65-F5344CB8AC3E}">
        <p14:creationId xmlns:p14="http://schemas.microsoft.com/office/powerpoint/2010/main" val="1484914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7B3E9D-AB7B-4C4C-8677-CFB4E3055465}"/>
              </a:ext>
            </a:extLst>
          </p:cNvPr>
          <p:cNvSpPr/>
          <p:nvPr/>
        </p:nvSpPr>
        <p:spPr>
          <a:xfrm>
            <a:off x="424543" y="1073727"/>
            <a:ext cx="10831286" cy="3337580"/>
          </a:xfrm>
          <a:prstGeom prst="rect">
            <a:avLst/>
          </a:prstGeom>
        </p:spPr>
        <p:txBody>
          <a:bodyPr wrap="square">
            <a:spAutoFit/>
          </a:bodyPr>
          <a:lstStyle/>
          <a:p>
            <a:pPr>
              <a:lnSpc>
                <a:spcPct val="125000"/>
              </a:lnSpc>
              <a:spcBef>
                <a:spcPts val="600"/>
              </a:spcBef>
            </a:pPr>
            <a:r>
              <a:rPr lang="en-US" altLang="zh-CN" sz="2000" b="1" dirty="0"/>
              <a:t>3</a:t>
            </a:r>
            <a:r>
              <a:rPr lang="zh-CN" altLang="en-US" sz="2000" b="1" dirty="0"/>
              <a:t>、评估实施</a:t>
            </a:r>
            <a:endParaRPr lang="en-US" altLang="zh-CN" sz="2000" b="1" dirty="0"/>
          </a:p>
          <a:p>
            <a:pPr marL="342900" indent="-342900">
              <a:lnSpc>
                <a:spcPct val="125000"/>
              </a:lnSpc>
              <a:spcBef>
                <a:spcPts val="600"/>
              </a:spcBef>
              <a:buFont typeface="Arial" panose="020B0604020202020204" pitchFamily="34" charset="0"/>
              <a:buChar char="•"/>
            </a:pPr>
            <a:r>
              <a:rPr lang="zh-CN" altLang="en-US" sz="2000" dirty="0">
                <a:latin typeface="+mj-ea"/>
                <a:ea typeface="+mj-ea"/>
              </a:rPr>
              <a:t>评估对象所应用的场景，时间、地区、范围、外部的环境等。</a:t>
            </a:r>
          </a:p>
          <a:p>
            <a:pPr marL="342900" indent="-342900">
              <a:lnSpc>
                <a:spcPct val="125000"/>
              </a:lnSpc>
              <a:spcBef>
                <a:spcPts val="600"/>
              </a:spcBef>
              <a:buFont typeface="Arial" panose="020B0604020202020204" pitchFamily="34" charset="0"/>
              <a:buChar char="•"/>
            </a:pPr>
            <a:r>
              <a:rPr lang="zh-CN" altLang="en-US" sz="2000" dirty="0">
                <a:latin typeface="+mj-ea"/>
                <a:ea typeface="+mj-ea"/>
              </a:rPr>
              <a:t>收集数据来验证设计假设和解决方案的有效性。</a:t>
            </a:r>
            <a:endParaRPr lang="en-US" altLang="zh-CN" sz="2000" dirty="0">
              <a:latin typeface="+mj-ea"/>
              <a:ea typeface="+mj-ea"/>
            </a:endParaRPr>
          </a:p>
          <a:p>
            <a:pPr marL="800100" lvl="1" indent="-342900">
              <a:lnSpc>
                <a:spcPct val="125000"/>
              </a:lnSpc>
              <a:spcBef>
                <a:spcPts val="600"/>
              </a:spcBef>
              <a:buFont typeface="Arial" panose="020B0604020202020204" pitchFamily="34" charset="0"/>
              <a:buChar char="•"/>
            </a:pPr>
            <a:r>
              <a:rPr lang="zh-CN" altLang="en-US" dirty="0">
                <a:latin typeface="+mj-ea"/>
                <a:ea typeface="+mj-ea"/>
              </a:rPr>
              <a:t>注意结果数据的收集和过程的记录。过程的记录体现了数据链条的形成，从数据收集工具、数据收集、数据分析结果整个过程记录。 </a:t>
            </a:r>
            <a:endParaRPr lang="en-US" altLang="zh-CN" dirty="0">
              <a:latin typeface="+mj-ea"/>
              <a:ea typeface="+mj-ea"/>
            </a:endParaRPr>
          </a:p>
          <a:p>
            <a:pPr marL="800100" lvl="1" indent="-342900">
              <a:lnSpc>
                <a:spcPct val="125000"/>
              </a:lnSpc>
              <a:spcBef>
                <a:spcPts val="600"/>
              </a:spcBef>
              <a:buFont typeface="Arial" panose="020B0604020202020204" pitchFamily="34" charset="0"/>
              <a:buChar char="•"/>
            </a:pPr>
            <a:r>
              <a:rPr lang="zh-CN" altLang="en-US" dirty="0">
                <a:latin typeface="+mj-ea"/>
                <a:ea typeface="+mj-ea"/>
              </a:rPr>
              <a:t>案例研究中数据收集，给予信息提供者足够话语权，视他们为知识丰富的个体，对访谈提纲保持弹性，基于访谈信息进行修改和调整。</a:t>
            </a:r>
            <a:endParaRPr lang="en-US" altLang="zh-CN" dirty="0">
              <a:latin typeface="+mj-ea"/>
              <a:ea typeface="+mj-ea"/>
            </a:endParaRPr>
          </a:p>
          <a:p>
            <a:pPr marL="800100" lvl="1" indent="-342900">
              <a:lnSpc>
                <a:spcPct val="125000"/>
              </a:lnSpc>
              <a:spcBef>
                <a:spcPts val="600"/>
              </a:spcBef>
              <a:buFont typeface="Arial" panose="020B0604020202020204" pitchFamily="34" charset="0"/>
              <a:buChar char="•"/>
            </a:pPr>
            <a:r>
              <a:rPr lang="zh-CN" altLang="en-US" dirty="0">
                <a:latin typeface="+mj-ea"/>
                <a:ea typeface="+mj-ea"/>
              </a:rPr>
              <a:t>专家评估要防止专家之间的干扰等。 </a:t>
            </a:r>
          </a:p>
        </p:txBody>
      </p:sp>
      <p:sp>
        <p:nvSpPr>
          <p:cNvPr id="3" name="标题 1">
            <a:extLst>
              <a:ext uri="{FF2B5EF4-FFF2-40B4-BE49-F238E27FC236}">
                <a16:creationId xmlns:a16="http://schemas.microsoft.com/office/drawing/2014/main" id="{D5098DBF-027C-4132-8E24-D27CB765DE08}"/>
              </a:ext>
            </a:extLst>
          </p:cNvPr>
          <p:cNvSpPr txBox="1">
            <a:spLocks noChangeArrowheads="1"/>
          </p:cNvSpPr>
          <p:nvPr/>
        </p:nvSpPr>
        <p:spPr>
          <a:xfrm>
            <a:off x="1640115" y="477515"/>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评估流程</a:t>
            </a:r>
          </a:p>
          <a:p>
            <a:endParaRPr lang="zh-CN" altLang="en-US" sz="3300" dirty="0">
              <a:latin typeface="+mn-ea"/>
              <a:ea typeface="+mn-ea"/>
            </a:endParaRPr>
          </a:p>
        </p:txBody>
      </p:sp>
    </p:spTree>
    <p:extLst>
      <p:ext uri="{BB962C8B-B14F-4D97-AF65-F5344CB8AC3E}">
        <p14:creationId xmlns:p14="http://schemas.microsoft.com/office/powerpoint/2010/main" val="2743312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CC2567-6C44-4DAB-9150-E224E90352CA}"/>
              </a:ext>
            </a:extLst>
          </p:cNvPr>
          <p:cNvSpPr/>
          <p:nvPr/>
        </p:nvSpPr>
        <p:spPr>
          <a:xfrm>
            <a:off x="348343" y="1119026"/>
            <a:ext cx="10896600" cy="3931141"/>
          </a:xfrm>
          <a:prstGeom prst="rect">
            <a:avLst/>
          </a:prstGeom>
        </p:spPr>
        <p:txBody>
          <a:bodyPr wrap="square">
            <a:spAutoFit/>
          </a:bodyPr>
          <a:lstStyle/>
          <a:p>
            <a:pPr>
              <a:lnSpc>
                <a:spcPct val="125000"/>
              </a:lnSpc>
            </a:pPr>
            <a:r>
              <a:rPr lang="en-US" altLang="zh-CN" sz="2000" b="1" dirty="0">
                <a:latin typeface="+mj-ea"/>
                <a:ea typeface="+mj-ea"/>
              </a:rPr>
              <a:t>4</a:t>
            </a:r>
            <a:r>
              <a:rPr lang="zh-CN" altLang="en-US" sz="2000" b="1" dirty="0">
                <a:latin typeface="+mj-ea"/>
                <a:ea typeface="+mj-ea"/>
              </a:rPr>
              <a:t>、评估结论</a:t>
            </a:r>
            <a:endParaRPr lang="en-US" altLang="zh-CN" sz="2000" b="1" dirty="0">
              <a:latin typeface="+mj-ea"/>
              <a:ea typeface="+mj-ea"/>
            </a:endParaRPr>
          </a:p>
          <a:p>
            <a:pPr>
              <a:lnSpc>
                <a:spcPct val="125000"/>
              </a:lnSpc>
            </a:pPr>
            <a:r>
              <a:rPr lang="zh-CN" altLang="en-US" sz="2000" dirty="0">
                <a:latin typeface="+mj-ea"/>
                <a:ea typeface="+mj-ea"/>
              </a:rPr>
              <a:t>实现目标的程度、设计假设的验证情况、解决方案的有效性。 </a:t>
            </a:r>
          </a:p>
          <a:p>
            <a:pPr marL="342900" indent="-342900">
              <a:lnSpc>
                <a:spcPct val="125000"/>
              </a:lnSpc>
              <a:buFont typeface="Arial" panose="020B0604020202020204" pitchFamily="34" charset="0"/>
              <a:buChar char="•"/>
            </a:pPr>
            <a:r>
              <a:rPr lang="zh-CN" altLang="en-US" sz="2000" b="1" dirty="0">
                <a:latin typeface="+mj-ea"/>
                <a:ea typeface="+mj-ea"/>
              </a:rPr>
              <a:t>设计理论 </a:t>
            </a:r>
          </a:p>
          <a:p>
            <a:pPr marL="800100" lvl="1" indent="-342900">
              <a:lnSpc>
                <a:spcPct val="125000"/>
              </a:lnSpc>
              <a:buFont typeface="Arial" panose="020B0604020202020204" pitchFamily="34" charset="0"/>
              <a:buChar char="•"/>
            </a:pPr>
            <a:r>
              <a:rPr lang="zh-CN" altLang="en-US" dirty="0">
                <a:latin typeface="+mj-ea"/>
                <a:ea typeface="+mj-ea"/>
              </a:rPr>
              <a:t>通过评估，形成设计理论，形成对已有理论的贡献。设计理论具有可扩展性，在一个情境有效，在其它情境是否同样有效</a:t>
            </a:r>
          </a:p>
          <a:p>
            <a:pPr marL="342900" indent="-342900">
              <a:lnSpc>
                <a:spcPct val="125000"/>
              </a:lnSpc>
              <a:buFont typeface="Arial" panose="020B0604020202020204" pitchFamily="34" charset="0"/>
              <a:buChar char="•"/>
            </a:pPr>
            <a:r>
              <a:rPr lang="zh-CN" altLang="en-US" sz="2000" b="1" dirty="0">
                <a:latin typeface="+mj-ea"/>
                <a:ea typeface="+mj-ea"/>
              </a:rPr>
              <a:t>解决方案 </a:t>
            </a:r>
          </a:p>
          <a:p>
            <a:pPr marL="800100" lvl="1" indent="-342900">
              <a:lnSpc>
                <a:spcPct val="125000"/>
              </a:lnSpc>
              <a:buFont typeface="Arial" panose="020B0604020202020204" pitchFamily="34" charset="0"/>
              <a:buChar char="•"/>
            </a:pPr>
            <a:r>
              <a:rPr lang="zh-CN" altLang="en-US" dirty="0">
                <a:latin typeface="+mj-ea"/>
                <a:ea typeface="+mj-ea"/>
              </a:rPr>
              <a:t>通过迭代最终形成的解决方案是通过评估在其它环境中可用的解决方案</a:t>
            </a:r>
          </a:p>
          <a:p>
            <a:pPr marL="342900" indent="-342900">
              <a:lnSpc>
                <a:spcPct val="125000"/>
              </a:lnSpc>
              <a:buFont typeface="Arial" panose="020B0604020202020204" pitchFamily="34" charset="0"/>
              <a:buChar char="•"/>
            </a:pPr>
            <a:r>
              <a:rPr lang="zh-CN" altLang="en-US" sz="2000" b="1" dirty="0">
                <a:latin typeface="+mj-ea"/>
                <a:ea typeface="+mj-ea"/>
              </a:rPr>
              <a:t>适用的范围</a:t>
            </a:r>
            <a:r>
              <a:rPr lang="zh-CN" altLang="en-US" sz="2000" dirty="0">
                <a:latin typeface="+mj-ea"/>
              </a:rPr>
              <a:t>：</a:t>
            </a:r>
            <a:r>
              <a:rPr lang="zh-CN" altLang="en-US" dirty="0">
                <a:latin typeface="+mj-ea"/>
                <a:ea typeface="+mj-ea"/>
              </a:rPr>
              <a:t>设计知识和解决方案的情境和边界条件</a:t>
            </a:r>
            <a:endParaRPr lang="en-US" altLang="zh-CN" dirty="0">
              <a:latin typeface="+mj-ea"/>
              <a:ea typeface="+mj-ea"/>
            </a:endParaRPr>
          </a:p>
          <a:p>
            <a:pPr marL="342900" indent="-342900">
              <a:lnSpc>
                <a:spcPct val="150000"/>
              </a:lnSpc>
              <a:buFont typeface="Arial" panose="020B0604020202020204" pitchFamily="34" charset="0"/>
              <a:buChar char="•"/>
            </a:pPr>
            <a:r>
              <a:rPr lang="zh-CN" altLang="zh-CN" sz="2000" dirty="0"/>
              <a:t>其它</a:t>
            </a:r>
            <a:r>
              <a:rPr lang="zh-CN" altLang="en-US" sz="2000" dirty="0"/>
              <a:t>：</a:t>
            </a:r>
            <a:r>
              <a:rPr lang="zh-CN" altLang="zh-CN" dirty="0">
                <a:latin typeface="+mj-ea"/>
                <a:ea typeface="+mj-ea"/>
              </a:rPr>
              <a:t>如存在的副作用，意外发现等需要进行呈现</a:t>
            </a:r>
          </a:p>
          <a:p>
            <a:pPr marL="342900" indent="-342900">
              <a:lnSpc>
                <a:spcPct val="150000"/>
              </a:lnSpc>
              <a:buFont typeface="Arial" panose="020B0604020202020204" pitchFamily="34" charset="0"/>
              <a:buChar char="•"/>
            </a:pPr>
            <a:r>
              <a:rPr lang="zh-CN" altLang="zh-CN" sz="2000" dirty="0"/>
              <a:t>不足</a:t>
            </a:r>
            <a:endParaRPr lang="en-US" altLang="zh-CN" sz="2000" dirty="0">
              <a:latin typeface="+mj-ea"/>
              <a:ea typeface="+mj-ea"/>
            </a:endParaRPr>
          </a:p>
        </p:txBody>
      </p:sp>
      <p:sp>
        <p:nvSpPr>
          <p:cNvPr id="3" name="标题 1">
            <a:extLst>
              <a:ext uri="{FF2B5EF4-FFF2-40B4-BE49-F238E27FC236}">
                <a16:creationId xmlns:a16="http://schemas.microsoft.com/office/drawing/2014/main" id="{158C63B8-0F96-45BE-8C97-2B0F98103E94}"/>
              </a:ext>
            </a:extLst>
          </p:cNvPr>
          <p:cNvSpPr txBox="1">
            <a:spLocks noChangeArrowheads="1"/>
          </p:cNvSpPr>
          <p:nvPr/>
        </p:nvSpPr>
        <p:spPr>
          <a:xfrm>
            <a:off x="1683657" y="46662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评估流程</a:t>
            </a:r>
          </a:p>
        </p:txBody>
      </p:sp>
      <p:sp>
        <p:nvSpPr>
          <p:cNvPr id="4" name="矩形 3">
            <a:extLst>
              <a:ext uri="{FF2B5EF4-FFF2-40B4-BE49-F238E27FC236}">
                <a16:creationId xmlns:a16="http://schemas.microsoft.com/office/drawing/2014/main" id="{AFAC94B5-C96F-4754-BD62-0AB69AAD39EA}"/>
              </a:ext>
            </a:extLst>
          </p:cNvPr>
          <p:cNvSpPr/>
          <p:nvPr/>
        </p:nvSpPr>
        <p:spPr>
          <a:xfrm>
            <a:off x="674914" y="5050167"/>
            <a:ext cx="10842171" cy="1631216"/>
          </a:xfrm>
          <a:prstGeom prst="rect">
            <a:avLst/>
          </a:prstGeom>
          <a:solidFill>
            <a:schemeClr val="accent6">
              <a:lumMod val="40000"/>
              <a:lumOff val="60000"/>
            </a:schemeClr>
          </a:solidFill>
          <a:ln>
            <a:noFill/>
          </a:ln>
        </p:spPr>
        <p:txBody>
          <a:bodyPr wrap="square">
            <a:spAutoFit/>
          </a:bodyPr>
          <a:lstStyle/>
          <a:p>
            <a:r>
              <a:rPr lang="zh-CN" altLang="en-US" sz="2000" b="1" dirty="0">
                <a:latin typeface="+mj-ea"/>
                <a:ea typeface="+mj-ea"/>
              </a:rPr>
              <a:t>解决方案的边界</a:t>
            </a:r>
            <a:r>
              <a:rPr lang="zh-CN" altLang="en-US" sz="2000" dirty="0">
                <a:latin typeface="+mj-ea"/>
                <a:ea typeface="+mj-ea"/>
              </a:rPr>
              <a:t>：</a:t>
            </a:r>
            <a:endParaRPr lang="en-US" altLang="zh-CN" sz="2000" dirty="0">
              <a:latin typeface="+mj-ea"/>
              <a:ea typeface="+mj-ea"/>
            </a:endParaRPr>
          </a:p>
          <a:p>
            <a:pPr marL="342900" indent="-342900">
              <a:buFont typeface="Arial" panose="020B0604020202020204" pitchFamily="34" charset="0"/>
              <a:buChar char="•"/>
            </a:pPr>
            <a:r>
              <a:rPr lang="zh-CN" altLang="en-US" sz="2000" dirty="0">
                <a:latin typeface="+mj-ea"/>
                <a:ea typeface="+mj-ea"/>
              </a:rPr>
              <a:t>由于当地的劳动法，能力和需求之间没能达成一致（如下午能力达到最高峰，但此时不是需求的最高峰）；</a:t>
            </a:r>
            <a:endParaRPr lang="en-US" altLang="zh-CN" sz="2000" dirty="0">
              <a:latin typeface="+mj-ea"/>
              <a:ea typeface="+mj-ea"/>
            </a:endParaRPr>
          </a:p>
          <a:p>
            <a:pPr marL="342900" indent="-342900">
              <a:buFont typeface="Arial" panose="020B0604020202020204" pitchFamily="34" charset="0"/>
              <a:buChar char="•"/>
            </a:pPr>
            <a:r>
              <a:rPr lang="zh-CN" altLang="en-US" sz="2000" dirty="0">
                <a:latin typeface="+mj-ea"/>
                <a:ea typeface="+mj-ea"/>
              </a:rPr>
              <a:t>护理单位晚上和周末的服务能力会减弱（大多数护理人员不喜欢在晚上或周末工作）</a:t>
            </a:r>
            <a:endParaRPr lang="en-US" altLang="zh-CN" sz="2000" dirty="0">
              <a:latin typeface="+mj-ea"/>
              <a:ea typeface="+mj-ea"/>
            </a:endParaRPr>
          </a:p>
          <a:p>
            <a:r>
              <a:rPr lang="en-US" altLang="zh-CN" sz="2000" dirty="0">
                <a:latin typeface="+mj-ea"/>
                <a:ea typeface="+mj-ea"/>
              </a:rPr>
              <a:t>(</a:t>
            </a:r>
            <a:r>
              <a:rPr lang="en-US" altLang="zh-CN" sz="2000" dirty="0" err="1">
                <a:latin typeface="+mj-ea"/>
                <a:ea typeface="+mj-ea"/>
              </a:rPr>
              <a:t>Groop</a:t>
            </a:r>
            <a:r>
              <a:rPr lang="en-US" altLang="zh-CN" sz="2000" dirty="0">
                <a:latin typeface="+mj-ea"/>
                <a:ea typeface="+mj-ea"/>
              </a:rPr>
              <a:t> et al., 2017)</a:t>
            </a:r>
            <a:r>
              <a:rPr lang="zh-CN" altLang="en-US" sz="2000" dirty="0">
                <a:latin typeface="+mj-ea"/>
                <a:ea typeface="+mj-ea"/>
              </a:rPr>
              <a:t>。 </a:t>
            </a:r>
          </a:p>
        </p:txBody>
      </p:sp>
    </p:spTree>
    <p:extLst>
      <p:ext uri="{BB962C8B-B14F-4D97-AF65-F5344CB8AC3E}">
        <p14:creationId xmlns:p14="http://schemas.microsoft.com/office/powerpoint/2010/main" val="1704895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96BCC49-342A-4D4A-8D74-766026CA12FA}"/>
              </a:ext>
            </a:extLst>
          </p:cNvPr>
          <p:cNvSpPr/>
          <p:nvPr/>
        </p:nvSpPr>
        <p:spPr>
          <a:xfrm>
            <a:off x="420684" y="1184175"/>
            <a:ext cx="10795956" cy="3789627"/>
          </a:xfrm>
          <a:prstGeom prst="rect">
            <a:avLst/>
          </a:prstGeom>
          <a:noFill/>
        </p:spPr>
        <p:txBody>
          <a:bodyPr wrap="square">
            <a:spAutoFit/>
          </a:bodyPr>
          <a:lstStyle/>
          <a:p>
            <a:pPr>
              <a:lnSpc>
                <a:spcPct val="150000"/>
              </a:lnSpc>
            </a:pPr>
            <a:r>
              <a:rPr lang="zh-CN" altLang="zh-CN" dirty="0"/>
              <a:t>重新设计后的流程来提升患者流量改善、生产力提高的研究中，采用了案例评估</a:t>
            </a:r>
            <a:r>
              <a:rPr lang="zh-CN" altLang="en-US" dirty="0"/>
              <a:t> </a:t>
            </a:r>
            <a:r>
              <a:rPr lang="zh-CN" altLang="zh-CN" dirty="0"/>
              <a:t>：</a:t>
            </a:r>
          </a:p>
          <a:p>
            <a:pPr marL="285750" indent="-285750">
              <a:lnSpc>
                <a:spcPct val="150000"/>
              </a:lnSpc>
              <a:buFont typeface="Wingdings" panose="05000000000000000000" pitchFamily="2" charset="2"/>
              <a:buChar char="ü"/>
            </a:pPr>
            <a:r>
              <a:rPr lang="zh-CN" altLang="zh-CN" dirty="0"/>
              <a:t>数据收集方法：现场日志、项目会议记录、医院计算机系统定量数据采集。</a:t>
            </a:r>
          </a:p>
          <a:p>
            <a:pPr marL="285750" indent="-285750">
              <a:lnSpc>
                <a:spcPct val="150000"/>
              </a:lnSpc>
              <a:buFont typeface="Wingdings" panose="05000000000000000000" pitchFamily="2" charset="2"/>
              <a:buChar char="ü"/>
            </a:pPr>
            <a:r>
              <a:rPr lang="zh-CN" altLang="zh-CN" dirty="0"/>
              <a:t>案例选择：地区医院。</a:t>
            </a:r>
          </a:p>
          <a:p>
            <a:pPr marL="285750" indent="-285750">
              <a:lnSpc>
                <a:spcPct val="150000"/>
              </a:lnSpc>
              <a:buFont typeface="Wingdings" panose="05000000000000000000" pitchFamily="2" charset="2"/>
              <a:buChar char="ü"/>
            </a:pPr>
            <a:r>
              <a:rPr lang="zh-CN" altLang="zh-CN" dirty="0"/>
              <a:t>原始状态数据</a:t>
            </a:r>
            <a:r>
              <a:rPr lang="en-US" altLang="zh-CN" dirty="0"/>
              <a:t>2016</a:t>
            </a:r>
            <a:r>
              <a:rPr lang="zh-CN" altLang="zh-CN" dirty="0"/>
              <a:t>年</a:t>
            </a:r>
            <a:r>
              <a:rPr lang="en-US" altLang="zh-CN" dirty="0"/>
              <a:t>3</a:t>
            </a:r>
            <a:r>
              <a:rPr lang="zh-CN" altLang="zh-CN" dirty="0"/>
              <a:t>月，医院的主要指标的表现如下</a:t>
            </a:r>
            <a:r>
              <a:rPr lang="en-US" altLang="zh-CN" dirty="0"/>
              <a:t>:</a:t>
            </a:r>
          </a:p>
          <a:p>
            <a:pPr marL="742950" lvl="1" indent="-285750">
              <a:lnSpc>
                <a:spcPct val="150000"/>
              </a:lnSpc>
              <a:buFont typeface="Arial" panose="020B0604020202020204" pitchFamily="34" charset="0"/>
              <a:buChar char="•"/>
            </a:pPr>
            <a:r>
              <a:rPr lang="zh-CN" altLang="zh-CN" dirty="0"/>
              <a:t>四小时急诊等待时间表现</a:t>
            </a:r>
            <a:r>
              <a:rPr lang="en-US" altLang="zh-CN" dirty="0"/>
              <a:t>:88%</a:t>
            </a:r>
            <a:r>
              <a:rPr lang="zh-CN" altLang="zh-CN" dirty="0"/>
              <a:t>，国家目标为</a:t>
            </a:r>
            <a:r>
              <a:rPr lang="en-US" altLang="zh-CN" dirty="0"/>
              <a:t>95%</a:t>
            </a:r>
            <a:r>
              <a:rPr lang="zh-CN" altLang="zh-CN" dirty="0"/>
              <a:t>；</a:t>
            </a:r>
            <a:endParaRPr lang="en-US" altLang="zh-CN" dirty="0"/>
          </a:p>
          <a:p>
            <a:pPr marL="742950" lvl="1" indent="-285750">
              <a:lnSpc>
                <a:spcPct val="150000"/>
              </a:lnSpc>
              <a:buFont typeface="Arial" panose="020B0604020202020204" pitchFamily="34" charset="0"/>
              <a:buChar char="•"/>
            </a:pPr>
            <a:r>
              <a:rPr lang="zh-CN" altLang="zh-CN" dirty="0"/>
              <a:t>患者的平均滞留时间为</a:t>
            </a:r>
            <a:r>
              <a:rPr lang="en-US" altLang="zh-CN" dirty="0"/>
              <a:t>5.7</a:t>
            </a:r>
            <a:r>
              <a:rPr lang="zh-CN" altLang="zh-CN" dirty="0"/>
              <a:t>天；</a:t>
            </a:r>
            <a:endParaRPr lang="en-US" altLang="zh-CN" dirty="0"/>
          </a:p>
          <a:p>
            <a:pPr marL="742950" lvl="1" indent="-285750">
              <a:lnSpc>
                <a:spcPct val="150000"/>
              </a:lnSpc>
              <a:buFont typeface="Arial" panose="020B0604020202020204" pitchFamily="34" charset="0"/>
              <a:buChar char="•"/>
            </a:pPr>
            <a:r>
              <a:rPr lang="en-US" altLang="zh-CN" dirty="0"/>
              <a:t>2015</a:t>
            </a:r>
            <a:r>
              <a:rPr lang="zh-CN" altLang="zh-CN" dirty="0"/>
              <a:t>年</a:t>
            </a:r>
            <a:r>
              <a:rPr lang="en-US" altLang="zh-CN" dirty="0"/>
              <a:t>10</a:t>
            </a:r>
            <a:r>
              <a:rPr lang="zh-CN" altLang="zh-CN" dirty="0"/>
              <a:t>月至</a:t>
            </a:r>
            <a:r>
              <a:rPr lang="en-US" altLang="zh-CN" dirty="0"/>
              <a:t>2016</a:t>
            </a:r>
            <a:r>
              <a:rPr lang="zh-CN" altLang="zh-CN" dirty="0"/>
              <a:t>年</a:t>
            </a:r>
            <a:r>
              <a:rPr lang="en-US" altLang="zh-CN" dirty="0"/>
              <a:t>3</a:t>
            </a:r>
            <a:r>
              <a:rPr lang="zh-CN" altLang="zh-CN" dirty="0"/>
              <a:t>月期间，在选择性护理中取消的外科手术数量</a:t>
            </a:r>
            <a:r>
              <a:rPr lang="en-US" altLang="zh-CN" dirty="0"/>
              <a:t>(</a:t>
            </a:r>
            <a:r>
              <a:rPr lang="zh-CN" altLang="zh-CN" dirty="0"/>
              <a:t>由于床位的可用性</a:t>
            </a:r>
            <a:r>
              <a:rPr lang="en-US" altLang="zh-CN" dirty="0"/>
              <a:t>)</a:t>
            </a:r>
            <a:r>
              <a:rPr lang="zh-CN" altLang="zh-CN" dirty="0"/>
              <a:t>为</a:t>
            </a:r>
            <a:r>
              <a:rPr lang="en-US" altLang="zh-CN" dirty="0"/>
              <a:t>253</a:t>
            </a:r>
            <a:r>
              <a:rPr lang="zh-CN" altLang="zh-CN" dirty="0"/>
              <a:t>。取消的年成本约为</a:t>
            </a:r>
            <a:r>
              <a:rPr lang="en-US" altLang="zh-CN" dirty="0"/>
              <a:t>210</a:t>
            </a:r>
            <a:r>
              <a:rPr lang="zh-CN" altLang="zh-CN" dirty="0"/>
              <a:t>万英镑。</a:t>
            </a:r>
          </a:p>
          <a:p>
            <a:pPr>
              <a:lnSpc>
                <a:spcPct val="150000"/>
              </a:lnSpc>
            </a:pPr>
            <a:endParaRPr lang="zh-CN" altLang="zh-CN" dirty="0"/>
          </a:p>
        </p:txBody>
      </p:sp>
      <p:sp>
        <p:nvSpPr>
          <p:cNvPr id="3" name="标题 1">
            <a:extLst>
              <a:ext uri="{FF2B5EF4-FFF2-40B4-BE49-F238E27FC236}">
                <a16:creationId xmlns:a16="http://schemas.microsoft.com/office/drawing/2014/main" id="{53F1641D-74D7-4811-8FCD-3191FF8D0ABE}"/>
              </a:ext>
            </a:extLst>
          </p:cNvPr>
          <p:cNvSpPr txBox="1">
            <a:spLocks noChangeArrowheads="1"/>
          </p:cNvSpPr>
          <p:nvPr/>
        </p:nvSpPr>
        <p:spPr>
          <a:xfrm>
            <a:off x="1783080" y="433972"/>
            <a:ext cx="6927306"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sym typeface="+mn-ea"/>
              </a:rPr>
              <a:t>案例：</a:t>
            </a:r>
            <a:r>
              <a:rPr lang="zh-CN" altLang="zh-CN" sz="3300" dirty="0">
                <a:latin typeface="+mn-ea"/>
                <a:ea typeface="+mn-ea"/>
              </a:rPr>
              <a:t>案例评估</a:t>
            </a:r>
            <a:endParaRPr lang="zh-CN" altLang="en-US" sz="3300" dirty="0">
              <a:latin typeface="+mn-ea"/>
              <a:ea typeface="+mn-ea"/>
            </a:endParaRPr>
          </a:p>
        </p:txBody>
      </p:sp>
    </p:spTree>
    <p:extLst>
      <p:ext uri="{BB962C8B-B14F-4D97-AF65-F5344CB8AC3E}">
        <p14:creationId xmlns:p14="http://schemas.microsoft.com/office/powerpoint/2010/main" val="1591146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96BCC49-342A-4D4A-8D74-766026CA12FA}"/>
              </a:ext>
            </a:extLst>
          </p:cNvPr>
          <p:cNvSpPr/>
          <p:nvPr/>
        </p:nvSpPr>
        <p:spPr>
          <a:xfrm>
            <a:off x="388027" y="1118860"/>
            <a:ext cx="10795956" cy="4205126"/>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zh-CN" altLang="zh-CN" b="1" dirty="0"/>
              <a:t>评估结果：</a:t>
            </a:r>
          </a:p>
          <a:p>
            <a:pPr marL="742950" lvl="1" indent="-285750">
              <a:lnSpc>
                <a:spcPct val="150000"/>
              </a:lnSpc>
              <a:buFont typeface="Arial" panose="020B0604020202020204" pitchFamily="34" charset="0"/>
              <a:buChar char="•"/>
            </a:pPr>
            <a:r>
              <a:rPr lang="zh-CN" altLang="zh-CN" dirty="0"/>
              <a:t>急诊室等候时间和外科手术取消量。</a:t>
            </a:r>
            <a:r>
              <a:rPr lang="en-US" altLang="zh-CN" dirty="0"/>
              <a:t>4</a:t>
            </a:r>
            <a:r>
              <a:rPr lang="zh-CN" altLang="zh-CN" dirty="0"/>
              <a:t>小时</a:t>
            </a:r>
            <a:r>
              <a:rPr lang="en-US" altLang="zh-CN" dirty="0"/>
              <a:t>ED</a:t>
            </a:r>
            <a:r>
              <a:rPr lang="zh-CN" altLang="zh-CN" dirty="0"/>
              <a:t>等候时间由</a:t>
            </a:r>
            <a:r>
              <a:rPr lang="en-US" altLang="zh-CN" dirty="0"/>
              <a:t>88%</a:t>
            </a:r>
            <a:r>
              <a:rPr lang="zh-CN" altLang="zh-CN" dirty="0"/>
              <a:t>升至</a:t>
            </a:r>
            <a:r>
              <a:rPr lang="en-US" altLang="zh-CN" dirty="0"/>
              <a:t>95%</a:t>
            </a:r>
            <a:r>
              <a:rPr lang="zh-CN" altLang="zh-CN" dirty="0"/>
              <a:t>；外科手术取消的数量显著减少接近于</a:t>
            </a:r>
            <a:r>
              <a:rPr lang="en-US" altLang="zh-CN" dirty="0"/>
              <a:t>0%</a:t>
            </a:r>
            <a:r>
              <a:rPr lang="zh-CN" altLang="zh-CN" dirty="0"/>
              <a:t>；年结余</a:t>
            </a:r>
            <a:r>
              <a:rPr lang="en-US" altLang="zh-CN" dirty="0"/>
              <a:t>175</a:t>
            </a:r>
            <a:r>
              <a:rPr lang="zh-CN" altLang="zh-CN" dirty="0"/>
              <a:t>万英镑</a:t>
            </a:r>
          </a:p>
          <a:p>
            <a:pPr marL="742950" lvl="1" indent="-285750">
              <a:lnSpc>
                <a:spcPct val="150000"/>
              </a:lnSpc>
              <a:buFont typeface="Arial" panose="020B0604020202020204" pitchFamily="34" charset="0"/>
              <a:buChar char="•"/>
            </a:pPr>
            <a:r>
              <a:rPr lang="zh-CN" altLang="zh-CN" dirty="0"/>
              <a:t>平均滞留时间。持续降低，从</a:t>
            </a:r>
            <a:r>
              <a:rPr lang="en-US" altLang="zh-CN" dirty="0"/>
              <a:t>2016</a:t>
            </a:r>
            <a:r>
              <a:rPr lang="zh-CN" altLang="zh-CN" dirty="0"/>
              <a:t>年</a:t>
            </a:r>
            <a:r>
              <a:rPr lang="en-US" altLang="zh-CN" dirty="0"/>
              <a:t>1</a:t>
            </a:r>
            <a:r>
              <a:rPr lang="zh-CN" altLang="zh-CN" dirty="0"/>
              <a:t>月到</a:t>
            </a:r>
            <a:r>
              <a:rPr lang="en-US" altLang="zh-CN" dirty="0"/>
              <a:t>2017</a:t>
            </a:r>
            <a:r>
              <a:rPr lang="zh-CN" altLang="zh-CN" dirty="0"/>
              <a:t>年</a:t>
            </a:r>
            <a:r>
              <a:rPr lang="en-US" altLang="zh-CN" dirty="0"/>
              <a:t>9</a:t>
            </a:r>
            <a:r>
              <a:rPr lang="zh-CN" altLang="zh-CN" dirty="0"/>
              <a:t>月减少了</a:t>
            </a:r>
            <a:r>
              <a:rPr lang="en-US" altLang="zh-CN" dirty="0"/>
              <a:t>14%</a:t>
            </a:r>
            <a:r>
              <a:rPr lang="zh-CN" altLang="zh-CN" dirty="0"/>
              <a:t>。</a:t>
            </a:r>
          </a:p>
          <a:p>
            <a:pPr marL="742950" lvl="1" indent="-285750">
              <a:lnSpc>
                <a:spcPct val="150000"/>
              </a:lnSpc>
              <a:buFont typeface="Arial" panose="020B0604020202020204" pitchFamily="34" charset="0"/>
              <a:buChar char="•"/>
            </a:pPr>
            <a:r>
              <a:rPr lang="zh-CN" altLang="zh-CN" dirty="0"/>
              <a:t>财务节省。患者流动的改善导致了显著的绩效改善和财务节省。对</a:t>
            </a:r>
            <a:r>
              <a:rPr lang="en-US" altLang="zh-CN" dirty="0"/>
              <a:t>AEC</a:t>
            </a:r>
            <a:r>
              <a:rPr lang="zh-CN" altLang="zh-CN" dirty="0"/>
              <a:t>的投资促进了患者输入数量的减少，提高了接受急性护理的投入质量标准化，同时流程改进增强了患者流动，促进了病房关闭。</a:t>
            </a:r>
          </a:p>
          <a:p>
            <a:pPr marL="742950" lvl="1" indent="-285750">
              <a:lnSpc>
                <a:spcPct val="150000"/>
              </a:lnSpc>
              <a:buFont typeface="Arial" panose="020B0604020202020204" pitchFamily="34" charset="0"/>
              <a:buChar char="•"/>
            </a:pPr>
            <a:r>
              <a:rPr lang="zh-CN" altLang="zh-CN" dirty="0"/>
              <a:t>职位吸引力。</a:t>
            </a:r>
            <a:r>
              <a:rPr lang="en-US" altLang="zh-CN" dirty="0"/>
              <a:t>2017</a:t>
            </a:r>
            <a:r>
              <a:rPr lang="zh-CN" altLang="zh-CN" dirty="0"/>
              <a:t>年，该医院成为英国少数几家达到</a:t>
            </a:r>
            <a:r>
              <a:rPr lang="en-US" altLang="zh-CN" dirty="0"/>
              <a:t>4</a:t>
            </a:r>
            <a:r>
              <a:rPr lang="zh-CN" altLang="zh-CN" dirty="0"/>
              <a:t>小时急救等待时间目标的医院之一，业绩的增强使该医院的职位更具有吸引力。急诊医生的职位空缺从</a:t>
            </a:r>
            <a:r>
              <a:rPr lang="en-US" altLang="zh-CN" dirty="0"/>
              <a:t>2016</a:t>
            </a:r>
            <a:r>
              <a:rPr lang="zh-CN" altLang="zh-CN" dirty="0"/>
              <a:t>年的</a:t>
            </a:r>
            <a:r>
              <a:rPr lang="en-US" altLang="zh-CN" dirty="0"/>
              <a:t>57%</a:t>
            </a:r>
            <a:r>
              <a:rPr lang="zh-CN" altLang="zh-CN" dirty="0"/>
              <a:t>减少到</a:t>
            </a:r>
            <a:r>
              <a:rPr lang="en-US" altLang="zh-CN" dirty="0"/>
              <a:t>2017</a:t>
            </a:r>
            <a:r>
              <a:rPr lang="zh-CN" altLang="zh-CN" dirty="0"/>
              <a:t>年的</a:t>
            </a:r>
            <a:r>
              <a:rPr lang="en-US" altLang="zh-CN" dirty="0"/>
              <a:t>0%</a:t>
            </a:r>
            <a:r>
              <a:rPr lang="zh-CN" altLang="zh-CN" dirty="0"/>
              <a:t>，护士的职位空缺从</a:t>
            </a:r>
            <a:r>
              <a:rPr lang="en-US" altLang="zh-CN" dirty="0"/>
              <a:t>2016</a:t>
            </a:r>
            <a:r>
              <a:rPr lang="zh-CN" altLang="zh-CN" dirty="0"/>
              <a:t>年的</a:t>
            </a:r>
            <a:r>
              <a:rPr lang="en-US" altLang="zh-CN" dirty="0"/>
              <a:t>23%</a:t>
            </a:r>
            <a:r>
              <a:rPr lang="zh-CN" altLang="zh-CN" dirty="0"/>
              <a:t>减少到</a:t>
            </a:r>
            <a:r>
              <a:rPr lang="en-US" altLang="zh-CN" dirty="0"/>
              <a:t>2017</a:t>
            </a:r>
            <a:r>
              <a:rPr lang="zh-CN" altLang="zh-CN" dirty="0"/>
              <a:t>年的</a:t>
            </a:r>
            <a:r>
              <a:rPr lang="en-US" altLang="zh-CN" dirty="0"/>
              <a:t>4%</a:t>
            </a:r>
            <a:r>
              <a:rPr lang="zh-CN" altLang="zh-CN" dirty="0"/>
              <a:t>。</a:t>
            </a:r>
          </a:p>
          <a:p>
            <a:pPr marL="742950" lvl="1" indent="-285750">
              <a:lnSpc>
                <a:spcPct val="150000"/>
              </a:lnSpc>
              <a:buFont typeface="Arial" panose="020B0604020202020204" pitchFamily="34" charset="0"/>
              <a:buChar char="•"/>
            </a:pPr>
            <a:r>
              <a:rPr lang="zh-CN" altLang="zh-CN" dirty="0"/>
              <a:t>员工满意度。干预措施的引入和患者流动的改善带来了更好的工作环境。</a:t>
            </a:r>
          </a:p>
        </p:txBody>
      </p:sp>
      <p:sp>
        <p:nvSpPr>
          <p:cNvPr id="3" name="标题 1">
            <a:extLst>
              <a:ext uri="{FF2B5EF4-FFF2-40B4-BE49-F238E27FC236}">
                <a16:creationId xmlns:a16="http://schemas.microsoft.com/office/drawing/2014/main" id="{53F1641D-74D7-4811-8FCD-3191FF8D0ABE}"/>
              </a:ext>
            </a:extLst>
          </p:cNvPr>
          <p:cNvSpPr txBox="1">
            <a:spLocks noChangeArrowheads="1"/>
          </p:cNvSpPr>
          <p:nvPr/>
        </p:nvSpPr>
        <p:spPr>
          <a:xfrm>
            <a:off x="1783080" y="433972"/>
            <a:ext cx="6927306"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sym typeface="+mn-ea"/>
              </a:rPr>
              <a:t>案例：</a:t>
            </a:r>
            <a:r>
              <a:rPr lang="zh-CN" altLang="zh-CN" sz="3300" dirty="0">
                <a:latin typeface="+mn-ea"/>
                <a:ea typeface="+mn-ea"/>
              </a:rPr>
              <a:t>案例评估</a:t>
            </a:r>
            <a:endParaRPr lang="zh-CN" altLang="en-US" sz="3300" dirty="0">
              <a:latin typeface="+mn-ea"/>
              <a:ea typeface="+mn-ea"/>
            </a:endParaRPr>
          </a:p>
        </p:txBody>
      </p:sp>
    </p:spTree>
    <p:extLst>
      <p:ext uri="{BB962C8B-B14F-4D97-AF65-F5344CB8AC3E}">
        <p14:creationId xmlns:p14="http://schemas.microsoft.com/office/powerpoint/2010/main" val="3955913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4A42C54-49A4-4112-B5F9-C42FC041ACBF}"/>
              </a:ext>
            </a:extLst>
          </p:cNvPr>
          <p:cNvSpPr/>
          <p:nvPr/>
        </p:nvSpPr>
        <p:spPr>
          <a:xfrm>
            <a:off x="375556" y="1102192"/>
            <a:ext cx="11217729" cy="4977453"/>
          </a:xfrm>
          <a:prstGeom prst="rect">
            <a:avLst/>
          </a:prstGeom>
        </p:spPr>
        <p:txBody>
          <a:bodyPr wrap="square">
            <a:spAutoFit/>
          </a:bodyPr>
          <a:lstStyle/>
          <a:p>
            <a:pPr>
              <a:lnSpc>
                <a:spcPct val="150000"/>
              </a:lnSpc>
            </a:pPr>
            <a:r>
              <a:rPr lang="zh-CN" altLang="zh-CN" dirty="0"/>
              <a:t>肾移植术后患者护理教育流程改进的研究。改进后的标准化、柔性化和能够持续改进的患者术后教育流程能够降低患者的</a:t>
            </a:r>
            <a:r>
              <a:rPr lang="en-US" altLang="zh-CN" dirty="0"/>
              <a:t>30</a:t>
            </a:r>
            <a:r>
              <a:rPr lang="zh-CN" altLang="zh-CN" dirty="0"/>
              <a:t>天再入院率以及提升患者的满意度。</a:t>
            </a:r>
            <a:endParaRPr lang="en-US" altLang="zh-CN" dirty="0"/>
          </a:p>
          <a:p>
            <a:pPr marL="342900" indent="-342900">
              <a:lnSpc>
                <a:spcPct val="150000"/>
              </a:lnSpc>
              <a:buFont typeface="Wingdings" panose="05000000000000000000" pitchFamily="2" charset="2"/>
              <a:buChar char="ü"/>
            </a:pPr>
            <a:r>
              <a:rPr lang="zh-CN" altLang="zh-CN" b="1" dirty="0"/>
              <a:t>实验场景</a:t>
            </a:r>
            <a:r>
              <a:rPr lang="zh-CN" altLang="zh-CN" dirty="0"/>
              <a:t>：某医院的肾移植中心。</a:t>
            </a:r>
          </a:p>
          <a:p>
            <a:pPr marL="342900" indent="-342900">
              <a:lnSpc>
                <a:spcPct val="150000"/>
              </a:lnSpc>
              <a:buFont typeface="Wingdings" panose="05000000000000000000" pitchFamily="2" charset="2"/>
              <a:buChar char="ü"/>
            </a:pPr>
            <a:r>
              <a:rPr lang="zh-CN" altLang="zh-CN" b="1" dirty="0"/>
              <a:t>实验设计</a:t>
            </a:r>
            <a:r>
              <a:rPr lang="zh-CN" altLang="zh-CN" dirty="0"/>
              <a:t>：以肾脏科室的数据作为实验组（代表重新设计流程期间</a:t>
            </a:r>
            <a:r>
              <a:rPr lang="en-US" altLang="zh-CN" dirty="0"/>
              <a:t>&amp;</a:t>
            </a:r>
            <a:r>
              <a:rPr lang="zh-CN" altLang="zh-CN" dirty="0"/>
              <a:t>重新设计流程后），心脏</a:t>
            </a:r>
            <a:r>
              <a:rPr lang="en-US" altLang="zh-CN" dirty="0"/>
              <a:t>/</a:t>
            </a:r>
            <a:r>
              <a:rPr lang="zh-CN" altLang="zh-CN" dirty="0"/>
              <a:t>肝脏科室的数据作为对照组（代表重新设计流程前），以患者</a:t>
            </a:r>
            <a:r>
              <a:rPr lang="en-US" altLang="zh-CN" dirty="0"/>
              <a:t>30</a:t>
            </a:r>
            <a:r>
              <a:rPr lang="zh-CN" altLang="zh-CN" dirty="0"/>
              <a:t>天再入院率作为医院的绩效指标使用双重差分法（</a:t>
            </a:r>
            <a:r>
              <a:rPr lang="en-US" altLang="zh-CN" dirty="0"/>
              <a:t>DID</a:t>
            </a:r>
            <a:r>
              <a:rPr lang="zh-CN" altLang="zh-CN" dirty="0"/>
              <a:t>）来进行评估。</a:t>
            </a:r>
          </a:p>
          <a:p>
            <a:pPr marL="342900" indent="-342900">
              <a:lnSpc>
                <a:spcPct val="150000"/>
              </a:lnSpc>
              <a:buFont typeface="Wingdings" panose="05000000000000000000" pitchFamily="2" charset="2"/>
              <a:buChar char="ü"/>
            </a:pPr>
            <a:r>
              <a:rPr lang="zh-CN" altLang="zh-CN" b="1" dirty="0"/>
              <a:t>评估指标</a:t>
            </a:r>
            <a:r>
              <a:rPr lang="zh-CN" altLang="zh-CN" dirty="0"/>
              <a:t>：患者的</a:t>
            </a:r>
            <a:r>
              <a:rPr lang="en-US" altLang="zh-CN" dirty="0"/>
              <a:t>30</a:t>
            </a:r>
            <a:r>
              <a:rPr lang="zh-CN" altLang="zh-CN" dirty="0"/>
              <a:t>天再入院率和患者满意度。</a:t>
            </a:r>
          </a:p>
          <a:p>
            <a:pPr marL="342900" indent="-342900">
              <a:lnSpc>
                <a:spcPct val="150000"/>
              </a:lnSpc>
              <a:buFont typeface="Wingdings" panose="05000000000000000000" pitchFamily="2" charset="2"/>
              <a:buChar char="ü"/>
            </a:pPr>
            <a:r>
              <a:rPr lang="zh-CN" altLang="zh-CN" b="1" dirty="0"/>
              <a:t>数据收集</a:t>
            </a:r>
            <a:r>
              <a:rPr lang="zh-CN" altLang="zh-CN" dirty="0"/>
              <a:t>：准实验的对象是</a:t>
            </a:r>
            <a:r>
              <a:rPr lang="en-US" altLang="zh-CN" dirty="0"/>
              <a:t>2013</a:t>
            </a:r>
            <a:r>
              <a:rPr lang="zh-CN" altLang="zh-CN" dirty="0"/>
              <a:t>年</a:t>
            </a:r>
            <a:r>
              <a:rPr lang="en-US" altLang="zh-CN" dirty="0"/>
              <a:t>1</a:t>
            </a:r>
            <a:r>
              <a:rPr lang="zh-CN" altLang="zh-CN" dirty="0"/>
              <a:t>月到</a:t>
            </a:r>
            <a:r>
              <a:rPr lang="en-US" altLang="zh-CN" dirty="0"/>
              <a:t>2016</a:t>
            </a:r>
            <a:r>
              <a:rPr lang="zh-CN" altLang="zh-CN" dirty="0"/>
              <a:t>年</a:t>
            </a:r>
            <a:r>
              <a:rPr lang="en-US" altLang="zh-CN" dirty="0"/>
              <a:t>4</a:t>
            </a:r>
            <a:r>
              <a:rPr lang="zh-CN" altLang="zh-CN" dirty="0"/>
              <a:t>月就诊于某医院的肾移植中心的</a:t>
            </a:r>
            <a:r>
              <a:rPr lang="en-US" altLang="zh-CN" dirty="0"/>
              <a:t>571</a:t>
            </a:r>
            <a:r>
              <a:rPr lang="zh-CN" altLang="zh-CN" dirty="0"/>
              <a:t>名患者以及心脏</a:t>
            </a:r>
            <a:r>
              <a:rPr lang="en-US" altLang="zh-CN" dirty="0"/>
              <a:t>/</a:t>
            </a:r>
            <a:r>
              <a:rPr lang="zh-CN" altLang="zh-CN" dirty="0"/>
              <a:t>肝脏移植中心（具有和肾移植中心相似的患者术后教育流程）的</a:t>
            </a:r>
            <a:r>
              <a:rPr lang="en-US" altLang="zh-CN" dirty="0"/>
              <a:t>165</a:t>
            </a:r>
            <a:r>
              <a:rPr lang="zh-CN" altLang="zh-CN" dirty="0"/>
              <a:t>名患者。进行评估之前，研究者还对本院肾移植患者的平均再住院率（</a:t>
            </a:r>
            <a:r>
              <a:rPr lang="en-US" altLang="zh-CN" dirty="0"/>
              <a:t>40%</a:t>
            </a:r>
            <a:r>
              <a:rPr lang="zh-CN" altLang="zh-CN" dirty="0"/>
              <a:t>）与全国水平的统计结果进行对比，发现没有显著差异，确保样本具有代表性。</a:t>
            </a:r>
          </a:p>
          <a:p>
            <a:pPr marL="742950" lvl="1" indent="-285750" algn="just">
              <a:lnSpc>
                <a:spcPct val="125000"/>
              </a:lnSpc>
              <a:buFont typeface="Arial" panose="020B0604020202020204" pitchFamily="34" charset="0"/>
              <a:buChar char="•"/>
            </a:pP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2">
            <a:extLst>
              <a:ext uri="{FF2B5EF4-FFF2-40B4-BE49-F238E27FC236}">
                <a16:creationId xmlns:a16="http://schemas.microsoft.com/office/drawing/2014/main" id="{74C7A916-8F6F-4B41-810E-B4DE3675E6A9}"/>
              </a:ext>
            </a:extLst>
          </p:cNvPr>
          <p:cNvSpPr txBox="1">
            <a:spLocks noChangeArrowheads="1"/>
          </p:cNvSpPr>
          <p:nvPr/>
        </p:nvSpPr>
        <p:spPr>
          <a:xfrm>
            <a:off x="1775987" y="244942"/>
            <a:ext cx="8640026" cy="8572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案例：</a:t>
            </a:r>
            <a:r>
              <a:rPr lang="zh-CN" altLang="zh-CN" sz="3300" dirty="0">
                <a:latin typeface="+mn-ea"/>
                <a:ea typeface="+mn-ea"/>
              </a:rPr>
              <a:t>准实验评估</a:t>
            </a:r>
            <a:endParaRPr lang="zh-CN" altLang="en-US" sz="3300" dirty="0">
              <a:latin typeface="+mn-ea"/>
              <a:ea typeface="+mn-ea"/>
            </a:endParaRPr>
          </a:p>
        </p:txBody>
      </p:sp>
      <p:sp>
        <p:nvSpPr>
          <p:cNvPr id="2" name="矩形 1">
            <a:extLst>
              <a:ext uri="{FF2B5EF4-FFF2-40B4-BE49-F238E27FC236}">
                <a16:creationId xmlns:a16="http://schemas.microsoft.com/office/drawing/2014/main" id="{0E9E9BF7-A10E-4707-BB0B-FCCADEF84A02}"/>
              </a:ext>
            </a:extLst>
          </p:cNvPr>
          <p:cNvSpPr/>
          <p:nvPr/>
        </p:nvSpPr>
        <p:spPr>
          <a:xfrm>
            <a:off x="266700" y="5928768"/>
            <a:ext cx="10814957" cy="684290"/>
          </a:xfrm>
          <a:prstGeom prst="rect">
            <a:avLst/>
          </a:prstGeom>
        </p:spPr>
        <p:txBody>
          <a:bodyPr wrap="square">
            <a:spAutoFit/>
          </a:bodyPr>
          <a:lstStyle/>
          <a:p>
            <a:pPr lvl="0" algn="just">
              <a:lnSpc>
                <a:spcPct val="125000"/>
              </a:lnSpc>
              <a:spcAft>
                <a:spcPts val="0"/>
              </a:spcAft>
            </a:pPr>
            <a:r>
              <a:rPr lang="en-US" altLang="zh-CN" sz="1600" kern="100" dirty="0">
                <a:solidFill>
                  <a:srgbClr val="000000"/>
                </a:solidFill>
                <a:latin typeface="Times New Roman" panose="02020603050405020304" pitchFamily="18" charset="0"/>
                <a:cs typeface="Times New Roman" panose="02020603050405020304" pitchFamily="18" charset="0"/>
              </a:rPr>
              <a:t>Anand, G., Chandrasekaran, A., &amp; Sharma, L. Sustainable process improvements: Evidence from intervention</a:t>
            </a:r>
            <a:r>
              <a:rPr lang="en-US" altLang="zh-CN" sz="1600" kern="1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kern="100" dirty="0">
                <a:solidFill>
                  <a:srgbClr val="000000"/>
                </a:solidFill>
                <a:latin typeface="Times New Roman" panose="02020603050405020304" pitchFamily="18" charset="0"/>
                <a:cs typeface="Times New Roman" panose="02020603050405020304" pitchFamily="18" charset="0"/>
              </a:rPr>
              <a:t>based research</a:t>
            </a:r>
            <a:r>
              <a:rPr lang="en-US" altLang="zh-CN" sz="16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1600" kern="100" dirty="0">
                <a:solidFill>
                  <a:srgbClr val="000000"/>
                </a:solidFill>
                <a:latin typeface="Times New Roman" panose="02020603050405020304" pitchFamily="18" charset="0"/>
                <a:cs typeface="Times New Roman" panose="02020603050405020304" pitchFamily="18" charset="0"/>
              </a:rPr>
              <a:t>. Journal of Operations Management, 2021, 67(2): 212-236.</a:t>
            </a:r>
            <a:endParaRPr lang="zh-CN" altLang="zh-CN" sz="1600" kern="100" dirty="0">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9491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34A42C54-49A4-4112-B5F9-C42FC041ACBF}"/>
              </a:ext>
            </a:extLst>
          </p:cNvPr>
          <p:cNvSpPr/>
          <p:nvPr/>
        </p:nvSpPr>
        <p:spPr>
          <a:xfrm>
            <a:off x="375556" y="1102192"/>
            <a:ext cx="11217729" cy="3315459"/>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zh-CN" b="1" dirty="0"/>
              <a:t>分析结果</a:t>
            </a:r>
            <a:r>
              <a:rPr lang="zh-CN" altLang="zh-CN" dirty="0"/>
              <a:t>：</a:t>
            </a:r>
          </a:p>
          <a:p>
            <a:pPr marL="742950" lvl="1" indent="-285750">
              <a:lnSpc>
                <a:spcPct val="150000"/>
              </a:lnSpc>
              <a:buFont typeface="Arial" panose="020B0604020202020204" pitchFamily="34" charset="0"/>
              <a:buChar char="•"/>
            </a:pPr>
            <a:r>
              <a:rPr lang="zh-CN" altLang="zh-CN" dirty="0"/>
              <a:t>患者的</a:t>
            </a:r>
            <a:r>
              <a:rPr lang="en-US" altLang="zh-CN" dirty="0"/>
              <a:t>30</a:t>
            </a:r>
            <a:r>
              <a:rPr lang="zh-CN" altLang="zh-CN" dirty="0"/>
              <a:t>天再入院率。结果显示，在重新设计期间，实验组患者的</a:t>
            </a:r>
            <a:r>
              <a:rPr lang="en-US" altLang="zh-CN" dirty="0"/>
              <a:t>30</a:t>
            </a:r>
            <a:r>
              <a:rPr lang="zh-CN" altLang="zh-CN" dirty="0"/>
              <a:t>天再入院率与对照组和重新设计流程前的患者没有差别。这表明，流程重新设计的好处只有在患者教育流程完全实施后才能看到。重新设计流程后，</a:t>
            </a:r>
            <a:r>
              <a:rPr lang="en-US" altLang="zh-CN" dirty="0"/>
              <a:t>30</a:t>
            </a:r>
            <a:r>
              <a:rPr lang="zh-CN" altLang="zh-CN" dirty="0"/>
              <a:t>天内患者再次住院的几率降低了</a:t>
            </a:r>
            <a:r>
              <a:rPr lang="en-US" altLang="zh-CN" dirty="0"/>
              <a:t>0.25</a:t>
            </a:r>
            <a:r>
              <a:rPr lang="zh-CN" altLang="zh-CN" dirty="0"/>
              <a:t>倍。</a:t>
            </a:r>
          </a:p>
          <a:p>
            <a:pPr marL="742950" lvl="1" indent="-285750">
              <a:lnSpc>
                <a:spcPct val="150000"/>
              </a:lnSpc>
              <a:buFont typeface="Arial" panose="020B0604020202020204" pitchFamily="34" charset="0"/>
              <a:buChar char="•"/>
            </a:pPr>
            <a:r>
              <a:rPr lang="zh-CN" altLang="zh-CN" dirty="0"/>
              <a:t>患者满意度。结果显示，肾脏科室在重新设计前和重新设计期间相比，患者满意度下降；而对照组的患者满意度在这两个过程之间没有明显变化。重新设计流程后，与基准组结果相比，</a:t>
            </a:r>
            <a:r>
              <a:rPr lang="en-US" altLang="zh-CN" dirty="0"/>
              <a:t>HCAHPS</a:t>
            </a:r>
            <a:r>
              <a:rPr lang="zh-CN" altLang="zh-CN" dirty="0"/>
              <a:t>评分高出约</a:t>
            </a:r>
            <a:r>
              <a:rPr lang="en-US" altLang="zh-CN" dirty="0"/>
              <a:t>8%</a:t>
            </a:r>
            <a:r>
              <a:rPr lang="zh-CN" altLang="zh-CN" dirty="0"/>
              <a:t>，患者满意度上升。</a:t>
            </a:r>
          </a:p>
          <a:p>
            <a:pPr marL="742950" lvl="1" indent="-285750" algn="just">
              <a:lnSpc>
                <a:spcPct val="125000"/>
              </a:lnSpc>
              <a:buFont typeface="Arial" panose="020B0604020202020204" pitchFamily="34" charset="0"/>
              <a:buChar char="•"/>
            </a:pPr>
            <a:endParaRPr lang="en-US" altLang="zh-CN"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2">
            <a:extLst>
              <a:ext uri="{FF2B5EF4-FFF2-40B4-BE49-F238E27FC236}">
                <a16:creationId xmlns:a16="http://schemas.microsoft.com/office/drawing/2014/main" id="{461366B8-2AA2-4328-B30C-48D6E1402145}"/>
              </a:ext>
            </a:extLst>
          </p:cNvPr>
          <p:cNvSpPr txBox="1">
            <a:spLocks noChangeArrowheads="1"/>
          </p:cNvSpPr>
          <p:nvPr/>
        </p:nvSpPr>
        <p:spPr>
          <a:xfrm>
            <a:off x="1775987" y="244942"/>
            <a:ext cx="8640026" cy="8572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案例：</a:t>
            </a:r>
            <a:r>
              <a:rPr lang="zh-CN" altLang="zh-CN" sz="3300" dirty="0">
                <a:latin typeface="+mn-ea"/>
                <a:ea typeface="+mn-ea"/>
              </a:rPr>
              <a:t>准实验评估</a:t>
            </a:r>
            <a:endParaRPr lang="zh-CN" altLang="en-US" sz="3300" dirty="0">
              <a:latin typeface="+mn-ea"/>
              <a:ea typeface="+mn-ea"/>
            </a:endParaRPr>
          </a:p>
        </p:txBody>
      </p:sp>
    </p:spTree>
    <p:extLst>
      <p:ext uri="{BB962C8B-B14F-4D97-AF65-F5344CB8AC3E}">
        <p14:creationId xmlns:p14="http://schemas.microsoft.com/office/powerpoint/2010/main" val="66912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46FA60E-C5CD-4CBA-96BE-685C2E61BC1D}"/>
              </a:ext>
            </a:extLst>
          </p:cNvPr>
          <p:cNvSpPr/>
          <p:nvPr/>
        </p:nvSpPr>
        <p:spPr>
          <a:xfrm>
            <a:off x="446116" y="1094572"/>
            <a:ext cx="10843260" cy="3697294"/>
          </a:xfrm>
          <a:prstGeom prst="rect">
            <a:avLst/>
          </a:prstGeom>
        </p:spPr>
        <p:txBody>
          <a:bodyPr wrap="square">
            <a:spAutoFit/>
          </a:bodyPr>
          <a:lstStyle/>
          <a:p>
            <a:pPr>
              <a:lnSpc>
                <a:spcPct val="150000"/>
              </a:lnSpc>
            </a:pPr>
            <a:r>
              <a:rPr lang="zh-CN" altLang="zh-CN" sz="2000" b="1" dirty="0"/>
              <a:t>验证文本分析机器学习模型有效性和性能</a:t>
            </a:r>
            <a:r>
              <a:rPr lang="zh-CN" altLang="zh-CN" sz="2000" dirty="0"/>
              <a:t>：</a:t>
            </a:r>
          </a:p>
          <a:p>
            <a:pPr marL="342900" indent="-342900">
              <a:lnSpc>
                <a:spcPct val="150000"/>
              </a:lnSpc>
              <a:buFont typeface="Arial" panose="020B0604020202020204" pitchFamily="34" charset="0"/>
              <a:buChar char="•"/>
            </a:pPr>
            <a:r>
              <a:rPr lang="zh-CN" altLang="zh-CN" sz="2000" b="1" dirty="0"/>
              <a:t>评估设计</a:t>
            </a:r>
            <a:r>
              <a:rPr lang="zh-CN" altLang="zh-CN" sz="2000" dirty="0"/>
              <a:t>：使用来自标准普尔</a:t>
            </a:r>
            <a:r>
              <a:rPr lang="en-US" altLang="zh-CN" sz="2000" dirty="0"/>
              <a:t>500</a:t>
            </a:r>
            <a:r>
              <a:rPr lang="zh-CN" altLang="zh-CN" sz="2000" dirty="0"/>
              <a:t>指数公司的实时聊天联系中心的真实数据，演示了文本分析机器学习模型的仿真实现。</a:t>
            </a:r>
          </a:p>
          <a:p>
            <a:pPr marL="342900" indent="-342900">
              <a:lnSpc>
                <a:spcPct val="150000"/>
              </a:lnSpc>
              <a:buFont typeface="Arial" panose="020B0604020202020204" pitchFamily="34" charset="0"/>
              <a:buChar char="•"/>
            </a:pPr>
            <a:r>
              <a:rPr lang="zh-CN" altLang="zh-CN" sz="2000" b="1" dirty="0"/>
              <a:t>基准设置</a:t>
            </a:r>
            <a:r>
              <a:rPr lang="zh-CN" altLang="zh-CN" sz="2000" dirty="0"/>
              <a:t>：与现实世界中常用两种分流设计相比，即客户选择分流和人工专家分流。</a:t>
            </a:r>
          </a:p>
          <a:p>
            <a:pPr marL="342900" indent="-342900">
              <a:lnSpc>
                <a:spcPct val="150000"/>
              </a:lnSpc>
              <a:buFont typeface="Arial" panose="020B0604020202020204" pitchFamily="34" charset="0"/>
              <a:buChar char="•"/>
            </a:pPr>
            <a:r>
              <a:rPr lang="zh-CN" altLang="zh-CN" sz="2000" b="1" dirty="0"/>
              <a:t>评估指标</a:t>
            </a:r>
            <a:r>
              <a:rPr lang="zh-CN" altLang="zh-CN" sz="2000" dirty="0"/>
              <a:t>：服务水平、时间和劳动力成本。</a:t>
            </a:r>
          </a:p>
          <a:p>
            <a:pPr marL="342900" indent="-342900">
              <a:lnSpc>
                <a:spcPct val="150000"/>
              </a:lnSpc>
              <a:buFont typeface="Arial" panose="020B0604020202020204" pitchFamily="34" charset="0"/>
              <a:buChar char="•"/>
            </a:pPr>
            <a:r>
              <a:rPr lang="zh-CN" altLang="zh-CN" sz="2000" b="1" dirty="0"/>
              <a:t>结果分析</a:t>
            </a:r>
            <a:r>
              <a:rPr lang="zh-CN" altLang="zh-CN" sz="2000" dirty="0"/>
              <a:t>：与现实世界中常用的另外两种分流设计（即客户选择分流和人工专家分流）相比，自动化设计在服务水平、时间和劳动力成本方面的优势。</a:t>
            </a:r>
          </a:p>
          <a:p>
            <a:pPr marL="742950" lvl="1" indent="-285750" algn="just">
              <a:lnSpc>
                <a:spcPct val="150000"/>
              </a:lnSpc>
              <a:buFont typeface="Arial" panose="020B0604020202020204" pitchFamily="34" charset="0"/>
              <a:buChar char="•"/>
            </a:pPr>
            <a:endParaRPr lang="zh-CN" altLang="zh-CN" kern="100" dirty="0">
              <a:latin typeface="+mj-ea"/>
              <a:ea typeface="+mj-ea"/>
              <a:cs typeface="Times New Roman" panose="02020603050405020304" pitchFamily="18" charset="0"/>
            </a:endParaRPr>
          </a:p>
        </p:txBody>
      </p:sp>
      <p:sp>
        <p:nvSpPr>
          <p:cNvPr id="4" name="Rectangle 2">
            <a:extLst>
              <a:ext uri="{FF2B5EF4-FFF2-40B4-BE49-F238E27FC236}">
                <a16:creationId xmlns:a16="http://schemas.microsoft.com/office/drawing/2014/main" id="{3DC23169-F42C-4DEC-9339-592E1D15A331}"/>
              </a:ext>
            </a:extLst>
          </p:cNvPr>
          <p:cNvSpPr txBox="1">
            <a:spLocks noChangeArrowheads="1"/>
          </p:cNvSpPr>
          <p:nvPr/>
        </p:nvSpPr>
        <p:spPr>
          <a:xfrm>
            <a:off x="1912620" y="237322"/>
            <a:ext cx="7667725" cy="8572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sym typeface="+mn-ea"/>
              </a:rPr>
              <a:t>案例：</a:t>
            </a:r>
            <a:r>
              <a:rPr lang="zh-CN" altLang="zh-CN" sz="3300" dirty="0">
                <a:latin typeface="+mn-ea"/>
                <a:ea typeface="+mn-ea"/>
              </a:rPr>
              <a:t>数值实验</a:t>
            </a:r>
            <a:endParaRPr lang="zh-CN" altLang="en-US" sz="3300" dirty="0">
              <a:latin typeface="+mn-ea"/>
              <a:ea typeface="+mn-ea"/>
            </a:endParaRPr>
          </a:p>
        </p:txBody>
      </p:sp>
      <p:sp>
        <p:nvSpPr>
          <p:cNvPr id="3" name="矩形 2">
            <a:extLst>
              <a:ext uri="{FF2B5EF4-FFF2-40B4-BE49-F238E27FC236}">
                <a16:creationId xmlns:a16="http://schemas.microsoft.com/office/drawing/2014/main" id="{94B37D2A-65E1-4A9E-83AF-1FEFD03BE462}"/>
              </a:ext>
            </a:extLst>
          </p:cNvPr>
          <p:cNvSpPr/>
          <p:nvPr/>
        </p:nvSpPr>
        <p:spPr>
          <a:xfrm>
            <a:off x="323850" y="5649116"/>
            <a:ext cx="11544300" cy="758285"/>
          </a:xfrm>
          <a:prstGeom prst="rect">
            <a:avLst/>
          </a:prstGeom>
        </p:spPr>
        <p:txBody>
          <a:bodyPr wrap="square">
            <a:spAutoFit/>
          </a:bodyPr>
          <a:lstStyle/>
          <a:p>
            <a:pPr lvl="0" algn="just">
              <a:lnSpc>
                <a:spcPct val="125000"/>
              </a:lnSpc>
              <a:spcAft>
                <a:spcPts val="0"/>
              </a:spcAft>
            </a:pP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Ilk, N., Shang, G., &amp; Goes, P. Improving customer routing in contact centers: An automated triage design based on text analytics. Journal of Operations Management, 2020,66(5): 553-577.</a:t>
            </a:r>
            <a:endParaRPr lang="zh-CN" altLang="zh-CN" kern="100" dirty="0">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2345801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1610</TotalTime>
  <Words>3883</Words>
  <Application>Microsoft Office PowerPoint</Application>
  <PresentationFormat>宽屏</PresentationFormat>
  <Paragraphs>343</Paragraphs>
  <Slides>32</Slides>
  <Notes>10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43" baseType="lpstr">
      <vt:lpstr>Gulim</vt:lpstr>
      <vt:lpstr>等线</vt:lpstr>
      <vt:lpstr>等线 Light</vt:lpstr>
      <vt:lpstr>宋体</vt:lpstr>
      <vt:lpstr>微软雅黑</vt:lpstr>
      <vt:lpstr>Arial</vt:lpstr>
      <vt:lpstr>Calibri</vt:lpstr>
      <vt:lpstr>Times New Roman</vt:lpstr>
      <vt:lpstr>Wingdings</vt:lpstr>
      <vt:lpstr>Office 主题​​</vt:lpstr>
      <vt:lpstr>Visio</vt:lpstr>
      <vt:lpstr>解决方案评估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388</cp:revision>
  <dcterms:created xsi:type="dcterms:W3CDTF">2023-02-21T01:12:16Z</dcterms:created>
  <dcterms:modified xsi:type="dcterms:W3CDTF">2025-02-28T02:10:31Z</dcterms:modified>
</cp:coreProperties>
</file>