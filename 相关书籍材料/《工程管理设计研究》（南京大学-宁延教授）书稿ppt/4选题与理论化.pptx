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623" r:id="rId2"/>
    <p:sldId id="1597" r:id="rId3"/>
    <p:sldId id="633" r:id="rId4"/>
    <p:sldId id="1609" r:id="rId5"/>
    <p:sldId id="1600" r:id="rId6"/>
    <p:sldId id="1601" r:id="rId7"/>
    <p:sldId id="1602" r:id="rId8"/>
    <p:sldId id="1599" r:id="rId9"/>
    <p:sldId id="1595" r:id="rId10"/>
    <p:sldId id="1611" r:id="rId11"/>
    <p:sldId id="1566" r:id="rId12"/>
    <p:sldId id="1608" r:id="rId13"/>
    <p:sldId id="1589" r:id="rId14"/>
    <p:sldId id="1603" r:id="rId15"/>
    <p:sldId id="259" r:id="rId16"/>
    <p:sldId id="1598" r:id="rId17"/>
    <p:sldId id="1590" r:id="rId18"/>
    <p:sldId id="1605" r:id="rId19"/>
    <p:sldId id="1591" r:id="rId20"/>
    <p:sldId id="1606" r:id="rId21"/>
    <p:sldId id="1592" r:id="rId22"/>
    <p:sldId id="1612" r:id="rId23"/>
    <p:sldId id="1613" r:id="rId24"/>
    <p:sldId id="1614" r:id="rId25"/>
    <p:sldId id="1588" r:id="rId26"/>
    <p:sldId id="260" r:id="rId27"/>
    <p:sldId id="1585" r:id="rId28"/>
    <p:sldId id="1610" r:id="rId29"/>
    <p:sldId id="643" r:id="rId30"/>
    <p:sldId id="1586" r:id="rId31"/>
    <p:sldId id="1607" r:id="rId32"/>
    <p:sldId id="1587" r:id="rId33"/>
    <p:sldId id="1593" r:id="rId34"/>
    <p:sldId id="1594"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A0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81" autoAdjust="0"/>
    <p:restoredTop sz="93061" autoAdjust="0"/>
  </p:normalViewPr>
  <p:slideViewPr>
    <p:cSldViewPr snapToGrid="0">
      <p:cViewPr varScale="1">
        <p:scale>
          <a:sx n="71" d="100"/>
          <a:sy n="71" d="100"/>
        </p:scale>
        <p:origin x="2294"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1d39a4fa-c76e-4be0-a329-cd20bca6ab88" providerId="ADAL" clId="{1074FAD0-008F-B845-8E7B-80F7A3274923}"/>
  </pc:docChgLst>
  <pc:docChgLst>
    <pc:chgData userId="6c5e2e04bbef42de" providerId="LiveId" clId="{15ED200F-00AC-488B-B29C-91B6D1D560EA}"/>
    <pc:docChg chg="custSel modSld">
      <pc:chgData name="" userId="6c5e2e04bbef42de" providerId="LiveId" clId="{15ED200F-00AC-488B-B29C-91B6D1D560EA}" dt="2025-02-28T01:53:20.846" v="3" actId="478"/>
      <pc:docMkLst>
        <pc:docMk/>
      </pc:docMkLst>
      <pc:sldChg chg="addSp delSp modSp">
        <pc:chgData name="" userId="6c5e2e04bbef42de" providerId="LiveId" clId="{15ED200F-00AC-488B-B29C-91B6D1D560EA}" dt="2025-02-28T01:53:20.846" v="3" actId="478"/>
        <pc:sldMkLst>
          <pc:docMk/>
          <pc:sldMk cId="0" sldId="623"/>
        </pc:sldMkLst>
        <pc:spChg chg="del">
          <ac:chgData name="" userId="6c5e2e04bbef42de" providerId="LiveId" clId="{15ED200F-00AC-488B-B29C-91B6D1D560EA}" dt="2025-02-28T01:53:19.078" v="2" actId="478"/>
          <ac:spMkLst>
            <pc:docMk/>
            <pc:sldMk cId="0" sldId="623"/>
            <ac:spMk id="3" creationId="{00000000-0000-0000-0000-000000000000}"/>
          </ac:spMkLst>
        </pc:spChg>
        <pc:spChg chg="add del mod">
          <ac:chgData name="" userId="6c5e2e04bbef42de" providerId="LiveId" clId="{15ED200F-00AC-488B-B29C-91B6D1D560EA}" dt="2025-02-28T01:53:20.846" v="3" actId="478"/>
          <ac:spMkLst>
            <pc:docMk/>
            <pc:sldMk cId="0" sldId="623"/>
            <ac:spMk id="5" creationId="{AEEFB372-DB51-46DC-9AA0-98F3015D64B9}"/>
          </ac:spMkLst>
        </pc:spChg>
        <pc:spChg chg="del">
          <ac:chgData name="" userId="6c5e2e04bbef42de" providerId="LiveId" clId="{15ED200F-00AC-488B-B29C-91B6D1D560EA}" dt="2025-02-28T01:53:17.799" v="1" actId="478"/>
          <ac:spMkLst>
            <pc:docMk/>
            <pc:sldMk cId="0" sldId="623"/>
            <ac:spMk id="10" creationId="{00000000-0000-0000-0000-000000000000}"/>
          </ac:spMkLst>
        </pc:spChg>
        <pc:picChg chg="del">
          <ac:chgData name="" userId="6c5e2e04bbef42de" providerId="LiveId" clId="{15ED200F-00AC-488B-B29C-91B6D1D560EA}" dt="2025-02-28T01:53:16.658" v="0" actId="478"/>
          <ac:picMkLst>
            <pc:docMk/>
            <pc:sldMk cId="0" sldId="623"/>
            <ac:picMk id="9" creationId="{00000000-0000-0000-0000-000000000000}"/>
          </ac:picMkLst>
        </pc:picChg>
      </pc:sldChg>
    </pc:docChg>
  </pc:docChgLst>
  <pc:docChgLst>
    <pc:chgData name=" " userId="1d39a4fa-c76e-4be0-a329-cd20bca6ab88" providerId="ADAL" clId="{416655BB-2A13-0D4F-A8EA-95DD92029583}"/>
    <pc:docChg chg="modSld">
      <pc:chgData name=" " userId="1d39a4fa-c76e-4be0-a329-cd20bca6ab88" providerId="ADAL" clId="{416655BB-2A13-0D4F-A8EA-95DD92029583}" dt="2025-02-26T12:10:45.141" v="11" actId="20577"/>
      <pc:docMkLst>
        <pc:docMk/>
      </pc:docMkLst>
      <pc:sldChg chg="modSp mod">
        <pc:chgData name=" " userId="1d39a4fa-c76e-4be0-a329-cd20bca6ab88" providerId="ADAL" clId="{416655BB-2A13-0D4F-A8EA-95DD92029583}" dt="2025-02-26T12:10:45.141" v="11" actId="20577"/>
        <pc:sldMkLst>
          <pc:docMk/>
          <pc:sldMk cId="31359172" sldId="1607"/>
        </pc:sldMkLst>
        <pc:spChg chg="mod">
          <ac:chgData name=" " userId="1d39a4fa-c76e-4be0-a329-cd20bca6ab88" providerId="ADAL" clId="{416655BB-2A13-0D4F-A8EA-95DD92029583}" dt="2025-02-26T12:10:45.141" v="11" actId="20577"/>
          <ac:spMkLst>
            <pc:docMk/>
            <pc:sldMk cId="31359172" sldId="1607"/>
            <ac:spMk id="2" creationId="{17E50E01-7CBD-4E51-BFE1-6743E58492D4}"/>
          </ac:spMkLst>
        </pc:spChg>
      </pc:sldChg>
    </pc:docChg>
  </pc:docChgLst>
  <pc:docChgLst>
    <pc:chgData name=" " userId="1d39a4fa-c76e-4be0-a329-cd20bca6ab88" providerId="ADAL" clId="{BB982854-96DF-1741-97C6-B4E618C26BE6}"/>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5255C-18F3-4DDB-BBD7-6518A0AFC2C0}" type="datetimeFigureOut">
              <a:rPr lang="zh-CN" altLang="en-US" smtClean="0"/>
              <a:t>2025/2/28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A55024-9D59-46C3-A0DB-ED02D2144145}" type="slidenum">
              <a:rPr lang="zh-CN" altLang="en-US" smtClean="0"/>
              <a:t>‹#›</a:t>
            </a:fld>
            <a:endParaRPr lang="zh-CN" altLang="en-US"/>
          </a:p>
        </p:txBody>
      </p:sp>
    </p:spTree>
    <p:extLst>
      <p:ext uri="{BB962C8B-B14F-4D97-AF65-F5344CB8AC3E}">
        <p14:creationId xmlns:p14="http://schemas.microsoft.com/office/powerpoint/2010/main" val="3536544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1A55024-9D59-46C3-A0DB-ED02D2144145}" type="slidenum">
              <a:rPr lang="zh-CN" altLang="en-US" smtClean="0"/>
              <a:t>3</a:t>
            </a:fld>
            <a:endParaRPr lang="zh-CN" altLang="en-US"/>
          </a:p>
        </p:txBody>
      </p:sp>
    </p:spTree>
    <p:extLst>
      <p:ext uri="{BB962C8B-B14F-4D97-AF65-F5344CB8AC3E}">
        <p14:creationId xmlns:p14="http://schemas.microsoft.com/office/powerpoint/2010/main" val="2959169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怎么来操作？其关键的前导步骤是对实践问题的理论化。</a:t>
            </a:r>
          </a:p>
        </p:txBody>
      </p:sp>
      <p:sp>
        <p:nvSpPr>
          <p:cNvPr id="4" name="灯片编号占位符 3"/>
          <p:cNvSpPr>
            <a:spLocks noGrp="1"/>
          </p:cNvSpPr>
          <p:nvPr>
            <p:ph type="sldNum" sz="quarter" idx="5"/>
          </p:nvPr>
        </p:nvSpPr>
        <p:spPr/>
        <p:txBody>
          <a:bodyPr/>
          <a:lstStyle/>
          <a:p>
            <a:fld id="{C1A55024-9D59-46C3-A0DB-ED02D2144145}" type="slidenum">
              <a:rPr lang="zh-CN" altLang="en-US" smtClean="0"/>
              <a:t>7</a:t>
            </a:fld>
            <a:endParaRPr lang="zh-CN" altLang="en-US"/>
          </a:p>
        </p:txBody>
      </p:sp>
    </p:spTree>
    <p:extLst>
      <p:ext uri="{BB962C8B-B14F-4D97-AF65-F5344CB8AC3E}">
        <p14:creationId xmlns:p14="http://schemas.microsoft.com/office/powerpoint/2010/main" val="602357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提问：如何来解决该问题？常见的逻辑是实践问题到具体解决方案。我们可以反过来思考一下，这个是不是我们正常解决问题的逻辑。我们是否在获取具体解决方案时会参考一些经验或者理论。</a:t>
            </a:r>
          </a:p>
        </p:txBody>
      </p:sp>
      <p:sp>
        <p:nvSpPr>
          <p:cNvPr id="4" name="灯片编号占位符 3"/>
          <p:cNvSpPr>
            <a:spLocks noGrp="1"/>
          </p:cNvSpPr>
          <p:nvPr>
            <p:ph type="sldNum" sz="quarter" idx="5"/>
          </p:nvPr>
        </p:nvSpPr>
        <p:spPr/>
        <p:txBody>
          <a:bodyPr/>
          <a:lstStyle/>
          <a:p>
            <a:fld id="{C1A55024-9D59-46C3-A0DB-ED02D2144145}" type="slidenum">
              <a:rPr lang="zh-CN" altLang="en-US" smtClean="0"/>
              <a:t>8</a:t>
            </a:fld>
            <a:endParaRPr lang="zh-CN" altLang="en-US"/>
          </a:p>
        </p:txBody>
      </p:sp>
    </p:spTree>
    <p:extLst>
      <p:ext uri="{BB962C8B-B14F-4D97-AF65-F5344CB8AC3E}">
        <p14:creationId xmlns:p14="http://schemas.microsoft.com/office/powerpoint/2010/main" val="1697965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实践问题是大问题，研究不足是突出的研究不足。</a:t>
            </a:r>
          </a:p>
        </p:txBody>
      </p:sp>
      <p:sp>
        <p:nvSpPr>
          <p:cNvPr id="4" name="灯片编号占位符 3"/>
          <p:cNvSpPr>
            <a:spLocks noGrp="1"/>
          </p:cNvSpPr>
          <p:nvPr>
            <p:ph type="sldNum" sz="quarter" idx="5"/>
          </p:nvPr>
        </p:nvSpPr>
        <p:spPr/>
        <p:txBody>
          <a:bodyPr/>
          <a:lstStyle/>
          <a:p>
            <a:fld id="{C1A55024-9D59-46C3-A0DB-ED02D2144145}" type="slidenum">
              <a:rPr lang="zh-CN" altLang="en-US" smtClean="0"/>
              <a:t>9</a:t>
            </a:fld>
            <a:endParaRPr lang="zh-CN" altLang="en-US"/>
          </a:p>
        </p:txBody>
      </p:sp>
    </p:spTree>
    <p:extLst>
      <p:ext uri="{BB962C8B-B14F-4D97-AF65-F5344CB8AC3E}">
        <p14:creationId xmlns:p14="http://schemas.microsoft.com/office/powerpoint/2010/main" val="2250920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实践问题是大问题，研究不足是突出的研究不足。</a:t>
            </a:r>
          </a:p>
        </p:txBody>
      </p:sp>
      <p:sp>
        <p:nvSpPr>
          <p:cNvPr id="4" name="灯片编号占位符 3"/>
          <p:cNvSpPr>
            <a:spLocks noGrp="1"/>
          </p:cNvSpPr>
          <p:nvPr>
            <p:ph type="sldNum" sz="quarter" idx="5"/>
          </p:nvPr>
        </p:nvSpPr>
        <p:spPr/>
        <p:txBody>
          <a:bodyPr/>
          <a:lstStyle/>
          <a:p>
            <a:fld id="{C1A55024-9D59-46C3-A0DB-ED02D2144145}" type="slidenum">
              <a:rPr lang="zh-CN" altLang="en-US" smtClean="0"/>
              <a:t>10</a:t>
            </a:fld>
            <a:endParaRPr lang="zh-CN" altLang="en-US"/>
          </a:p>
        </p:txBody>
      </p:sp>
    </p:spTree>
    <p:extLst>
      <p:ext uri="{BB962C8B-B14F-4D97-AF65-F5344CB8AC3E}">
        <p14:creationId xmlns:p14="http://schemas.microsoft.com/office/powerpoint/2010/main" val="1851006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从实践问题，归纳到一般性的理论问题，需要抓住其中的一般性。</a:t>
            </a:r>
          </a:p>
        </p:txBody>
      </p:sp>
      <p:sp>
        <p:nvSpPr>
          <p:cNvPr id="4" name="灯片编号占位符 3"/>
          <p:cNvSpPr>
            <a:spLocks noGrp="1"/>
          </p:cNvSpPr>
          <p:nvPr>
            <p:ph type="sldNum" sz="quarter" idx="5"/>
          </p:nvPr>
        </p:nvSpPr>
        <p:spPr/>
        <p:txBody>
          <a:bodyPr/>
          <a:lstStyle/>
          <a:p>
            <a:fld id="{C1A55024-9D59-46C3-A0DB-ED02D2144145}" type="slidenum">
              <a:rPr lang="zh-CN" altLang="en-US" smtClean="0"/>
              <a:t>11</a:t>
            </a:fld>
            <a:endParaRPr lang="zh-CN" altLang="en-US"/>
          </a:p>
        </p:txBody>
      </p:sp>
    </p:spTree>
    <p:extLst>
      <p:ext uri="{BB962C8B-B14F-4D97-AF65-F5344CB8AC3E}">
        <p14:creationId xmlns:p14="http://schemas.microsoft.com/office/powerpoint/2010/main" val="4141609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00" dirty="0">
                <a:solidFill>
                  <a:schemeClr val="tx1"/>
                </a:solidFill>
                <a:latin typeface="+mj-ea"/>
                <a:ea typeface="+mn-ea"/>
                <a:cs typeface="Times New Roman" panose="02020603050405020304" pitchFamily="18" charset="0"/>
              </a:rPr>
              <a:t>纸尿裤的研发问题</a:t>
            </a:r>
            <a:r>
              <a:rPr lang="zh-CN" altLang="en-US" sz="1200" kern="100" dirty="0">
                <a:solidFill>
                  <a:schemeClr val="tx1"/>
                </a:solidFill>
                <a:latin typeface="+mj-ea"/>
                <a:ea typeface="+mn-ea"/>
                <a:cs typeface="Times New Roman" panose="02020603050405020304" pitchFamily="18" charset="0"/>
              </a:rPr>
              <a:t>是一个问题的集合；归纳所形成的可能是一个区间。</a:t>
            </a:r>
          </a:p>
        </p:txBody>
      </p:sp>
      <p:sp>
        <p:nvSpPr>
          <p:cNvPr id="4" name="灯片编号占位符 3"/>
          <p:cNvSpPr>
            <a:spLocks noGrp="1"/>
          </p:cNvSpPr>
          <p:nvPr>
            <p:ph type="sldNum" sz="quarter" idx="5"/>
          </p:nvPr>
        </p:nvSpPr>
        <p:spPr/>
        <p:txBody>
          <a:bodyPr/>
          <a:lstStyle/>
          <a:p>
            <a:fld id="{C1A55024-9D59-46C3-A0DB-ED02D2144145}" type="slidenum">
              <a:rPr lang="zh-CN" altLang="en-US" smtClean="0"/>
              <a:t>12</a:t>
            </a:fld>
            <a:endParaRPr lang="zh-CN" altLang="en-US"/>
          </a:p>
        </p:txBody>
      </p:sp>
    </p:spTree>
    <p:extLst>
      <p:ext uri="{BB962C8B-B14F-4D97-AF65-F5344CB8AC3E}">
        <p14:creationId xmlns:p14="http://schemas.microsoft.com/office/powerpoint/2010/main" val="2549785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为什么要采用初步猜想，是通过演绎推理的方式。通过形成假设，驱动数据的收集，来进一步验证。</a:t>
            </a:r>
          </a:p>
        </p:txBody>
      </p:sp>
      <p:sp>
        <p:nvSpPr>
          <p:cNvPr id="4" name="灯片编号占位符 3"/>
          <p:cNvSpPr>
            <a:spLocks noGrp="1"/>
          </p:cNvSpPr>
          <p:nvPr>
            <p:ph type="sldNum" sz="quarter" idx="5"/>
          </p:nvPr>
        </p:nvSpPr>
        <p:spPr/>
        <p:txBody>
          <a:bodyPr/>
          <a:lstStyle/>
          <a:p>
            <a:fld id="{C1A55024-9D59-46C3-A0DB-ED02D2144145}" type="slidenum">
              <a:rPr lang="zh-CN" altLang="en-US" smtClean="0"/>
              <a:t>13</a:t>
            </a:fld>
            <a:endParaRPr lang="zh-CN" altLang="en-US"/>
          </a:p>
        </p:txBody>
      </p:sp>
    </p:spTree>
    <p:extLst>
      <p:ext uri="{BB962C8B-B14F-4D97-AF65-F5344CB8AC3E}">
        <p14:creationId xmlns:p14="http://schemas.microsoft.com/office/powerpoint/2010/main" val="2113209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1A55024-9D59-46C3-A0DB-ED02D2144145}" type="slidenum">
              <a:rPr lang="zh-CN" altLang="en-US" smtClean="0"/>
              <a:t>30</a:t>
            </a:fld>
            <a:endParaRPr lang="zh-CN" altLang="en-US"/>
          </a:p>
        </p:txBody>
      </p:sp>
    </p:spTree>
    <p:extLst>
      <p:ext uri="{BB962C8B-B14F-4D97-AF65-F5344CB8AC3E}">
        <p14:creationId xmlns:p14="http://schemas.microsoft.com/office/powerpoint/2010/main" val="409056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D103FD-515C-42D9-AF72-56D52BA7B65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752415A-CA51-47E8-831A-9B7FA56563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7AC152F-EA3D-466D-8166-2512400AB678}"/>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9E9156A4-88C8-4661-8F3F-81808A5A95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7E36A7-D454-414F-A7CB-CA9B6FB8FD8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4043668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066BBD-445B-4307-8404-3C9E55B3C9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9D068DA-3777-43E3-B7F5-87BD9F7DDE84}"/>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7E6E70B-04E4-4787-93CA-4EEA57185260}"/>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0C0E928D-BC94-4F2D-B53A-3180E1102B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CAB707-2271-4F55-B227-95FA6DE280F9}"/>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584477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2B1197-E440-4AF4-BC8B-C4B1845650C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FFCB6E-07BC-4035-87FE-67B6D5AE33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FAB9FDF8-176C-413E-9AE9-D3DD22929885}"/>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8E1E3DBA-C1DC-4FDE-B897-D715B0ED94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5C9068-B7C5-4E02-8706-68F732E2522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211047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DC88F-1F41-4ABA-B8AE-64E8758BF99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A1C596E-186D-4E06-BE39-819ECA4228F5}"/>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2DD0014C-9470-4359-8795-896B4457EDBE}"/>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B32816E-1329-4A7C-83F4-D211A908AC0B}"/>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5E9A8283-12FB-42A2-B184-38207957625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24BA166-08CB-4F4C-A82A-6A54DDBC704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495916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907D4A-718B-46FB-9811-CD73BEDD13D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40F18E6-DD1F-4427-9E70-B443C1EE8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34CA2D10-8BE2-484B-BA12-2FDE393856D2}"/>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7A1C370B-FEA8-40FC-982D-1CFA1C5B5C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A0B43256-EAAE-489B-89B2-EB0EBD29855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EC2B2BF0-982E-4DCC-9CC1-5E73E8EA94A6}"/>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8" name="页脚占位符 7">
            <a:extLst>
              <a:ext uri="{FF2B5EF4-FFF2-40B4-BE49-F238E27FC236}">
                <a16:creationId xmlns:a16="http://schemas.microsoft.com/office/drawing/2014/main" id="{996C86D8-C38D-40EF-B7DC-513009258B8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F643910-70FD-48E3-BDE2-540CFB142A3B}"/>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503644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37AE02-50CD-4FB2-BD02-76F3E8B98D4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5F0A67C-4CAE-49DF-BA3A-4A627B6FE1F5}"/>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4" name="页脚占位符 3">
            <a:extLst>
              <a:ext uri="{FF2B5EF4-FFF2-40B4-BE49-F238E27FC236}">
                <a16:creationId xmlns:a16="http://schemas.microsoft.com/office/drawing/2014/main" id="{C2F947EE-D3CC-4D0F-9EC9-EAA0F192353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4704809-3C78-497A-82B1-CC426F67937A}"/>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3187168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9CF1B75-484E-4AFA-844B-6697E8473A93}"/>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3" name="页脚占位符 2">
            <a:extLst>
              <a:ext uri="{FF2B5EF4-FFF2-40B4-BE49-F238E27FC236}">
                <a16:creationId xmlns:a16="http://schemas.microsoft.com/office/drawing/2014/main" id="{61878834-27C0-417E-938E-4D9D4146DC3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07DEB67-743D-4873-85E6-5A9F3177ECED}"/>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2749142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FED83F-DB22-46D9-855F-6D5C57894A3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C601C7E-B5A2-476B-B1D7-7AEF7B33DF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5D5D8587-D98D-4514-B904-29CE95B859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E02B46D-9F74-4FD2-BC3B-AE943DF1086B}"/>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2793ACDA-2B9C-40FD-A239-C52FDD97663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2528C01-34A5-420B-A604-B4011101D956}"/>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678411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AEE2D2-414A-4935-81A3-07ECCFF5ECE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14B0647-724F-465D-AA4A-1AAA05CF3A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228AC01-7925-49DD-826D-336FE30552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078FF29-AFCB-4793-AA26-1F2C84797BB2}"/>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EEC631CD-DD99-4AC5-8574-019DEED9519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CDD9507-DDDB-4831-9B20-1DE84C9C372F}"/>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758040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05657E-53E5-4008-9F21-BAFEA01D392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CBB134A-EF2A-4612-BC2E-DCF53021909D}"/>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E533070-3ECC-4FFD-AFFC-4BB616032A27}"/>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E1B0E874-F2CB-4755-8443-A856D52183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AF74974-6194-47AD-A321-333EF064BA8E}"/>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83597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C43C0A9-02E0-4757-93E3-A84929FDED5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227089F-D812-49A7-8AA6-82DB9C87A012}"/>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CBF6DC3-3372-4FFF-A693-8DC10F2FB2C1}"/>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F0297473-017C-4371-AE98-6F8ECB38A1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A65BA15-09D9-4092-9CD2-72EE0EF73BA0}"/>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3854490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自定义版式">
    <p:spTree>
      <p:nvGrpSpPr>
        <p:cNvPr id="1" name=""/>
        <p:cNvGrpSpPr/>
        <p:nvPr/>
      </p:nvGrpSpPr>
      <p:grpSpPr>
        <a:xfrm>
          <a:off x="0" y="0"/>
          <a:ext cx="0" cy="0"/>
          <a:chOff x="0" y="0"/>
          <a:chExt cx="0" cy="0"/>
        </a:xfrm>
      </p:grpSpPr>
      <p:sp>
        <p:nvSpPr>
          <p:cNvPr id="10" name="任意多边形: 形状 9"/>
          <p:cNvSpPr/>
          <p:nvPr userDrawn="1"/>
        </p:nvSpPr>
        <p:spPr>
          <a:xfrm>
            <a:off x="0" y="6774180"/>
            <a:ext cx="12192000" cy="83820"/>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sz="1200" dirty="0"/>
          </a:p>
        </p:txBody>
      </p:sp>
      <p:pic>
        <p:nvPicPr>
          <p:cNvPr id="3" name="图片 2"/>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2400" t="18187" r="19659" b="49773"/>
          <a:stretch>
            <a:fillRect/>
          </a:stretch>
        </p:blipFill>
        <p:spPr>
          <a:xfrm>
            <a:off x="301112" y="342433"/>
            <a:ext cx="1447301" cy="682507"/>
          </a:xfrm>
          <a:prstGeom prst="rect">
            <a:avLst/>
          </a:prstGeom>
        </p:spPr>
      </p:pic>
      <p:cxnSp>
        <p:nvCxnSpPr>
          <p:cNvPr id="5" name="直接连接符 4">
            <a:extLst>
              <a:ext uri="{FF2B5EF4-FFF2-40B4-BE49-F238E27FC236}">
                <a16:creationId xmlns:a16="http://schemas.microsoft.com/office/drawing/2014/main" id="{449968CE-9441-48AB-B411-308267690CDF}"/>
              </a:ext>
            </a:extLst>
          </p:cNvPr>
          <p:cNvCxnSpPr/>
          <p:nvPr userDrawn="1"/>
        </p:nvCxnSpPr>
        <p:spPr>
          <a:xfrm>
            <a:off x="1748413" y="1024934"/>
            <a:ext cx="9462064" cy="0"/>
          </a:xfrm>
          <a:prstGeom prst="line">
            <a:avLst/>
          </a:prstGeom>
          <a:ln w="28575">
            <a:solidFill>
              <a:srgbClr val="63065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137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301E131-1FE4-4CF8-BDA2-A6829A759D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13B0D38-8EE9-4BBC-82CA-C5EFDBD04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BC13A21-B67E-4186-B0F1-D945AA00F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B9385BAA-8800-4379-B9C9-AA88427CE5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A22A6E2-4DAD-4670-955D-2A6C7F14FB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2848675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 y="-1329"/>
            <a:ext cx="12188826" cy="6963204"/>
          </a:xfrm>
          <a:prstGeom prst="rect">
            <a:avLst/>
          </a:prstGeom>
        </p:spPr>
      </p:pic>
      <p:sp>
        <p:nvSpPr>
          <p:cNvPr id="7" name="矩形 6"/>
          <p:cNvSpPr/>
          <p:nvPr/>
        </p:nvSpPr>
        <p:spPr>
          <a:xfrm>
            <a:off x="-1590" y="1155103"/>
            <a:ext cx="12192002" cy="51192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rPr>
              <a:t>   </a:t>
            </a:r>
          </a:p>
        </p:txBody>
      </p:sp>
      <p:sp>
        <p:nvSpPr>
          <p:cNvPr id="2" name="标题 1"/>
          <p:cNvSpPr>
            <a:spLocks noGrp="1"/>
          </p:cNvSpPr>
          <p:nvPr>
            <p:ph type="ctrTitle"/>
          </p:nvPr>
        </p:nvSpPr>
        <p:spPr>
          <a:xfrm>
            <a:off x="1469753" y="1621971"/>
            <a:ext cx="9541048" cy="1395549"/>
          </a:xfrm>
        </p:spPr>
        <p:txBody>
          <a:bodyPr>
            <a:noAutofit/>
          </a:bodyPr>
          <a:lstStyle/>
          <a:p>
            <a:r>
              <a:rPr lang="zh-CN" altLang="en-US" b="1" dirty="0"/>
              <a:t>选题与研究问题的提出</a:t>
            </a:r>
            <a:endParaRPr lang="zh-CN" altLang="en-US" sz="6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303E339-7C89-439F-9983-A1CC04F7D1D8}"/>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选题阶段的关键问题</a:t>
            </a:r>
            <a:endParaRPr lang="zh-CN" altLang="en-US" sz="3300" dirty="0"/>
          </a:p>
          <a:p>
            <a:endParaRPr lang="zh-CN" altLang="en-US" sz="3300" dirty="0">
              <a:latin typeface="+mn-ea"/>
              <a:ea typeface="+mn-ea"/>
            </a:endParaRPr>
          </a:p>
        </p:txBody>
      </p:sp>
      <p:graphicFrame>
        <p:nvGraphicFramePr>
          <p:cNvPr id="4" name="表格 3">
            <a:extLst>
              <a:ext uri="{FF2B5EF4-FFF2-40B4-BE49-F238E27FC236}">
                <a16:creationId xmlns:a16="http://schemas.microsoft.com/office/drawing/2014/main" id="{8935020F-59B9-4406-A7FB-0EB0BB324CF7}"/>
              </a:ext>
            </a:extLst>
          </p:cNvPr>
          <p:cNvGraphicFramePr>
            <a:graphicFrameLocks noGrp="1"/>
          </p:cNvGraphicFramePr>
          <p:nvPr>
            <p:extLst>
              <p:ext uri="{D42A27DB-BD31-4B8C-83A1-F6EECF244321}">
                <p14:modId xmlns:p14="http://schemas.microsoft.com/office/powerpoint/2010/main" val="2228015830"/>
              </p:ext>
            </p:extLst>
          </p:nvPr>
        </p:nvGraphicFramePr>
        <p:xfrm>
          <a:off x="205740" y="1249783"/>
          <a:ext cx="11742420" cy="2838055"/>
        </p:xfrm>
        <a:graphic>
          <a:graphicData uri="http://schemas.openxmlformats.org/drawingml/2006/table">
            <a:tbl>
              <a:tblPr firstRow="1" firstCol="1" bandRow="1">
                <a:tableStyleId>{5C22544A-7EE6-4342-B048-85BDC9FD1C3A}</a:tableStyleId>
              </a:tblPr>
              <a:tblGrid>
                <a:gridCol w="902684">
                  <a:extLst>
                    <a:ext uri="{9D8B030D-6E8A-4147-A177-3AD203B41FA5}">
                      <a16:colId xmlns:a16="http://schemas.microsoft.com/office/drawing/2014/main" val="888138465"/>
                    </a:ext>
                  </a:extLst>
                </a:gridCol>
                <a:gridCol w="2533637">
                  <a:extLst>
                    <a:ext uri="{9D8B030D-6E8A-4147-A177-3AD203B41FA5}">
                      <a16:colId xmlns:a16="http://schemas.microsoft.com/office/drawing/2014/main" val="372190657"/>
                    </a:ext>
                  </a:extLst>
                </a:gridCol>
                <a:gridCol w="3345410">
                  <a:extLst>
                    <a:ext uri="{9D8B030D-6E8A-4147-A177-3AD203B41FA5}">
                      <a16:colId xmlns:a16="http://schemas.microsoft.com/office/drawing/2014/main" val="4082519695"/>
                    </a:ext>
                  </a:extLst>
                </a:gridCol>
                <a:gridCol w="2955616">
                  <a:extLst>
                    <a:ext uri="{9D8B030D-6E8A-4147-A177-3AD203B41FA5}">
                      <a16:colId xmlns:a16="http://schemas.microsoft.com/office/drawing/2014/main" val="2841209525"/>
                    </a:ext>
                  </a:extLst>
                </a:gridCol>
                <a:gridCol w="2005073">
                  <a:extLst>
                    <a:ext uri="{9D8B030D-6E8A-4147-A177-3AD203B41FA5}">
                      <a16:colId xmlns:a16="http://schemas.microsoft.com/office/drawing/2014/main" val="1565913368"/>
                    </a:ext>
                  </a:extLst>
                </a:gridCol>
              </a:tblGrid>
              <a:tr h="367191">
                <a:tc>
                  <a:txBody>
                    <a:bodyPr/>
                    <a:lstStyle/>
                    <a:p>
                      <a:pPr algn="ctr">
                        <a:lnSpc>
                          <a:spcPct val="125000"/>
                        </a:lnSpc>
                        <a:spcAft>
                          <a:spcPts val="0"/>
                        </a:spcAft>
                      </a:pPr>
                      <a:r>
                        <a:rPr lang="en-US" sz="2000" kern="100" dirty="0">
                          <a:effectLst/>
                          <a:latin typeface="+mj-ea"/>
                          <a:ea typeface="+mj-ea"/>
                        </a:rPr>
                        <a:t> </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ctr">
                        <a:lnSpc>
                          <a:spcPct val="125000"/>
                        </a:lnSpc>
                        <a:spcAft>
                          <a:spcPts val="0"/>
                        </a:spcAft>
                      </a:pPr>
                      <a:r>
                        <a:rPr lang="zh-CN" sz="2000" kern="100">
                          <a:effectLst/>
                          <a:latin typeface="+mj-ea"/>
                          <a:ea typeface="+mj-ea"/>
                        </a:rPr>
                        <a:t>选题</a:t>
                      </a:r>
                      <a:endParaRPr lang="zh-CN" sz="2000" kern="100">
                        <a:effectLst/>
                        <a:latin typeface="+mj-ea"/>
                        <a:ea typeface="+mj-ea"/>
                        <a:cs typeface="Times New Roman" panose="02020603050405020304" pitchFamily="18" charset="0"/>
                      </a:endParaRPr>
                    </a:p>
                  </a:txBody>
                  <a:tcPr marL="68580" marR="68580" marT="0" marB="0"/>
                </a:tc>
                <a:tc>
                  <a:txBody>
                    <a:bodyPr/>
                    <a:lstStyle/>
                    <a:p>
                      <a:pPr algn="ctr">
                        <a:lnSpc>
                          <a:spcPct val="125000"/>
                        </a:lnSpc>
                        <a:spcAft>
                          <a:spcPts val="0"/>
                        </a:spcAft>
                      </a:pPr>
                      <a:r>
                        <a:rPr lang="zh-CN" sz="2000" kern="100">
                          <a:effectLst/>
                          <a:latin typeface="+mj-ea"/>
                          <a:ea typeface="+mj-ea"/>
                        </a:rPr>
                        <a:t>研究规划</a:t>
                      </a:r>
                      <a:endParaRPr lang="zh-CN" sz="2000" kern="100">
                        <a:effectLst/>
                        <a:latin typeface="+mj-ea"/>
                        <a:ea typeface="+mj-ea"/>
                        <a:cs typeface="Times New Roman" panose="02020603050405020304" pitchFamily="18" charset="0"/>
                      </a:endParaRPr>
                    </a:p>
                  </a:txBody>
                  <a:tcPr marL="68580" marR="68580" marT="0" marB="0"/>
                </a:tc>
                <a:tc>
                  <a:txBody>
                    <a:bodyPr/>
                    <a:lstStyle/>
                    <a:p>
                      <a:pPr algn="ctr">
                        <a:lnSpc>
                          <a:spcPct val="125000"/>
                        </a:lnSpc>
                        <a:spcAft>
                          <a:spcPts val="0"/>
                        </a:spcAft>
                      </a:pPr>
                      <a:r>
                        <a:rPr lang="zh-CN" sz="2000" kern="100">
                          <a:effectLst/>
                          <a:latin typeface="+mj-ea"/>
                          <a:ea typeface="+mj-ea"/>
                        </a:rPr>
                        <a:t>调研实施</a:t>
                      </a:r>
                      <a:endParaRPr lang="zh-CN" sz="2000" kern="100">
                        <a:effectLst/>
                        <a:latin typeface="+mj-ea"/>
                        <a:ea typeface="+mj-ea"/>
                        <a:cs typeface="Times New Roman" panose="02020603050405020304" pitchFamily="18" charset="0"/>
                      </a:endParaRPr>
                    </a:p>
                  </a:txBody>
                  <a:tcPr marL="68580" marR="68580" marT="0" marB="0"/>
                </a:tc>
                <a:tc>
                  <a:txBody>
                    <a:bodyPr/>
                    <a:lstStyle/>
                    <a:p>
                      <a:pPr algn="ctr">
                        <a:lnSpc>
                          <a:spcPct val="125000"/>
                        </a:lnSpc>
                        <a:spcAft>
                          <a:spcPts val="0"/>
                        </a:spcAft>
                      </a:pPr>
                      <a:r>
                        <a:rPr lang="zh-CN" sz="2000" kern="100" dirty="0">
                          <a:effectLst/>
                          <a:latin typeface="+mj-ea"/>
                          <a:ea typeface="+mj-ea"/>
                        </a:rPr>
                        <a:t>论文撰写</a:t>
                      </a:r>
                      <a:endParaRPr lang="zh-CN" sz="20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223046806"/>
                  </a:ext>
                </a:extLst>
              </a:tr>
              <a:tr h="848145">
                <a:tc>
                  <a:txBody>
                    <a:bodyPr/>
                    <a:lstStyle/>
                    <a:p>
                      <a:pPr algn="just">
                        <a:lnSpc>
                          <a:spcPct val="125000"/>
                        </a:lnSpc>
                        <a:spcAft>
                          <a:spcPts val="0"/>
                        </a:spcAft>
                      </a:pPr>
                      <a:r>
                        <a:rPr lang="zh-CN" sz="1800" kern="100" dirty="0">
                          <a:effectLst/>
                          <a:latin typeface="+mj-ea"/>
                          <a:ea typeface="+mj-ea"/>
                        </a:rPr>
                        <a:t>主要工作</a:t>
                      </a:r>
                      <a:endParaRPr lang="zh-CN" sz="1800" kern="100" dirty="0">
                        <a:effectLst/>
                        <a:latin typeface="+mj-ea"/>
                        <a:ea typeface="+mj-ea"/>
                        <a:cs typeface="Times New Roman" panose="02020603050405020304" pitchFamily="18" charset="0"/>
                      </a:endParaRPr>
                    </a:p>
                  </a:txBody>
                  <a:tcPr marL="68580" marR="68580" marT="0" marB="0"/>
                </a:tc>
                <a:tc>
                  <a:txBody>
                    <a:bodyPr/>
                    <a:lstStyle/>
                    <a:p>
                      <a:pPr marL="342900" indent="-342900" algn="just">
                        <a:lnSpc>
                          <a:spcPct val="125000"/>
                        </a:lnSpc>
                        <a:spcAft>
                          <a:spcPts val="0"/>
                        </a:spcAft>
                        <a:buFont typeface="Arial" panose="020B0604020202020204" pitchFamily="34" charset="0"/>
                        <a:buChar char="•"/>
                      </a:pPr>
                      <a:r>
                        <a:rPr lang="zh-CN" sz="1800" kern="100" dirty="0">
                          <a:effectLst/>
                          <a:latin typeface="+mj-ea"/>
                          <a:ea typeface="+mj-ea"/>
                        </a:rPr>
                        <a:t>实践问题的理论化</a:t>
                      </a:r>
                    </a:p>
                    <a:p>
                      <a:pPr marL="342900" indent="-342900" algn="just">
                        <a:lnSpc>
                          <a:spcPct val="125000"/>
                        </a:lnSpc>
                        <a:spcAft>
                          <a:spcPts val="0"/>
                        </a:spcAft>
                        <a:buFont typeface="Arial" panose="020B0604020202020204" pitchFamily="34" charset="0"/>
                        <a:buChar char="•"/>
                      </a:pPr>
                      <a:r>
                        <a:rPr lang="zh-CN" sz="1800" kern="100" dirty="0">
                          <a:effectLst/>
                          <a:latin typeface="+mj-ea"/>
                          <a:ea typeface="+mj-ea"/>
                        </a:rPr>
                        <a:t>研究问题的提出</a:t>
                      </a:r>
                    </a:p>
                    <a:p>
                      <a:pPr marL="342900" indent="-342900" algn="just">
                        <a:lnSpc>
                          <a:spcPct val="125000"/>
                        </a:lnSpc>
                        <a:spcAft>
                          <a:spcPts val="0"/>
                        </a:spcAft>
                        <a:buFont typeface="Arial" panose="020B0604020202020204" pitchFamily="34" charset="0"/>
                        <a:buChar char="•"/>
                      </a:pPr>
                      <a:r>
                        <a:rPr lang="zh-CN" sz="1800" kern="100" dirty="0">
                          <a:effectLst/>
                          <a:latin typeface="+mj-ea"/>
                          <a:ea typeface="+mj-ea"/>
                        </a:rPr>
                        <a:t>预期的理论贡献</a:t>
                      </a:r>
                      <a:endParaRPr lang="en-US" altLang="zh-CN" sz="1800" kern="100" dirty="0">
                        <a:effectLst/>
                        <a:latin typeface="+mj-ea"/>
                        <a:ea typeface="+mj-ea"/>
                      </a:endParaRPr>
                    </a:p>
                    <a:p>
                      <a:pPr marL="342900" indent="-342900" algn="just">
                        <a:lnSpc>
                          <a:spcPct val="125000"/>
                        </a:lnSpc>
                        <a:spcAft>
                          <a:spcPts val="0"/>
                        </a:spcAft>
                        <a:buFont typeface="Arial" panose="020B0604020202020204" pitchFamily="34" charset="0"/>
                        <a:buChar char="•"/>
                      </a:pPr>
                      <a:r>
                        <a:rPr lang="zh-CN" altLang="en-US" sz="1800" kern="100" dirty="0">
                          <a:effectLst/>
                          <a:latin typeface="+mj-ea"/>
                          <a:ea typeface="+mj-ea"/>
                          <a:cs typeface="Times New Roman" panose="02020603050405020304" pitchFamily="18" charset="0"/>
                        </a:rPr>
                        <a:t>可行性分析</a:t>
                      </a:r>
                      <a:endParaRPr lang="zh-CN" sz="1800" kern="100" dirty="0">
                        <a:effectLst/>
                        <a:latin typeface="+mj-ea"/>
                        <a:ea typeface="+mj-ea"/>
                        <a:cs typeface="Times New Roman" panose="02020603050405020304" pitchFamily="18" charset="0"/>
                      </a:endParaRPr>
                    </a:p>
                  </a:txBody>
                  <a:tcPr marL="68580" marR="68580" marT="0" marB="0"/>
                </a:tc>
                <a:tc>
                  <a:txBody>
                    <a:bodyPr/>
                    <a:lstStyle/>
                    <a:p>
                      <a:pPr marL="342900" indent="-342900" algn="just">
                        <a:lnSpc>
                          <a:spcPct val="125000"/>
                        </a:lnSpc>
                        <a:spcAft>
                          <a:spcPts val="0"/>
                        </a:spcAft>
                        <a:buFont typeface="Arial" panose="020B0604020202020204" pitchFamily="34" charset="0"/>
                        <a:buChar char="•"/>
                      </a:pPr>
                      <a:r>
                        <a:rPr lang="zh-CN" sz="1800" kern="100" dirty="0">
                          <a:effectLst/>
                          <a:latin typeface="+mj-ea"/>
                          <a:ea typeface="+mj-ea"/>
                        </a:rPr>
                        <a:t>关键概念、理论和方法</a:t>
                      </a:r>
                    </a:p>
                    <a:p>
                      <a:pPr marL="342900" indent="-342900" algn="just">
                        <a:lnSpc>
                          <a:spcPct val="125000"/>
                        </a:lnSpc>
                        <a:spcAft>
                          <a:spcPts val="0"/>
                        </a:spcAft>
                        <a:buFont typeface="Arial" panose="020B0604020202020204" pitchFamily="34" charset="0"/>
                        <a:buChar char="•"/>
                      </a:pPr>
                      <a:r>
                        <a:rPr lang="zh-CN" sz="1800" kern="100" dirty="0">
                          <a:effectLst/>
                          <a:latin typeface="+mj-ea"/>
                          <a:ea typeface="+mj-ea"/>
                        </a:rPr>
                        <a:t>调研方案（包括调研工具）</a:t>
                      </a:r>
                    </a:p>
                    <a:p>
                      <a:pPr marL="342900" indent="-342900" algn="just">
                        <a:lnSpc>
                          <a:spcPct val="125000"/>
                        </a:lnSpc>
                        <a:spcAft>
                          <a:spcPts val="0"/>
                        </a:spcAft>
                        <a:buFont typeface="Arial" panose="020B0604020202020204" pitchFamily="34" charset="0"/>
                        <a:buChar char="•"/>
                      </a:pPr>
                      <a:r>
                        <a:rPr lang="zh-CN" sz="1800" kern="100" dirty="0">
                          <a:effectLst/>
                          <a:latin typeface="+mj-ea"/>
                          <a:ea typeface="+mj-ea"/>
                        </a:rPr>
                        <a:t>核心章节安排</a:t>
                      </a:r>
                      <a:endParaRPr lang="en-US" altLang="zh-CN" sz="1800" kern="100" dirty="0">
                        <a:effectLst/>
                        <a:latin typeface="+mj-ea"/>
                        <a:ea typeface="+mj-ea"/>
                      </a:endParaRPr>
                    </a:p>
                    <a:p>
                      <a:pPr marL="342900" indent="-342900" algn="just">
                        <a:lnSpc>
                          <a:spcPct val="125000"/>
                        </a:lnSpc>
                        <a:spcAft>
                          <a:spcPts val="0"/>
                        </a:spcAft>
                        <a:buFont typeface="Arial" panose="020B0604020202020204" pitchFamily="34" charset="0"/>
                        <a:buChar char="•"/>
                      </a:pPr>
                      <a:r>
                        <a:rPr lang="zh-CN" altLang="en-US" sz="1800" kern="100" dirty="0">
                          <a:effectLst/>
                          <a:latin typeface="+mj-ea"/>
                          <a:ea typeface="+mj-ea"/>
                          <a:cs typeface="Times New Roman" panose="02020603050405020304" pitchFamily="18" charset="0"/>
                        </a:rPr>
                        <a:t>可行性分析</a:t>
                      </a:r>
                      <a:endParaRPr lang="zh-CN" sz="1800" kern="100" dirty="0">
                        <a:effectLst/>
                        <a:latin typeface="+mj-ea"/>
                        <a:ea typeface="+mj-ea"/>
                        <a:cs typeface="Times New Roman" panose="02020603050405020304" pitchFamily="18" charset="0"/>
                      </a:endParaRPr>
                    </a:p>
                  </a:txBody>
                  <a:tcPr marL="68580" marR="68580" marT="0" marB="0"/>
                </a:tc>
                <a:tc>
                  <a:txBody>
                    <a:bodyPr/>
                    <a:lstStyle/>
                    <a:p>
                      <a:pPr marL="342900" indent="-342900" algn="just">
                        <a:lnSpc>
                          <a:spcPct val="125000"/>
                        </a:lnSpc>
                        <a:spcAft>
                          <a:spcPts val="0"/>
                        </a:spcAft>
                        <a:buFont typeface="Arial" panose="020B0604020202020204" pitchFamily="34" charset="0"/>
                        <a:buChar char="•"/>
                      </a:pPr>
                      <a:r>
                        <a:rPr lang="zh-CN" sz="1800" kern="100" dirty="0">
                          <a:effectLst/>
                          <a:latin typeface="+mj-ea"/>
                          <a:ea typeface="+mj-ea"/>
                        </a:rPr>
                        <a:t>调研与数据分析（可能存在多轮调研）</a:t>
                      </a:r>
                    </a:p>
                    <a:p>
                      <a:pPr marL="342900" indent="-342900" algn="just">
                        <a:lnSpc>
                          <a:spcPct val="125000"/>
                        </a:lnSpc>
                        <a:spcAft>
                          <a:spcPts val="0"/>
                        </a:spcAft>
                        <a:buFont typeface="Arial" panose="020B0604020202020204" pitchFamily="34" charset="0"/>
                        <a:buChar char="•"/>
                      </a:pPr>
                      <a:r>
                        <a:rPr lang="zh-CN" sz="1800" kern="100" dirty="0">
                          <a:effectLst/>
                          <a:latin typeface="+mj-ea"/>
                          <a:ea typeface="+mj-ea"/>
                        </a:rPr>
                        <a:t>获得关键结论</a:t>
                      </a:r>
                      <a:endParaRPr lang="zh-CN" sz="1800" kern="100" dirty="0">
                        <a:effectLst/>
                        <a:latin typeface="+mj-ea"/>
                        <a:ea typeface="+mj-ea"/>
                        <a:cs typeface="Times New Roman" panose="02020603050405020304" pitchFamily="18" charset="0"/>
                      </a:endParaRPr>
                    </a:p>
                  </a:txBody>
                  <a:tcPr marL="68580" marR="68580" marT="0" marB="0"/>
                </a:tc>
                <a:tc>
                  <a:txBody>
                    <a:bodyPr/>
                    <a:lstStyle/>
                    <a:p>
                      <a:pPr marL="342900" indent="-342900" algn="just">
                        <a:lnSpc>
                          <a:spcPct val="125000"/>
                        </a:lnSpc>
                        <a:spcAft>
                          <a:spcPts val="0"/>
                        </a:spcAft>
                        <a:buFont typeface="Arial" panose="020B0604020202020204" pitchFamily="34" charset="0"/>
                        <a:buChar char="•"/>
                      </a:pPr>
                      <a:r>
                        <a:rPr lang="zh-CN" sz="1800" kern="100" dirty="0">
                          <a:effectLst/>
                          <a:latin typeface="+mj-ea"/>
                          <a:ea typeface="+mj-ea"/>
                        </a:rPr>
                        <a:t>全文撰写</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351778862"/>
                  </a:ext>
                </a:extLst>
              </a:tr>
              <a:tr h="1123902">
                <a:tc>
                  <a:txBody>
                    <a:bodyPr/>
                    <a:lstStyle/>
                    <a:p>
                      <a:pPr algn="just">
                        <a:lnSpc>
                          <a:spcPct val="125000"/>
                        </a:lnSpc>
                        <a:spcAft>
                          <a:spcPts val="0"/>
                        </a:spcAft>
                      </a:pPr>
                      <a:r>
                        <a:rPr lang="zh-CN" sz="1800" kern="100">
                          <a:effectLst/>
                          <a:latin typeface="+mj-ea"/>
                          <a:ea typeface="+mj-ea"/>
                        </a:rPr>
                        <a:t>交流的载体</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mj-ea"/>
                          <a:ea typeface="+mj-ea"/>
                        </a:rPr>
                        <a:t>口头、草图、</a:t>
                      </a:r>
                      <a:r>
                        <a:rPr lang="en-US" altLang="zh-CN" sz="1800" kern="100" dirty="0">
                          <a:effectLst/>
                          <a:latin typeface="+mj-ea"/>
                          <a:ea typeface="+mj-ea"/>
                        </a:rPr>
                        <a:t>PPT</a:t>
                      </a:r>
                      <a:r>
                        <a:rPr lang="zh-CN" sz="1800" kern="100" dirty="0">
                          <a:effectLst/>
                          <a:latin typeface="+mj-ea"/>
                          <a:ea typeface="+mj-ea"/>
                        </a:rPr>
                        <a:t>等</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mj-ea"/>
                          <a:ea typeface="+mj-ea"/>
                        </a:rPr>
                        <a:t>文献综述文档、开题报告、调研方案文档、章节安排文档等</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mj-ea"/>
                          <a:ea typeface="+mj-ea"/>
                        </a:rPr>
                        <a:t>数据文档、数据分析过程文档、数据结果整理文档</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mj-ea"/>
                          <a:ea typeface="+mj-ea"/>
                        </a:rPr>
                        <a:t>论文全文</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4246151965"/>
                  </a:ext>
                </a:extLst>
              </a:tr>
            </a:tbl>
          </a:graphicData>
        </a:graphic>
      </p:graphicFrame>
    </p:spTree>
    <p:extLst>
      <p:ext uri="{BB962C8B-B14F-4D97-AF65-F5344CB8AC3E}">
        <p14:creationId xmlns:p14="http://schemas.microsoft.com/office/powerpoint/2010/main" val="3218361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7DA459-582E-4875-97CA-FFEC227CF6EE}"/>
              </a:ext>
            </a:extLst>
          </p:cNvPr>
          <p:cNvSpPr>
            <a:spLocks noGrp="1"/>
          </p:cNvSpPr>
          <p:nvPr>
            <p:ph type="title"/>
          </p:nvPr>
        </p:nvSpPr>
        <p:spPr>
          <a:xfrm>
            <a:off x="609600" y="503316"/>
            <a:ext cx="10972800" cy="1143000"/>
          </a:xfrm>
        </p:spPr>
        <p:txBody>
          <a:bodyPr/>
          <a:lstStyle/>
          <a:p>
            <a:r>
              <a:rPr lang="zh-CN" altLang="en-US" b="1" dirty="0">
                <a:latin typeface="微软雅黑" panose="020B0503020204020204" pitchFamily="34" charset="-122"/>
                <a:ea typeface="微软雅黑" panose="020B0503020204020204" pitchFamily="34" charset="-122"/>
              </a:rPr>
              <a:t>目 录</a:t>
            </a:r>
          </a:p>
        </p:txBody>
      </p:sp>
      <p:sp>
        <p:nvSpPr>
          <p:cNvPr id="3" name="内容占位符 2">
            <a:extLst>
              <a:ext uri="{FF2B5EF4-FFF2-40B4-BE49-F238E27FC236}">
                <a16:creationId xmlns:a16="http://schemas.microsoft.com/office/drawing/2014/main" id="{7B133B08-690A-47F3-AB13-7CE43E7A7699}"/>
              </a:ext>
            </a:extLst>
          </p:cNvPr>
          <p:cNvSpPr>
            <a:spLocks noGrp="1"/>
          </p:cNvSpPr>
          <p:nvPr>
            <p:ph idx="1"/>
          </p:nvPr>
        </p:nvSpPr>
        <p:spPr>
          <a:xfrm>
            <a:off x="609600" y="1600202"/>
            <a:ext cx="10972800" cy="4495798"/>
          </a:xfrm>
          <a:ln>
            <a:solidFill>
              <a:schemeClr val="accent1"/>
            </a:solidFill>
          </a:ln>
        </p:spPr>
        <p:txBody>
          <a:bodyPr>
            <a:noAutofit/>
          </a:bodyPr>
          <a:lstStyle/>
          <a:p>
            <a:pPr marL="514350" lvl="1" indent="-514350">
              <a:spcBef>
                <a:spcPts val="1000"/>
              </a:spcBef>
              <a:buFont typeface="+mj-lt"/>
              <a:buAutoNum type="arabicPeriod"/>
            </a:pPr>
            <a:r>
              <a:rPr lang="zh-CN" altLang="en-US" sz="2800" b="1" dirty="0">
                <a:solidFill>
                  <a:srgbClr val="7030A0"/>
                </a:solidFill>
                <a:latin typeface="等线 Light" panose="02010600030101010101" pitchFamily="2" charset="-122"/>
                <a:ea typeface="等线 Light" panose="02010600030101010101" pitchFamily="2" charset="-122"/>
              </a:rPr>
              <a:t>选题概述</a:t>
            </a:r>
            <a:endParaRPr lang="en-US" altLang="zh-CN" sz="2800" b="1" dirty="0">
              <a:solidFill>
                <a:srgbClr val="7030A0"/>
              </a:solidFill>
              <a:latin typeface="等线 Light" panose="02010600030101010101" pitchFamily="2" charset="-122"/>
              <a:ea typeface="等线 Light" panose="02010600030101010101" pitchFamily="2" charset="-122"/>
            </a:endParaRPr>
          </a:p>
          <a:p>
            <a:pPr marL="514350" lvl="1" indent="-514350">
              <a:spcBef>
                <a:spcPts val="1000"/>
              </a:spcBef>
              <a:buFont typeface="+mj-lt"/>
              <a:buAutoNum type="arabicPeriod"/>
            </a:pPr>
            <a:r>
              <a:rPr lang="zh-CN" altLang="en-US" sz="2800" b="1" dirty="0">
                <a:solidFill>
                  <a:srgbClr val="7030A0"/>
                </a:solidFill>
                <a:latin typeface="等线 Light" panose="02010600030101010101" pitchFamily="2" charset="-122"/>
                <a:ea typeface="等线 Light" panose="02010600030101010101" pitchFamily="2" charset="-122"/>
              </a:rPr>
              <a:t>实践问题的理论化</a:t>
            </a:r>
          </a:p>
          <a:p>
            <a:pPr marL="514350" lvl="1" indent="-514350">
              <a:spcBef>
                <a:spcPts val="1000"/>
              </a:spcBef>
              <a:buFont typeface="+mj-lt"/>
              <a:buAutoNum type="arabicPeriod"/>
            </a:pPr>
            <a:r>
              <a:rPr lang="zh-CN" altLang="en-US" sz="2800" b="1" dirty="0">
                <a:solidFill>
                  <a:srgbClr val="7030A0"/>
                </a:solidFill>
                <a:latin typeface="等线 Light" panose="02010600030101010101" pitchFamily="2" charset="-122"/>
                <a:ea typeface="等线 Light" panose="02010600030101010101" pitchFamily="2" charset="-122"/>
              </a:rPr>
              <a:t>选题的步骤</a:t>
            </a:r>
            <a:endParaRPr lang="en-US" altLang="zh-CN" sz="2800" b="1" dirty="0">
              <a:solidFill>
                <a:srgbClr val="7030A0"/>
              </a:solidFill>
              <a:latin typeface="等线 Light" panose="02010600030101010101" pitchFamily="2" charset="-122"/>
              <a:ea typeface="等线 Light" panose="02010600030101010101" pitchFamily="2" charset="-122"/>
            </a:endParaRPr>
          </a:p>
          <a:p>
            <a:pPr marL="514350" lvl="1" indent="-514350">
              <a:spcBef>
                <a:spcPts val="1000"/>
              </a:spcBef>
              <a:buFont typeface="+mj-lt"/>
              <a:buAutoNum type="arabicPeriod"/>
            </a:pPr>
            <a:r>
              <a:rPr lang="zh-CN" altLang="en-US" sz="2800" b="1" dirty="0">
                <a:solidFill>
                  <a:srgbClr val="7030A0"/>
                </a:solidFill>
                <a:latin typeface="等线 Light" panose="02010600030101010101" pitchFamily="2" charset="-122"/>
                <a:ea typeface="等线 Light" panose="02010600030101010101" pitchFamily="2" charset="-122"/>
              </a:rPr>
              <a:t>研究问题的提出</a:t>
            </a:r>
            <a:endParaRPr lang="en-US" altLang="zh-CN" sz="2800" b="1" dirty="0">
              <a:solidFill>
                <a:srgbClr val="7030A0"/>
              </a:solidFill>
              <a:latin typeface="等线 Light" panose="02010600030101010101" pitchFamily="2" charset="-122"/>
              <a:ea typeface="等线 Light" panose="02010600030101010101" pitchFamily="2" charset="-122"/>
            </a:endParaRPr>
          </a:p>
          <a:p>
            <a:pPr marL="514350" lvl="1" indent="-514350">
              <a:spcBef>
                <a:spcPts val="1000"/>
              </a:spcBef>
              <a:buFont typeface="+mj-lt"/>
              <a:buAutoNum type="arabicPeriod"/>
            </a:pPr>
            <a:r>
              <a:rPr lang="zh-CN" altLang="en-US" sz="2800" b="1" dirty="0">
                <a:solidFill>
                  <a:srgbClr val="7030A0"/>
                </a:solidFill>
                <a:latin typeface="等线 Light" panose="02010600030101010101" pitchFamily="2" charset="-122"/>
                <a:ea typeface="等线 Light" panose="02010600030101010101" pitchFamily="2" charset="-122"/>
              </a:rPr>
              <a:t>选题的总体要求与建议</a:t>
            </a:r>
          </a:p>
          <a:p>
            <a:pPr marL="857250" lvl="1" indent="-457200">
              <a:buFont typeface="Wingdings" panose="05000000000000000000" pitchFamily="2" charset="2"/>
              <a:buChar char="ü"/>
            </a:pPr>
            <a:endParaRPr lang="zh-CN" altLang="en-US" b="1" dirty="0">
              <a:solidFill>
                <a:srgbClr val="7030A0"/>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305128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F4B3DE3-E900-4E47-ADC1-9F9B93158EA6}"/>
              </a:ext>
            </a:extLst>
          </p:cNvPr>
          <p:cNvSpPr>
            <a:spLocks noGrp="1"/>
          </p:cNvSpPr>
          <p:nvPr>
            <p:ph idx="4294967295"/>
          </p:nvPr>
        </p:nvSpPr>
        <p:spPr>
          <a:xfrm>
            <a:off x="496686" y="1239579"/>
            <a:ext cx="10634056" cy="2087608"/>
          </a:xfrm>
        </p:spPr>
        <p:txBody>
          <a:bodyPr>
            <a:normAutofit/>
          </a:bodyPr>
          <a:lstStyle/>
          <a:p>
            <a:r>
              <a:rPr lang="zh-CN" altLang="en-US" sz="2000" dirty="0">
                <a:latin typeface="+mj-ea"/>
                <a:ea typeface="+mj-ea"/>
              </a:rPr>
              <a:t>现实不清楚，通过理论或方法变得更清楚</a:t>
            </a:r>
            <a:endParaRPr lang="en-US" altLang="zh-CN" sz="2000" dirty="0">
              <a:latin typeface="+mj-ea"/>
              <a:ea typeface="+mj-ea"/>
            </a:endParaRPr>
          </a:p>
          <a:p>
            <a:r>
              <a:rPr lang="zh-CN" altLang="en-US" sz="2000" dirty="0">
                <a:latin typeface="+mj-ea"/>
                <a:ea typeface="+mj-ea"/>
              </a:rPr>
              <a:t>一个研究的方向</a:t>
            </a:r>
            <a:endParaRPr lang="en-US" altLang="zh-CN" sz="2000" dirty="0">
              <a:latin typeface="+mj-ea"/>
              <a:ea typeface="+mj-ea"/>
            </a:endParaRPr>
          </a:p>
          <a:p>
            <a:r>
              <a:rPr lang="zh-CN" altLang="en-US" sz="2000" dirty="0">
                <a:latin typeface="+mj-ea"/>
                <a:ea typeface="+mj-ea"/>
              </a:rPr>
              <a:t>已有的知识需要进一步研究</a:t>
            </a:r>
            <a:endParaRPr lang="en-US" altLang="zh-CN" sz="2000" dirty="0">
              <a:latin typeface="+mj-ea"/>
              <a:ea typeface="+mj-ea"/>
            </a:endParaRPr>
          </a:p>
          <a:p>
            <a:r>
              <a:rPr lang="zh-CN" altLang="en-US" sz="2000" dirty="0">
                <a:latin typeface="+mj-ea"/>
                <a:ea typeface="+mj-ea"/>
              </a:rPr>
              <a:t>确定一个研究题目</a:t>
            </a:r>
          </a:p>
        </p:txBody>
      </p:sp>
      <p:sp>
        <p:nvSpPr>
          <p:cNvPr id="4" name="标题 1">
            <a:extLst>
              <a:ext uri="{FF2B5EF4-FFF2-40B4-BE49-F238E27FC236}">
                <a16:creationId xmlns:a16="http://schemas.microsoft.com/office/drawing/2014/main" id="{FC3B4E07-2EF2-4D75-9842-9226A53E6037}"/>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大家怎么来描述选题？</a:t>
            </a:r>
            <a:endParaRPr lang="zh-CN" altLang="en-US" sz="3300" dirty="0">
              <a:latin typeface="+mn-ea"/>
              <a:ea typeface="+mn-ea"/>
            </a:endParaRPr>
          </a:p>
        </p:txBody>
      </p:sp>
    </p:spTree>
    <p:extLst>
      <p:ext uri="{BB962C8B-B14F-4D97-AF65-F5344CB8AC3E}">
        <p14:creationId xmlns:p14="http://schemas.microsoft.com/office/powerpoint/2010/main" val="2404582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C774D0A-17A2-47E5-B0F3-373296F1420E}"/>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选题概述：选题的要求</a:t>
            </a:r>
            <a:endParaRPr lang="zh-CN" altLang="en-US" sz="3300" dirty="0">
              <a:latin typeface="+mn-ea"/>
              <a:ea typeface="+mn-ea"/>
            </a:endParaRPr>
          </a:p>
        </p:txBody>
      </p:sp>
      <p:sp>
        <p:nvSpPr>
          <p:cNvPr id="5" name="矩形 4">
            <a:extLst>
              <a:ext uri="{FF2B5EF4-FFF2-40B4-BE49-F238E27FC236}">
                <a16:creationId xmlns:a16="http://schemas.microsoft.com/office/drawing/2014/main" id="{6D9FC0A0-23A6-4A36-AD75-AF5E09398B44}"/>
              </a:ext>
            </a:extLst>
          </p:cNvPr>
          <p:cNvSpPr/>
          <p:nvPr/>
        </p:nvSpPr>
        <p:spPr>
          <a:xfrm>
            <a:off x="392975" y="1105540"/>
            <a:ext cx="10884626" cy="3738780"/>
          </a:xfrm>
          <a:prstGeom prst="rect">
            <a:avLst/>
          </a:prstGeom>
        </p:spPr>
        <p:txBody>
          <a:bodyPr wrap="square">
            <a:spAutoFit/>
          </a:bodyPr>
          <a:lstStyle/>
          <a:p>
            <a:pPr algn="just">
              <a:lnSpc>
                <a:spcPct val="150000"/>
              </a:lnSpc>
              <a:spcAft>
                <a:spcPts val="0"/>
              </a:spcAft>
            </a:pPr>
            <a:r>
              <a:rPr lang="en-US" altLang="zh-CN" sz="2000" b="1" kern="0" dirty="0">
                <a:highlight>
                  <a:srgbClr val="FFFF00"/>
                </a:highlight>
                <a:latin typeface="+mj-ea"/>
                <a:ea typeface="+mj-ea"/>
                <a:cs typeface="Segoe UI" panose="020B0502040204020203" pitchFamily="34" charset="0"/>
              </a:rPr>
              <a:t>1</a:t>
            </a:r>
            <a:r>
              <a:rPr lang="zh-CN" altLang="en-US" sz="2000" b="1" kern="0" dirty="0">
                <a:highlight>
                  <a:srgbClr val="FFFF00"/>
                </a:highlight>
                <a:latin typeface="+mj-ea"/>
                <a:ea typeface="+mj-ea"/>
                <a:cs typeface="Segoe UI" panose="020B0502040204020203" pitchFamily="34" charset="0"/>
              </a:rPr>
              <a:t>、研究不足</a:t>
            </a:r>
            <a:r>
              <a:rPr lang="zh-CN" altLang="en-US" sz="2000" b="1" kern="0" dirty="0">
                <a:latin typeface="+mj-ea"/>
                <a:ea typeface="+mj-ea"/>
                <a:cs typeface="Segoe UI" panose="020B0502040204020203" pitchFamily="34" charset="0"/>
              </a:rPr>
              <a:t>：</a:t>
            </a:r>
            <a:r>
              <a:rPr lang="zh-CN" altLang="zh-CN" sz="2000" b="1" kern="0" dirty="0">
                <a:latin typeface="+mj-ea"/>
                <a:ea typeface="+mj-ea"/>
                <a:cs typeface="Segoe UI" panose="020B0502040204020203" pitchFamily="34" charset="0"/>
              </a:rPr>
              <a:t>确定一个或多个已有研究不足，并从研究不足中提出恰当的研究问题</a:t>
            </a:r>
            <a:endParaRPr lang="en-US" altLang="zh-CN" sz="2000" kern="0" dirty="0">
              <a:latin typeface="+mj-ea"/>
              <a:ea typeface="+mj-ea"/>
              <a:cs typeface="Segoe UI" panose="020B0502040204020203" pitchFamily="34" charset="0"/>
            </a:endParaRPr>
          </a:p>
          <a:p>
            <a:pPr marL="342900" indent="-342900" algn="just">
              <a:lnSpc>
                <a:spcPct val="150000"/>
              </a:lnSpc>
              <a:spcAft>
                <a:spcPts val="0"/>
              </a:spcAft>
              <a:buFont typeface="Arial" panose="020B0604020202020204" pitchFamily="34" charset="0"/>
              <a:buChar char="•"/>
            </a:pPr>
            <a:r>
              <a:rPr lang="zh-CN" altLang="zh-CN" sz="2000" kern="0" dirty="0">
                <a:latin typeface="+mj-ea"/>
                <a:ea typeface="+mj-ea"/>
                <a:cs typeface="Segoe UI" panose="020B0502040204020203" pitchFamily="34" charset="0"/>
              </a:rPr>
              <a:t>研究不足</a:t>
            </a:r>
            <a:r>
              <a:rPr lang="zh-CN" altLang="en-US" sz="2000" kern="0" dirty="0">
                <a:latin typeface="+mj-ea"/>
                <a:ea typeface="+mj-ea"/>
                <a:cs typeface="Segoe UI" panose="020B0502040204020203" pitchFamily="34" charset="0"/>
              </a:rPr>
              <a:t>是</a:t>
            </a:r>
            <a:r>
              <a:rPr lang="zh-CN" altLang="zh-CN" sz="2000" kern="0" dirty="0">
                <a:latin typeface="+mj-ea"/>
                <a:ea typeface="+mj-ea"/>
                <a:cs typeface="Segoe UI" panose="020B0502040204020203" pitchFamily="34" charset="0"/>
              </a:rPr>
              <a:t>已有研究中</a:t>
            </a:r>
            <a:r>
              <a:rPr lang="zh-CN" altLang="en-US" sz="2000" kern="0" dirty="0">
                <a:latin typeface="+mj-ea"/>
                <a:ea typeface="+mj-ea"/>
                <a:cs typeface="Segoe UI" panose="020B0502040204020203" pitchFamily="34" charset="0"/>
              </a:rPr>
              <a:t>的</a:t>
            </a:r>
            <a:r>
              <a:rPr lang="zh-CN" altLang="zh-CN" sz="2000" kern="0" dirty="0">
                <a:latin typeface="+mj-ea"/>
                <a:ea typeface="+mj-ea"/>
                <a:cs typeface="Segoe UI" panose="020B0502040204020203" pitchFamily="34" charset="0"/>
              </a:rPr>
              <a:t>缺陷或问题，通过研究来补充和完善。</a:t>
            </a:r>
            <a:endParaRPr lang="en-US" altLang="zh-CN" sz="2000" kern="0" dirty="0">
              <a:latin typeface="+mj-ea"/>
              <a:ea typeface="+mj-ea"/>
              <a:cs typeface="Segoe UI" panose="020B0502040204020203" pitchFamily="34" charset="0"/>
            </a:endParaRPr>
          </a:p>
          <a:p>
            <a:pPr marL="342900" indent="-342900" algn="just">
              <a:lnSpc>
                <a:spcPct val="150000"/>
              </a:lnSpc>
              <a:spcAft>
                <a:spcPts val="0"/>
              </a:spcAft>
              <a:buFont typeface="Arial" panose="020B0604020202020204" pitchFamily="34" charset="0"/>
              <a:buChar char="•"/>
            </a:pPr>
            <a:r>
              <a:rPr lang="zh-CN" altLang="zh-CN" sz="2000" kern="0" dirty="0">
                <a:latin typeface="+mj-ea"/>
                <a:ea typeface="+mj-ea"/>
                <a:cs typeface="Segoe UI" panose="020B0502040204020203" pitchFamily="34" charset="0"/>
              </a:rPr>
              <a:t>确定研究不足的前导工作</a:t>
            </a:r>
            <a:r>
              <a:rPr lang="zh-CN" altLang="en-US" sz="2000" kern="0" dirty="0">
                <a:latin typeface="+mj-ea"/>
                <a:ea typeface="+mj-ea"/>
                <a:cs typeface="Segoe UI" panose="020B0502040204020203" pitchFamily="34" charset="0"/>
              </a:rPr>
              <a:t>：</a:t>
            </a:r>
            <a:endParaRPr lang="en-US" altLang="zh-CN" sz="2000" kern="0" dirty="0">
              <a:latin typeface="+mj-ea"/>
              <a:ea typeface="+mj-ea"/>
              <a:cs typeface="Segoe UI" panose="020B0502040204020203" pitchFamily="34" charset="0"/>
            </a:endParaRPr>
          </a:p>
          <a:p>
            <a:pPr marL="800100" lvl="1"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确定实践问题、实践问题的理论化、分析理论领域的研究现状等。</a:t>
            </a:r>
          </a:p>
          <a:p>
            <a:pPr algn="just">
              <a:lnSpc>
                <a:spcPct val="150000"/>
              </a:lnSpc>
              <a:spcAft>
                <a:spcPts val="0"/>
              </a:spcAft>
            </a:pPr>
            <a:r>
              <a:rPr lang="en-US" altLang="zh-CN" sz="2000" b="1" kern="0" dirty="0">
                <a:highlight>
                  <a:srgbClr val="FFFF00"/>
                </a:highlight>
                <a:latin typeface="+mj-ea"/>
                <a:ea typeface="+mj-ea"/>
                <a:cs typeface="Segoe UI" panose="020B0502040204020203" pitchFamily="34" charset="0"/>
              </a:rPr>
              <a:t>2</a:t>
            </a:r>
            <a:r>
              <a:rPr lang="zh-CN" altLang="en-US" sz="2000" b="1" kern="0" dirty="0">
                <a:highlight>
                  <a:srgbClr val="FFFF00"/>
                </a:highlight>
                <a:latin typeface="+mj-ea"/>
                <a:ea typeface="+mj-ea"/>
                <a:cs typeface="Segoe UI" panose="020B0502040204020203" pitchFamily="34" charset="0"/>
              </a:rPr>
              <a:t>、</a:t>
            </a:r>
            <a:r>
              <a:rPr lang="zh-CN" altLang="zh-CN" sz="2000" b="1" kern="0" dirty="0">
                <a:highlight>
                  <a:srgbClr val="FFFF00"/>
                </a:highlight>
                <a:latin typeface="+mj-ea"/>
                <a:ea typeface="+mj-ea"/>
                <a:cs typeface="Segoe UI" panose="020B0502040204020203" pitchFamily="34" charset="0"/>
              </a:rPr>
              <a:t>拟开展的研究</a:t>
            </a:r>
            <a:r>
              <a:rPr lang="zh-CN" altLang="en-US" sz="2000" b="1" kern="0" dirty="0">
                <a:latin typeface="+mj-ea"/>
                <a:ea typeface="+mj-ea"/>
                <a:cs typeface="Segoe UI" panose="020B0502040204020203" pitchFamily="34" charset="0"/>
              </a:rPr>
              <a:t>：</a:t>
            </a:r>
            <a:r>
              <a:rPr lang="zh-CN" altLang="zh-CN" sz="2000" b="1" kern="0" dirty="0">
                <a:latin typeface="+mj-ea"/>
                <a:ea typeface="+mj-ea"/>
                <a:cs typeface="Segoe UI" panose="020B0502040204020203" pitchFamily="34" charset="0"/>
              </a:rPr>
              <a:t>具有可行性</a:t>
            </a:r>
            <a:endParaRPr lang="en-US" altLang="zh-CN" sz="2000" kern="0" dirty="0">
              <a:latin typeface="+mj-ea"/>
              <a:ea typeface="+mj-ea"/>
              <a:cs typeface="Segoe UI" panose="020B0502040204020203" pitchFamily="34" charset="0"/>
            </a:endParaRPr>
          </a:p>
          <a:p>
            <a:pPr marL="342900" indent="-342900" algn="just">
              <a:lnSpc>
                <a:spcPct val="150000"/>
              </a:lnSpc>
              <a:spcAft>
                <a:spcPts val="0"/>
              </a:spcAft>
              <a:buFont typeface="Arial" panose="020B0604020202020204" pitchFamily="34" charset="0"/>
              <a:buChar char="•"/>
            </a:pPr>
            <a:r>
              <a:rPr lang="zh-CN" altLang="zh-CN" sz="2000" kern="0" dirty="0">
                <a:latin typeface="+mj-ea"/>
                <a:ea typeface="+mj-ea"/>
                <a:cs typeface="Segoe UI" panose="020B0502040204020203" pitchFamily="34" charset="0"/>
              </a:rPr>
              <a:t>为填补已有研究不足，需要开展研究。</a:t>
            </a:r>
            <a:endParaRPr lang="en-US" altLang="zh-CN" sz="2000" kern="0" dirty="0">
              <a:latin typeface="+mj-ea"/>
              <a:ea typeface="+mj-ea"/>
              <a:cs typeface="Segoe UI" panose="020B0502040204020203" pitchFamily="34" charset="0"/>
            </a:endParaRPr>
          </a:p>
          <a:p>
            <a:pPr marL="342900" indent="-342900" algn="just">
              <a:lnSpc>
                <a:spcPct val="150000"/>
              </a:lnSpc>
              <a:spcAft>
                <a:spcPts val="0"/>
              </a:spcAft>
              <a:buFont typeface="Arial" panose="020B0604020202020204" pitchFamily="34" charset="0"/>
              <a:buChar char="•"/>
            </a:pPr>
            <a:r>
              <a:rPr lang="zh-CN" altLang="zh-CN" sz="2000" kern="0" dirty="0">
                <a:latin typeface="+mj-ea"/>
                <a:ea typeface="+mj-ea"/>
                <a:cs typeface="Segoe UI" panose="020B0502040204020203" pitchFamily="34" charset="0"/>
              </a:rPr>
              <a:t>拟开展的需要具备可行性，才能填补已有研究不足。</a:t>
            </a:r>
            <a:endParaRPr lang="en-US" altLang="zh-CN" sz="2000" kern="0" dirty="0">
              <a:latin typeface="+mj-ea"/>
              <a:ea typeface="+mj-ea"/>
              <a:cs typeface="Segoe UI" panose="020B0502040204020203" pitchFamily="34" charset="0"/>
            </a:endParaRPr>
          </a:p>
          <a:p>
            <a:pPr marL="342900" indent="-342900" algn="just">
              <a:lnSpc>
                <a:spcPct val="150000"/>
              </a:lnSpc>
              <a:spcAft>
                <a:spcPts val="0"/>
              </a:spcAft>
              <a:buFont typeface="Arial" panose="020B0604020202020204" pitchFamily="34" charset="0"/>
              <a:buChar char="•"/>
            </a:pPr>
            <a:r>
              <a:rPr lang="zh-CN" altLang="zh-CN" sz="2000" kern="0" dirty="0">
                <a:latin typeface="+mj-ea"/>
                <a:ea typeface="+mj-ea"/>
                <a:cs typeface="Segoe UI" panose="020B0502040204020203" pitchFamily="34" charset="0"/>
              </a:rPr>
              <a:t>选题太大，不能进行研究。选题太小，不能有效地支撑一个研究。</a:t>
            </a:r>
          </a:p>
        </p:txBody>
      </p:sp>
      <p:sp>
        <p:nvSpPr>
          <p:cNvPr id="6" name="内容占位符 2">
            <a:extLst>
              <a:ext uri="{FF2B5EF4-FFF2-40B4-BE49-F238E27FC236}">
                <a16:creationId xmlns:a16="http://schemas.microsoft.com/office/drawing/2014/main" id="{5C9AEEB7-3EF4-403B-A054-057B362FF284}"/>
              </a:ext>
            </a:extLst>
          </p:cNvPr>
          <p:cNvSpPr txBox="1"/>
          <p:nvPr/>
        </p:nvSpPr>
        <p:spPr>
          <a:xfrm>
            <a:off x="3102473" y="5480964"/>
            <a:ext cx="1238598" cy="427511"/>
          </a:xfrm>
          <a:prstGeom prst="rect">
            <a:avLst/>
          </a:prstGeom>
          <a:solidFill>
            <a:srgbClr val="50A096"/>
          </a:solidFill>
          <a:ln w="12700">
            <a:solidFill>
              <a:srgbClr val="50A096"/>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solidFill>
                  <a:schemeClr val="bg1"/>
                </a:solidFill>
                <a:latin typeface="+mn-ea"/>
              </a:rPr>
              <a:t>研究不足</a:t>
            </a:r>
            <a:endParaRPr lang="en-US" altLang="zh-CN" sz="2000" dirty="0">
              <a:solidFill>
                <a:schemeClr val="bg1"/>
              </a:solidFill>
              <a:latin typeface="+mn-ea"/>
            </a:endParaRPr>
          </a:p>
        </p:txBody>
      </p:sp>
      <p:sp>
        <p:nvSpPr>
          <p:cNvPr id="7" name="内容占位符 2">
            <a:extLst>
              <a:ext uri="{FF2B5EF4-FFF2-40B4-BE49-F238E27FC236}">
                <a16:creationId xmlns:a16="http://schemas.microsoft.com/office/drawing/2014/main" id="{0818656F-CFBB-4495-9BCE-DE7E87EA95E9}"/>
              </a:ext>
            </a:extLst>
          </p:cNvPr>
          <p:cNvSpPr txBox="1"/>
          <p:nvPr/>
        </p:nvSpPr>
        <p:spPr>
          <a:xfrm>
            <a:off x="5630136" y="5464444"/>
            <a:ext cx="1808370" cy="427511"/>
          </a:xfrm>
          <a:prstGeom prst="rect">
            <a:avLst/>
          </a:prstGeom>
          <a:solidFill>
            <a:srgbClr val="50A096"/>
          </a:solidFill>
          <a:ln w="12700">
            <a:solidFill>
              <a:srgbClr val="50A096"/>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solidFill>
                  <a:schemeClr val="bg1"/>
                </a:solidFill>
                <a:latin typeface="+mn-ea"/>
              </a:rPr>
              <a:t>拟开展的研究</a:t>
            </a:r>
            <a:endParaRPr lang="en-US" altLang="zh-CN" sz="2000" dirty="0">
              <a:solidFill>
                <a:schemeClr val="bg1"/>
              </a:solidFill>
              <a:latin typeface="+mn-ea"/>
            </a:endParaRPr>
          </a:p>
        </p:txBody>
      </p:sp>
      <p:sp>
        <p:nvSpPr>
          <p:cNvPr id="2" name="箭头: 左右 1">
            <a:extLst>
              <a:ext uri="{FF2B5EF4-FFF2-40B4-BE49-F238E27FC236}">
                <a16:creationId xmlns:a16="http://schemas.microsoft.com/office/drawing/2014/main" id="{0C573287-85D4-4278-A48D-D56612209478}"/>
              </a:ext>
            </a:extLst>
          </p:cNvPr>
          <p:cNvSpPr/>
          <p:nvPr/>
        </p:nvSpPr>
        <p:spPr>
          <a:xfrm>
            <a:off x="4545029" y="5529507"/>
            <a:ext cx="881149" cy="297384"/>
          </a:xfrm>
          <a:prstGeom prst="leftRightArrow">
            <a:avLst/>
          </a:prstGeom>
          <a:noFill/>
          <a:ln>
            <a:solidFill>
              <a:srgbClr val="50A0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Tree>
    <p:extLst>
      <p:ext uri="{BB962C8B-B14F-4D97-AF65-F5344CB8AC3E}">
        <p14:creationId xmlns:p14="http://schemas.microsoft.com/office/powerpoint/2010/main" val="1642313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C774D0A-17A2-47E5-B0F3-373296F1420E}"/>
              </a:ext>
            </a:extLst>
          </p:cNvPr>
          <p:cNvSpPr txBox="1">
            <a:spLocks noChangeArrowheads="1"/>
          </p:cNvSpPr>
          <p:nvPr/>
        </p:nvSpPr>
        <p:spPr>
          <a:xfrm>
            <a:off x="1762742" y="492964"/>
            <a:ext cx="7914657" cy="6125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选题概述：</a:t>
            </a:r>
            <a:r>
              <a:rPr lang="zh-CN" altLang="zh-CN" sz="3300" b="1" dirty="0"/>
              <a:t>选题与开题的</a:t>
            </a:r>
            <a:r>
              <a:rPr lang="zh-CN" altLang="en-US" sz="3300" b="1" dirty="0"/>
              <a:t>比较</a:t>
            </a:r>
          </a:p>
        </p:txBody>
      </p:sp>
      <p:sp>
        <p:nvSpPr>
          <p:cNvPr id="5" name="矩形 4">
            <a:extLst>
              <a:ext uri="{FF2B5EF4-FFF2-40B4-BE49-F238E27FC236}">
                <a16:creationId xmlns:a16="http://schemas.microsoft.com/office/drawing/2014/main" id="{6D9FC0A0-23A6-4A36-AD75-AF5E09398B44}"/>
              </a:ext>
            </a:extLst>
          </p:cNvPr>
          <p:cNvSpPr/>
          <p:nvPr/>
        </p:nvSpPr>
        <p:spPr>
          <a:xfrm>
            <a:off x="370115" y="1105540"/>
            <a:ext cx="10854146" cy="4662110"/>
          </a:xfrm>
          <a:prstGeom prst="rect">
            <a:avLst/>
          </a:prstGeom>
        </p:spPr>
        <p:txBody>
          <a:bodyPr wrap="square">
            <a:spAutoFit/>
          </a:bodyPr>
          <a:lstStyle/>
          <a:p>
            <a:pPr algn="just">
              <a:lnSpc>
                <a:spcPct val="150000"/>
              </a:lnSpc>
            </a:pPr>
            <a:r>
              <a:rPr lang="en-US" altLang="zh-CN" sz="2000" b="1" kern="0" dirty="0">
                <a:latin typeface="+mj-ea"/>
                <a:ea typeface="+mj-ea"/>
                <a:cs typeface="Segoe UI" panose="020B0502040204020203" pitchFamily="34" charset="0"/>
              </a:rPr>
              <a:t>1</a:t>
            </a:r>
            <a:r>
              <a:rPr lang="zh-CN" altLang="en-US" sz="2000" b="1" kern="0" dirty="0">
                <a:latin typeface="+mj-ea"/>
                <a:ea typeface="+mj-ea"/>
                <a:cs typeface="Segoe UI" panose="020B0502040204020203" pitchFamily="34" charset="0"/>
              </a:rPr>
              <a:t>、</a:t>
            </a:r>
            <a:r>
              <a:rPr lang="zh-CN" altLang="zh-CN" sz="2000" b="1" kern="0" dirty="0">
                <a:latin typeface="+mj-ea"/>
                <a:ea typeface="+mj-ea"/>
                <a:cs typeface="Segoe UI" panose="020B0502040204020203" pitchFamily="34" charset="0"/>
              </a:rPr>
              <a:t>形式上</a:t>
            </a:r>
            <a:endParaRPr lang="en-US" altLang="zh-CN" sz="2000" b="1" kern="0" dirty="0">
              <a:latin typeface="+mj-ea"/>
              <a:ea typeface="+mj-ea"/>
              <a:cs typeface="Segoe UI" panose="020B0502040204020203" pitchFamily="34" charset="0"/>
            </a:endParaRPr>
          </a:p>
          <a:p>
            <a:pPr marL="342900"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开题需要形成书面的开题报告。</a:t>
            </a:r>
            <a:endParaRPr lang="en-US" altLang="zh-CN" sz="2000" kern="0" dirty="0">
              <a:latin typeface="+mj-ea"/>
              <a:ea typeface="+mj-ea"/>
              <a:cs typeface="Segoe UI" panose="020B0502040204020203" pitchFamily="34" charset="0"/>
            </a:endParaRPr>
          </a:p>
          <a:p>
            <a:pPr marL="342900"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选题可以从逻辑和准备工作进行论证，采用</a:t>
            </a:r>
            <a:r>
              <a:rPr lang="en-US" altLang="zh-CN" sz="2000" kern="0" dirty="0">
                <a:latin typeface="+mj-ea"/>
                <a:ea typeface="+mj-ea"/>
                <a:cs typeface="Segoe UI" panose="020B0502040204020203" pitchFamily="34" charset="0"/>
              </a:rPr>
              <a:t>PPT</a:t>
            </a:r>
            <a:r>
              <a:rPr lang="zh-CN" altLang="zh-CN" sz="2000" kern="0" dirty="0">
                <a:latin typeface="+mj-ea"/>
                <a:ea typeface="+mj-ea"/>
                <a:cs typeface="Segoe UI" panose="020B0502040204020203" pitchFamily="34" charset="0"/>
              </a:rPr>
              <a:t>、口头交流、简单的文字陈述等方式进行分析。</a:t>
            </a:r>
          </a:p>
          <a:p>
            <a:pPr algn="just">
              <a:lnSpc>
                <a:spcPct val="150000"/>
              </a:lnSpc>
            </a:pPr>
            <a:r>
              <a:rPr lang="en-US" altLang="zh-CN" sz="2000" b="1" kern="0" dirty="0">
                <a:latin typeface="+mj-ea"/>
                <a:ea typeface="+mj-ea"/>
                <a:cs typeface="Segoe UI" panose="020B0502040204020203" pitchFamily="34" charset="0"/>
              </a:rPr>
              <a:t>2</a:t>
            </a:r>
            <a:r>
              <a:rPr lang="zh-CN" altLang="en-US" sz="2000" b="1" kern="0" dirty="0">
                <a:latin typeface="+mj-ea"/>
                <a:ea typeface="+mj-ea"/>
                <a:cs typeface="Segoe UI" panose="020B0502040204020203" pitchFamily="34" charset="0"/>
              </a:rPr>
              <a:t>、</a:t>
            </a:r>
            <a:r>
              <a:rPr lang="zh-CN" altLang="zh-CN" sz="2000" b="1" kern="0" dirty="0">
                <a:latin typeface="+mj-ea"/>
                <a:ea typeface="+mj-ea"/>
                <a:cs typeface="Segoe UI" panose="020B0502040204020203" pitchFamily="34" charset="0"/>
              </a:rPr>
              <a:t>顺序上</a:t>
            </a:r>
            <a:endParaRPr lang="en-US" altLang="zh-CN" sz="2000" b="1" kern="0" dirty="0">
              <a:latin typeface="+mj-ea"/>
              <a:ea typeface="+mj-ea"/>
              <a:cs typeface="Segoe UI" panose="020B0502040204020203" pitchFamily="34" charset="0"/>
            </a:endParaRPr>
          </a:p>
          <a:p>
            <a:pPr marL="342900"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通常先需要明确选题，再进入开题报告撰写环节。</a:t>
            </a:r>
            <a:endParaRPr lang="en-US" altLang="zh-CN" sz="2000" kern="0" dirty="0">
              <a:latin typeface="+mj-ea"/>
              <a:ea typeface="+mj-ea"/>
              <a:cs typeface="Segoe UI" panose="020B0502040204020203" pitchFamily="34" charset="0"/>
            </a:endParaRPr>
          </a:p>
          <a:p>
            <a:pPr marL="342900"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开题报告撰写环节还会对选题进行反复修改和完善。</a:t>
            </a:r>
          </a:p>
          <a:p>
            <a:pPr algn="just">
              <a:lnSpc>
                <a:spcPct val="150000"/>
              </a:lnSpc>
            </a:pPr>
            <a:r>
              <a:rPr lang="en-US" altLang="zh-CN" sz="2000" b="1" kern="0" dirty="0">
                <a:latin typeface="+mj-ea"/>
                <a:ea typeface="+mj-ea"/>
                <a:cs typeface="Segoe UI" panose="020B0502040204020203" pitchFamily="34" charset="0"/>
              </a:rPr>
              <a:t>3</a:t>
            </a:r>
            <a:r>
              <a:rPr lang="zh-CN" altLang="en-US" sz="2000" b="1" kern="0" dirty="0">
                <a:latin typeface="+mj-ea"/>
                <a:ea typeface="+mj-ea"/>
                <a:cs typeface="Segoe UI" panose="020B0502040204020203" pitchFamily="34" charset="0"/>
              </a:rPr>
              <a:t>、</a:t>
            </a:r>
            <a:r>
              <a:rPr lang="zh-CN" altLang="zh-CN" sz="2000" b="1" kern="0" dirty="0">
                <a:latin typeface="+mj-ea"/>
                <a:ea typeface="+mj-ea"/>
                <a:cs typeface="Segoe UI" panose="020B0502040204020203" pitchFamily="34" charset="0"/>
              </a:rPr>
              <a:t>内容上</a:t>
            </a:r>
            <a:endParaRPr lang="en-US" altLang="zh-CN" sz="2000" b="1" kern="0" dirty="0">
              <a:latin typeface="+mj-ea"/>
              <a:ea typeface="+mj-ea"/>
              <a:cs typeface="Segoe UI" panose="020B0502040204020203" pitchFamily="34" charset="0"/>
            </a:endParaRPr>
          </a:p>
          <a:p>
            <a:pPr marL="342900"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选题和开题报告的目的是服务于开题答辩，因此内容范围上要求是一致的</a:t>
            </a:r>
            <a:r>
              <a:rPr lang="zh-CN" altLang="en-US" sz="2000" kern="0" dirty="0">
                <a:latin typeface="+mj-ea"/>
                <a:ea typeface="+mj-ea"/>
                <a:cs typeface="Segoe UI" panose="020B0502040204020203" pitchFamily="34" charset="0"/>
              </a:rPr>
              <a:t>。</a:t>
            </a:r>
            <a:endParaRPr lang="en-US" altLang="zh-CN" sz="2000" kern="0" dirty="0">
              <a:latin typeface="+mj-ea"/>
              <a:ea typeface="+mj-ea"/>
              <a:cs typeface="Segoe UI" panose="020B0502040204020203" pitchFamily="34" charset="0"/>
            </a:endParaRPr>
          </a:p>
          <a:p>
            <a:pPr marL="342900"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由于研究是迭代和循序渐进的过程，两者在内容呈现粗细程度上存在差异。</a:t>
            </a:r>
            <a:endParaRPr lang="en-US" altLang="zh-CN" sz="2000" kern="0" dirty="0">
              <a:latin typeface="+mj-ea"/>
              <a:ea typeface="+mj-ea"/>
              <a:cs typeface="Segoe UI" panose="020B0502040204020203" pitchFamily="34" charset="0"/>
            </a:endParaRPr>
          </a:p>
          <a:p>
            <a:pPr marL="800100" lvl="1"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选题更轮廓性，类似于设计的草图，而开题报告更类似于方案设计。</a:t>
            </a:r>
          </a:p>
        </p:txBody>
      </p:sp>
    </p:spTree>
    <p:extLst>
      <p:ext uri="{BB962C8B-B14F-4D97-AF65-F5344CB8AC3E}">
        <p14:creationId xmlns:p14="http://schemas.microsoft.com/office/powerpoint/2010/main" val="2397044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C774D0A-17A2-47E5-B0F3-373296F1420E}"/>
              </a:ext>
            </a:extLst>
          </p:cNvPr>
          <p:cNvSpPr txBox="1">
            <a:spLocks noChangeArrowheads="1"/>
          </p:cNvSpPr>
          <p:nvPr/>
        </p:nvSpPr>
        <p:spPr>
          <a:xfrm>
            <a:off x="1762742" y="492964"/>
            <a:ext cx="7914657" cy="6125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选题概述：</a:t>
            </a:r>
            <a:r>
              <a:rPr lang="zh-CN" altLang="zh-CN" sz="3300" b="1" dirty="0"/>
              <a:t>选题</a:t>
            </a:r>
            <a:r>
              <a:rPr lang="zh-CN" altLang="en-US" sz="3300" b="1" dirty="0"/>
              <a:t>的来源</a:t>
            </a:r>
          </a:p>
        </p:txBody>
      </p:sp>
      <p:sp>
        <p:nvSpPr>
          <p:cNvPr id="5" name="矩形 4">
            <a:extLst>
              <a:ext uri="{FF2B5EF4-FFF2-40B4-BE49-F238E27FC236}">
                <a16:creationId xmlns:a16="http://schemas.microsoft.com/office/drawing/2014/main" id="{6D9FC0A0-23A6-4A36-AD75-AF5E09398B44}"/>
              </a:ext>
            </a:extLst>
          </p:cNvPr>
          <p:cNvSpPr/>
          <p:nvPr/>
        </p:nvSpPr>
        <p:spPr>
          <a:xfrm>
            <a:off x="384810" y="1105540"/>
            <a:ext cx="11422380" cy="4662110"/>
          </a:xfrm>
          <a:prstGeom prst="rect">
            <a:avLst/>
          </a:prstGeom>
        </p:spPr>
        <p:txBody>
          <a:bodyPr wrap="square">
            <a:spAutoFit/>
          </a:bodyPr>
          <a:lstStyle/>
          <a:p>
            <a:pPr algn="just">
              <a:lnSpc>
                <a:spcPct val="150000"/>
              </a:lnSpc>
            </a:pPr>
            <a:r>
              <a:rPr lang="en-US" altLang="zh-CN" sz="2000" b="1" kern="0" dirty="0">
                <a:latin typeface="+mj-ea"/>
                <a:ea typeface="+mj-ea"/>
                <a:cs typeface="Segoe UI" panose="020B0502040204020203" pitchFamily="34" charset="0"/>
              </a:rPr>
              <a:t>1</a:t>
            </a:r>
            <a:r>
              <a:rPr lang="zh-CN" altLang="en-US" sz="2000" b="1" kern="0" dirty="0">
                <a:latin typeface="+mj-ea"/>
                <a:ea typeface="+mj-ea"/>
                <a:cs typeface="Segoe UI" panose="020B0502040204020203" pitchFamily="34" charset="0"/>
              </a:rPr>
              <a:t>、</a:t>
            </a:r>
            <a:r>
              <a:rPr lang="zh-CN" altLang="zh-CN" sz="2000" b="1" kern="0" dirty="0">
                <a:latin typeface="+mj-ea"/>
                <a:ea typeface="+mj-ea"/>
                <a:cs typeface="Segoe UI" panose="020B0502040204020203" pitchFamily="34" charset="0"/>
              </a:rPr>
              <a:t>通过理论思考选题来源。</a:t>
            </a:r>
            <a:endParaRPr lang="en-US" altLang="zh-CN" sz="2000" b="1" kern="0" dirty="0">
              <a:latin typeface="+mj-ea"/>
              <a:ea typeface="+mj-ea"/>
              <a:cs typeface="Segoe UI" panose="020B0502040204020203" pitchFamily="34" charset="0"/>
            </a:endParaRPr>
          </a:p>
          <a:p>
            <a:pPr marL="342900"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如阅读文献、课程学习等挖掘感兴趣的理论主题，通过理论寻找合适的应用情境和实践问题。</a:t>
            </a:r>
          </a:p>
          <a:p>
            <a:pPr algn="just">
              <a:lnSpc>
                <a:spcPct val="150000"/>
              </a:lnSpc>
            </a:pPr>
            <a:r>
              <a:rPr lang="en-US" altLang="zh-CN" sz="2000" b="1" kern="0" dirty="0">
                <a:latin typeface="+mj-ea"/>
                <a:ea typeface="+mj-ea"/>
                <a:cs typeface="Segoe UI" panose="020B0502040204020203" pitchFamily="34" charset="0"/>
              </a:rPr>
              <a:t>2</a:t>
            </a:r>
            <a:r>
              <a:rPr lang="zh-CN" altLang="en-US" sz="2000" b="1" kern="0" dirty="0">
                <a:latin typeface="+mj-ea"/>
                <a:ea typeface="+mj-ea"/>
                <a:cs typeface="Segoe UI" panose="020B0502040204020203" pitchFamily="34" charset="0"/>
              </a:rPr>
              <a:t>、</a:t>
            </a:r>
            <a:r>
              <a:rPr lang="zh-CN" altLang="zh-CN" sz="2000" b="1" kern="0" dirty="0">
                <a:latin typeface="+mj-ea"/>
                <a:ea typeface="+mj-ea"/>
                <a:cs typeface="Segoe UI" panose="020B0502040204020203" pitchFamily="34" charset="0"/>
              </a:rPr>
              <a:t>通过实践思考选题来源</a:t>
            </a:r>
            <a:r>
              <a:rPr lang="zh-CN" altLang="zh-CN" sz="2000" kern="0" dirty="0">
                <a:latin typeface="+mj-ea"/>
                <a:ea typeface="+mj-ea"/>
                <a:cs typeface="Segoe UI" panose="020B0502040204020203" pitchFamily="34" charset="0"/>
              </a:rPr>
              <a:t>。从现象、问题等分析理论问题，了解已有研究如何解决该类实践问题。</a:t>
            </a:r>
          </a:p>
          <a:p>
            <a:pPr marL="342900"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实践中的问题。如成本超支问题、质量问题等。</a:t>
            </a:r>
          </a:p>
          <a:p>
            <a:pPr marL="342900"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发展趋势和需求。如国家、行业政策中发展趋势，如数字化、双碳、新基建等。</a:t>
            </a:r>
          </a:p>
          <a:p>
            <a:pPr marL="342900"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实践的管理规则。阅读工程管理相关文件，如项目管理规划、招标文件、投标文件、进度编制计划等，对实践中的应用情况进行分析和评价，以确认哪些管理规则是薄弱或者问题环节。</a:t>
            </a:r>
          </a:p>
          <a:p>
            <a:pPr algn="just">
              <a:lnSpc>
                <a:spcPct val="150000"/>
              </a:lnSpc>
            </a:pPr>
            <a:r>
              <a:rPr lang="zh-CN" altLang="zh-CN" sz="2000" kern="0" dirty="0">
                <a:latin typeface="+mj-ea"/>
                <a:ea typeface="+mj-ea"/>
                <a:cs typeface="Segoe UI" panose="020B0502040204020203" pitchFamily="34" charset="0"/>
              </a:rPr>
              <a:t>在初步选题来源确定的方式上</a:t>
            </a:r>
            <a:r>
              <a:rPr lang="zh-CN" altLang="en-US" sz="2000" kern="0" dirty="0">
                <a:latin typeface="+mj-ea"/>
                <a:ea typeface="+mj-ea"/>
                <a:cs typeface="Segoe UI" panose="020B0502040204020203" pitchFamily="34" charset="0"/>
              </a:rPr>
              <a:t>：</a:t>
            </a:r>
            <a:endParaRPr lang="en-US" altLang="zh-CN" sz="2000" kern="0" dirty="0">
              <a:latin typeface="+mj-ea"/>
              <a:ea typeface="+mj-ea"/>
              <a:cs typeface="Segoe UI" panose="020B0502040204020203" pitchFamily="34" charset="0"/>
            </a:endParaRPr>
          </a:p>
          <a:p>
            <a:pPr marL="342900"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可自己阅读和理解，看已有研究的选题，从中模仿</a:t>
            </a:r>
            <a:r>
              <a:rPr lang="zh-CN" altLang="en-US" sz="2000" kern="0" dirty="0">
                <a:latin typeface="+mj-ea"/>
                <a:ea typeface="+mj-ea"/>
                <a:cs typeface="Segoe UI" panose="020B0502040204020203" pitchFamily="34" charset="0"/>
              </a:rPr>
              <a:t>。</a:t>
            </a:r>
            <a:endParaRPr lang="en-US" altLang="zh-CN" sz="2000" kern="0" dirty="0">
              <a:latin typeface="+mj-ea"/>
              <a:ea typeface="+mj-ea"/>
              <a:cs typeface="Segoe UI" panose="020B0502040204020203" pitchFamily="34" charset="0"/>
            </a:endParaRPr>
          </a:p>
          <a:p>
            <a:pPr marL="342900" indent="-342900" algn="just">
              <a:lnSpc>
                <a:spcPct val="150000"/>
              </a:lnSpc>
              <a:buFont typeface="Arial" panose="020B0604020202020204" pitchFamily="34" charset="0"/>
              <a:buChar char="•"/>
            </a:pPr>
            <a:r>
              <a:rPr lang="zh-CN" altLang="zh-CN" sz="2000" kern="0" dirty="0">
                <a:latin typeface="+mj-ea"/>
                <a:ea typeface="+mj-ea"/>
                <a:cs typeface="Segoe UI" panose="020B0502040204020203" pitchFamily="34" charset="0"/>
              </a:rPr>
              <a:t>与老师、同学、同事等探讨，获得启发和灵感碰撞。</a:t>
            </a:r>
          </a:p>
        </p:txBody>
      </p:sp>
      <p:sp>
        <p:nvSpPr>
          <p:cNvPr id="7" name="内容占位符 2">
            <a:extLst>
              <a:ext uri="{FF2B5EF4-FFF2-40B4-BE49-F238E27FC236}">
                <a16:creationId xmlns:a16="http://schemas.microsoft.com/office/drawing/2014/main" id="{8D461153-6BE4-4944-824F-46BE984D7ADE}"/>
              </a:ext>
            </a:extLst>
          </p:cNvPr>
          <p:cNvSpPr txBox="1"/>
          <p:nvPr/>
        </p:nvSpPr>
        <p:spPr>
          <a:xfrm>
            <a:off x="2909454" y="6083343"/>
            <a:ext cx="5170517" cy="427511"/>
          </a:xfrm>
          <a:prstGeom prst="rect">
            <a:avLst/>
          </a:prstGeom>
          <a:solidFill>
            <a:srgbClr val="50A096"/>
          </a:solidFill>
          <a:ln w="12700">
            <a:solidFill>
              <a:srgbClr val="50A096"/>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zh-CN" sz="2000" dirty="0">
                <a:solidFill>
                  <a:schemeClr val="bg1"/>
                </a:solidFill>
                <a:latin typeface="+mn-ea"/>
              </a:rPr>
              <a:t>理论和实践两方面进行交叉性的思考和启发</a:t>
            </a:r>
          </a:p>
          <a:p>
            <a:pPr marL="0" indent="0" algn="ctr">
              <a:lnSpc>
                <a:spcPct val="100000"/>
              </a:lnSpc>
              <a:buNone/>
            </a:pPr>
            <a:endParaRPr lang="en-US" altLang="zh-CN" sz="2000" dirty="0">
              <a:solidFill>
                <a:schemeClr val="bg1"/>
              </a:solidFill>
              <a:latin typeface="+mn-ea"/>
            </a:endParaRPr>
          </a:p>
        </p:txBody>
      </p:sp>
    </p:spTree>
    <p:extLst>
      <p:ext uri="{BB962C8B-B14F-4D97-AF65-F5344CB8AC3E}">
        <p14:creationId xmlns:p14="http://schemas.microsoft.com/office/powerpoint/2010/main" val="2379971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CCB2732-D9F1-4921-A989-85D1BAC1AF15}"/>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实践问题的理论化：概述</a:t>
            </a:r>
            <a:endParaRPr lang="zh-CN" altLang="en-US" sz="3300" dirty="0"/>
          </a:p>
          <a:p>
            <a:endParaRPr lang="zh-CN" altLang="en-US" sz="3300" dirty="0">
              <a:latin typeface="+mn-ea"/>
              <a:ea typeface="+mn-ea"/>
            </a:endParaRPr>
          </a:p>
        </p:txBody>
      </p:sp>
      <p:sp>
        <p:nvSpPr>
          <p:cNvPr id="5" name="矩形 4">
            <a:extLst>
              <a:ext uri="{FF2B5EF4-FFF2-40B4-BE49-F238E27FC236}">
                <a16:creationId xmlns:a16="http://schemas.microsoft.com/office/drawing/2014/main" id="{B7391CDD-46CC-4580-92C4-CBF5CC6D9CBD}"/>
              </a:ext>
            </a:extLst>
          </p:cNvPr>
          <p:cNvSpPr/>
          <p:nvPr/>
        </p:nvSpPr>
        <p:spPr>
          <a:xfrm>
            <a:off x="357447" y="1092414"/>
            <a:ext cx="9227128" cy="1430456"/>
          </a:xfrm>
          <a:prstGeom prst="rect">
            <a:avLst/>
          </a:prstGeom>
        </p:spPr>
        <p:txBody>
          <a:bodyPr wrap="square">
            <a:spAutoFit/>
          </a:bodyPr>
          <a:lstStyle/>
          <a:p>
            <a:pPr>
              <a:lnSpc>
                <a:spcPct val="150000"/>
              </a:lnSpc>
            </a:pPr>
            <a:r>
              <a:rPr lang="zh-CN" altLang="en-US" sz="2000" b="1" kern="0" dirty="0">
                <a:latin typeface="+mj-ea"/>
                <a:ea typeface="+mj-ea"/>
                <a:cs typeface="Segoe UI" panose="020B0502040204020203" pitchFamily="34" charset="0"/>
              </a:rPr>
              <a:t>实践问题示例：</a:t>
            </a:r>
            <a:endParaRPr lang="en-US" altLang="zh-CN" sz="2000" b="1" kern="0" dirty="0">
              <a:latin typeface="+mj-ea"/>
              <a:ea typeface="+mj-ea"/>
              <a:cs typeface="Segoe UI" panose="020B0502040204020203" pitchFamily="34" charset="0"/>
            </a:endParaRPr>
          </a:p>
          <a:p>
            <a:pPr marL="342900" indent="-342900">
              <a:lnSpc>
                <a:spcPct val="150000"/>
              </a:lnSpc>
              <a:buFont typeface="Wingdings" panose="05000000000000000000" pitchFamily="2" charset="2"/>
              <a:buChar char="ü"/>
            </a:pPr>
            <a:r>
              <a:rPr lang="zh-CN" altLang="en-US" sz="2000" kern="0" dirty="0">
                <a:latin typeface="+mj-ea"/>
                <a:ea typeface="+mj-ea"/>
                <a:cs typeface="Segoe UI" panose="020B0502040204020203" pitchFamily="34" charset="0"/>
              </a:rPr>
              <a:t>项目储备费的计算不准。高估了，资金闲置；低估了，不利于风险控制。</a:t>
            </a:r>
            <a:endParaRPr lang="en-US" altLang="zh-CN" sz="2000" kern="0" dirty="0">
              <a:latin typeface="+mj-ea"/>
              <a:ea typeface="+mj-ea"/>
              <a:cs typeface="Segoe UI" panose="020B0502040204020203" pitchFamily="34" charset="0"/>
            </a:endParaRPr>
          </a:p>
          <a:p>
            <a:pPr marL="342900" indent="-342900">
              <a:lnSpc>
                <a:spcPct val="150000"/>
              </a:lnSpc>
              <a:buFont typeface="Wingdings" panose="05000000000000000000" pitchFamily="2" charset="2"/>
              <a:buChar char="ü"/>
            </a:pPr>
            <a:r>
              <a:rPr lang="zh-CN" altLang="en-US" sz="2000" kern="0" dirty="0">
                <a:latin typeface="+mj-ea"/>
                <a:ea typeface="+mj-ea"/>
                <a:cs typeface="Segoe UI" panose="020B0502040204020203" pitchFamily="34" charset="0"/>
              </a:rPr>
              <a:t>项目成本超支，怎么来解决？</a:t>
            </a:r>
            <a:endParaRPr lang="en-US" altLang="zh-CN" sz="2000" kern="0" dirty="0">
              <a:latin typeface="+mj-ea"/>
              <a:ea typeface="+mj-ea"/>
              <a:cs typeface="Segoe UI" panose="020B0502040204020203" pitchFamily="34" charset="0"/>
            </a:endParaRPr>
          </a:p>
        </p:txBody>
      </p:sp>
      <p:sp>
        <p:nvSpPr>
          <p:cNvPr id="6" name="内容占位符 2">
            <a:extLst>
              <a:ext uri="{FF2B5EF4-FFF2-40B4-BE49-F238E27FC236}">
                <a16:creationId xmlns:a16="http://schemas.microsoft.com/office/drawing/2014/main" id="{B4A551A7-94B3-43AC-BBE1-E3ED7D327288}"/>
              </a:ext>
            </a:extLst>
          </p:cNvPr>
          <p:cNvSpPr txBox="1"/>
          <p:nvPr/>
        </p:nvSpPr>
        <p:spPr>
          <a:xfrm>
            <a:off x="3140276" y="3429000"/>
            <a:ext cx="1238598" cy="427511"/>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实践问题</a:t>
            </a:r>
            <a:endParaRPr lang="en-US" altLang="zh-CN" sz="2000" dirty="0">
              <a:latin typeface="+mn-ea"/>
            </a:endParaRPr>
          </a:p>
        </p:txBody>
      </p:sp>
      <p:sp>
        <p:nvSpPr>
          <p:cNvPr id="7" name="内容占位符 2">
            <a:extLst>
              <a:ext uri="{FF2B5EF4-FFF2-40B4-BE49-F238E27FC236}">
                <a16:creationId xmlns:a16="http://schemas.microsoft.com/office/drawing/2014/main" id="{5E3C786D-1D4E-4E43-A797-6A51E1B6C8DA}"/>
              </a:ext>
            </a:extLst>
          </p:cNvPr>
          <p:cNvSpPr txBox="1"/>
          <p:nvPr/>
        </p:nvSpPr>
        <p:spPr>
          <a:xfrm>
            <a:off x="5329196" y="3429000"/>
            <a:ext cx="1944440" cy="427511"/>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具体解决方案</a:t>
            </a:r>
            <a:endParaRPr lang="en-US" altLang="zh-CN" sz="2000" dirty="0">
              <a:latin typeface="+mn-ea"/>
            </a:endParaRPr>
          </a:p>
        </p:txBody>
      </p:sp>
      <p:sp>
        <p:nvSpPr>
          <p:cNvPr id="8" name="虚尾箭头 13">
            <a:extLst>
              <a:ext uri="{FF2B5EF4-FFF2-40B4-BE49-F238E27FC236}">
                <a16:creationId xmlns:a16="http://schemas.microsoft.com/office/drawing/2014/main" id="{8DCB1259-55F5-4F08-A6D4-520239362E39}"/>
              </a:ext>
            </a:extLst>
          </p:cNvPr>
          <p:cNvSpPr/>
          <p:nvPr/>
        </p:nvSpPr>
        <p:spPr>
          <a:xfrm rot="10800000">
            <a:off x="4526088" y="3463368"/>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9" name="内容占位符 2">
            <a:extLst>
              <a:ext uri="{FF2B5EF4-FFF2-40B4-BE49-F238E27FC236}">
                <a16:creationId xmlns:a16="http://schemas.microsoft.com/office/drawing/2014/main" id="{4C3F7CBB-9AE6-47D0-BDF7-ABD2101E7680}"/>
              </a:ext>
            </a:extLst>
          </p:cNvPr>
          <p:cNvSpPr txBox="1"/>
          <p:nvPr/>
        </p:nvSpPr>
        <p:spPr>
          <a:xfrm>
            <a:off x="3140277" y="4538494"/>
            <a:ext cx="1238599" cy="719154"/>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某一类理论问题</a:t>
            </a:r>
            <a:endParaRPr lang="en-US" altLang="zh-CN" sz="2000" dirty="0">
              <a:latin typeface="+mn-ea"/>
            </a:endParaRPr>
          </a:p>
        </p:txBody>
      </p:sp>
      <p:sp>
        <p:nvSpPr>
          <p:cNvPr id="10" name="虚尾箭头 13">
            <a:extLst>
              <a:ext uri="{FF2B5EF4-FFF2-40B4-BE49-F238E27FC236}">
                <a16:creationId xmlns:a16="http://schemas.microsoft.com/office/drawing/2014/main" id="{7AB291A5-5FDB-4A30-9CB3-DA20E482C67F}"/>
              </a:ext>
            </a:extLst>
          </p:cNvPr>
          <p:cNvSpPr/>
          <p:nvPr/>
        </p:nvSpPr>
        <p:spPr>
          <a:xfrm rot="5400000">
            <a:off x="3452603" y="3984096"/>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1" name="内容占位符 2">
            <a:extLst>
              <a:ext uri="{FF2B5EF4-FFF2-40B4-BE49-F238E27FC236}">
                <a16:creationId xmlns:a16="http://schemas.microsoft.com/office/drawing/2014/main" id="{C66165F5-A18D-409D-BA42-A12DDCE63F7B}"/>
              </a:ext>
            </a:extLst>
          </p:cNvPr>
          <p:cNvSpPr txBox="1"/>
          <p:nvPr/>
        </p:nvSpPr>
        <p:spPr>
          <a:xfrm>
            <a:off x="5329196" y="4538494"/>
            <a:ext cx="1944440" cy="719155"/>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zh-CN" altLang="en-US" sz="2000" dirty="0">
                <a:latin typeface="+mn-ea"/>
              </a:rPr>
              <a:t>一般性</a:t>
            </a:r>
            <a:endParaRPr lang="en-US" altLang="zh-CN" sz="2000" dirty="0">
              <a:latin typeface="+mn-ea"/>
            </a:endParaRPr>
          </a:p>
          <a:p>
            <a:pPr marL="0" indent="0" algn="ctr">
              <a:lnSpc>
                <a:spcPct val="100000"/>
              </a:lnSpc>
              <a:spcBef>
                <a:spcPts val="0"/>
              </a:spcBef>
              <a:buNone/>
            </a:pPr>
            <a:r>
              <a:rPr lang="zh-CN" altLang="en-US" sz="2000" dirty="0">
                <a:latin typeface="+mn-ea"/>
              </a:rPr>
              <a:t>解决方案</a:t>
            </a:r>
            <a:endParaRPr lang="en-US" altLang="zh-CN" sz="2000" dirty="0">
              <a:latin typeface="+mn-ea"/>
            </a:endParaRPr>
          </a:p>
        </p:txBody>
      </p:sp>
      <p:sp>
        <p:nvSpPr>
          <p:cNvPr id="12" name="虚尾箭头 13">
            <a:extLst>
              <a:ext uri="{FF2B5EF4-FFF2-40B4-BE49-F238E27FC236}">
                <a16:creationId xmlns:a16="http://schemas.microsoft.com/office/drawing/2014/main" id="{B255AC22-4169-4E81-A8DC-74C8C58E31A3}"/>
              </a:ext>
            </a:extLst>
          </p:cNvPr>
          <p:cNvSpPr/>
          <p:nvPr/>
        </p:nvSpPr>
        <p:spPr>
          <a:xfrm>
            <a:off x="4535062" y="4691132"/>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3" name="虚尾箭头 13">
            <a:extLst>
              <a:ext uri="{FF2B5EF4-FFF2-40B4-BE49-F238E27FC236}">
                <a16:creationId xmlns:a16="http://schemas.microsoft.com/office/drawing/2014/main" id="{2192D403-4BDE-4E4F-9CB7-7A4D21A2E569}"/>
              </a:ext>
            </a:extLst>
          </p:cNvPr>
          <p:cNvSpPr/>
          <p:nvPr/>
        </p:nvSpPr>
        <p:spPr>
          <a:xfrm rot="16200000">
            <a:off x="6045692" y="3997055"/>
            <a:ext cx="613945" cy="400893"/>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4" name="矩形 13">
            <a:extLst>
              <a:ext uri="{FF2B5EF4-FFF2-40B4-BE49-F238E27FC236}">
                <a16:creationId xmlns:a16="http://schemas.microsoft.com/office/drawing/2014/main" id="{E14E65F7-825B-4AA3-9E0B-8D4BF05D7CD6}"/>
              </a:ext>
            </a:extLst>
          </p:cNvPr>
          <p:cNvSpPr/>
          <p:nvPr/>
        </p:nvSpPr>
        <p:spPr>
          <a:xfrm>
            <a:off x="2552452" y="3822559"/>
            <a:ext cx="961451" cy="600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tx1"/>
                </a:solidFill>
                <a:highlight>
                  <a:srgbClr val="FFFF00"/>
                </a:highlight>
              </a:rPr>
              <a:t>理论化</a:t>
            </a:r>
            <a:endParaRPr lang="en-US" altLang="zh-CN" sz="2000" b="1" dirty="0">
              <a:solidFill>
                <a:schemeClr val="tx1"/>
              </a:solidFill>
              <a:highlight>
                <a:srgbClr val="FFFF00"/>
              </a:highlight>
            </a:endParaRPr>
          </a:p>
        </p:txBody>
      </p:sp>
    </p:spTree>
    <p:extLst>
      <p:ext uri="{BB962C8B-B14F-4D97-AF65-F5344CB8AC3E}">
        <p14:creationId xmlns:p14="http://schemas.microsoft.com/office/powerpoint/2010/main" val="3239902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a:extLst>
              <a:ext uri="{FF2B5EF4-FFF2-40B4-BE49-F238E27FC236}">
                <a16:creationId xmlns:a16="http://schemas.microsoft.com/office/drawing/2014/main" id="{0F4D48D4-C1E9-4060-8E52-D6211E9BFB9D}"/>
              </a:ext>
            </a:extLst>
          </p:cNvPr>
          <p:cNvSpPr txBox="1"/>
          <p:nvPr/>
        </p:nvSpPr>
        <p:spPr>
          <a:xfrm>
            <a:off x="435163" y="2551136"/>
            <a:ext cx="5301608" cy="913033"/>
          </a:xfrm>
          <a:prstGeom prst="rect">
            <a:avLst/>
          </a:prstGeom>
          <a:solidFill>
            <a:schemeClr val="accent2">
              <a:lumMod val="20000"/>
              <a:lumOff val="80000"/>
            </a:schemeClr>
          </a:solidFill>
          <a:ln w="25400">
            <a:noFill/>
            <a:prstDash val="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endParaRPr lang="en-US" altLang="zh-CN" sz="2000" dirty="0">
              <a:latin typeface="+mn-ea"/>
            </a:endParaRPr>
          </a:p>
        </p:txBody>
      </p:sp>
      <p:sp>
        <p:nvSpPr>
          <p:cNvPr id="5" name="矩形 4">
            <a:extLst>
              <a:ext uri="{FF2B5EF4-FFF2-40B4-BE49-F238E27FC236}">
                <a16:creationId xmlns:a16="http://schemas.microsoft.com/office/drawing/2014/main" id="{260B2B4D-304A-44A3-BC0B-C908DADB90A8}"/>
              </a:ext>
            </a:extLst>
          </p:cNvPr>
          <p:cNvSpPr/>
          <p:nvPr/>
        </p:nvSpPr>
        <p:spPr>
          <a:xfrm>
            <a:off x="435163" y="5203701"/>
            <a:ext cx="7520203" cy="968791"/>
          </a:xfrm>
          <a:prstGeom prst="rect">
            <a:avLst/>
          </a:prstGeom>
        </p:spPr>
        <p:txBody>
          <a:bodyPr wrap="square">
            <a:spAutoFit/>
          </a:bodyPr>
          <a:lstStyle/>
          <a:p>
            <a:pPr>
              <a:lnSpc>
                <a:spcPct val="150000"/>
              </a:lnSpc>
            </a:pPr>
            <a:r>
              <a:rPr lang="zh-CN" altLang="en-US" sz="2000" b="1" dirty="0">
                <a:latin typeface="+mj-ea"/>
              </a:rPr>
              <a:t>实践问题确定的目的</a:t>
            </a:r>
            <a:r>
              <a:rPr lang="zh-CN" altLang="en-US" sz="2000" dirty="0">
                <a:latin typeface="+mj-ea"/>
              </a:rPr>
              <a:t>：解决实践问题以满足实践预期。</a:t>
            </a:r>
            <a:endParaRPr lang="zh-CN" altLang="zh-CN" sz="2000" dirty="0">
              <a:latin typeface="+mj-ea"/>
            </a:endParaRPr>
          </a:p>
          <a:p>
            <a:pPr>
              <a:lnSpc>
                <a:spcPct val="150000"/>
              </a:lnSpc>
            </a:pPr>
            <a:r>
              <a:rPr lang="zh-CN" altLang="zh-CN" sz="2000" b="1" dirty="0">
                <a:latin typeface="+mj-ea"/>
              </a:rPr>
              <a:t>研究不足确定的目的</a:t>
            </a:r>
            <a:r>
              <a:rPr lang="zh-CN" altLang="en-US" sz="2000" dirty="0">
                <a:latin typeface="+mj-ea"/>
              </a:rPr>
              <a:t>：弥补研究不足以</a:t>
            </a:r>
            <a:r>
              <a:rPr lang="zh-CN" altLang="zh-CN" sz="2000" dirty="0">
                <a:latin typeface="+mj-ea"/>
              </a:rPr>
              <a:t>实现理论贡献。</a:t>
            </a:r>
            <a:endParaRPr lang="en-US" altLang="zh-CN" sz="2000" dirty="0">
              <a:latin typeface="+mj-ea"/>
            </a:endParaRPr>
          </a:p>
        </p:txBody>
      </p:sp>
      <p:sp>
        <p:nvSpPr>
          <p:cNvPr id="6" name="内容占位符 2">
            <a:extLst>
              <a:ext uri="{FF2B5EF4-FFF2-40B4-BE49-F238E27FC236}">
                <a16:creationId xmlns:a16="http://schemas.microsoft.com/office/drawing/2014/main" id="{F01327FD-E5DE-4956-AADA-01C4253677D3}"/>
              </a:ext>
            </a:extLst>
          </p:cNvPr>
          <p:cNvSpPr txBox="1"/>
          <p:nvPr/>
        </p:nvSpPr>
        <p:spPr>
          <a:xfrm>
            <a:off x="546111" y="1498824"/>
            <a:ext cx="1690121" cy="427511"/>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2000" dirty="0">
                <a:latin typeface="+mn-ea"/>
              </a:rPr>
              <a:t>1</a:t>
            </a:r>
            <a:r>
              <a:rPr lang="zh-CN" altLang="en-US" sz="2000" dirty="0">
                <a:latin typeface="+mn-ea"/>
              </a:rPr>
              <a:t>、</a:t>
            </a:r>
            <a:r>
              <a:rPr lang="zh-CN" altLang="en-US" sz="2000" dirty="0">
                <a:highlight>
                  <a:srgbClr val="FF0000"/>
                </a:highlight>
                <a:latin typeface="+mn-ea"/>
              </a:rPr>
              <a:t>实践问题</a:t>
            </a:r>
            <a:endParaRPr lang="en-US" altLang="zh-CN" sz="2000" dirty="0">
              <a:highlight>
                <a:srgbClr val="FF0000"/>
              </a:highlight>
              <a:latin typeface="+mn-ea"/>
            </a:endParaRPr>
          </a:p>
        </p:txBody>
      </p:sp>
      <p:sp>
        <p:nvSpPr>
          <p:cNvPr id="9" name="内容占位符 2">
            <a:extLst>
              <a:ext uri="{FF2B5EF4-FFF2-40B4-BE49-F238E27FC236}">
                <a16:creationId xmlns:a16="http://schemas.microsoft.com/office/drawing/2014/main" id="{54AB44BA-6573-4BEC-917F-8685D278F814}"/>
              </a:ext>
            </a:extLst>
          </p:cNvPr>
          <p:cNvSpPr txBox="1"/>
          <p:nvPr/>
        </p:nvSpPr>
        <p:spPr>
          <a:xfrm>
            <a:off x="546111" y="2608318"/>
            <a:ext cx="1690123" cy="719154"/>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2000" dirty="0">
                <a:latin typeface="+mn-ea"/>
              </a:rPr>
              <a:t>2</a:t>
            </a:r>
            <a:r>
              <a:rPr lang="zh-CN" altLang="en-US" sz="2000" dirty="0">
                <a:latin typeface="+mn-ea"/>
              </a:rPr>
              <a:t>、某一类理论问题</a:t>
            </a:r>
            <a:endParaRPr lang="en-US" altLang="zh-CN" sz="2000" dirty="0">
              <a:latin typeface="+mn-ea"/>
            </a:endParaRPr>
          </a:p>
        </p:txBody>
      </p:sp>
      <p:sp>
        <p:nvSpPr>
          <p:cNvPr id="10" name="虚尾箭头 13">
            <a:extLst>
              <a:ext uri="{FF2B5EF4-FFF2-40B4-BE49-F238E27FC236}">
                <a16:creationId xmlns:a16="http://schemas.microsoft.com/office/drawing/2014/main" id="{7B8465B6-D06A-4145-B88B-F0500B04A4CA}"/>
              </a:ext>
            </a:extLst>
          </p:cNvPr>
          <p:cNvSpPr/>
          <p:nvPr/>
        </p:nvSpPr>
        <p:spPr>
          <a:xfrm rot="5400000">
            <a:off x="1309961" y="2053920"/>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1" name="内容占位符 2">
            <a:extLst>
              <a:ext uri="{FF2B5EF4-FFF2-40B4-BE49-F238E27FC236}">
                <a16:creationId xmlns:a16="http://schemas.microsoft.com/office/drawing/2014/main" id="{BAC89588-ADFA-41EE-9DB2-D4449715C17A}"/>
              </a:ext>
            </a:extLst>
          </p:cNvPr>
          <p:cNvSpPr txBox="1"/>
          <p:nvPr/>
        </p:nvSpPr>
        <p:spPr>
          <a:xfrm>
            <a:off x="3186553" y="2797947"/>
            <a:ext cx="2408104" cy="424427"/>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altLang="zh-CN" sz="2000" dirty="0">
                <a:latin typeface="+mn-ea"/>
              </a:rPr>
              <a:t>3</a:t>
            </a:r>
            <a:r>
              <a:rPr lang="zh-CN" altLang="en-US" sz="2000" dirty="0">
                <a:latin typeface="+mn-ea"/>
              </a:rPr>
              <a:t>、一般性解决方案</a:t>
            </a:r>
            <a:endParaRPr lang="en-US" altLang="zh-CN" sz="2000" dirty="0">
              <a:latin typeface="+mn-ea"/>
            </a:endParaRPr>
          </a:p>
        </p:txBody>
      </p:sp>
      <p:sp>
        <p:nvSpPr>
          <p:cNvPr id="12" name="虚尾箭头 13">
            <a:extLst>
              <a:ext uri="{FF2B5EF4-FFF2-40B4-BE49-F238E27FC236}">
                <a16:creationId xmlns:a16="http://schemas.microsoft.com/office/drawing/2014/main" id="{B0CCA29D-8EA1-4C31-9F24-853504B41E84}"/>
              </a:ext>
            </a:extLst>
          </p:cNvPr>
          <p:cNvSpPr/>
          <p:nvPr/>
        </p:nvSpPr>
        <p:spPr>
          <a:xfrm>
            <a:off x="2392420" y="2760956"/>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4" name="矩形 13">
            <a:extLst>
              <a:ext uri="{FF2B5EF4-FFF2-40B4-BE49-F238E27FC236}">
                <a16:creationId xmlns:a16="http://schemas.microsoft.com/office/drawing/2014/main" id="{CFF30E44-D51D-4A36-8F59-1A6BD90C64AF}"/>
              </a:ext>
            </a:extLst>
          </p:cNvPr>
          <p:cNvSpPr/>
          <p:nvPr/>
        </p:nvSpPr>
        <p:spPr>
          <a:xfrm>
            <a:off x="294514" y="1915878"/>
            <a:ext cx="961451" cy="600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tx1"/>
                </a:solidFill>
                <a:highlight>
                  <a:srgbClr val="FFFF00"/>
                </a:highlight>
              </a:rPr>
              <a:t>理论化：</a:t>
            </a:r>
            <a:endParaRPr lang="en-US" altLang="zh-CN" sz="2000" b="1" dirty="0">
              <a:solidFill>
                <a:schemeClr val="tx1"/>
              </a:solidFill>
              <a:highlight>
                <a:srgbClr val="FFFF00"/>
              </a:highlight>
            </a:endParaRPr>
          </a:p>
          <a:p>
            <a:r>
              <a:rPr lang="zh-CN" altLang="en-US" sz="2000" b="1" dirty="0">
                <a:solidFill>
                  <a:schemeClr val="tx1"/>
                </a:solidFill>
                <a:highlight>
                  <a:srgbClr val="FFFF00"/>
                </a:highlight>
              </a:rPr>
              <a:t>一般性</a:t>
            </a:r>
            <a:endParaRPr lang="en-US" altLang="zh-CN" sz="2000" b="1" dirty="0">
              <a:solidFill>
                <a:schemeClr val="tx1"/>
              </a:solidFill>
              <a:highlight>
                <a:srgbClr val="FFFF00"/>
              </a:highlight>
            </a:endParaRPr>
          </a:p>
        </p:txBody>
      </p:sp>
      <p:sp>
        <p:nvSpPr>
          <p:cNvPr id="17" name="虚尾箭头 13">
            <a:extLst>
              <a:ext uri="{FF2B5EF4-FFF2-40B4-BE49-F238E27FC236}">
                <a16:creationId xmlns:a16="http://schemas.microsoft.com/office/drawing/2014/main" id="{BA4435D5-8845-44D1-8AD3-5E600CEFDFD9}"/>
              </a:ext>
            </a:extLst>
          </p:cNvPr>
          <p:cNvSpPr/>
          <p:nvPr/>
        </p:nvSpPr>
        <p:spPr>
          <a:xfrm>
            <a:off x="5841286" y="2760956"/>
            <a:ext cx="1421069" cy="486568"/>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8" name="内容占位符 2">
            <a:extLst>
              <a:ext uri="{FF2B5EF4-FFF2-40B4-BE49-F238E27FC236}">
                <a16:creationId xmlns:a16="http://schemas.microsoft.com/office/drawing/2014/main" id="{458FEB39-5BE1-42AD-91E3-9177E0898229}"/>
              </a:ext>
            </a:extLst>
          </p:cNvPr>
          <p:cNvSpPr txBox="1"/>
          <p:nvPr/>
        </p:nvSpPr>
        <p:spPr>
          <a:xfrm>
            <a:off x="5752201" y="3247524"/>
            <a:ext cx="1246909" cy="668044"/>
          </a:xfrm>
          <a:prstGeom prst="rect">
            <a:avLst/>
          </a:prstGeom>
          <a:ln w="12700">
            <a:no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分析现有理论状态</a:t>
            </a:r>
            <a:endParaRPr lang="en-US" altLang="zh-CN" sz="2000" dirty="0">
              <a:latin typeface="+mn-ea"/>
            </a:endParaRPr>
          </a:p>
        </p:txBody>
      </p:sp>
      <p:sp>
        <p:nvSpPr>
          <p:cNvPr id="20" name="内容占位符 2">
            <a:extLst>
              <a:ext uri="{FF2B5EF4-FFF2-40B4-BE49-F238E27FC236}">
                <a16:creationId xmlns:a16="http://schemas.microsoft.com/office/drawing/2014/main" id="{C84C3B6C-39DA-4526-BC38-B6EF74F473BE}"/>
              </a:ext>
            </a:extLst>
          </p:cNvPr>
          <p:cNvSpPr txBox="1"/>
          <p:nvPr/>
        </p:nvSpPr>
        <p:spPr>
          <a:xfrm>
            <a:off x="7309407" y="2639492"/>
            <a:ext cx="1555702" cy="668044"/>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highlight>
                  <a:srgbClr val="FF0000"/>
                </a:highlight>
                <a:latin typeface="+mn-ea"/>
              </a:rPr>
              <a:t>研究不足</a:t>
            </a:r>
            <a:r>
              <a:rPr lang="zh-CN" altLang="en-US" sz="2000" dirty="0">
                <a:latin typeface="+mn-ea"/>
              </a:rPr>
              <a:t>与研究问题</a:t>
            </a:r>
            <a:endParaRPr lang="en-US" altLang="zh-CN" sz="2000" dirty="0">
              <a:latin typeface="+mn-ea"/>
            </a:endParaRPr>
          </a:p>
        </p:txBody>
      </p:sp>
      <p:sp>
        <p:nvSpPr>
          <p:cNvPr id="22" name="虚尾箭头 13">
            <a:extLst>
              <a:ext uri="{FF2B5EF4-FFF2-40B4-BE49-F238E27FC236}">
                <a16:creationId xmlns:a16="http://schemas.microsoft.com/office/drawing/2014/main" id="{601A163B-3958-4151-AB5A-839D738D526B}"/>
              </a:ext>
            </a:extLst>
          </p:cNvPr>
          <p:cNvSpPr/>
          <p:nvPr/>
        </p:nvSpPr>
        <p:spPr>
          <a:xfrm>
            <a:off x="9041973" y="2816203"/>
            <a:ext cx="639950" cy="376074"/>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3" name="内容占位符 2">
            <a:extLst>
              <a:ext uri="{FF2B5EF4-FFF2-40B4-BE49-F238E27FC236}">
                <a16:creationId xmlns:a16="http://schemas.microsoft.com/office/drawing/2014/main" id="{729C9E65-74A6-464C-879E-467B27C68DDF}"/>
              </a:ext>
            </a:extLst>
          </p:cNvPr>
          <p:cNvSpPr txBox="1"/>
          <p:nvPr/>
        </p:nvSpPr>
        <p:spPr>
          <a:xfrm>
            <a:off x="8971937" y="3222374"/>
            <a:ext cx="902869" cy="668044"/>
          </a:xfrm>
          <a:prstGeom prst="rect">
            <a:avLst/>
          </a:prstGeom>
          <a:ln w="12700">
            <a:no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展开研究</a:t>
            </a:r>
            <a:endParaRPr lang="en-US" altLang="zh-CN" sz="2000" dirty="0">
              <a:latin typeface="+mn-ea"/>
            </a:endParaRPr>
          </a:p>
        </p:txBody>
      </p:sp>
      <p:sp>
        <p:nvSpPr>
          <p:cNvPr id="24" name="内容占位符 2">
            <a:extLst>
              <a:ext uri="{FF2B5EF4-FFF2-40B4-BE49-F238E27FC236}">
                <a16:creationId xmlns:a16="http://schemas.microsoft.com/office/drawing/2014/main" id="{62BA8482-F01B-4C67-A0B8-335B331676B6}"/>
              </a:ext>
            </a:extLst>
          </p:cNvPr>
          <p:cNvSpPr txBox="1"/>
          <p:nvPr/>
        </p:nvSpPr>
        <p:spPr>
          <a:xfrm>
            <a:off x="9751959" y="2677721"/>
            <a:ext cx="902869" cy="668044"/>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理论贡献</a:t>
            </a:r>
            <a:endParaRPr lang="en-US" altLang="zh-CN" sz="2000" dirty="0">
              <a:latin typeface="+mn-ea"/>
            </a:endParaRPr>
          </a:p>
        </p:txBody>
      </p:sp>
      <p:sp>
        <p:nvSpPr>
          <p:cNvPr id="25" name="内容占位符 2">
            <a:extLst>
              <a:ext uri="{FF2B5EF4-FFF2-40B4-BE49-F238E27FC236}">
                <a16:creationId xmlns:a16="http://schemas.microsoft.com/office/drawing/2014/main" id="{99E5222F-74EB-41FF-85B0-90171D16C7D8}"/>
              </a:ext>
            </a:extLst>
          </p:cNvPr>
          <p:cNvSpPr txBox="1"/>
          <p:nvPr/>
        </p:nvSpPr>
        <p:spPr>
          <a:xfrm>
            <a:off x="3092037" y="1508015"/>
            <a:ext cx="2408105" cy="427511"/>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2000" dirty="0">
                <a:latin typeface="+mn-ea"/>
              </a:rPr>
              <a:t>4</a:t>
            </a:r>
            <a:r>
              <a:rPr lang="zh-CN" altLang="en-US" sz="2000" dirty="0">
                <a:latin typeface="+mn-ea"/>
              </a:rPr>
              <a:t>、具体解决方案</a:t>
            </a:r>
            <a:endParaRPr lang="en-US" altLang="zh-CN" sz="2000" dirty="0">
              <a:latin typeface="+mn-ea"/>
            </a:endParaRPr>
          </a:p>
        </p:txBody>
      </p:sp>
      <p:sp>
        <p:nvSpPr>
          <p:cNvPr id="26" name="虚尾箭头 13">
            <a:extLst>
              <a:ext uri="{FF2B5EF4-FFF2-40B4-BE49-F238E27FC236}">
                <a16:creationId xmlns:a16="http://schemas.microsoft.com/office/drawing/2014/main" id="{EAAFC39F-68F7-48FA-B94A-38326860F996}"/>
              </a:ext>
            </a:extLst>
          </p:cNvPr>
          <p:cNvSpPr/>
          <p:nvPr/>
        </p:nvSpPr>
        <p:spPr>
          <a:xfrm rot="10800000">
            <a:off x="2357162" y="1489812"/>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 name="箭头: 右弧形 1">
            <a:extLst>
              <a:ext uri="{FF2B5EF4-FFF2-40B4-BE49-F238E27FC236}">
                <a16:creationId xmlns:a16="http://schemas.microsoft.com/office/drawing/2014/main" id="{CDA78803-877B-4A9E-9B69-FCDCFEDEA121}"/>
              </a:ext>
            </a:extLst>
          </p:cNvPr>
          <p:cNvSpPr/>
          <p:nvPr/>
        </p:nvSpPr>
        <p:spPr>
          <a:xfrm rot="5400000">
            <a:off x="6360871" y="336277"/>
            <a:ext cx="925285" cy="727720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虚尾箭头 13">
            <a:extLst>
              <a:ext uri="{FF2B5EF4-FFF2-40B4-BE49-F238E27FC236}">
                <a16:creationId xmlns:a16="http://schemas.microsoft.com/office/drawing/2014/main" id="{F40B54D7-1FD1-4398-8DE9-41B28D617A59}"/>
              </a:ext>
            </a:extLst>
          </p:cNvPr>
          <p:cNvSpPr/>
          <p:nvPr/>
        </p:nvSpPr>
        <p:spPr>
          <a:xfrm rot="16200000">
            <a:off x="3989116" y="2028744"/>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8" name="内容占位符 2">
            <a:extLst>
              <a:ext uri="{FF2B5EF4-FFF2-40B4-BE49-F238E27FC236}">
                <a16:creationId xmlns:a16="http://schemas.microsoft.com/office/drawing/2014/main" id="{37969531-8887-42AC-BF19-0E6A2BCECFEE}"/>
              </a:ext>
            </a:extLst>
          </p:cNvPr>
          <p:cNvSpPr txBox="1"/>
          <p:nvPr/>
        </p:nvSpPr>
        <p:spPr>
          <a:xfrm>
            <a:off x="6336714" y="4522176"/>
            <a:ext cx="1479230" cy="410416"/>
          </a:xfrm>
          <a:prstGeom prst="rect">
            <a:avLst/>
          </a:prstGeom>
          <a:ln w="12700">
            <a:no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改进理论</a:t>
            </a:r>
            <a:endParaRPr lang="en-US" altLang="zh-CN" sz="2000" dirty="0">
              <a:latin typeface="+mn-ea"/>
            </a:endParaRPr>
          </a:p>
        </p:txBody>
      </p:sp>
      <p:sp>
        <p:nvSpPr>
          <p:cNvPr id="29" name="矩形 28">
            <a:extLst>
              <a:ext uri="{FF2B5EF4-FFF2-40B4-BE49-F238E27FC236}">
                <a16:creationId xmlns:a16="http://schemas.microsoft.com/office/drawing/2014/main" id="{8CF1254F-348B-446A-B0C2-A675B36A20AE}"/>
              </a:ext>
            </a:extLst>
          </p:cNvPr>
          <p:cNvSpPr/>
          <p:nvPr/>
        </p:nvSpPr>
        <p:spPr>
          <a:xfrm>
            <a:off x="4535701" y="1926335"/>
            <a:ext cx="1246909" cy="6139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tx1"/>
                </a:solidFill>
                <a:highlight>
                  <a:srgbClr val="FFFF00"/>
                </a:highlight>
              </a:rPr>
              <a:t>情境化</a:t>
            </a:r>
            <a:r>
              <a:rPr lang="en-US" altLang="zh-CN" sz="2000" b="1" dirty="0">
                <a:solidFill>
                  <a:schemeClr val="tx1"/>
                </a:solidFill>
                <a:highlight>
                  <a:srgbClr val="FFFF00"/>
                </a:highlight>
              </a:rPr>
              <a:t>:</a:t>
            </a:r>
          </a:p>
          <a:p>
            <a:r>
              <a:rPr lang="zh-CN" altLang="en-US" sz="2000" b="1" dirty="0">
                <a:solidFill>
                  <a:schemeClr val="tx1"/>
                </a:solidFill>
                <a:highlight>
                  <a:srgbClr val="FFFF00"/>
                </a:highlight>
              </a:rPr>
              <a:t>具体化</a:t>
            </a:r>
            <a:endParaRPr lang="en-US" altLang="zh-CN" sz="2000" b="1" dirty="0">
              <a:solidFill>
                <a:schemeClr val="tx1"/>
              </a:solidFill>
              <a:highlight>
                <a:srgbClr val="FFFF00"/>
              </a:highlight>
            </a:endParaRPr>
          </a:p>
        </p:txBody>
      </p:sp>
      <p:sp>
        <p:nvSpPr>
          <p:cNvPr id="30" name="标题 1">
            <a:extLst>
              <a:ext uri="{FF2B5EF4-FFF2-40B4-BE49-F238E27FC236}">
                <a16:creationId xmlns:a16="http://schemas.microsoft.com/office/drawing/2014/main" id="{8D66D751-0B7E-4E94-A90D-757597AC920B}"/>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实践问题的理论化：概述</a:t>
            </a:r>
            <a:endParaRPr lang="zh-CN" altLang="en-US" sz="3300" dirty="0"/>
          </a:p>
          <a:p>
            <a:endParaRPr lang="zh-CN" altLang="en-US" sz="3300" dirty="0">
              <a:latin typeface="+mn-ea"/>
              <a:ea typeface="+mn-ea"/>
            </a:endParaRPr>
          </a:p>
        </p:txBody>
      </p:sp>
    </p:spTree>
    <p:extLst>
      <p:ext uri="{BB962C8B-B14F-4D97-AF65-F5344CB8AC3E}">
        <p14:creationId xmlns:p14="http://schemas.microsoft.com/office/powerpoint/2010/main" val="3303861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500"/>
                                        <p:tgtEl>
                                          <p:spTgt spid="2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500"/>
                                        <p:tgtEl>
                                          <p:spTgt spid="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1" end="1"/>
                                            </p:txEl>
                                          </p:spTgt>
                                        </p:tgtEl>
                                        <p:attrNameLst>
                                          <p:attrName>style.visibility</p:attrName>
                                        </p:attrNameLst>
                                      </p:cBhvr>
                                      <p:to>
                                        <p:strVal val="visible"/>
                                      </p:to>
                                    </p:set>
                                    <p:animEffect transition="in" filter="fade">
                                      <p:cBhvr>
                                        <p:cTn id="4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p:bldP spid="20" grpId="0" animBg="1"/>
      <p:bldP spid="22" grpId="0" animBg="1"/>
      <p:bldP spid="23" grpId="0"/>
      <p:bldP spid="24" grpId="0" animBg="1"/>
      <p:bldP spid="2" grpId="0" animBg="1"/>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2">
            <a:extLst>
              <a:ext uri="{FF2B5EF4-FFF2-40B4-BE49-F238E27FC236}">
                <a16:creationId xmlns:a16="http://schemas.microsoft.com/office/drawing/2014/main" id="{0F4D48D4-C1E9-4060-8E52-D6211E9BFB9D}"/>
              </a:ext>
            </a:extLst>
          </p:cNvPr>
          <p:cNvSpPr txBox="1"/>
          <p:nvPr/>
        </p:nvSpPr>
        <p:spPr>
          <a:xfrm>
            <a:off x="435163" y="4314620"/>
            <a:ext cx="5301608" cy="913033"/>
          </a:xfrm>
          <a:prstGeom prst="rect">
            <a:avLst/>
          </a:prstGeom>
          <a:solidFill>
            <a:schemeClr val="accent2">
              <a:lumMod val="20000"/>
              <a:lumOff val="80000"/>
            </a:schemeClr>
          </a:solidFill>
          <a:ln w="25400">
            <a:noFill/>
            <a:prstDash val="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endParaRPr lang="en-US" altLang="zh-CN" sz="2000" dirty="0">
              <a:latin typeface="+mn-ea"/>
            </a:endParaRPr>
          </a:p>
        </p:txBody>
      </p:sp>
      <p:sp>
        <p:nvSpPr>
          <p:cNvPr id="6" name="内容占位符 2">
            <a:extLst>
              <a:ext uri="{FF2B5EF4-FFF2-40B4-BE49-F238E27FC236}">
                <a16:creationId xmlns:a16="http://schemas.microsoft.com/office/drawing/2014/main" id="{F01327FD-E5DE-4956-AADA-01C4253677D3}"/>
              </a:ext>
            </a:extLst>
          </p:cNvPr>
          <p:cNvSpPr txBox="1"/>
          <p:nvPr/>
        </p:nvSpPr>
        <p:spPr>
          <a:xfrm>
            <a:off x="546111" y="1498824"/>
            <a:ext cx="1690121" cy="427511"/>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2000" dirty="0">
                <a:latin typeface="+mn-ea"/>
              </a:rPr>
              <a:t>1</a:t>
            </a:r>
            <a:r>
              <a:rPr lang="zh-CN" altLang="en-US" sz="2000" dirty="0">
                <a:latin typeface="+mn-ea"/>
              </a:rPr>
              <a:t>、</a:t>
            </a:r>
            <a:r>
              <a:rPr lang="zh-CN" altLang="en-US" sz="2000" dirty="0">
                <a:highlight>
                  <a:srgbClr val="FF0000"/>
                </a:highlight>
                <a:latin typeface="+mn-ea"/>
              </a:rPr>
              <a:t>实践问题</a:t>
            </a:r>
            <a:endParaRPr lang="en-US" altLang="zh-CN" sz="2000" dirty="0">
              <a:highlight>
                <a:srgbClr val="FF0000"/>
              </a:highlight>
              <a:latin typeface="+mn-ea"/>
            </a:endParaRPr>
          </a:p>
        </p:txBody>
      </p:sp>
      <p:sp>
        <p:nvSpPr>
          <p:cNvPr id="9" name="内容占位符 2">
            <a:extLst>
              <a:ext uri="{FF2B5EF4-FFF2-40B4-BE49-F238E27FC236}">
                <a16:creationId xmlns:a16="http://schemas.microsoft.com/office/drawing/2014/main" id="{54AB44BA-6573-4BEC-917F-8685D278F814}"/>
              </a:ext>
            </a:extLst>
          </p:cNvPr>
          <p:cNvSpPr txBox="1"/>
          <p:nvPr/>
        </p:nvSpPr>
        <p:spPr>
          <a:xfrm>
            <a:off x="546111" y="4371802"/>
            <a:ext cx="1690123" cy="719154"/>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2000" dirty="0">
                <a:latin typeface="+mn-ea"/>
              </a:rPr>
              <a:t>2</a:t>
            </a:r>
            <a:r>
              <a:rPr lang="zh-CN" altLang="en-US" sz="2000" dirty="0">
                <a:latin typeface="+mn-ea"/>
              </a:rPr>
              <a:t>、某一类理论问题</a:t>
            </a:r>
            <a:endParaRPr lang="en-US" altLang="zh-CN" sz="2000" dirty="0">
              <a:latin typeface="+mn-ea"/>
            </a:endParaRPr>
          </a:p>
        </p:txBody>
      </p:sp>
      <p:sp>
        <p:nvSpPr>
          <p:cNvPr id="10" name="虚尾箭头 13">
            <a:extLst>
              <a:ext uri="{FF2B5EF4-FFF2-40B4-BE49-F238E27FC236}">
                <a16:creationId xmlns:a16="http://schemas.microsoft.com/office/drawing/2014/main" id="{7B8465B6-D06A-4145-B88B-F0500B04A4CA}"/>
              </a:ext>
            </a:extLst>
          </p:cNvPr>
          <p:cNvSpPr/>
          <p:nvPr/>
        </p:nvSpPr>
        <p:spPr>
          <a:xfrm rot="5400000">
            <a:off x="1368637" y="2856348"/>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1" name="内容占位符 2">
            <a:extLst>
              <a:ext uri="{FF2B5EF4-FFF2-40B4-BE49-F238E27FC236}">
                <a16:creationId xmlns:a16="http://schemas.microsoft.com/office/drawing/2014/main" id="{BAC89588-ADFA-41EE-9DB2-D4449715C17A}"/>
              </a:ext>
            </a:extLst>
          </p:cNvPr>
          <p:cNvSpPr txBox="1"/>
          <p:nvPr/>
        </p:nvSpPr>
        <p:spPr>
          <a:xfrm>
            <a:off x="3186553" y="4561431"/>
            <a:ext cx="2408104" cy="424427"/>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altLang="zh-CN" sz="2000" dirty="0">
                <a:latin typeface="+mn-ea"/>
              </a:rPr>
              <a:t>3</a:t>
            </a:r>
            <a:r>
              <a:rPr lang="zh-CN" altLang="en-US" sz="2000" dirty="0">
                <a:latin typeface="+mn-ea"/>
              </a:rPr>
              <a:t>、一般性解决方案</a:t>
            </a:r>
            <a:endParaRPr lang="en-US" altLang="zh-CN" sz="2000" dirty="0">
              <a:latin typeface="+mn-ea"/>
            </a:endParaRPr>
          </a:p>
        </p:txBody>
      </p:sp>
      <p:sp>
        <p:nvSpPr>
          <p:cNvPr id="12" name="虚尾箭头 13">
            <a:extLst>
              <a:ext uri="{FF2B5EF4-FFF2-40B4-BE49-F238E27FC236}">
                <a16:creationId xmlns:a16="http://schemas.microsoft.com/office/drawing/2014/main" id="{B0CCA29D-8EA1-4C31-9F24-853504B41E84}"/>
              </a:ext>
            </a:extLst>
          </p:cNvPr>
          <p:cNvSpPr/>
          <p:nvPr/>
        </p:nvSpPr>
        <p:spPr>
          <a:xfrm>
            <a:off x="2392420" y="4524440"/>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4" name="矩形 13">
            <a:extLst>
              <a:ext uri="{FF2B5EF4-FFF2-40B4-BE49-F238E27FC236}">
                <a16:creationId xmlns:a16="http://schemas.microsoft.com/office/drawing/2014/main" id="{CFF30E44-D51D-4A36-8F59-1A6BD90C64AF}"/>
              </a:ext>
            </a:extLst>
          </p:cNvPr>
          <p:cNvSpPr/>
          <p:nvPr/>
        </p:nvSpPr>
        <p:spPr>
          <a:xfrm>
            <a:off x="353190" y="2718306"/>
            <a:ext cx="961451" cy="600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tx1"/>
                </a:solidFill>
                <a:highlight>
                  <a:srgbClr val="FFFF00"/>
                </a:highlight>
              </a:rPr>
              <a:t>理论化：</a:t>
            </a:r>
            <a:endParaRPr lang="en-US" altLang="zh-CN" sz="2000" b="1" dirty="0">
              <a:solidFill>
                <a:schemeClr val="tx1"/>
              </a:solidFill>
              <a:highlight>
                <a:srgbClr val="FFFF00"/>
              </a:highlight>
            </a:endParaRPr>
          </a:p>
          <a:p>
            <a:r>
              <a:rPr lang="zh-CN" altLang="en-US" sz="2000" b="1" dirty="0">
                <a:solidFill>
                  <a:schemeClr val="tx1"/>
                </a:solidFill>
                <a:highlight>
                  <a:srgbClr val="FFFF00"/>
                </a:highlight>
              </a:rPr>
              <a:t>一般性</a:t>
            </a:r>
            <a:endParaRPr lang="en-US" altLang="zh-CN" sz="2000" b="1" dirty="0">
              <a:solidFill>
                <a:schemeClr val="tx1"/>
              </a:solidFill>
              <a:highlight>
                <a:srgbClr val="FFFF00"/>
              </a:highlight>
            </a:endParaRPr>
          </a:p>
        </p:txBody>
      </p:sp>
      <p:sp>
        <p:nvSpPr>
          <p:cNvPr id="17" name="虚尾箭头 13">
            <a:extLst>
              <a:ext uri="{FF2B5EF4-FFF2-40B4-BE49-F238E27FC236}">
                <a16:creationId xmlns:a16="http://schemas.microsoft.com/office/drawing/2014/main" id="{BA4435D5-8845-44D1-8AD3-5E600CEFDFD9}"/>
              </a:ext>
            </a:extLst>
          </p:cNvPr>
          <p:cNvSpPr/>
          <p:nvPr/>
        </p:nvSpPr>
        <p:spPr>
          <a:xfrm>
            <a:off x="5841286" y="4524440"/>
            <a:ext cx="1421069" cy="486568"/>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8" name="内容占位符 2">
            <a:extLst>
              <a:ext uri="{FF2B5EF4-FFF2-40B4-BE49-F238E27FC236}">
                <a16:creationId xmlns:a16="http://schemas.microsoft.com/office/drawing/2014/main" id="{458FEB39-5BE1-42AD-91E3-9177E0898229}"/>
              </a:ext>
            </a:extLst>
          </p:cNvPr>
          <p:cNvSpPr txBox="1"/>
          <p:nvPr/>
        </p:nvSpPr>
        <p:spPr>
          <a:xfrm>
            <a:off x="5752201" y="5011008"/>
            <a:ext cx="1246909" cy="668044"/>
          </a:xfrm>
          <a:prstGeom prst="rect">
            <a:avLst/>
          </a:prstGeom>
          <a:ln w="12700">
            <a:no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分析现有理论状态</a:t>
            </a:r>
            <a:endParaRPr lang="en-US" altLang="zh-CN" sz="2000" dirty="0">
              <a:latin typeface="+mn-ea"/>
            </a:endParaRPr>
          </a:p>
        </p:txBody>
      </p:sp>
      <p:sp>
        <p:nvSpPr>
          <p:cNvPr id="20" name="内容占位符 2">
            <a:extLst>
              <a:ext uri="{FF2B5EF4-FFF2-40B4-BE49-F238E27FC236}">
                <a16:creationId xmlns:a16="http://schemas.microsoft.com/office/drawing/2014/main" id="{C84C3B6C-39DA-4526-BC38-B6EF74F473BE}"/>
              </a:ext>
            </a:extLst>
          </p:cNvPr>
          <p:cNvSpPr txBox="1"/>
          <p:nvPr/>
        </p:nvSpPr>
        <p:spPr>
          <a:xfrm>
            <a:off x="7309407" y="4402976"/>
            <a:ext cx="1555702" cy="668044"/>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highlight>
                  <a:srgbClr val="FF0000"/>
                </a:highlight>
                <a:latin typeface="+mn-ea"/>
              </a:rPr>
              <a:t>研究不足</a:t>
            </a:r>
            <a:r>
              <a:rPr lang="zh-CN" altLang="en-US" sz="2000" dirty="0">
                <a:latin typeface="+mn-ea"/>
              </a:rPr>
              <a:t>与研究问题</a:t>
            </a:r>
            <a:endParaRPr lang="en-US" altLang="zh-CN" sz="2000" dirty="0">
              <a:latin typeface="+mn-ea"/>
            </a:endParaRPr>
          </a:p>
        </p:txBody>
      </p:sp>
      <p:sp>
        <p:nvSpPr>
          <p:cNvPr id="22" name="虚尾箭头 13">
            <a:extLst>
              <a:ext uri="{FF2B5EF4-FFF2-40B4-BE49-F238E27FC236}">
                <a16:creationId xmlns:a16="http://schemas.microsoft.com/office/drawing/2014/main" id="{601A163B-3958-4151-AB5A-839D738D526B}"/>
              </a:ext>
            </a:extLst>
          </p:cNvPr>
          <p:cNvSpPr/>
          <p:nvPr/>
        </p:nvSpPr>
        <p:spPr>
          <a:xfrm>
            <a:off x="9041973" y="4579687"/>
            <a:ext cx="639950" cy="376074"/>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3" name="内容占位符 2">
            <a:extLst>
              <a:ext uri="{FF2B5EF4-FFF2-40B4-BE49-F238E27FC236}">
                <a16:creationId xmlns:a16="http://schemas.microsoft.com/office/drawing/2014/main" id="{729C9E65-74A6-464C-879E-467B27C68DDF}"/>
              </a:ext>
            </a:extLst>
          </p:cNvPr>
          <p:cNvSpPr txBox="1"/>
          <p:nvPr/>
        </p:nvSpPr>
        <p:spPr>
          <a:xfrm>
            <a:off x="8971937" y="4985858"/>
            <a:ext cx="902869" cy="668044"/>
          </a:xfrm>
          <a:prstGeom prst="rect">
            <a:avLst/>
          </a:prstGeom>
          <a:ln w="12700">
            <a:no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展开研究</a:t>
            </a:r>
            <a:endParaRPr lang="en-US" altLang="zh-CN" sz="2000" dirty="0">
              <a:latin typeface="+mn-ea"/>
            </a:endParaRPr>
          </a:p>
        </p:txBody>
      </p:sp>
      <p:sp>
        <p:nvSpPr>
          <p:cNvPr id="24" name="内容占位符 2">
            <a:extLst>
              <a:ext uri="{FF2B5EF4-FFF2-40B4-BE49-F238E27FC236}">
                <a16:creationId xmlns:a16="http://schemas.microsoft.com/office/drawing/2014/main" id="{62BA8482-F01B-4C67-A0B8-335B331676B6}"/>
              </a:ext>
            </a:extLst>
          </p:cNvPr>
          <p:cNvSpPr txBox="1"/>
          <p:nvPr/>
        </p:nvSpPr>
        <p:spPr>
          <a:xfrm>
            <a:off x="9751959" y="4441205"/>
            <a:ext cx="902869" cy="668044"/>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理论贡献</a:t>
            </a:r>
            <a:endParaRPr lang="en-US" altLang="zh-CN" sz="2000" dirty="0">
              <a:latin typeface="+mn-ea"/>
            </a:endParaRPr>
          </a:p>
        </p:txBody>
      </p:sp>
      <p:sp>
        <p:nvSpPr>
          <p:cNvPr id="25" name="内容占位符 2">
            <a:extLst>
              <a:ext uri="{FF2B5EF4-FFF2-40B4-BE49-F238E27FC236}">
                <a16:creationId xmlns:a16="http://schemas.microsoft.com/office/drawing/2014/main" id="{99E5222F-74EB-41FF-85B0-90171D16C7D8}"/>
              </a:ext>
            </a:extLst>
          </p:cNvPr>
          <p:cNvSpPr txBox="1"/>
          <p:nvPr/>
        </p:nvSpPr>
        <p:spPr>
          <a:xfrm>
            <a:off x="3092037" y="1508015"/>
            <a:ext cx="2408105" cy="427511"/>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2000" dirty="0">
                <a:latin typeface="+mn-ea"/>
              </a:rPr>
              <a:t>4</a:t>
            </a:r>
            <a:r>
              <a:rPr lang="zh-CN" altLang="en-US" sz="2000" dirty="0">
                <a:latin typeface="+mn-ea"/>
              </a:rPr>
              <a:t>、具体解决方案</a:t>
            </a:r>
            <a:endParaRPr lang="en-US" altLang="zh-CN" sz="2000" dirty="0">
              <a:latin typeface="+mn-ea"/>
            </a:endParaRPr>
          </a:p>
        </p:txBody>
      </p:sp>
      <p:sp>
        <p:nvSpPr>
          <p:cNvPr id="26" name="虚尾箭头 13">
            <a:extLst>
              <a:ext uri="{FF2B5EF4-FFF2-40B4-BE49-F238E27FC236}">
                <a16:creationId xmlns:a16="http://schemas.microsoft.com/office/drawing/2014/main" id="{EAAFC39F-68F7-48FA-B94A-38326860F996}"/>
              </a:ext>
            </a:extLst>
          </p:cNvPr>
          <p:cNvSpPr/>
          <p:nvPr/>
        </p:nvSpPr>
        <p:spPr>
          <a:xfrm rot="10800000">
            <a:off x="2357162" y="1489812"/>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 name="箭头: 右弧形 1">
            <a:extLst>
              <a:ext uri="{FF2B5EF4-FFF2-40B4-BE49-F238E27FC236}">
                <a16:creationId xmlns:a16="http://schemas.microsoft.com/office/drawing/2014/main" id="{CDA78803-877B-4A9E-9B69-FCDCFEDEA121}"/>
              </a:ext>
            </a:extLst>
          </p:cNvPr>
          <p:cNvSpPr/>
          <p:nvPr/>
        </p:nvSpPr>
        <p:spPr>
          <a:xfrm rot="5400000">
            <a:off x="6360871" y="2099761"/>
            <a:ext cx="925285" cy="727720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虚尾箭头 13">
            <a:extLst>
              <a:ext uri="{FF2B5EF4-FFF2-40B4-BE49-F238E27FC236}">
                <a16:creationId xmlns:a16="http://schemas.microsoft.com/office/drawing/2014/main" id="{F40B54D7-1FD1-4398-8DE9-41B28D617A59}"/>
              </a:ext>
            </a:extLst>
          </p:cNvPr>
          <p:cNvSpPr/>
          <p:nvPr/>
        </p:nvSpPr>
        <p:spPr>
          <a:xfrm rot="16200000">
            <a:off x="4047792" y="2831172"/>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8" name="内容占位符 2">
            <a:extLst>
              <a:ext uri="{FF2B5EF4-FFF2-40B4-BE49-F238E27FC236}">
                <a16:creationId xmlns:a16="http://schemas.microsoft.com/office/drawing/2014/main" id="{37969531-8887-42AC-BF19-0E6A2BCECFEE}"/>
              </a:ext>
            </a:extLst>
          </p:cNvPr>
          <p:cNvSpPr txBox="1"/>
          <p:nvPr/>
        </p:nvSpPr>
        <p:spPr>
          <a:xfrm>
            <a:off x="6336714" y="6285660"/>
            <a:ext cx="1479230" cy="410416"/>
          </a:xfrm>
          <a:prstGeom prst="rect">
            <a:avLst/>
          </a:prstGeom>
          <a:ln w="12700">
            <a:no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改进理论</a:t>
            </a:r>
            <a:endParaRPr lang="en-US" altLang="zh-CN" sz="2000" dirty="0">
              <a:latin typeface="+mn-ea"/>
            </a:endParaRPr>
          </a:p>
        </p:txBody>
      </p:sp>
      <p:sp>
        <p:nvSpPr>
          <p:cNvPr id="29" name="矩形 28">
            <a:extLst>
              <a:ext uri="{FF2B5EF4-FFF2-40B4-BE49-F238E27FC236}">
                <a16:creationId xmlns:a16="http://schemas.microsoft.com/office/drawing/2014/main" id="{8CF1254F-348B-446A-B0C2-A675B36A20AE}"/>
              </a:ext>
            </a:extLst>
          </p:cNvPr>
          <p:cNvSpPr/>
          <p:nvPr/>
        </p:nvSpPr>
        <p:spPr>
          <a:xfrm>
            <a:off x="4594377" y="2728763"/>
            <a:ext cx="1246909" cy="6139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tx1"/>
                </a:solidFill>
                <a:highlight>
                  <a:srgbClr val="FFFF00"/>
                </a:highlight>
              </a:rPr>
              <a:t>情境化</a:t>
            </a:r>
            <a:r>
              <a:rPr lang="en-US" altLang="zh-CN" sz="2000" b="1" dirty="0">
                <a:solidFill>
                  <a:schemeClr val="tx1"/>
                </a:solidFill>
                <a:highlight>
                  <a:srgbClr val="FFFF00"/>
                </a:highlight>
              </a:rPr>
              <a:t>:</a:t>
            </a:r>
          </a:p>
          <a:p>
            <a:r>
              <a:rPr lang="zh-CN" altLang="en-US" sz="2000" b="1" dirty="0">
                <a:solidFill>
                  <a:schemeClr val="tx1"/>
                </a:solidFill>
                <a:highlight>
                  <a:srgbClr val="FFFF00"/>
                </a:highlight>
              </a:rPr>
              <a:t>具体化</a:t>
            </a:r>
            <a:endParaRPr lang="en-US" altLang="zh-CN" sz="2000" b="1" dirty="0">
              <a:solidFill>
                <a:schemeClr val="tx1"/>
              </a:solidFill>
              <a:highlight>
                <a:srgbClr val="FFFF00"/>
              </a:highlight>
            </a:endParaRPr>
          </a:p>
        </p:txBody>
      </p:sp>
      <p:sp>
        <p:nvSpPr>
          <p:cNvPr id="30" name="标题 1">
            <a:extLst>
              <a:ext uri="{FF2B5EF4-FFF2-40B4-BE49-F238E27FC236}">
                <a16:creationId xmlns:a16="http://schemas.microsoft.com/office/drawing/2014/main" id="{8D66D751-0B7E-4E94-A90D-757597AC920B}"/>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实践问题的理论化：概述</a:t>
            </a:r>
            <a:endParaRPr lang="zh-CN" altLang="en-US" sz="3300" dirty="0"/>
          </a:p>
          <a:p>
            <a:endParaRPr lang="zh-CN" altLang="en-US" sz="3300" dirty="0">
              <a:latin typeface="+mn-ea"/>
              <a:ea typeface="+mn-ea"/>
            </a:endParaRPr>
          </a:p>
        </p:txBody>
      </p:sp>
      <p:grpSp>
        <p:nvGrpSpPr>
          <p:cNvPr id="4" name="组合 3">
            <a:extLst>
              <a:ext uri="{FF2B5EF4-FFF2-40B4-BE49-F238E27FC236}">
                <a16:creationId xmlns:a16="http://schemas.microsoft.com/office/drawing/2014/main" id="{1F4B65BA-7423-4B81-B804-3A8C9CBD546E}"/>
              </a:ext>
            </a:extLst>
          </p:cNvPr>
          <p:cNvGrpSpPr/>
          <p:nvPr/>
        </p:nvGrpSpPr>
        <p:grpSpPr>
          <a:xfrm>
            <a:off x="353191" y="1269640"/>
            <a:ext cx="11059244" cy="822341"/>
            <a:chOff x="468861" y="1269640"/>
            <a:chExt cx="10943573" cy="822341"/>
          </a:xfrm>
        </p:grpSpPr>
        <p:sp>
          <p:nvSpPr>
            <p:cNvPr id="31" name="内容占位符 2">
              <a:extLst>
                <a:ext uri="{FF2B5EF4-FFF2-40B4-BE49-F238E27FC236}">
                  <a16:creationId xmlns:a16="http://schemas.microsoft.com/office/drawing/2014/main" id="{7DC91BDC-2B9E-4D93-A804-87E9BE379AEC}"/>
                </a:ext>
              </a:extLst>
            </p:cNvPr>
            <p:cNvSpPr txBox="1"/>
            <p:nvPr/>
          </p:nvSpPr>
          <p:spPr>
            <a:xfrm>
              <a:off x="468861" y="1269640"/>
              <a:ext cx="10943573" cy="822341"/>
            </a:xfrm>
            <a:prstGeom prst="rect">
              <a:avLst/>
            </a:prstGeom>
            <a:noFill/>
            <a:ln w="12700">
              <a:solidFill>
                <a:srgbClr val="7030A0"/>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endParaRPr lang="en-US" altLang="zh-CN" sz="2000" dirty="0">
                <a:latin typeface="+mn-ea"/>
              </a:endParaRPr>
            </a:p>
          </p:txBody>
        </p:sp>
        <p:sp>
          <p:nvSpPr>
            <p:cNvPr id="32" name="内容占位符 2">
              <a:extLst>
                <a:ext uri="{FF2B5EF4-FFF2-40B4-BE49-F238E27FC236}">
                  <a16:creationId xmlns:a16="http://schemas.microsoft.com/office/drawing/2014/main" id="{7D8E4B4A-7E25-4AD8-AE55-4DC4DB1577EA}"/>
                </a:ext>
              </a:extLst>
            </p:cNvPr>
            <p:cNvSpPr txBox="1"/>
            <p:nvPr/>
          </p:nvSpPr>
          <p:spPr>
            <a:xfrm>
              <a:off x="10073823" y="1294259"/>
              <a:ext cx="1338611" cy="427511"/>
            </a:xfrm>
            <a:prstGeom prst="rect">
              <a:avLst/>
            </a:prstGeom>
            <a:solidFill>
              <a:srgbClr val="7030A0"/>
            </a:solidFill>
            <a:ln w="12700">
              <a:solidFill>
                <a:srgbClr val="7030A0"/>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solidFill>
                    <a:schemeClr val="bg1"/>
                  </a:solidFill>
                  <a:latin typeface="+mn-ea"/>
                </a:rPr>
                <a:t>咨询工作</a:t>
              </a:r>
              <a:endParaRPr lang="en-US" altLang="zh-CN" sz="2000" dirty="0">
                <a:solidFill>
                  <a:schemeClr val="bg1"/>
                </a:solidFill>
                <a:latin typeface="+mn-ea"/>
              </a:endParaRPr>
            </a:p>
          </p:txBody>
        </p:sp>
      </p:grpSp>
      <p:grpSp>
        <p:nvGrpSpPr>
          <p:cNvPr id="7" name="组合 6">
            <a:extLst>
              <a:ext uri="{FF2B5EF4-FFF2-40B4-BE49-F238E27FC236}">
                <a16:creationId xmlns:a16="http://schemas.microsoft.com/office/drawing/2014/main" id="{D160024A-019B-4922-ABA5-7D78B920D84A}"/>
              </a:ext>
            </a:extLst>
          </p:cNvPr>
          <p:cNvGrpSpPr/>
          <p:nvPr/>
        </p:nvGrpSpPr>
        <p:grpSpPr>
          <a:xfrm>
            <a:off x="326867" y="3878036"/>
            <a:ext cx="11085567" cy="2818040"/>
            <a:chOff x="388900" y="3878036"/>
            <a:chExt cx="11023534" cy="2818040"/>
          </a:xfrm>
        </p:grpSpPr>
        <p:sp>
          <p:nvSpPr>
            <p:cNvPr id="33" name="内容占位符 2">
              <a:extLst>
                <a:ext uri="{FF2B5EF4-FFF2-40B4-BE49-F238E27FC236}">
                  <a16:creationId xmlns:a16="http://schemas.microsoft.com/office/drawing/2014/main" id="{320B069D-9198-4271-8B6B-99682D647FD7}"/>
                </a:ext>
              </a:extLst>
            </p:cNvPr>
            <p:cNvSpPr txBox="1"/>
            <p:nvPr/>
          </p:nvSpPr>
          <p:spPr>
            <a:xfrm>
              <a:off x="388900" y="3878036"/>
              <a:ext cx="11023534" cy="2818040"/>
            </a:xfrm>
            <a:prstGeom prst="rect">
              <a:avLst/>
            </a:prstGeom>
            <a:noFill/>
            <a:ln w="12700">
              <a:solidFill>
                <a:srgbClr val="7030A0"/>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endParaRPr lang="en-US" altLang="zh-CN" sz="2000" dirty="0">
                <a:latin typeface="+mn-ea"/>
              </a:endParaRPr>
            </a:p>
          </p:txBody>
        </p:sp>
        <p:sp>
          <p:nvSpPr>
            <p:cNvPr id="34" name="内容占位符 2">
              <a:extLst>
                <a:ext uri="{FF2B5EF4-FFF2-40B4-BE49-F238E27FC236}">
                  <a16:creationId xmlns:a16="http://schemas.microsoft.com/office/drawing/2014/main" id="{6E8E9C6A-221B-437B-862F-B9D7720930FE}"/>
                </a:ext>
              </a:extLst>
            </p:cNvPr>
            <p:cNvSpPr txBox="1"/>
            <p:nvPr/>
          </p:nvSpPr>
          <p:spPr>
            <a:xfrm>
              <a:off x="8041822" y="3891285"/>
              <a:ext cx="3370612" cy="427511"/>
            </a:xfrm>
            <a:prstGeom prst="rect">
              <a:avLst/>
            </a:prstGeom>
            <a:solidFill>
              <a:srgbClr val="7030A0"/>
            </a:solidFill>
            <a:ln w="12700">
              <a:solidFill>
                <a:srgbClr val="7030A0"/>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solidFill>
                    <a:schemeClr val="bg1"/>
                  </a:solidFill>
                  <a:latin typeface="+mn-ea"/>
                </a:rPr>
                <a:t>仅从理论中获得的研究不足</a:t>
              </a:r>
              <a:endParaRPr lang="en-US" altLang="zh-CN" sz="2000" dirty="0">
                <a:solidFill>
                  <a:schemeClr val="bg1"/>
                </a:solidFill>
                <a:latin typeface="+mn-ea"/>
              </a:endParaRPr>
            </a:p>
          </p:txBody>
        </p:sp>
      </p:grpSp>
      <p:grpSp>
        <p:nvGrpSpPr>
          <p:cNvPr id="3" name="组合 2">
            <a:extLst>
              <a:ext uri="{FF2B5EF4-FFF2-40B4-BE49-F238E27FC236}">
                <a16:creationId xmlns:a16="http://schemas.microsoft.com/office/drawing/2014/main" id="{0ABDCA50-2C0A-4FF3-B720-6508A14C56A6}"/>
              </a:ext>
            </a:extLst>
          </p:cNvPr>
          <p:cNvGrpSpPr/>
          <p:nvPr/>
        </p:nvGrpSpPr>
        <p:grpSpPr>
          <a:xfrm>
            <a:off x="353190" y="2537073"/>
            <a:ext cx="11085567" cy="952592"/>
            <a:chOff x="353190" y="2537073"/>
            <a:chExt cx="11085567" cy="952592"/>
          </a:xfrm>
        </p:grpSpPr>
        <p:sp>
          <p:nvSpPr>
            <p:cNvPr id="36" name="内容占位符 2">
              <a:extLst>
                <a:ext uri="{FF2B5EF4-FFF2-40B4-BE49-F238E27FC236}">
                  <a16:creationId xmlns:a16="http://schemas.microsoft.com/office/drawing/2014/main" id="{AF3B670C-3BB3-4387-A905-A90D2DB25DC8}"/>
                </a:ext>
              </a:extLst>
            </p:cNvPr>
            <p:cNvSpPr txBox="1"/>
            <p:nvPr/>
          </p:nvSpPr>
          <p:spPr>
            <a:xfrm>
              <a:off x="353190" y="2537073"/>
              <a:ext cx="11085567" cy="952592"/>
            </a:xfrm>
            <a:prstGeom prst="rect">
              <a:avLst/>
            </a:prstGeom>
            <a:noFill/>
            <a:ln w="12700">
              <a:solidFill>
                <a:srgbClr val="7030A0"/>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endParaRPr lang="en-US" altLang="zh-CN" sz="2000" dirty="0">
                <a:latin typeface="+mn-ea"/>
              </a:endParaRPr>
            </a:p>
          </p:txBody>
        </p:sp>
        <p:sp>
          <p:nvSpPr>
            <p:cNvPr id="35" name="内容占位符 2">
              <a:extLst>
                <a:ext uri="{FF2B5EF4-FFF2-40B4-BE49-F238E27FC236}">
                  <a16:creationId xmlns:a16="http://schemas.microsoft.com/office/drawing/2014/main" id="{B341A691-E3CE-4262-B959-39DE72E3CC16}"/>
                </a:ext>
              </a:extLst>
            </p:cNvPr>
            <p:cNvSpPr txBox="1"/>
            <p:nvPr/>
          </p:nvSpPr>
          <p:spPr>
            <a:xfrm>
              <a:off x="8983848" y="2557497"/>
              <a:ext cx="2439090" cy="427511"/>
            </a:xfrm>
            <a:prstGeom prst="rect">
              <a:avLst/>
            </a:prstGeom>
            <a:solidFill>
              <a:srgbClr val="7030A0"/>
            </a:solidFill>
            <a:ln w="12700">
              <a:solidFill>
                <a:srgbClr val="7030A0"/>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None/>
              </a:pPr>
              <a:r>
                <a:rPr lang="zh-CN" altLang="en-US" sz="2000" dirty="0">
                  <a:solidFill>
                    <a:schemeClr val="bg1"/>
                  </a:solidFill>
                  <a:latin typeface="+mn-ea"/>
                </a:rPr>
                <a:t>理论与实践的结合</a:t>
              </a:r>
              <a:endParaRPr lang="en-US" altLang="zh-CN" sz="2000" dirty="0">
                <a:solidFill>
                  <a:schemeClr val="bg1"/>
                </a:solidFill>
                <a:latin typeface="+mn-ea"/>
              </a:endParaRPr>
            </a:p>
          </p:txBody>
        </p:sp>
      </p:grpSp>
    </p:spTree>
    <p:extLst>
      <p:ext uri="{BB962C8B-B14F-4D97-AF65-F5344CB8AC3E}">
        <p14:creationId xmlns:p14="http://schemas.microsoft.com/office/powerpoint/2010/main" val="163559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p:bldP spid="27" grpId="0" animBg="1"/>
      <p:bldP spid="2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F4B22DE8-5854-4159-AECD-B35234AE65E4}"/>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实践问题的理论化：概述</a:t>
            </a:r>
            <a:endParaRPr lang="zh-CN" altLang="en-US" sz="3300" dirty="0"/>
          </a:p>
          <a:p>
            <a:endParaRPr lang="zh-CN" altLang="en-US" sz="3300" dirty="0">
              <a:latin typeface="+mn-ea"/>
              <a:ea typeface="+mn-ea"/>
            </a:endParaRPr>
          </a:p>
        </p:txBody>
      </p:sp>
      <p:sp>
        <p:nvSpPr>
          <p:cNvPr id="19" name="内容占位符 2">
            <a:extLst>
              <a:ext uri="{FF2B5EF4-FFF2-40B4-BE49-F238E27FC236}">
                <a16:creationId xmlns:a16="http://schemas.microsoft.com/office/drawing/2014/main" id="{ADA92D51-5F9A-43C5-AB63-6DEA80EB2D91}"/>
              </a:ext>
            </a:extLst>
          </p:cNvPr>
          <p:cNvSpPr txBox="1"/>
          <p:nvPr/>
        </p:nvSpPr>
        <p:spPr>
          <a:xfrm>
            <a:off x="2810511" y="1732158"/>
            <a:ext cx="1690121" cy="427511"/>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2000" dirty="0">
                <a:latin typeface="+mn-ea"/>
              </a:rPr>
              <a:t>1</a:t>
            </a:r>
            <a:r>
              <a:rPr lang="zh-CN" altLang="en-US" sz="2000" dirty="0">
                <a:latin typeface="+mn-ea"/>
              </a:rPr>
              <a:t>、实践问题</a:t>
            </a:r>
            <a:endParaRPr lang="en-US" altLang="zh-CN" sz="2000" dirty="0">
              <a:latin typeface="+mn-ea"/>
            </a:endParaRPr>
          </a:p>
        </p:txBody>
      </p:sp>
      <p:sp>
        <p:nvSpPr>
          <p:cNvPr id="20" name="内容占位符 2">
            <a:extLst>
              <a:ext uri="{FF2B5EF4-FFF2-40B4-BE49-F238E27FC236}">
                <a16:creationId xmlns:a16="http://schemas.microsoft.com/office/drawing/2014/main" id="{504E3E89-4140-413F-B603-3A52F17A7464}"/>
              </a:ext>
            </a:extLst>
          </p:cNvPr>
          <p:cNvSpPr txBox="1"/>
          <p:nvPr/>
        </p:nvSpPr>
        <p:spPr>
          <a:xfrm>
            <a:off x="5450953" y="1732158"/>
            <a:ext cx="2408105" cy="427511"/>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2000" dirty="0">
                <a:latin typeface="+mn-ea"/>
              </a:rPr>
              <a:t>4</a:t>
            </a:r>
            <a:r>
              <a:rPr lang="zh-CN" altLang="en-US" sz="2000" dirty="0">
                <a:latin typeface="+mn-ea"/>
              </a:rPr>
              <a:t>、具体解决方案</a:t>
            </a:r>
            <a:endParaRPr lang="en-US" altLang="zh-CN" sz="2000" dirty="0">
              <a:latin typeface="+mn-ea"/>
            </a:endParaRPr>
          </a:p>
        </p:txBody>
      </p:sp>
      <p:sp>
        <p:nvSpPr>
          <p:cNvPr id="21" name="虚尾箭头 13">
            <a:extLst>
              <a:ext uri="{FF2B5EF4-FFF2-40B4-BE49-F238E27FC236}">
                <a16:creationId xmlns:a16="http://schemas.microsoft.com/office/drawing/2014/main" id="{173C8B7C-FC3E-4CD4-8D28-59F2400FA0D2}"/>
              </a:ext>
            </a:extLst>
          </p:cNvPr>
          <p:cNvSpPr/>
          <p:nvPr/>
        </p:nvSpPr>
        <p:spPr>
          <a:xfrm rot="10800000">
            <a:off x="4647846" y="1766526"/>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2" name="内容占位符 2">
            <a:extLst>
              <a:ext uri="{FF2B5EF4-FFF2-40B4-BE49-F238E27FC236}">
                <a16:creationId xmlns:a16="http://schemas.microsoft.com/office/drawing/2014/main" id="{F9153E75-2AA9-4D72-BD77-35B05DC3B509}"/>
              </a:ext>
            </a:extLst>
          </p:cNvPr>
          <p:cNvSpPr txBox="1"/>
          <p:nvPr/>
        </p:nvSpPr>
        <p:spPr>
          <a:xfrm>
            <a:off x="2810511" y="2841652"/>
            <a:ext cx="1690123" cy="719154"/>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2000" dirty="0">
                <a:latin typeface="+mn-ea"/>
              </a:rPr>
              <a:t>2</a:t>
            </a:r>
            <a:r>
              <a:rPr lang="zh-CN" altLang="en-US" sz="2000" dirty="0">
                <a:latin typeface="+mn-ea"/>
              </a:rPr>
              <a:t>、某一类理论问题</a:t>
            </a:r>
            <a:endParaRPr lang="en-US" altLang="zh-CN" sz="2000" dirty="0">
              <a:latin typeface="+mn-ea"/>
            </a:endParaRPr>
          </a:p>
        </p:txBody>
      </p:sp>
      <p:sp>
        <p:nvSpPr>
          <p:cNvPr id="23" name="虚尾箭头 13">
            <a:extLst>
              <a:ext uri="{FF2B5EF4-FFF2-40B4-BE49-F238E27FC236}">
                <a16:creationId xmlns:a16="http://schemas.microsoft.com/office/drawing/2014/main" id="{A55755AF-0564-484D-AF9A-8EDE1D6CE9CA}"/>
              </a:ext>
            </a:extLst>
          </p:cNvPr>
          <p:cNvSpPr/>
          <p:nvPr/>
        </p:nvSpPr>
        <p:spPr>
          <a:xfrm rot="5400000">
            <a:off x="3574361" y="2287254"/>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4" name="内容占位符 2">
            <a:extLst>
              <a:ext uri="{FF2B5EF4-FFF2-40B4-BE49-F238E27FC236}">
                <a16:creationId xmlns:a16="http://schemas.microsoft.com/office/drawing/2014/main" id="{24BEDDA4-38CB-4166-BD22-EA8435B3A830}"/>
              </a:ext>
            </a:extLst>
          </p:cNvPr>
          <p:cNvSpPr txBox="1"/>
          <p:nvPr/>
        </p:nvSpPr>
        <p:spPr>
          <a:xfrm>
            <a:off x="5450953" y="3031281"/>
            <a:ext cx="2408104" cy="424427"/>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altLang="zh-CN" sz="2000" dirty="0">
                <a:latin typeface="+mn-ea"/>
              </a:rPr>
              <a:t>3</a:t>
            </a:r>
            <a:r>
              <a:rPr lang="zh-CN" altLang="en-US" sz="2000" dirty="0">
                <a:latin typeface="+mn-ea"/>
              </a:rPr>
              <a:t>、一般性解决方案</a:t>
            </a:r>
            <a:endParaRPr lang="en-US" altLang="zh-CN" sz="2000" dirty="0">
              <a:latin typeface="+mn-ea"/>
            </a:endParaRPr>
          </a:p>
        </p:txBody>
      </p:sp>
      <p:sp>
        <p:nvSpPr>
          <p:cNvPr id="25" name="虚尾箭头 13">
            <a:extLst>
              <a:ext uri="{FF2B5EF4-FFF2-40B4-BE49-F238E27FC236}">
                <a16:creationId xmlns:a16="http://schemas.microsoft.com/office/drawing/2014/main" id="{C25D1EEB-9025-4F30-8AFF-E3A7C847763C}"/>
              </a:ext>
            </a:extLst>
          </p:cNvPr>
          <p:cNvSpPr/>
          <p:nvPr/>
        </p:nvSpPr>
        <p:spPr>
          <a:xfrm>
            <a:off x="4656820" y="2994290"/>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6" name="虚尾箭头 13">
            <a:extLst>
              <a:ext uri="{FF2B5EF4-FFF2-40B4-BE49-F238E27FC236}">
                <a16:creationId xmlns:a16="http://schemas.microsoft.com/office/drawing/2014/main" id="{8B01A8E1-0EB5-4505-9FA8-4E4E469905F7}"/>
              </a:ext>
            </a:extLst>
          </p:cNvPr>
          <p:cNvSpPr/>
          <p:nvPr/>
        </p:nvSpPr>
        <p:spPr>
          <a:xfrm rot="16200000">
            <a:off x="6180758" y="2286905"/>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7" name="矩形 26">
            <a:extLst>
              <a:ext uri="{FF2B5EF4-FFF2-40B4-BE49-F238E27FC236}">
                <a16:creationId xmlns:a16="http://schemas.microsoft.com/office/drawing/2014/main" id="{FF88649E-180D-416C-B395-EDA504E61ECA}"/>
              </a:ext>
            </a:extLst>
          </p:cNvPr>
          <p:cNvSpPr/>
          <p:nvPr/>
        </p:nvSpPr>
        <p:spPr>
          <a:xfrm>
            <a:off x="2558914" y="2149212"/>
            <a:ext cx="961451" cy="600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tx1"/>
                </a:solidFill>
                <a:highlight>
                  <a:srgbClr val="FFFF00"/>
                </a:highlight>
              </a:rPr>
              <a:t>理论化：</a:t>
            </a:r>
            <a:endParaRPr lang="en-US" altLang="zh-CN" sz="2000" b="1" dirty="0">
              <a:solidFill>
                <a:schemeClr val="tx1"/>
              </a:solidFill>
              <a:highlight>
                <a:srgbClr val="FFFF00"/>
              </a:highlight>
            </a:endParaRPr>
          </a:p>
          <a:p>
            <a:r>
              <a:rPr lang="zh-CN" altLang="en-US" sz="2000" b="1" dirty="0">
                <a:solidFill>
                  <a:schemeClr val="tx1"/>
                </a:solidFill>
                <a:highlight>
                  <a:srgbClr val="FFFF00"/>
                </a:highlight>
              </a:rPr>
              <a:t>一般性</a:t>
            </a:r>
            <a:endParaRPr lang="en-US" altLang="zh-CN" sz="2000" b="1" dirty="0">
              <a:solidFill>
                <a:schemeClr val="tx1"/>
              </a:solidFill>
              <a:highlight>
                <a:srgbClr val="FFFF00"/>
              </a:highlight>
            </a:endParaRPr>
          </a:p>
        </p:txBody>
      </p:sp>
      <p:sp>
        <p:nvSpPr>
          <p:cNvPr id="28" name="矩形 27">
            <a:extLst>
              <a:ext uri="{FF2B5EF4-FFF2-40B4-BE49-F238E27FC236}">
                <a16:creationId xmlns:a16="http://schemas.microsoft.com/office/drawing/2014/main" id="{8E93494F-5877-4B9E-878A-B4A1446CDF99}"/>
              </a:ext>
            </a:extLst>
          </p:cNvPr>
          <p:cNvSpPr/>
          <p:nvPr/>
        </p:nvSpPr>
        <p:spPr>
          <a:xfrm>
            <a:off x="6802185" y="2210697"/>
            <a:ext cx="1246909" cy="6139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tx1"/>
                </a:solidFill>
                <a:highlight>
                  <a:srgbClr val="FFFF00"/>
                </a:highlight>
              </a:rPr>
              <a:t>情境化</a:t>
            </a:r>
            <a:r>
              <a:rPr lang="en-US" altLang="zh-CN" sz="2000" b="1" dirty="0">
                <a:solidFill>
                  <a:schemeClr val="tx1"/>
                </a:solidFill>
                <a:highlight>
                  <a:srgbClr val="FFFF00"/>
                </a:highlight>
              </a:rPr>
              <a:t>:</a:t>
            </a:r>
          </a:p>
          <a:p>
            <a:r>
              <a:rPr lang="zh-CN" altLang="en-US" sz="2000" b="1" dirty="0">
                <a:solidFill>
                  <a:schemeClr val="tx1"/>
                </a:solidFill>
                <a:highlight>
                  <a:srgbClr val="FFFF00"/>
                </a:highlight>
              </a:rPr>
              <a:t>具体化</a:t>
            </a:r>
            <a:endParaRPr lang="en-US" altLang="zh-CN" sz="2000" b="1" dirty="0">
              <a:solidFill>
                <a:schemeClr val="tx1"/>
              </a:solidFill>
              <a:highlight>
                <a:srgbClr val="FFFF00"/>
              </a:highlight>
            </a:endParaRPr>
          </a:p>
        </p:txBody>
      </p:sp>
      <p:sp>
        <p:nvSpPr>
          <p:cNvPr id="29" name="矩形 28">
            <a:extLst>
              <a:ext uri="{FF2B5EF4-FFF2-40B4-BE49-F238E27FC236}">
                <a16:creationId xmlns:a16="http://schemas.microsoft.com/office/drawing/2014/main" id="{98850480-AD07-4BFA-9AE6-E2212D0A0C1D}"/>
              </a:ext>
            </a:extLst>
          </p:cNvPr>
          <p:cNvSpPr/>
          <p:nvPr/>
        </p:nvSpPr>
        <p:spPr>
          <a:xfrm>
            <a:off x="729427" y="4740699"/>
            <a:ext cx="4502971" cy="1323439"/>
          </a:xfrm>
          <a:prstGeom prst="rect">
            <a:avLst/>
          </a:prstGeom>
        </p:spPr>
        <p:txBody>
          <a:bodyPr wrap="square">
            <a:spAutoFit/>
          </a:bodyPr>
          <a:lstStyle/>
          <a:p>
            <a:r>
              <a:rPr lang="zh-CN" altLang="en-US" sz="2000" b="1" kern="0" dirty="0">
                <a:latin typeface="+mj-ea"/>
                <a:ea typeface="+mj-ea"/>
                <a:cs typeface="Segoe UI" panose="020B0502040204020203" pitchFamily="34" charset="0"/>
              </a:rPr>
              <a:t>三个关键要素</a:t>
            </a:r>
            <a:endParaRPr lang="en-US" altLang="zh-CN" sz="2000" b="1" kern="0" dirty="0">
              <a:latin typeface="+mj-ea"/>
              <a:ea typeface="+mj-ea"/>
              <a:cs typeface="Segoe UI" panose="020B0502040204020203" pitchFamily="34" charset="0"/>
            </a:endParaRPr>
          </a:p>
          <a:p>
            <a:pPr marL="342900" indent="-342900">
              <a:buFont typeface="Arial" panose="020B0604020202020204" pitchFamily="34" charset="0"/>
              <a:buChar char="•"/>
            </a:pPr>
            <a:r>
              <a:rPr lang="zh-CN" altLang="en-US" sz="2000" kern="0" dirty="0">
                <a:latin typeface="+mj-ea"/>
                <a:ea typeface="+mj-ea"/>
                <a:cs typeface="Segoe UI" panose="020B0502040204020203" pitchFamily="34" charset="0"/>
              </a:rPr>
              <a:t>问题</a:t>
            </a:r>
            <a:endParaRPr lang="en-US" altLang="zh-CN" sz="2000" kern="0" dirty="0">
              <a:latin typeface="+mj-ea"/>
              <a:ea typeface="+mj-ea"/>
              <a:cs typeface="Segoe UI" panose="020B0502040204020203" pitchFamily="34" charset="0"/>
            </a:endParaRPr>
          </a:p>
          <a:p>
            <a:pPr marL="342900" indent="-342900">
              <a:buFont typeface="Arial" panose="020B0604020202020204" pitchFamily="34" charset="0"/>
              <a:buChar char="•"/>
            </a:pPr>
            <a:r>
              <a:rPr lang="zh-CN" altLang="en-US" sz="2000" kern="100" dirty="0">
                <a:latin typeface="+mj-ea"/>
                <a:ea typeface="+mj-ea"/>
                <a:cs typeface="Times New Roman" panose="02020603050405020304" pitchFamily="18" charset="0"/>
              </a:rPr>
              <a:t>情境：问题的一般性与特殊性</a:t>
            </a:r>
            <a:endParaRPr lang="en-US" altLang="zh-CN" sz="2000" kern="100" dirty="0">
              <a:latin typeface="+mj-ea"/>
              <a:ea typeface="+mj-ea"/>
              <a:cs typeface="Times New Roman" panose="02020603050405020304" pitchFamily="18" charset="0"/>
            </a:endParaRPr>
          </a:p>
          <a:p>
            <a:pPr marL="342900" indent="-342900">
              <a:buFont typeface="Arial" panose="020B0604020202020204" pitchFamily="34" charset="0"/>
              <a:buChar char="•"/>
            </a:pPr>
            <a:r>
              <a:rPr lang="zh-CN" altLang="en-US" sz="2000" kern="100" dirty="0">
                <a:latin typeface="+mj-ea"/>
                <a:ea typeface="+mj-ea"/>
                <a:cs typeface="Times New Roman" panose="02020603050405020304" pitchFamily="18" charset="0"/>
              </a:rPr>
              <a:t>解决方案</a:t>
            </a:r>
            <a:endParaRPr lang="zh-CN" altLang="zh-CN" sz="2000" kern="100" dirty="0">
              <a:latin typeface="+mj-ea"/>
              <a:ea typeface="+mj-ea"/>
              <a:cs typeface="Times New Roman" panose="02020603050405020304" pitchFamily="18" charset="0"/>
            </a:endParaRPr>
          </a:p>
        </p:txBody>
      </p:sp>
      <p:sp>
        <p:nvSpPr>
          <p:cNvPr id="30" name="矩形 29">
            <a:extLst>
              <a:ext uri="{FF2B5EF4-FFF2-40B4-BE49-F238E27FC236}">
                <a16:creationId xmlns:a16="http://schemas.microsoft.com/office/drawing/2014/main" id="{7B6E9C7D-24D0-477F-BF19-1ABD9D71C126}"/>
              </a:ext>
            </a:extLst>
          </p:cNvPr>
          <p:cNvSpPr/>
          <p:nvPr/>
        </p:nvSpPr>
        <p:spPr>
          <a:xfrm>
            <a:off x="6340044" y="4740699"/>
            <a:ext cx="5372589" cy="1323439"/>
          </a:xfrm>
          <a:prstGeom prst="rect">
            <a:avLst/>
          </a:prstGeom>
        </p:spPr>
        <p:txBody>
          <a:bodyPr wrap="square">
            <a:spAutoFit/>
          </a:bodyPr>
          <a:lstStyle/>
          <a:p>
            <a:r>
              <a:rPr lang="zh-CN" altLang="en-US" sz="2000" b="1" kern="0" dirty="0">
                <a:latin typeface="+mj-ea"/>
                <a:ea typeface="+mj-ea"/>
                <a:cs typeface="Segoe UI" panose="020B0502040204020203" pitchFamily="34" charset="0"/>
              </a:rPr>
              <a:t>示例</a:t>
            </a:r>
            <a:endParaRPr lang="en-US" altLang="zh-CN" sz="2000" b="1" kern="0" dirty="0">
              <a:latin typeface="+mj-ea"/>
              <a:ea typeface="+mj-ea"/>
              <a:cs typeface="Segoe UI" panose="020B0502040204020203" pitchFamily="34" charset="0"/>
            </a:endParaRPr>
          </a:p>
          <a:p>
            <a:pPr marL="342900" indent="-342900">
              <a:buFont typeface="Arial" panose="020B0604020202020204" pitchFamily="34" charset="0"/>
              <a:buChar char="•"/>
            </a:pPr>
            <a:r>
              <a:rPr lang="zh-CN" altLang="en-US" sz="2000" kern="0" dirty="0">
                <a:latin typeface="+mj-ea"/>
                <a:ea typeface="+mj-ea"/>
                <a:cs typeface="Segoe UI" panose="020B0502040204020203" pitchFamily="34" charset="0"/>
              </a:rPr>
              <a:t>问题：质量评价</a:t>
            </a:r>
            <a:endParaRPr lang="en-US" altLang="zh-CN" sz="2000" kern="0" dirty="0">
              <a:latin typeface="+mj-ea"/>
              <a:ea typeface="+mj-ea"/>
              <a:cs typeface="Segoe UI" panose="020B0502040204020203" pitchFamily="34" charset="0"/>
            </a:endParaRPr>
          </a:p>
          <a:p>
            <a:pPr marL="342900" indent="-342900">
              <a:buFont typeface="Arial" panose="020B0604020202020204" pitchFamily="34" charset="0"/>
              <a:buChar char="•"/>
            </a:pPr>
            <a:r>
              <a:rPr lang="zh-CN" altLang="en-US" sz="2000" kern="100" dirty="0">
                <a:latin typeface="+mj-ea"/>
                <a:ea typeface="+mj-ea"/>
                <a:cs typeface="Times New Roman" panose="02020603050405020304" pitchFamily="18" charset="0"/>
              </a:rPr>
              <a:t>情境：软件运行</a:t>
            </a:r>
            <a:endParaRPr lang="en-US" altLang="zh-CN" sz="2000" kern="100" dirty="0">
              <a:latin typeface="+mj-ea"/>
              <a:ea typeface="+mj-ea"/>
              <a:cs typeface="Times New Roman" panose="02020603050405020304" pitchFamily="18" charset="0"/>
            </a:endParaRPr>
          </a:p>
          <a:p>
            <a:pPr marL="342900" indent="-342900">
              <a:buFont typeface="Arial" panose="020B0604020202020204" pitchFamily="34" charset="0"/>
              <a:buChar char="•"/>
            </a:pPr>
            <a:r>
              <a:rPr lang="zh-CN" altLang="en-US" sz="2000" kern="100" dirty="0">
                <a:latin typeface="+mj-ea"/>
                <a:ea typeface="+mj-ea"/>
                <a:cs typeface="Times New Roman" panose="02020603050405020304" pitchFamily="18" charset="0"/>
              </a:rPr>
              <a:t>解决方案：指标体系、权重、定量测量</a:t>
            </a:r>
            <a:endParaRPr lang="zh-CN" altLang="zh-CN" sz="2000" kern="100"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1514699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3B6803-DC12-4CDD-8C69-4AA5B079B0C6}"/>
              </a:ext>
            </a:extLst>
          </p:cNvPr>
          <p:cNvSpPr txBox="1">
            <a:spLocks noChangeArrowheads="1"/>
          </p:cNvSpPr>
          <p:nvPr/>
        </p:nvSpPr>
        <p:spPr>
          <a:xfrm>
            <a:off x="1730456" y="342002"/>
            <a:ext cx="8731087" cy="77668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spcAft>
                <a:spcPts val="0"/>
              </a:spcAft>
            </a:pPr>
            <a:r>
              <a:rPr lang="zh-CN" altLang="en-US" sz="3300" b="1" dirty="0"/>
              <a:t>实践问题理论化：示例</a:t>
            </a:r>
            <a:endParaRPr lang="zh-CN" altLang="zh-CN" sz="3300" b="1" dirty="0"/>
          </a:p>
        </p:txBody>
      </p:sp>
      <p:sp>
        <p:nvSpPr>
          <p:cNvPr id="5" name="矩形 4">
            <a:extLst>
              <a:ext uri="{FF2B5EF4-FFF2-40B4-BE49-F238E27FC236}">
                <a16:creationId xmlns:a16="http://schemas.microsoft.com/office/drawing/2014/main" id="{D720864E-9C63-4B5F-8C9E-112046569C77}"/>
              </a:ext>
            </a:extLst>
          </p:cNvPr>
          <p:cNvSpPr/>
          <p:nvPr/>
        </p:nvSpPr>
        <p:spPr>
          <a:xfrm>
            <a:off x="386069" y="3056538"/>
            <a:ext cx="3102430" cy="523220"/>
          </a:xfrm>
          <a:prstGeom prst="rect">
            <a:avLst/>
          </a:prstGeom>
          <a:solidFill>
            <a:schemeClr val="accent6">
              <a:lumMod val="40000"/>
              <a:lumOff val="60000"/>
            </a:schemeClr>
          </a:solidFill>
        </p:spPr>
        <p:txBody>
          <a:bodyPr wrap="square">
            <a:spAutoFit/>
          </a:bodyPr>
          <a:lstStyle/>
          <a:p>
            <a:r>
              <a:rPr lang="zh-CN" altLang="zh-CN" sz="2800" kern="100" dirty="0">
                <a:latin typeface="+mj-ea"/>
                <a:ea typeface="+mj-ea"/>
                <a:cs typeface="Times New Roman" panose="02020603050405020304" pitchFamily="18" charset="0"/>
              </a:rPr>
              <a:t>纸尿裤的研发问题</a:t>
            </a:r>
            <a:endParaRPr lang="zh-CN" altLang="en-US" sz="2800" kern="100" dirty="0">
              <a:latin typeface="+mj-ea"/>
              <a:ea typeface="+mj-ea"/>
              <a:cs typeface="Times New Roman" panose="02020603050405020304" pitchFamily="18" charset="0"/>
            </a:endParaRPr>
          </a:p>
        </p:txBody>
      </p:sp>
      <p:sp>
        <p:nvSpPr>
          <p:cNvPr id="6" name="矩形 5">
            <a:extLst>
              <a:ext uri="{FF2B5EF4-FFF2-40B4-BE49-F238E27FC236}">
                <a16:creationId xmlns:a16="http://schemas.microsoft.com/office/drawing/2014/main" id="{5ED643E4-3CA3-409C-A9F7-A95CD013D288}"/>
              </a:ext>
            </a:extLst>
          </p:cNvPr>
          <p:cNvSpPr/>
          <p:nvPr/>
        </p:nvSpPr>
        <p:spPr>
          <a:xfrm>
            <a:off x="4543645" y="2090057"/>
            <a:ext cx="2236510" cy="400110"/>
          </a:xfrm>
          <a:prstGeom prst="rect">
            <a:avLst/>
          </a:prstGeom>
          <a:ln>
            <a:solidFill>
              <a:schemeClr val="tx1"/>
            </a:solidFill>
          </a:ln>
        </p:spPr>
        <p:txBody>
          <a:bodyPr wrap="square">
            <a:spAutoFit/>
          </a:bodyPr>
          <a:lstStyle/>
          <a:p>
            <a:r>
              <a:rPr lang="zh-CN" altLang="zh-CN" sz="2000" kern="100" dirty="0">
                <a:latin typeface="+mj-ea"/>
                <a:ea typeface="+mj-ea"/>
                <a:cs typeface="Times New Roman" panose="02020603050405020304" pitchFamily="18" charset="0"/>
              </a:rPr>
              <a:t>新产品的研发</a:t>
            </a:r>
            <a:endParaRPr lang="zh-CN" altLang="en-US" sz="2000" dirty="0">
              <a:latin typeface="+mj-ea"/>
              <a:ea typeface="+mj-ea"/>
            </a:endParaRPr>
          </a:p>
        </p:txBody>
      </p:sp>
      <p:sp>
        <p:nvSpPr>
          <p:cNvPr id="7" name="矩形 6">
            <a:extLst>
              <a:ext uri="{FF2B5EF4-FFF2-40B4-BE49-F238E27FC236}">
                <a16:creationId xmlns:a16="http://schemas.microsoft.com/office/drawing/2014/main" id="{533DD41C-48F9-47F4-91DE-9E929E245529}"/>
              </a:ext>
            </a:extLst>
          </p:cNvPr>
          <p:cNvSpPr/>
          <p:nvPr/>
        </p:nvSpPr>
        <p:spPr>
          <a:xfrm>
            <a:off x="4532759" y="3056538"/>
            <a:ext cx="2236510" cy="400110"/>
          </a:xfrm>
          <a:prstGeom prst="rect">
            <a:avLst/>
          </a:prstGeom>
          <a:ln>
            <a:solidFill>
              <a:schemeClr val="tx1"/>
            </a:solidFill>
          </a:ln>
        </p:spPr>
        <p:txBody>
          <a:bodyPr wrap="none">
            <a:spAutoFit/>
          </a:bodyPr>
          <a:lstStyle/>
          <a:p>
            <a:r>
              <a:rPr lang="zh-CN" altLang="zh-CN" sz="2000" kern="100" dirty="0">
                <a:latin typeface="+mj-ea"/>
                <a:ea typeface="+mj-ea"/>
                <a:cs typeface="Times New Roman" panose="02020603050405020304" pitchFamily="18" charset="0"/>
              </a:rPr>
              <a:t>快消品的研发问题</a:t>
            </a:r>
            <a:endParaRPr lang="zh-CN" altLang="en-US" sz="2000" dirty="0">
              <a:latin typeface="+mj-ea"/>
              <a:ea typeface="+mj-ea"/>
            </a:endParaRPr>
          </a:p>
        </p:txBody>
      </p:sp>
      <p:sp>
        <p:nvSpPr>
          <p:cNvPr id="8" name="矩形 7">
            <a:extLst>
              <a:ext uri="{FF2B5EF4-FFF2-40B4-BE49-F238E27FC236}">
                <a16:creationId xmlns:a16="http://schemas.microsoft.com/office/drawing/2014/main" id="{A87E7FAD-2BDE-4A19-A5DD-906FE4B2C74C}"/>
              </a:ext>
            </a:extLst>
          </p:cNvPr>
          <p:cNvSpPr/>
          <p:nvPr/>
        </p:nvSpPr>
        <p:spPr>
          <a:xfrm>
            <a:off x="4532759" y="4136485"/>
            <a:ext cx="2247396" cy="400110"/>
          </a:xfrm>
          <a:prstGeom prst="rect">
            <a:avLst/>
          </a:prstGeom>
          <a:ln>
            <a:solidFill>
              <a:schemeClr val="tx1"/>
            </a:solidFill>
          </a:ln>
        </p:spPr>
        <p:txBody>
          <a:bodyPr wrap="square">
            <a:spAutoFit/>
          </a:bodyPr>
          <a:lstStyle/>
          <a:p>
            <a:r>
              <a:rPr lang="zh-CN" altLang="zh-CN" sz="2000" kern="100" dirty="0">
                <a:latin typeface="+mj-ea"/>
                <a:ea typeface="+mj-ea"/>
                <a:cs typeface="Times New Roman" panose="02020603050405020304" pitchFamily="18" charset="0"/>
              </a:rPr>
              <a:t>纸尿裤研发</a:t>
            </a:r>
            <a:endParaRPr lang="zh-CN" altLang="en-US" sz="2000" dirty="0">
              <a:latin typeface="+mj-ea"/>
              <a:ea typeface="+mj-ea"/>
            </a:endParaRPr>
          </a:p>
        </p:txBody>
      </p:sp>
      <p:sp>
        <p:nvSpPr>
          <p:cNvPr id="9" name="矩形 8">
            <a:extLst>
              <a:ext uri="{FF2B5EF4-FFF2-40B4-BE49-F238E27FC236}">
                <a16:creationId xmlns:a16="http://schemas.microsoft.com/office/drawing/2014/main" id="{CF9CE07D-008C-4005-BC4B-B22E8EBA9B65}"/>
              </a:ext>
            </a:extLst>
          </p:cNvPr>
          <p:cNvSpPr/>
          <p:nvPr/>
        </p:nvSpPr>
        <p:spPr>
          <a:xfrm>
            <a:off x="7300857" y="2140530"/>
            <a:ext cx="3775393" cy="400110"/>
          </a:xfrm>
          <a:prstGeom prst="rect">
            <a:avLst/>
          </a:prstGeom>
        </p:spPr>
        <p:txBody>
          <a:bodyPr wrap="none">
            <a:spAutoFit/>
          </a:bodyPr>
          <a:lstStyle/>
          <a:p>
            <a:r>
              <a:rPr lang="zh-CN" altLang="zh-CN" sz="2000" kern="100" dirty="0">
                <a:highlight>
                  <a:srgbClr val="FFFF00"/>
                </a:highlight>
                <a:latin typeface="+mj-ea"/>
                <a:ea typeface="+mj-ea"/>
                <a:cs typeface="Times New Roman" panose="02020603050405020304" pitchFamily="18" charset="0"/>
              </a:rPr>
              <a:t>归纳得太宽泛，漏失了关键因素</a:t>
            </a:r>
            <a:endParaRPr lang="zh-CN" altLang="en-US" sz="2000" dirty="0">
              <a:highlight>
                <a:srgbClr val="FFFF00"/>
              </a:highlight>
              <a:latin typeface="+mj-ea"/>
              <a:ea typeface="+mj-ea"/>
            </a:endParaRPr>
          </a:p>
        </p:txBody>
      </p:sp>
      <p:sp>
        <p:nvSpPr>
          <p:cNvPr id="10" name="矩形 9">
            <a:extLst>
              <a:ext uri="{FF2B5EF4-FFF2-40B4-BE49-F238E27FC236}">
                <a16:creationId xmlns:a16="http://schemas.microsoft.com/office/drawing/2014/main" id="{C9A067D3-992C-4EAF-85E4-7D60DEA3B627}"/>
              </a:ext>
            </a:extLst>
          </p:cNvPr>
          <p:cNvSpPr/>
          <p:nvPr/>
        </p:nvSpPr>
        <p:spPr>
          <a:xfrm>
            <a:off x="7378722" y="4136485"/>
            <a:ext cx="3775393" cy="400110"/>
          </a:xfrm>
          <a:prstGeom prst="rect">
            <a:avLst/>
          </a:prstGeom>
        </p:spPr>
        <p:txBody>
          <a:bodyPr wrap="square">
            <a:spAutoFit/>
          </a:bodyPr>
          <a:lstStyle/>
          <a:p>
            <a:r>
              <a:rPr lang="zh-CN" altLang="zh-CN" sz="2000" kern="100" dirty="0">
                <a:highlight>
                  <a:srgbClr val="FFFF00"/>
                </a:highlight>
                <a:latin typeface="+mj-ea"/>
                <a:ea typeface="+mj-ea"/>
                <a:cs typeface="Times New Roman" panose="02020603050405020304" pitchFamily="18" charset="0"/>
              </a:rPr>
              <a:t>归纳得</a:t>
            </a:r>
            <a:r>
              <a:rPr lang="zh-CN" altLang="en-US" sz="2000" kern="100" dirty="0">
                <a:highlight>
                  <a:srgbClr val="FFFF00"/>
                </a:highlight>
                <a:latin typeface="+mj-ea"/>
                <a:ea typeface="+mj-ea"/>
                <a:cs typeface="Times New Roman" panose="02020603050405020304" pitchFamily="18" charset="0"/>
              </a:rPr>
              <a:t>出的</a:t>
            </a:r>
            <a:r>
              <a:rPr lang="zh-CN" altLang="zh-CN" sz="2000" kern="100" dirty="0">
                <a:highlight>
                  <a:srgbClr val="FFFF00"/>
                </a:highlight>
                <a:latin typeface="+mj-ea"/>
                <a:ea typeface="+mj-ea"/>
                <a:cs typeface="Times New Roman" panose="02020603050405020304" pitchFamily="18" charset="0"/>
              </a:rPr>
              <a:t>一般性问题太局限</a:t>
            </a:r>
            <a:endParaRPr lang="zh-CN" altLang="en-US" sz="2000" dirty="0">
              <a:highlight>
                <a:srgbClr val="FFFF00"/>
              </a:highlight>
              <a:latin typeface="+mj-ea"/>
              <a:ea typeface="+mj-ea"/>
            </a:endParaRPr>
          </a:p>
        </p:txBody>
      </p:sp>
      <p:sp>
        <p:nvSpPr>
          <p:cNvPr id="11" name="虚尾箭头 13">
            <a:extLst>
              <a:ext uri="{FF2B5EF4-FFF2-40B4-BE49-F238E27FC236}">
                <a16:creationId xmlns:a16="http://schemas.microsoft.com/office/drawing/2014/main" id="{0A850AF2-0E2A-4C43-9A06-E7E23687CC86}"/>
              </a:ext>
            </a:extLst>
          </p:cNvPr>
          <p:cNvSpPr/>
          <p:nvPr/>
        </p:nvSpPr>
        <p:spPr>
          <a:xfrm rot="19219197">
            <a:off x="3708995" y="2350887"/>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2" name="虚尾箭头 13">
            <a:extLst>
              <a:ext uri="{FF2B5EF4-FFF2-40B4-BE49-F238E27FC236}">
                <a16:creationId xmlns:a16="http://schemas.microsoft.com/office/drawing/2014/main" id="{721BD40C-8D33-4714-823F-6E7B5E9D487A}"/>
              </a:ext>
            </a:extLst>
          </p:cNvPr>
          <p:cNvSpPr/>
          <p:nvPr/>
        </p:nvSpPr>
        <p:spPr>
          <a:xfrm rot="1726072">
            <a:off x="3719006" y="4083944"/>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3" name="虚尾箭头 13">
            <a:extLst>
              <a:ext uri="{FF2B5EF4-FFF2-40B4-BE49-F238E27FC236}">
                <a16:creationId xmlns:a16="http://schemas.microsoft.com/office/drawing/2014/main" id="{EC4F9B32-BF40-47E8-9D39-CC8FABF5BE0C}"/>
              </a:ext>
            </a:extLst>
          </p:cNvPr>
          <p:cNvSpPr/>
          <p:nvPr/>
        </p:nvSpPr>
        <p:spPr>
          <a:xfrm>
            <a:off x="3728420" y="3110571"/>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Tree>
    <p:extLst>
      <p:ext uri="{BB962C8B-B14F-4D97-AF65-F5344CB8AC3E}">
        <p14:creationId xmlns:p14="http://schemas.microsoft.com/office/powerpoint/2010/main" val="2079567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0" grpId="0"/>
      <p:bldP spid="11" grpId="0" animBg="1"/>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09D8BF-B4A1-4B7E-89F5-0F3053BBCEE7}"/>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选题的步骤：初步猜想</a:t>
            </a:r>
            <a:endParaRPr lang="zh-CN" altLang="en-US" sz="3300" dirty="0">
              <a:latin typeface="+mn-ea"/>
              <a:ea typeface="+mn-ea"/>
            </a:endParaRPr>
          </a:p>
        </p:txBody>
      </p:sp>
      <p:sp>
        <p:nvSpPr>
          <p:cNvPr id="3" name="矩形 2">
            <a:extLst>
              <a:ext uri="{FF2B5EF4-FFF2-40B4-BE49-F238E27FC236}">
                <a16:creationId xmlns:a16="http://schemas.microsoft.com/office/drawing/2014/main" id="{BFB598E5-7CEA-451A-B8E7-4255D97BE836}"/>
              </a:ext>
            </a:extLst>
          </p:cNvPr>
          <p:cNvSpPr/>
          <p:nvPr/>
        </p:nvSpPr>
        <p:spPr>
          <a:xfrm>
            <a:off x="381000" y="1089778"/>
            <a:ext cx="10835640" cy="5036122"/>
          </a:xfrm>
          <a:prstGeom prst="rect">
            <a:avLst/>
          </a:prstGeom>
        </p:spPr>
        <p:txBody>
          <a:bodyPr wrap="square">
            <a:spAutoFit/>
          </a:bodyPr>
          <a:lstStyle/>
          <a:p>
            <a:pPr algn="just">
              <a:lnSpc>
                <a:spcPct val="150000"/>
              </a:lnSpc>
              <a:spcAft>
                <a:spcPts val="0"/>
              </a:spcAft>
            </a:pPr>
            <a:r>
              <a:rPr lang="en-US" altLang="zh-CN" b="1" kern="100" dirty="0">
                <a:highlight>
                  <a:srgbClr val="FFFF00"/>
                </a:highlight>
                <a:latin typeface="+mj-ea"/>
                <a:ea typeface="+mj-ea"/>
                <a:cs typeface="Times New Roman" panose="02020603050405020304" pitchFamily="18" charset="0"/>
              </a:rPr>
              <a:t>1</a:t>
            </a:r>
            <a:r>
              <a:rPr lang="zh-CN" altLang="en-US" b="1" kern="100" dirty="0">
                <a:highlight>
                  <a:srgbClr val="FFFF00"/>
                </a:highlight>
                <a:latin typeface="+mj-ea"/>
                <a:ea typeface="+mj-ea"/>
                <a:cs typeface="Times New Roman" panose="02020603050405020304" pitchFamily="18" charset="0"/>
              </a:rPr>
              <a:t>、</a:t>
            </a:r>
            <a:r>
              <a:rPr lang="zh-CN" altLang="zh-CN" b="1" kern="100" dirty="0">
                <a:highlight>
                  <a:srgbClr val="FFFF00"/>
                </a:highlight>
                <a:latin typeface="+mj-ea"/>
                <a:ea typeface="+mj-ea"/>
                <a:cs typeface="Times New Roman" panose="02020603050405020304" pitchFamily="18" charset="0"/>
              </a:rPr>
              <a:t>问题角度</a:t>
            </a:r>
            <a:r>
              <a:rPr lang="zh-CN" altLang="zh-CN" b="1" kern="100" dirty="0">
                <a:latin typeface="+mj-ea"/>
                <a:ea typeface="+mj-ea"/>
                <a:cs typeface="Times New Roman" panose="02020603050405020304" pitchFamily="18" charset="0"/>
              </a:rPr>
              <a:t>：问题对象，问题的现状与预期</a:t>
            </a:r>
            <a:endParaRPr lang="zh-CN" altLang="zh-CN" kern="100"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kern="0" dirty="0">
                <a:solidFill>
                  <a:srgbClr val="000000"/>
                </a:solidFill>
                <a:latin typeface="+mj-ea"/>
                <a:ea typeface="+mj-ea"/>
                <a:cs typeface="Calibri" panose="020F0502020204030204" pitchFamily="34" charset="0"/>
              </a:rPr>
              <a:t>分析问题所带来的症状和需求。</a:t>
            </a:r>
            <a:endParaRPr lang="zh-CN" altLang="zh-CN" kern="100"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分析相关的管理规则。</a:t>
            </a:r>
          </a:p>
          <a:p>
            <a:pPr marL="285750" indent="-285750">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分析管理规则中预期作为改进点。</a:t>
            </a:r>
          </a:p>
          <a:p>
            <a:pPr algn="just">
              <a:lnSpc>
                <a:spcPct val="150000"/>
              </a:lnSpc>
              <a:spcAft>
                <a:spcPts val="0"/>
              </a:spcAft>
            </a:pPr>
            <a:r>
              <a:rPr lang="en-US" altLang="zh-CN" b="1" kern="100" dirty="0">
                <a:highlight>
                  <a:srgbClr val="FFFF00"/>
                </a:highlight>
                <a:latin typeface="+mj-ea"/>
                <a:ea typeface="+mj-ea"/>
                <a:cs typeface="Times New Roman" panose="02020603050405020304" pitchFamily="18" charset="0"/>
              </a:rPr>
              <a:t>2</a:t>
            </a:r>
            <a:r>
              <a:rPr lang="zh-CN" altLang="en-US" b="1" kern="100" dirty="0">
                <a:highlight>
                  <a:srgbClr val="FFFF00"/>
                </a:highlight>
                <a:latin typeface="+mj-ea"/>
                <a:ea typeface="+mj-ea"/>
                <a:cs typeface="Times New Roman" panose="02020603050405020304" pitchFamily="18" charset="0"/>
              </a:rPr>
              <a:t>、</a:t>
            </a:r>
            <a:r>
              <a:rPr lang="zh-CN" altLang="zh-CN" b="1" kern="100" dirty="0">
                <a:highlight>
                  <a:srgbClr val="FFFF00"/>
                </a:highlight>
                <a:latin typeface="+mj-ea"/>
                <a:ea typeface="+mj-ea"/>
                <a:cs typeface="Times New Roman" panose="02020603050405020304" pitchFamily="18" charset="0"/>
              </a:rPr>
              <a:t>情境角度</a:t>
            </a:r>
            <a:r>
              <a:rPr lang="zh-CN" altLang="zh-CN" b="1" kern="100" dirty="0">
                <a:latin typeface="+mj-ea"/>
                <a:ea typeface="+mj-ea"/>
                <a:cs typeface="Times New Roman" panose="02020603050405020304" pitchFamily="18" charset="0"/>
              </a:rPr>
              <a:t>：问题对象在该情境下的特殊性</a:t>
            </a:r>
            <a:endParaRPr lang="zh-CN" altLang="zh-CN" kern="100" dirty="0">
              <a:latin typeface="+mj-ea"/>
              <a:ea typeface="+mj-ea"/>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zh-CN" altLang="zh-CN" kern="100" dirty="0">
                <a:latin typeface="+mj-ea"/>
                <a:ea typeface="+mj-ea"/>
                <a:cs typeface="Times New Roman" panose="02020603050405020304" pitchFamily="18" charset="0"/>
              </a:rPr>
              <a:t>问题载体的特殊性，以及该特殊性如何影响设计假设和解决方案？</a:t>
            </a:r>
            <a:endParaRPr lang="en-US" altLang="zh-CN" kern="100" dirty="0">
              <a:latin typeface="+mj-ea"/>
              <a:ea typeface="+mj-ea"/>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zh-CN" altLang="zh-CN" kern="0" dirty="0">
                <a:solidFill>
                  <a:srgbClr val="000000"/>
                </a:solidFill>
                <a:latin typeface="+mj-ea"/>
                <a:ea typeface="+mj-ea"/>
                <a:cs typeface="Calibri" panose="020F0502020204030204" pitchFamily="34" charset="0"/>
              </a:rPr>
              <a:t>问题所处的外部环境，如社会、经济、制度、组织环境等。</a:t>
            </a:r>
            <a:endParaRPr lang="en-US" altLang="zh-CN" kern="0" dirty="0">
              <a:solidFill>
                <a:srgbClr val="000000"/>
              </a:solidFill>
              <a:latin typeface="+mj-ea"/>
              <a:ea typeface="+mj-ea"/>
              <a:cs typeface="Calibri" panose="020F0502020204030204" pitchFamily="34" charset="0"/>
            </a:endParaRPr>
          </a:p>
          <a:p>
            <a:pPr marL="285750" indent="-285750" algn="just">
              <a:lnSpc>
                <a:spcPct val="150000"/>
              </a:lnSpc>
              <a:spcAft>
                <a:spcPts val="0"/>
              </a:spcAft>
              <a:buFont typeface="Arial" panose="020B0604020202020204" pitchFamily="34" charset="0"/>
              <a:buChar char="•"/>
            </a:pPr>
            <a:r>
              <a:rPr lang="zh-CN" altLang="zh-CN" kern="0" dirty="0">
                <a:solidFill>
                  <a:srgbClr val="000000"/>
                </a:solidFill>
                <a:latin typeface="+mj-ea"/>
                <a:ea typeface="+mj-ea"/>
                <a:cs typeface="Calibri" panose="020F0502020204030204" pitchFamily="34" charset="0"/>
              </a:rPr>
              <a:t>问题面临的约束条件。</a:t>
            </a:r>
            <a:endParaRPr lang="en-US" altLang="zh-CN" kern="0" dirty="0">
              <a:solidFill>
                <a:srgbClr val="000000"/>
              </a:solidFill>
              <a:latin typeface="+mj-ea"/>
              <a:ea typeface="+mj-ea"/>
              <a:cs typeface="Calibri" panose="020F0502020204030204" pitchFamily="34" charset="0"/>
            </a:endParaRPr>
          </a:p>
          <a:p>
            <a:pPr>
              <a:lnSpc>
                <a:spcPct val="150000"/>
              </a:lnSpc>
            </a:pPr>
            <a:r>
              <a:rPr lang="en-US" altLang="zh-CN" b="1" kern="100" dirty="0">
                <a:highlight>
                  <a:srgbClr val="FFFF00"/>
                </a:highlight>
                <a:latin typeface="+mj-ea"/>
                <a:ea typeface="+mj-ea"/>
                <a:cs typeface="Times New Roman" panose="02020603050405020304" pitchFamily="18" charset="0"/>
              </a:rPr>
              <a:t>3</a:t>
            </a:r>
            <a:r>
              <a:rPr lang="zh-CN" altLang="en-US" b="1" kern="100" dirty="0">
                <a:highlight>
                  <a:srgbClr val="FFFF00"/>
                </a:highlight>
                <a:latin typeface="+mj-ea"/>
                <a:ea typeface="+mj-ea"/>
                <a:cs typeface="Times New Roman" panose="02020603050405020304" pitchFamily="18" charset="0"/>
              </a:rPr>
              <a:t>、</a:t>
            </a:r>
            <a:r>
              <a:rPr lang="zh-CN" altLang="zh-CN" b="1" kern="100" dirty="0">
                <a:highlight>
                  <a:srgbClr val="FFFF00"/>
                </a:highlight>
                <a:latin typeface="+mj-ea"/>
                <a:ea typeface="+mj-ea"/>
                <a:cs typeface="Times New Roman" panose="02020603050405020304" pitchFamily="18" charset="0"/>
              </a:rPr>
              <a:t>解决问题的理论与方法角度</a:t>
            </a:r>
            <a:r>
              <a:rPr lang="zh-CN" altLang="en-US" b="1" kern="100" dirty="0">
                <a:latin typeface="+mj-ea"/>
                <a:ea typeface="+mj-ea"/>
                <a:cs typeface="Times New Roman" panose="02020603050405020304" pitchFamily="18" charset="0"/>
              </a:rPr>
              <a:t>：用什么方法来解决该问题</a:t>
            </a:r>
            <a:endParaRPr lang="zh-CN" altLang="zh-CN" kern="100" dirty="0">
              <a:latin typeface="+mj-ea"/>
              <a:ea typeface="+mj-ea"/>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zh-CN" altLang="zh-CN" kern="100" dirty="0">
                <a:latin typeface="+mj-ea"/>
                <a:ea typeface="+mj-ea"/>
                <a:cs typeface="Times New Roman" panose="02020603050405020304" pitchFamily="18" charset="0"/>
              </a:rPr>
              <a:t>过往研究中形成的怎样的共识，如用什么理论和方法可以针对性地解决什么问题；</a:t>
            </a:r>
          </a:p>
          <a:p>
            <a:pPr marL="285750" indent="-285750" algn="just">
              <a:lnSpc>
                <a:spcPct val="150000"/>
              </a:lnSpc>
              <a:spcAft>
                <a:spcPts val="0"/>
              </a:spcAft>
              <a:buFont typeface="Arial" panose="020B0604020202020204" pitchFamily="34" charset="0"/>
              <a:buChar char="•"/>
            </a:pPr>
            <a:r>
              <a:rPr lang="zh-CN" altLang="zh-CN" kern="100" dirty="0">
                <a:latin typeface="+mj-ea"/>
                <a:ea typeface="+mj-ea"/>
                <a:cs typeface="Times New Roman" panose="02020603050405020304" pitchFamily="18" charset="0"/>
              </a:rPr>
              <a:t>这些理论的边界条件是什么，是否能有助于解决本情境中的问题。</a:t>
            </a:r>
          </a:p>
          <a:p>
            <a:pPr marL="285750" indent="-285750" algn="just">
              <a:lnSpc>
                <a:spcPct val="150000"/>
              </a:lnSpc>
              <a:spcAft>
                <a:spcPts val="0"/>
              </a:spcAft>
              <a:buFont typeface="Arial" panose="020B0604020202020204" pitchFamily="34" charset="0"/>
              <a:buChar char="•"/>
            </a:pPr>
            <a:r>
              <a:rPr lang="zh-CN" altLang="zh-CN" kern="100" dirty="0">
                <a:latin typeface="+mj-ea"/>
                <a:ea typeface="+mj-ea"/>
                <a:cs typeface="Times New Roman" panose="02020603050405020304" pitchFamily="18" charset="0"/>
              </a:rPr>
              <a:t>过往研究中存在的不足。从已掌握的实践情况，哪些是研究中尚未充分研究的，存在研究不足。</a:t>
            </a:r>
          </a:p>
        </p:txBody>
      </p:sp>
    </p:spTree>
    <p:extLst>
      <p:ext uri="{BB962C8B-B14F-4D97-AF65-F5344CB8AC3E}">
        <p14:creationId xmlns:p14="http://schemas.microsoft.com/office/powerpoint/2010/main" val="1926598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09D8BF-B4A1-4B7E-89F5-0F3053BBCEE7}"/>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选题的步骤：验证猜想</a:t>
            </a:r>
            <a:endParaRPr lang="zh-CN" altLang="en-US" sz="3300" dirty="0">
              <a:latin typeface="+mn-ea"/>
              <a:ea typeface="+mn-ea"/>
            </a:endParaRPr>
          </a:p>
        </p:txBody>
      </p:sp>
      <p:sp>
        <p:nvSpPr>
          <p:cNvPr id="3" name="矩形 2">
            <a:extLst>
              <a:ext uri="{FF2B5EF4-FFF2-40B4-BE49-F238E27FC236}">
                <a16:creationId xmlns:a16="http://schemas.microsoft.com/office/drawing/2014/main" id="{BFB598E5-7CEA-451A-B8E7-4255D97BE836}"/>
              </a:ext>
            </a:extLst>
          </p:cNvPr>
          <p:cNvSpPr/>
          <p:nvPr/>
        </p:nvSpPr>
        <p:spPr>
          <a:xfrm>
            <a:off x="381000" y="1089778"/>
            <a:ext cx="10835640" cy="2815451"/>
          </a:xfrm>
          <a:prstGeom prst="rect">
            <a:avLst/>
          </a:prstGeom>
        </p:spPr>
        <p:txBody>
          <a:bodyPr wrap="square">
            <a:spAutoFit/>
          </a:bodyPr>
          <a:lstStyle/>
          <a:p>
            <a:pPr>
              <a:lnSpc>
                <a:spcPct val="150000"/>
              </a:lnSpc>
            </a:pPr>
            <a:r>
              <a:rPr lang="zh-CN" altLang="zh-CN" sz="2000" dirty="0">
                <a:latin typeface="+mj-ea"/>
                <a:ea typeface="+mj-ea"/>
              </a:rPr>
              <a:t>当确定初步选题</a:t>
            </a:r>
            <a:r>
              <a:rPr lang="zh-CN" altLang="en-US" sz="2000" dirty="0">
                <a:latin typeface="+mj-ea"/>
                <a:ea typeface="+mj-ea"/>
              </a:rPr>
              <a:t>猜想</a:t>
            </a:r>
            <a:r>
              <a:rPr lang="zh-CN" altLang="zh-CN" sz="2000" dirty="0">
                <a:latin typeface="+mj-ea"/>
                <a:ea typeface="+mj-ea"/>
              </a:rPr>
              <a:t>后，可着手广泛文献阅读，以进一步细化</a:t>
            </a:r>
            <a:r>
              <a:rPr lang="zh-CN" altLang="en-US" sz="2000" dirty="0">
                <a:latin typeface="+mj-ea"/>
                <a:ea typeface="+mj-ea"/>
              </a:rPr>
              <a:t>和验证</a:t>
            </a:r>
            <a:r>
              <a:rPr lang="zh-CN" altLang="zh-CN" sz="2000" dirty="0">
                <a:latin typeface="+mj-ea"/>
                <a:ea typeface="+mj-ea"/>
              </a:rPr>
              <a:t>问题、情境、解决方案的理论和方法三方面的猜想。其中包括：</a:t>
            </a:r>
          </a:p>
          <a:p>
            <a:pPr marL="342900" indent="-342900">
              <a:lnSpc>
                <a:spcPct val="150000"/>
              </a:lnSpc>
              <a:buFont typeface="Arial" panose="020B0604020202020204" pitchFamily="34" charset="0"/>
              <a:buChar char="•"/>
            </a:pPr>
            <a:r>
              <a:rPr lang="zh-CN" altLang="zh-CN" sz="2000" dirty="0">
                <a:latin typeface="+mj-ea"/>
                <a:ea typeface="+mj-ea"/>
              </a:rPr>
              <a:t>了解该问题的具体内容。如关键概念的定义、背景、理论意义和实践意义。</a:t>
            </a:r>
          </a:p>
          <a:p>
            <a:pPr marL="342900" indent="-342900">
              <a:lnSpc>
                <a:spcPct val="150000"/>
              </a:lnSpc>
              <a:buFont typeface="Arial" panose="020B0604020202020204" pitchFamily="34" charset="0"/>
              <a:buChar char="•"/>
            </a:pPr>
            <a:r>
              <a:rPr lang="zh-CN" altLang="zh-CN" sz="2000" dirty="0">
                <a:latin typeface="+mj-ea"/>
                <a:ea typeface="+mj-ea"/>
              </a:rPr>
              <a:t>梳理研究现状，明确当前的进展。如有哪些视角、在哪些情境下应用、通过哪些方法、解决什么问题、研究问题的必要性。</a:t>
            </a:r>
          </a:p>
          <a:p>
            <a:pPr marL="342900" indent="-342900">
              <a:lnSpc>
                <a:spcPct val="150000"/>
              </a:lnSpc>
              <a:buFont typeface="Arial" panose="020B0604020202020204" pitchFamily="34" charset="0"/>
              <a:buChar char="•"/>
            </a:pPr>
            <a:r>
              <a:rPr lang="zh-CN" altLang="zh-CN" sz="2000" dirty="0">
                <a:latin typeface="+mj-ea"/>
                <a:ea typeface="+mj-ea"/>
              </a:rPr>
              <a:t>阅读与相关领域的文献，进行交叉性学习，提高对研究问题的敏感性。</a:t>
            </a:r>
            <a:endParaRPr lang="zh-CN" altLang="zh-CN" kern="100"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3299947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35DFD62C-6388-4747-AF79-2A188AA71737}"/>
              </a:ext>
            </a:extLst>
          </p:cNvPr>
          <p:cNvSpPr/>
          <p:nvPr/>
        </p:nvSpPr>
        <p:spPr>
          <a:xfrm>
            <a:off x="829738" y="2888322"/>
            <a:ext cx="1866009" cy="4650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相关的理论基础</a:t>
            </a:r>
            <a:endParaRPr lang="zh-CN" altLang="en-US" dirty="0"/>
          </a:p>
        </p:txBody>
      </p:sp>
      <p:sp>
        <p:nvSpPr>
          <p:cNvPr id="7" name="矩形 6">
            <a:extLst>
              <a:ext uri="{FF2B5EF4-FFF2-40B4-BE49-F238E27FC236}">
                <a16:creationId xmlns:a16="http://schemas.microsoft.com/office/drawing/2014/main" id="{A85E5336-F595-4016-8FD3-40BFCD383EA9}"/>
              </a:ext>
            </a:extLst>
          </p:cNvPr>
          <p:cNvSpPr/>
          <p:nvPr/>
        </p:nvSpPr>
        <p:spPr>
          <a:xfrm>
            <a:off x="7581111" y="2671130"/>
            <a:ext cx="3670561" cy="1364383"/>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示例：咨询服务考核的问题</a:t>
            </a:r>
            <a:endParaRPr lang="en-US" altLang="zh-CN" sz="1600" dirty="0">
              <a:solidFill>
                <a:schemeClr val="tx1"/>
              </a:solidFill>
            </a:endParaRPr>
          </a:p>
          <a:p>
            <a:pPr marL="285750" lvl="2" indent="-285750">
              <a:lnSpc>
                <a:spcPct val="110000"/>
              </a:lnSpc>
              <a:buFont typeface="Arial" panose="020B0604020202020204" pitchFamily="34" charset="0"/>
              <a:buChar char="•"/>
            </a:pPr>
            <a:r>
              <a:rPr lang="zh-CN" altLang="en-US" sz="1600" dirty="0">
                <a:solidFill>
                  <a:schemeClr val="tx1"/>
                </a:solidFill>
              </a:rPr>
              <a:t>考核组织方面</a:t>
            </a:r>
            <a:endParaRPr lang="en-US" altLang="zh-CN" sz="1600" dirty="0">
              <a:solidFill>
                <a:schemeClr val="tx1"/>
              </a:solidFill>
            </a:endParaRPr>
          </a:p>
          <a:p>
            <a:pPr marL="285750" lvl="2" indent="-285750">
              <a:lnSpc>
                <a:spcPct val="110000"/>
              </a:lnSpc>
              <a:buFont typeface="Arial" panose="020B0604020202020204" pitchFamily="34" charset="0"/>
              <a:buChar char="•"/>
            </a:pPr>
            <a:r>
              <a:rPr lang="zh-CN" altLang="en-US" sz="1600" dirty="0">
                <a:solidFill>
                  <a:schemeClr val="tx1"/>
                </a:solidFill>
              </a:rPr>
              <a:t>考核流程方面</a:t>
            </a:r>
            <a:endParaRPr lang="en-US" altLang="zh-CN" sz="1600" dirty="0">
              <a:solidFill>
                <a:schemeClr val="tx1"/>
              </a:solidFill>
            </a:endParaRPr>
          </a:p>
          <a:p>
            <a:pPr marL="285750" lvl="2" indent="-285750">
              <a:lnSpc>
                <a:spcPct val="110000"/>
              </a:lnSpc>
              <a:buFont typeface="Arial" panose="020B0604020202020204" pitchFamily="34" charset="0"/>
              <a:buChar char="•"/>
            </a:pPr>
            <a:r>
              <a:rPr lang="zh-CN" altLang="en-US" sz="1600" dirty="0">
                <a:solidFill>
                  <a:schemeClr val="tx1"/>
                </a:solidFill>
              </a:rPr>
              <a:t>考核指标方面</a:t>
            </a:r>
            <a:endParaRPr lang="en-US" altLang="zh-CN" sz="1600" dirty="0">
              <a:solidFill>
                <a:schemeClr val="tx1"/>
              </a:solidFill>
            </a:endParaRPr>
          </a:p>
          <a:p>
            <a:pPr marL="285750" lvl="2" indent="-285750">
              <a:lnSpc>
                <a:spcPct val="110000"/>
              </a:lnSpc>
              <a:buFont typeface="Arial" panose="020B0604020202020204" pitchFamily="34" charset="0"/>
              <a:buChar char="•"/>
            </a:pPr>
            <a:r>
              <a:rPr lang="zh-CN" altLang="en-US" sz="1600" dirty="0">
                <a:solidFill>
                  <a:schemeClr val="tx1"/>
                </a:solidFill>
              </a:rPr>
              <a:t>考核奖惩等</a:t>
            </a:r>
            <a:endParaRPr lang="en-US" altLang="zh-CN" sz="1600" dirty="0">
              <a:solidFill>
                <a:schemeClr val="tx1"/>
              </a:solidFill>
            </a:endParaRPr>
          </a:p>
        </p:txBody>
      </p:sp>
      <p:sp>
        <p:nvSpPr>
          <p:cNvPr id="9" name="标题 1">
            <a:extLst>
              <a:ext uri="{FF2B5EF4-FFF2-40B4-BE49-F238E27FC236}">
                <a16:creationId xmlns:a16="http://schemas.microsoft.com/office/drawing/2014/main" id="{2BBDF954-0378-4720-B2BB-81033C38B004}"/>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实践问题的理论化：思路</a:t>
            </a:r>
            <a:endParaRPr lang="zh-CN" altLang="en-US" sz="3300" dirty="0"/>
          </a:p>
          <a:p>
            <a:endParaRPr lang="zh-CN" altLang="en-US" sz="3300" dirty="0">
              <a:latin typeface="+mn-ea"/>
              <a:ea typeface="+mn-ea"/>
            </a:endParaRPr>
          </a:p>
        </p:txBody>
      </p:sp>
      <p:graphicFrame>
        <p:nvGraphicFramePr>
          <p:cNvPr id="3" name="对象 2">
            <a:extLst>
              <a:ext uri="{FF2B5EF4-FFF2-40B4-BE49-F238E27FC236}">
                <a16:creationId xmlns:a16="http://schemas.microsoft.com/office/drawing/2014/main" id="{1B39B253-DA8C-41D0-8E6C-B60A1C239D79}"/>
              </a:ext>
            </a:extLst>
          </p:cNvPr>
          <p:cNvGraphicFramePr>
            <a:graphicFrameLocks noChangeAspect="1"/>
          </p:cNvGraphicFramePr>
          <p:nvPr>
            <p:extLst>
              <p:ext uri="{D42A27DB-BD31-4B8C-83A1-F6EECF244321}">
                <p14:modId xmlns:p14="http://schemas.microsoft.com/office/powerpoint/2010/main" val="2193813535"/>
              </p:ext>
            </p:extLst>
          </p:nvPr>
        </p:nvGraphicFramePr>
        <p:xfrm>
          <a:off x="2836100" y="1382486"/>
          <a:ext cx="4541770" cy="4898572"/>
        </p:xfrm>
        <a:graphic>
          <a:graphicData uri="http://schemas.openxmlformats.org/presentationml/2006/ole">
            <mc:AlternateContent xmlns:mc="http://schemas.openxmlformats.org/markup-compatibility/2006">
              <mc:Choice xmlns:v="urn:schemas-microsoft-com:vml" Requires="v">
                <p:oleObj spid="_x0000_s1026" name="Visio" r:id="rId3" imgW="3064346" imgH="3053423" progId="Visio.Drawing.15">
                  <p:embed/>
                </p:oleObj>
              </mc:Choice>
              <mc:Fallback>
                <p:oleObj name="Visio" r:id="rId3" imgW="3064346" imgH="3053423" progId="Visio.Drawing.15">
                  <p:embed/>
                  <p:pic>
                    <p:nvPicPr>
                      <p:cNvPr id="3" name="对象 2">
                        <a:extLst>
                          <a:ext uri="{FF2B5EF4-FFF2-40B4-BE49-F238E27FC236}">
                            <a16:creationId xmlns:a16="http://schemas.microsoft.com/office/drawing/2014/main" id="{1B39B253-DA8C-41D0-8E6C-B60A1C239D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6100" y="1382486"/>
                        <a:ext cx="4541770" cy="4898572"/>
                      </a:xfrm>
                      <a:prstGeom prst="rect">
                        <a:avLst/>
                      </a:prstGeom>
                      <a:noFill/>
                    </p:spPr>
                  </p:pic>
                </p:oleObj>
              </mc:Fallback>
            </mc:AlternateContent>
          </a:graphicData>
        </a:graphic>
      </p:graphicFrame>
    </p:spTree>
    <p:extLst>
      <p:ext uri="{BB962C8B-B14F-4D97-AF65-F5344CB8AC3E}">
        <p14:creationId xmlns:p14="http://schemas.microsoft.com/office/powerpoint/2010/main" val="3556705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B3619351-670F-2049-85D1-E1B7A5D379A2}"/>
              </a:ext>
            </a:extLst>
          </p:cNvPr>
          <p:cNvGraphicFramePr>
            <a:graphicFrameLocks noGrp="1"/>
          </p:cNvGraphicFramePr>
          <p:nvPr>
            <p:extLst>
              <p:ext uri="{D42A27DB-BD31-4B8C-83A1-F6EECF244321}">
                <p14:modId xmlns:p14="http://schemas.microsoft.com/office/powerpoint/2010/main" val="15661444"/>
              </p:ext>
            </p:extLst>
          </p:nvPr>
        </p:nvGraphicFramePr>
        <p:xfrm>
          <a:off x="297022" y="1298552"/>
          <a:ext cx="11597956" cy="1463040"/>
        </p:xfrm>
        <a:graphic>
          <a:graphicData uri="http://schemas.openxmlformats.org/drawingml/2006/table">
            <a:tbl>
              <a:tblPr firstRow="1" bandRow="1">
                <a:tableStyleId>{5C22544A-7EE6-4342-B048-85BDC9FD1C3A}</a:tableStyleId>
              </a:tblPr>
              <a:tblGrid>
                <a:gridCol w="1058248">
                  <a:extLst>
                    <a:ext uri="{9D8B030D-6E8A-4147-A177-3AD203B41FA5}">
                      <a16:colId xmlns:a16="http://schemas.microsoft.com/office/drawing/2014/main" val="2583935948"/>
                    </a:ext>
                  </a:extLst>
                </a:gridCol>
                <a:gridCol w="4454685">
                  <a:extLst>
                    <a:ext uri="{9D8B030D-6E8A-4147-A177-3AD203B41FA5}">
                      <a16:colId xmlns:a16="http://schemas.microsoft.com/office/drawing/2014/main" val="3027184513"/>
                    </a:ext>
                  </a:extLst>
                </a:gridCol>
                <a:gridCol w="6085023">
                  <a:extLst>
                    <a:ext uri="{9D8B030D-6E8A-4147-A177-3AD203B41FA5}">
                      <a16:colId xmlns:a16="http://schemas.microsoft.com/office/drawing/2014/main" val="1683326611"/>
                    </a:ext>
                  </a:extLst>
                </a:gridCol>
              </a:tblGrid>
              <a:tr h="326128">
                <a:tc>
                  <a:txBody>
                    <a:bodyPr/>
                    <a:lstStyle/>
                    <a:p>
                      <a:pPr algn="ctr"/>
                      <a:r>
                        <a:rPr lang="zh-CN" altLang="en-US" dirty="0">
                          <a:latin typeface="+mj-ea"/>
                          <a:ea typeface="+mj-ea"/>
                        </a:rPr>
                        <a:t>推理</a:t>
                      </a:r>
                    </a:p>
                  </a:txBody>
                  <a:tcPr/>
                </a:tc>
                <a:tc>
                  <a:txBody>
                    <a:bodyPr/>
                    <a:lstStyle/>
                    <a:p>
                      <a:pPr algn="ctr"/>
                      <a:r>
                        <a:rPr lang="zh-CN" altLang="en-US" dirty="0">
                          <a:latin typeface="+mj-ea"/>
                          <a:ea typeface="+mj-ea"/>
                        </a:rPr>
                        <a:t>解释</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lt1"/>
                          </a:solidFill>
                          <a:latin typeface="+mj-ea"/>
                          <a:ea typeface="+mj-ea"/>
                          <a:cs typeface="+mn-cs"/>
                        </a:rPr>
                        <a:t>示例：</a:t>
                      </a:r>
                      <a:r>
                        <a:rPr lang="zh-CN" altLang="zh-CN" sz="1800" b="1" kern="1200" dirty="0">
                          <a:solidFill>
                            <a:schemeClr val="lt1"/>
                          </a:solidFill>
                          <a:latin typeface="+mj-ea"/>
                          <a:ea typeface="+mj-ea"/>
                          <a:cs typeface="+mn-cs"/>
                        </a:rPr>
                        <a:t>假设天鹅是白的，抽样</a:t>
                      </a:r>
                      <a:r>
                        <a:rPr lang="en-US" altLang="zh-CN" sz="1800" b="1" kern="1200" dirty="0">
                          <a:solidFill>
                            <a:schemeClr val="lt1"/>
                          </a:solidFill>
                          <a:latin typeface="+mj-ea"/>
                          <a:ea typeface="+mj-ea"/>
                          <a:cs typeface="+mn-cs"/>
                        </a:rPr>
                        <a:t>10</a:t>
                      </a:r>
                      <a:r>
                        <a:rPr lang="zh-CN" altLang="zh-CN" sz="1800" b="1" kern="1200" dirty="0">
                          <a:solidFill>
                            <a:schemeClr val="lt1"/>
                          </a:solidFill>
                          <a:latin typeface="+mj-ea"/>
                          <a:ea typeface="+mj-ea"/>
                          <a:cs typeface="+mn-cs"/>
                        </a:rPr>
                        <a:t>个，有一个黑天鹅。</a:t>
                      </a:r>
                      <a:endParaRPr lang="zh-CN" altLang="en-US" sz="1800" b="1" kern="1200" dirty="0">
                        <a:solidFill>
                          <a:schemeClr val="lt1"/>
                        </a:solidFill>
                        <a:latin typeface="+mj-ea"/>
                        <a:ea typeface="+mj-ea"/>
                        <a:cs typeface="+mn-cs"/>
                      </a:endParaRPr>
                    </a:p>
                  </a:txBody>
                  <a:tcPr/>
                </a:tc>
                <a:extLst>
                  <a:ext uri="{0D108BD9-81ED-4DB2-BD59-A6C34878D82A}">
                    <a16:rowId xmlns:a16="http://schemas.microsoft.com/office/drawing/2014/main" val="317857554"/>
                  </a:ext>
                </a:extLst>
              </a:tr>
              <a:tr h="326128">
                <a:tc>
                  <a:txBody>
                    <a:bodyPr/>
                    <a:lstStyle/>
                    <a:p>
                      <a:r>
                        <a:rPr lang="zh-CN" altLang="en-US" sz="1800" b="0" i="0" u="none" strike="noStrike" kern="1200" baseline="0" dirty="0">
                          <a:solidFill>
                            <a:schemeClr val="dk1"/>
                          </a:solidFill>
                          <a:latin typeface="+mj-ea"/>
                          <a:ea typeface="+mj-ea"/>
                          <a:cs typeface="+mn-cs"/>
                        </a:rPr>
                        <a:t>演绎</a:t>
                      </a:r>
                      <a:endParaRPr lang="zh-CN" altLang="en-US" dirty="0">
                        <a:latin typeface="+mj-ea"/>
                        <a:ea typeface="+mj-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CN" altLang="en-US" sz="1800" b="0" i="0" u="none" strike="noStrike" kern="1200" baseline="0" dirty="0">
                          <a:solidFill>
                            <a:schemeClr val="dk1"/>
                          </a:solidFill>
                          <a:latin typeface="+mj-ea"/>
                          <a:ea typeface="+mj-ea"/>
                          <a:cs typeface="+mn-cs"/>
                        </a:rPr>
                        <a:t>一般到具体：从演绎中预测、确认、否认</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CN" altLang="zh-CN" sz="1800" b="0" i="0" u="none" strike="noStrike" kern="1200" baseline="0" dirty="0">
                          <a:solidFill>
                            <a:schemeClr val="dk1"/>
                          </a:solidFill>
                          <a:latin typeface="+mj-ea"/>
                          <a:ea typeface="+mj-ea"/>
                          <a:cs typeface="+mn-cs"/>
                        </a:rPr>
                        <a:t>拒绝所有天鹅都是白天鹅的假设</a:t>
                      </a:r>
                      <a:endParaRPr lang="zh-CN" altLang="en-US" sz="1800" b="0" i="0" u="none" strike="noStrike" kern="1200" baseline="0" dirty="0">
                        <a:solidFill>
                          <a:schemeClr val="dk1"/>
                        </a:solidFill>
                        <a:latin typeface="+mj-ea"/>
                        <a:ea typeface="+mj-ea"/>
                        <a:cs typeface="+mn-cs"/>
                      </a:endParaRPr>
                    </a:p>
                  </a:txBody>
                  <a:tcPr/>
                </a:tc>
                <a:extLst>
                  <a:ext uri="{0D108BD9-81ED-4DB2-BD59-A6C34878D82A}">
                    <a16:rowId xmlns:a16="http://schemas.microsoft.com/office/drawing/2014/main" val="3086944190"/>
                  </a:ext>
                </a:extLst>
              </a:tr>
              <a:tr h="326128">
                <a:tc>
                  <a:txBody>
                    <a:bodyPr/>
                    <a:lstStyle/>
                    <a:p>
                      <a:r>
                        <a:rPr lang="zh-CN" altLang="en-US" sz="1800" b="0" i="0" u="none" strike="noStrike" kern="1200" baseline="0" dirty="0">
                          <a:solidFill>
                            <a:schemeClr val="dk1"/>
                          </a:solidFill>
                          <a:latin typeface="+mj-ea"/>
                          <a:ea typeface="+mj-ea"/>
                          <a:cs typeface="+mn-cs"/>
                        </a:rPr>
                        <a:t>归纳</a:t>
                      </a:r>
                      <a:endParaRPr lang="zh-CN" altLang="en-US" dirty="0">
                        <a:latin typeface="+mj-ea"/>
                        <a:ea typeface="+mj-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CN" altLang="en-US" sz="1800" b="0" i="0" u="none" strike="noStrike" kern="1200" baseline="0" dirty="0">
                          <a:solidFill>
                            <a:schemeClr val="dk1"/>
                          </a:solidFill>
                          <a:latin typeface="+mj-ea"/>
                          <a:ea typeface="+mj-ea"/>
                          <a:cs typeface="+mn-cs"/>
                        </a:rPr>
                        <a:t>具体到一般：从归纳中扩展</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CN" altLang="zh-CN" sz="1800" b="0" i="0" u="none" strike="noStrike" kern="1200" baseline="0" dirty="0">
                          <a:solidFill>
                            <a:schemeClr val="dk1"/>
                          </a:solidFill>
                          <a:latin typeface="+mj-ea"/>
                          <a:ea typeface="+mj-ea"/>
                          <a:cs typeface="+mn-cs"/>
                        </a:rPr>
                        <a:t>并不是所有的天鹅都是白天鹅</a:t>
                      </a:r>
                      <a:endParaRPr lang="zh-CN" altLang="en-US" sz="1800" b="0" i="0" u="none" strike="noStrike" kern="1200" baseline="0" dirty="0">
                        <a:solidFill>
                          <a:schemeClr val="dk1"/>
                        </a:solidFill>
                        <a:latin typeface="+mj-ea"/>
                        <a:ea typeface="+mj-ea"/>
                        <a:cs typeface="+mn-cs"/>
                      </a:endParaRPr>
                    </a:p>
                  </a:txBody>
                  <a:tcPr/>
                </a:tc>
                <a:extLst>
                  <a:ext uri="{0D108BD9-81ED-4DB2-BD59-A6C34878D82A}">
                    <a16:rowId xmlns:a16="http://schemas.microsoft.com/office/drawing/2014/main" val="1407817524"/>
                  </a:ext>
                </a:extLst>
              </a:tr>
              <a:tr h="0">
                <a:tc>
                  <a:txBody>
                    <a:bodyPr/>
                    <a:lstStyle/>
                    <a:p>
                      <a:pPr marL="0" algn="l" defTabSz="914400" rtl="0" eaLnBrk="1" latinLnBrk="0" hangingPunct="1"/>
                      <a:r>
                        <a:rPr lang="zh-CN" altLang="en-US" sz="1800" b="0" i="0" u="none" strike="noStrike" kern="1200" baseline="0" dirty="0">
                          <a:solidFill>
                            <a:schemeClr val="dk1"/>
                          </a:solidFill>
                          <a:latin typeface="+mj-ea"/>
                          <a:ea typeface="+mj-ea"/>
                          <a:cs typeface="+mn-cs"/>
                        </a:rPr>
                        <a:t>溯因</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CN" altLang="en-US" sz="1800" b="0" i="0" u="none" strike="noStrike" kern="1200" baseline="0" dirty="0">
                          <a:solidFill>
                            <a:schemeClr val="dk1"/>
                          </a:solidFill>
                          <a:latin typeface="+mj-ea"/>
                          <a:ea typeface="+mj-ea"/>
                          <a:cs typeface="+mn-cs"/>
                        </a:rPr>
                        <a:t>从推断到解释：从溯因中理论化</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CN" altLang="zh-CN" sz="1800" b="0" i="0" u="none" strike="noStrike" kern="1200" baseline="0" dirty="0">
                          <a:solidFill>
                            <a:schemeClr val="dk1"/>
                          </a:solidFill>
                          <a:latin typeface="+mj-ea"/>
                          <a:ea typeface="+mj-ea"/>
                          <a:cs typeface="+mn-cs"/>
                        </a:rPr>
                        <a:t>为什么有一个天鹅是黑天鹅？</a:t>
                      </a:r>
                      <a:endParaRPr lang="zh-CN" altLang="en-US" sz="1800" b="0" i="0" u="none" strike="noStrike" kern="1200" baseline="0" dirty="0">
                        <a:solidFill>
                          <a:schemeClr val="dk1"/>
                        </a:solidFill>
                        <a:latin typeface="+mj-ea"/>
                        <a:ea typeface="+mj-ea"/>
                        <a:cs typeface="+mn-cs"/>
                      </a:endParaRPr>
                    </a:p>
                  </a:txBody>
                  <a:tcPr/>
                </a:tc>
                <a:extLst>
                  <a:ext uri="{0D108BD9-81ED-4DB2-BD59-A6C34878D82A}">
                    <a16:rowId xmlns:a16="http://schemas.microsoft.com/office/drawing/2014/main" val="3675810752"/>
                  </a:ext>
                </a:extLst>
              </a:tr>
            </a:tbl>
          </a:graphicData>
        </a:graphic>
      </p:graphicFrame>
      <p:sp>
        <p:nvSpPr>
          <p:cNvPr id="3" name="矩形 2">
            <a:extLst>
              <a:ext uri="{FF2B5EF4-FFF2-40B4-BE49-F238E27FC236}">
                <a16:creationId xmlns:a16="http://schemas.microsoft.com/office/drawing/2014/main" id="{3CBF8F56-D14E-8543-8131-4B492CF80F73}"/>
              </a:ext>
            </a:extLst>
          </p:cNvPr>
          <p:cNvSpPr/>
          <p:nvPr/>
        </p:nvSpPr>
        <p:spPr>
          <a:xfrm>
            <a:off x="81785" y="6365036"/>
            <a:ext cx="6349437" cy="369332"/>
          </a:xfrm>
          <a:prstGeom prst="rect">
            <a:avLst/>
          </a:prstGeom>
        </p:spPr>
        <p:txBody>
          <a:bodyPr wrap="square">
            <a:spAutoFit/>
          </a:bodyPr>
          <a:lstStyle/>
          <a:p>
            <a:r>
              <a:rPr lang="en-US" altLang="zh-CN" dirty="0" err="1">
                <a:latin typeface="+mj-ea"/>
                <a:ea typeface="+mj-ea"/>
              </a:rPr>
              <a:t>Mantere</a:t>
            </a:r>
            <a:r>
              <a:rPr lang="en-US" altLang="zh-CN" dirty="0">
                <a:latin typeface="+mj-ea"/>
                <a:ea typeface="+mj-ea"/>
              </a:rPr>
              <a:t> </a:t>
            </a:r>
            <a:r>
              <a:rPr lang="nl-NL" altLang="zh-CN" dirty="0">
                <a:latin typeface="+mj-ea"/>
              </a:rPr>
              <a:t>and</a:t>
            </a:r>
            <a:r>
              <a:rPr lang="en-US" altLang="zh-CN" dirty="0">
                <a:latin typeface="+mj-ea"/>
                <a:ea typeface="+mj-ea"/>
              </a:rPr>
              <a:t> </a:t>
            </a:r>
            <a:r>
              <a:rPr lang="en-US" altLang="zh-CN" dirty="0" err="1">
                <a:latin typeface="+mj-ea"/>
                <a:ea typeface="+mj-ea"/>
              </a:rPr>
              <a:t>Ketokivi</a:t>
            </a:r>
            <a:r>
              <a:rPr lang="en-US" altLang="zh-CN" dirty="0">
                <a:latin typeface="+mj-ea"/>
                <a:ea typeface="+mj-ea"/>
              </a:rPr>
              <a:t> (2013)</a:t>
            </a:r>
            <a:r>
              <a:rPr lang="zh-CN" altLang="en-US" dirty="0">
                <a:latin typeface="+mj-ea"/>
                <a:ea typeface="+mj-ea"/>
              </a:rPr>
              <a:t>；</a:t>
            </a:r>
            <a:r>
              <a:rPr lang="nl-NL" altLang="zh-CN" dirty="0" err="1">
                <a:latin typeface="+mj-ea"/>
                <a:ea typeface="+mj-ea"/>
              </a:rPr>
              <a:t>Sætre</a:t>
            </a:r>
            <a:r>
              <a:rPr lang="nl-NL" altLang="zh-CN" dirty="0">
                <a:latin typeface="+mj-ea"/>
                <a:ea typeface="+mj-ea"/>
              </a:rPr>
              <a:t> and Van de Ven </a:t>
            </a:r>
            <a:r>
              <a:rPr lang="en-US" altLang="zh-CN" dirty="0">
                <a:latin typeface="+mj-ea"/>
                <a:ea typeface="+mj-ea"/>
              </a:rPr>
              <a:t>(2021)</a:t>
            </a:r>
            <a:endParaRPr lang="zh-CN" altLang="en-US" dirty="0">
              <a:latin typeface="+mj-ea"/>
              <a:ea typeface="+mj-ea"/>
            </a:endParaRPr>
          </a:p>
        </p:txBody>
      </p:sp>
      <p:sp>
        <p:nvSpPr>
          <p:cNvPr id="5" name="标题 1">
            <a:extLst>
              <a:ext uri="{FF2B5EF4-FFF2-40B4-BE49-F238E27FC236}">
                <a16:creationId xmlns:a16="http://schemas.microsoft.com/office/drawing/2014/main" id="{90BBD9C6-51B5-C642-8892-A28631CA8382}"/>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实践问题的理论化：</a:t>
            </a:r>
            <a:r>
              <a:rPr lang="zh-CN" altLang="en-US" sz="3300" b="1" dirty="0">
                <a:latin typeface="+mj-ea"/>
              </a:rPr>
              <a:t>推理方式</a:t>
            </a:r>
            <a:endParaRPr lang="zh-CN" altLang="en-US" sz="3300" dirty="0">
              <a:latin typeface="+mj-ea"/>
            </a:endParaRPr>
          </a:p>
        </p:txBody>
      </p:sp>
    </p:spTree>
    <p:extLst>
      <p:ext uri="{BB962C8B-B14F-4D97-AF65-F5344CB8AC3E}">
        <p14:creationId xmlns:p14="http://schemas.microsoft.com/office/powerpoint/2010/main" val="3431006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5A936AA-A9B0-4DB2-B1AA-240B1AB084A2}"/>
              </a:ext>
            </a:extLst>
          </p:cNvPr>
          <p:cNvSpPr/>
          <p:nvPr/>
        </p:nvSpPr>
        <p:spPr>
          <a:xfrm>
            <a:off x="413657" y="1118688"/>
            <a:ext cx="10951029" cy="1892121"/>
          </a:xfrm>
          <a:prstGeom prst="rect">
            <a:avLst/>
          </a:prstGeom>
        </p:spPr>
        <p:txBody>
          <a:bodyPr wrap="square">
            <a:spAutoFit/>
          </a:bodyPr>
          <a:lstStyle/>
          <a:p>
            <a:pPr algn="just">
              <a:lnSpc>
                <a:spcPct val="150000"/>
              </a:lnSpc>
              <a:spcAft>
                <a:spcPts val="0"/>
              </a:spcAft>
            </a:pPr>
            <a:r>
              <a:rPr lang="en-US" altLang="zh-CN" sz="2000" b="1" kern="100" dirty="0">
                <a:highlight>
                  <a:srgbClr val="FFFF00"/>
                </a:highlight>
                <a:latin typeface="+mj-ea"/>
                <a:ea typeface="+mj-ea"/>
                <a:cs typeface="Times New Roman" panose="02020603050405020304" pitchFamily="18" charset="0"/>
              </a:rPr>
              <a:t>1</a:t>
            </a:r>
            <a:r>
              <a:rPr lang="zh-CN" altLang="en-US" sz="2000" b="1" kern="100" dirty="0">
                <a:highlight>
                  <a:srgbClr val="FFFF00"/>
                </a:highlight>
                <a:latin typeface="+mj-ea"/>
                <a:ea typeface="+mj-ea"/>
                <a:cs typeface="Times New Roman" panose="02020603050405020304" pitchFamily="18" charset="0"/>
              </a:rPr>
              <a:t>、</a:t>
            </a:r>
            <a:r>
              <a:rPr lang="zh-CN" altLang="zh-CN" sz="2000" b="1" kern="100" dirty="0">
                <a:highlight>
                  <a:srgbClr val="FFFF00"/>
                </a:highlight>
                <a:latin typeface="+mj-ea"/>
                <a:ea typeface="+mj-ea"/>
                <a:cs typeface="Times New Roman" panose="02020603050405020304" pitchFamily="18" charset="0"/>
              </a:rPr>
              <a:t>实践问题</a:t>
            </a:r>
            <a:r>
              <a:rPr lang="zh-CN" altLang="zh-CN" sz="2000" kern="100" dirty="0">
                <a:latin typeface="+mj-ea"/>
                <a:ea typeface="+mj-ea"/>
                <a:cs typeface="Times New Roman" panose="02020603050405020304" pitchFamily="18" charset="0"/>
              </a:rPr>
              <a:t>：对实践问题进行分解和属性的描述。</a:t>
            </a:r>
          </a:p>
          <a:p>
            <a:pPr marL="285750" indent="-28575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实践问题的分解和细化是指从一个大的实践问题中分解出更小的子问题。</a:t>
            </a:r>
            <a:endParaRPr lang="en-US" altLang="zh-CN" sz="2000" kern="100" dirty="0">
              <a:latin typeface="+mj-ea"/>
              <a:ea typeface="+mj-ea"/>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按对象特征进行划分，从中剥离出具有一定特殊性的对象；</a:t>
            </a:r>
            <a:endParaRPr lang="en-US" altLang="zh-CN" sz="2000" kern="100" dirty="0">
              <a:latin typeface="+mj-ea"/>
              <a:ea typeface="+mj-ea"/>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依照管理规则和步骤进行划分。</a:t>
            </a:r>
          </a:p>
        </p:txBody>
      </p:sp>
      <p:sp>
        <p:nvSpPr>
          <p:cNvPr id="4" name="标题 1">
            <a:extLst>
              <a:ext uri="{FF2B5EF4-FFF2-40B4-BE49-F238E27FC236}">
                <a16:creationId xmlns:a16="http://schemas.microsoft.com/office/drawing/2014/main" id="{4B61D80A-4D9E-48E6-AAAC-71D2584EF823}"/>
              </a:ext>
            </a:extLst>
          </p:cNvPr>
          <p:cNvSpPr txBox="1">
            <a:spLocks noChangeArrowheads="1"/>
          </p:cNvSpPr>
          <p:nvPr/>
        </p:nvSpPr>
        <p:spPr>
          <a:xfrm>
            <a:off x="1730456" y="342002"/>
            <a:ext cx="8731087" cy="77668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spcAft>
                <a:spcPts val="0"/>
              </a:spcAft>
            </a:pPr>
            <a:r>
              <a:rPr lang="zh-CN" altLang="zh-CN" sz="3300" b="1" dirty="0"/>
              <a:t>第一步：呈现备选的理论库和实践问题库</a:t>
            </a:r>
          </a:p>
        </p:txBody>
      </p:sp>
      <p:sp>
        <p:nvSpPr>
          <p:cNvPr id="5" name="矩形 4">
            <a:extLst>
              <a:ext uri="{FF2B5EF4-FFF2-40B4-BE49-F238E27FC236}">
                <a16:creationId xmlns:a16="http://schemas.microsoft.com/office/drawing/2014/main" id="{EB822B6C-4D67-40DE-B08D-73E6468C6C87}"/>
              </a:ext>
            </a:extLst>
          </p:cNvPr>
          <p:cNvSpPr/>
          <p:nvPr/>
        </p:nvSpPr>
        <p:spPr>
          <a:xfrm>
            <a:off x="509400" y="4293552"/>
            <a:ext cx="11103479" cy="1430456"/>
          </a:xfrm>
          <a:prstGeom prst="rect">
            <a:avLst/>
          </a:prstGeom>
          <a:solidFill>
            <a:schemeClr val="accent6">
              <a:lumMod val="40000"/>
              <a:lumOff val="60000"/>
            </a:schemeClr>
          </a:solidFill>
        </p:spPr>
        <p:txBody>
          <a:bodyPr wrap="square">
            <a:spAutoFit/>
          </a:bodyPr>
          <a:lstStyle/>
          <a:p>
            <a:pPr>
              <a:lnSpc>
                <a:spcPct val="150000"/>
              </a:lnSpc>
            </a:pPr>
            <a:r>
              <a:rPr lang="zh-CN" altLang="zh-CN" sz="2000" kern="100" dirty="0">
                <a:latin typeface="+mj-ea"/>
                <a:ea typeface="+mj-ea"/>
                <a:cs typeface="Times New Roman" panose="02020603050405020304" pitchFamily="18" charset="0"/>
              </a:rPr>
              <a:t>商业银行的营销可细分为很多子问题，维度包括主体、产品、营销方式等。如按客户群体，商业银行的对公、对私营销；按营销产品，可分商业银行的</a:t>
            </a:r>
            <a:r>
              <a:rPr lang="en-US" altLang="zh-CN" sz="2000" kern="100" dirty="0">
                <a:latin typeface="+mj-ea"/>
                <a:ea typeface="+mj-ea"/>
                <a:cs typeface="Times New Roman" panose="02020603050405020304" pitchFamily="18" charset="0"/>
              </a:rPr>
              <a:t>A</a:t>
            </a:r>
            <a:r>
              <a:rPr lang="zh-CN" altLang="zh-CN" sz="2000" kern="100" dirty="0">
                <a:latin typeface="+mj-ea"/>
                <a:ea typeface="+mj-ea"/>
                <a:cs typeface="Times New Roman" panose="02020603050405020304" pitchFamily="18" charset="0"/>
              </a:rPr>
              <a:t>产品、</a:t>
            </a:r>
            <a:r>
              <a:rPr lang="en-US" altLang="zh-CN" sz="2000" kern="100" dirty="0">
                <a:latin typeface="+mj-ea"/>
                <a:ea typeface="+mj-ea"/>
                <a:cs typeface="Times New Roman" panose="02020603050405020304" pitchFamily="18" charset="0"/>
              </a:rPr>
              <a:t>B</a:t>
            </a:r>
            <a:r>
              <a:rPr lang="zh-CN" altLang="zh-CN" sz="2000" kern="100" dirty="0">
                <a:latin typeface="+mj-ea"/>
                <a:ea typeface="+mj-ea"/>
                <a:cs typeface="Times New Roman" panose="02020603050405020304" pitchFamily="18" charset="0"/>
              </a:rPr>
              <a:t>产品；按营销方式划分：商业银行的线下、线上营销等。</a:t>
            </a:r>
            <a:endParaRPr lang="zh-CN" altLang="en-US" sz="2000" kern="100"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1149151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5A936AA-A9B0-4DB2-B1AA-240B1AB084A2}"/>
              </a:ext>
            </a:extLst>
          </p:cNvPr>
          <p:cNvSpPr/>
          <p:nvPr/>
        </p:nvSpPr>
        <p:spPr>
          <a:xfrm>
            <a:off x="402771" y="1118688"/>
            <a:ext cx="10809515" cy="3184783"/>
          </a:xfrm>
          <a:prstGeom prst="rect">
            <a:avLst/>
          </a:prstGeom>
        </p:spPr>
        <p:txBody>
          <a:bodyPr wrap="square">
            <a:spAutoFit/>
          </a:bodyPr>
          <a:lstStyle/>
          <a:p>
            <a:pPr algn="just">
              <a:lnSpc>
                <a:spcPct val="150000"/>
              </a:lnSpc>
            </a:pPr>
            <a:r>
              <a:rPr lang="en-US" altLang="zh-CN" sz="2000" b="1" kern="100" dirty="0">
                <a:highlight>
                  <a:srgbClr val="FFFF00"/>
                </a:highlight>
                <a:latin typeface="+mj-ea"/>
                <a:ea typeface="+mj-ea"/>
                <a:cs typeface="Times New Roman" panose="02020603050405020304" pitchFamily="18" charset="0"/>
              </a:rPr>
              <a:t>2</a:t>
            </a:r>
            <a:r>
              <a:rPr lang="zh-CN" altLang="en-US" sz="2000" b="1" kern="100" dirty="0">
                <a:highlight>
                  <a:srgbClr val="FFFF00"/>
                </a:highlight>
                <a:latin typeface="+mj-ea"/>
                <a:ea typeface="+mj-ea"/>
                <a:cs typeface="Times New Roman" panose="02020603050405020304" pitchFamily="18" charset="0"/>
              </a:rPr>
              <a:t>、</a:t>
            </a:r>
            <a:r>
              <a:rPr lang="zh-CN" altLang="zh-CN" sz="2000" b="1" kern="100" dirty="0">
                <a:highlight>
                  <a:srgbClr val="FFFF00"/>
                </a:highlight>
                <a:latin typeface="+mj-ea"/>
                <a:ea typeface="+mj-ea"/>
                <a:cs typeface="Times New Roman" panose="02020603050405020304" pitchFamily="18" charset="0"/>
              </a:rPr>
              <a:t>理论方面</a:t>
            </a:r>
            <a:r>
              <a:rPr lang="zh-CN" altLang="zh-CN" sz="2000" kern="100" dirty="0">
                <a:latin typeface="+mj-ea"/>
                <a:ea typeface="+mj-ea"/>
                <a:cs typeface="Times New Roman" panose="02020603050405020304" pitchFamily="18" charset="0"/>
              </a:rPr>
              <a:t>：形成备选理论库。实践问题可从多理论视角进行解读。例如，咨询中跨专业合作可归类到知识融合的问题、合作的问题、激励的问题等。</a:t>
            </a:r>
            <a:endParaRPr lang="en-US" altLang="zh-CN" sz="2000" kern="100" dirty="0">
              <a:latin typeface="+mj-ea"/>
              <a:ea typeface="+mj-ea"/>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提炼问题特征和要素进行理论分析。</a:t>
            </a:r>
            <a:endParaRPr lang="en-US" altLang="zh-CN" sz="2000" kern="100" dirty="0">
              <a:latin typeface="+mj-ea"/>
              <a:ea typeface="+mj-ea"/>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分析问题的核心特征，再以此为基础，搜寻理论的细分。</a:t>
            </a:r>
            <a:endParaRPr lang="en-US" altLang="zh-CN" kern="100" dirty="0">
              <a:latin typeface="+mj-ea"/>
              <a:ea typeface="+mj-ea"/>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细分过程也存在对理论的筛选。</a:t>
            </a:r>
          </a:p>
          <a:p>
            <a:pPr marL="285750" indent="-28575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将初步筛选的理论进行分析。</a:t>
            </a:r>
            <a:endParaRPr lang="en-US" altLang="zh-CN" sz="2000" kern="100" dirty="0">
              <a:latin typeface="+mj-ea"/>
              <a:ea typeface="+mj-ea"/>
              <a:cs typeface="Times New Roman" panose="02020603050405020304" pitchFamily="18" charset="0"/>
            </a:endParaRPr>
          </a:p>
          <a:p>
            <a:pPr marL="742950" lvl="1" indent="-28575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针对理论的情境、问题、因果关系、解决方案等进行分析。</a:t>
            </a:r>
          </a:p>
        </p:txBody>
      </p:sp>
      <p:sp>
        <p:nvSpPr>
          <p:cNvPr id="4" name="标题 1">
            <a:extLst>
              <a:ext uri="{FF2B5EF4-FFF2-40B4-BE49-F238E27FC236}">
                <a16:creationId xmlns:a16="http://schemas.microsoft.com/office/drawing/2014/main" id="{4B61D80A-4D9E-48E6-AAAC-71D2584EF823}"/>
              </a:ext>
            </a:extLst>
          </p:cNvPr>
          <p:cNvSpPr txBox="1">
            <a:spLocks noChangeArrowheads="1"/>
          </p:cNvSpPr>
          <p:nvPr/>
        </p:nvSpPr>
        <p:spPr>
          <a:xfrm>
            <a:off x="1730456" y="342002"/>
            <a:ext cx="8731087" cy="77668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spcAft>
                <a:spcPts val="0"/>
              </a:spcAft>
            </a:pPr>
            <a:r>
              <a:rPr lang="zh-CN" altLang="zh-CN" sz="3300" b="1" dirty="0"/>
              <a:t>第一步：呈现备选的理论库和实践问题库</a:t>
            </a:r>
          </a:p>
        </p:txBody>
      </p:sp>
      <p:sp>
        <p:nvSpPr>
          <p:cNvPr id="2" name="矩形 1">
            <a:extLst>
              <a:ext uri="{FF2B5EF4-FFF2-40B4-BE49-F238E27FC236}">
                <a16:creationId xmlns:a16="http://schemas.microsoft.com/office/drawing/2014/main" id="{63A8CD67-701F-4AE1-9B5C-FD3D77AF17C7}"/>
              </a:ext>
            </a:extLst>
          </p:cNvPr>
          <p:cNvSpPr/>
          <p:nvPr/>
        </p:nvSpPr>
        <p:spPr>
          <a:xfrm>
            <a:off x="402771" y="4825907"/>
            <a:ext cx="11310258" cy="968791"/>
          </a:xfrm>
          <a:prstGeom prst="rect">
            <a:avLst/>
          </a:prstGeom>
          <a:solidFill>
            <a:schemeClr val="accent6">
              <a:lumMod val="40000"/>
              <a:lumOff val="60000"/>
            </a:schemeClr>
          </a:solidFill>
        </p:spPr>
        <p:txBody>
          <a:bodyPr wrap="square">
            <a:spAutoFit/>
          </a:bodyPr>
          <a:lstStyle/>
          <a:p>
            <a:pPr marL="342900" indent="-342900">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风险管理包括风险识别、风险评估、风险应对、风险监测；</a:t>
            </a:r>
            <a:endParaRPr lang="en-US" altLang="zh-CN" sz="2000" kern="100" dirty="0">
              <a:latin typeface="+mj-ea"/>
              <a:ea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质量评价包括指标体系、权重、测量等</a:t>
            </a:r>
            <a:endParaRPr lang="zh-CN" altLang="zh-CN" sz="2000" kern="100"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4019910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CB7DBCC-91CB-470F-8171-BD5288538A73}"/>
              </a:ext>
            </a:extLst>
          </p:cNvPr>
          <p:cNvSpPr/>
          <p:nvPr/>
        </p:nvSpPr>
        <p:spPr>
          <a:xfrm>
            <a:off x="359227" y="1118688"/>
            <a:ext cx="10863943" cy="3277116"/>
          </a:xfrm>
          <a:prstGeom prst="rect">
            <a:avLst/>
          </a:prstGeom>
        </p:spPr>
        <p:txBody>
          <a:bodyPr wrap="square">
            <a:spAutoFit/>
          </a:bodyPr>
          <a:lstStyle/>
          <a:p>
            <a:pPr algn="just">
              <a:lnSpc>
                <a:spcPct val="150000"/>
              </a:lnSpc>
              <a:spcAft>
                <a:spcPts val="0"/>
              </a:spcAft>
            </a:pPr>
            <a:r>
              <a:rPr lang="zh-CN" altLang="zh-CN" sz="2000" kern="100" dirty="0">
                <a:latin typeface="+mj-ea"/>
                <a:ea typeface="+mj-ea"/>
                <a:cs typeface="Times New Roman" panose="02020603050405020304" pitchFamily="18" charset="0"/>
              </a:rPr>
              <a:t>以实践问题和理论中的一类问题吻合性</a:t>
            </a:r>
            <a:r>
              <a:rPr lang="en-US" altLang="zh-CN" sz="2000" kern="100" dirty="0">
                <a:latin typeface="+mj-ea"/>
                <a:ea typeface="+mj-ea"/>
                <a:cs typeface="Times New Roman" panose="02020603050405020304" pitchFamily="18" charset="0"/>
              </a:rPr>
              <a:t>/</a:t>
            </a:r>
            <a:r>
              <a:rPr lang="zh-CN" altLang="en-US" sz="2000" kern="100" dirty="0">
                <a:latin typeface="+mj-ea"/>
                <a:ea typeface="+mj-ea"/>
                <a:cs typeface="Times New Roman" panose="02020603050405020304" pitchFamily="18" charset="0"/>
              </a:rPr>
              <a:t>可解释性</a:t>
            </a:r>
            <a:r>
              <a:rPr lang="zh-CN" altLang="zh-CN" sz="2000" kern="100" dirty="0">
                <a:latin typeface="+mj-ea"/>
                <a:ea typeface="+mj-ea"/>
                <a:cs typeface="Times New Roman" panose="02020603050405020304" pitchFamily="18" charset="0"/>
              </a:rPr>
              <a:t>为原则，进行双向筛选。</a:t>
            </a:r>
            <a:endParaRPr lang="en-US" altLang="zh-CN" sz="2000" kern="100" dirty="0">
              <a:latin typeface="+mj-ea"/>
              <a:ea typeface="+mj-ea"/>
              <a:cs typeface="Times New Roman" panose="02020603050405020304" pitchFamily="18" charset="0"/>
            </a:endParaRPr>
          </a:p>
          <a:p>
            <a:pPr>
              <a:lnSpc>
                <a:spcPct val="150000"/>
              </a:lnSpc>
            </a:pPr>
            <a:r>
              <a:rPr lang="en-US" altLang="zh-CN" sz="2000" b="1" kern="100" dirty="0">
                <a:latin typeface="+mj-ea"/>
                <a:ea typeface="+mj-ea"/>
                <a:cs typeface="Times New Roman" panose="02020603050405020304" pitchFamily="18" charset="0"/>
              </a:rPr>
              <a:t>1</a:t>
            </a:r>
            <a:r>
              <a:rPr lang="zh-CN" altLang="en-US" sz="2000" b="1" kern="100" dirty="0">
                <a:latin typeface="+mj-ea"/>
                <a:ea typeface="+mj-ea"/>
                <a:cs typeface="Times New Roman" panose="02020603050405020304" pitchFamily="18" charset="0"/>
              </a:rPr>
              <a:t>、</a:t>
            </a:r>
            <a:r>
              <a:rPr lang="zh-CN" altLang="zh-CN" sz="2000" b="1" kern="100" dirty="0">
                <a:latin typeface="+mj-ea"/>
                <a:ea typeface="+mj-ea"/>
                <a:cs typeface="Times New Roman" panose="02020603050405020304" pitchFamily="18" charset="0"/>
              </a:rPr>
              <a:t>理论筛选</a:t>
            </a:r>
            <a:r>
              <a:rPr lang="zh-CN" altLang="zh-CN" sz="2000" kern="100" dirty="0">
                <a:latin typeface="+mj-ea"/>
                <a:ea typeface="+mj-ea"/>
                <a:cs typeface="Times New Roman" panose="02020603050405020304" pitchFamily="18" charset="0"/>
              </a:rPr>
              <a:t>：理论</a:t>
            </a:r>
            <a:r>
              <a:rPr lang="zh-CN" altLang="en-US" sz="2000" kern="100" dirty="0">
                <a:latin typeface="+mj-ea"/>
                <a:ea typeface="+mj-ea"/>
                <a:cs typeface="Times New Roman" panose="02020603050405020304" pitchFamily="18" charset="0"/>
              </a:rPr>
              <a:t>是</a:t>
            </a:r>
            <a:r>
              <a:rPr lang="zh-CN" altLang="zh-CN" sz="2000" kern="100" dirty="0">
                <a:latin typeface="+mj-ea"/>
                <a:ea typeface="+mj-ea"/>
                <a:cs typeface="Times New Roman" panose="02020603050405020304" pitchFamily="18" charset="0"/>
              </a:rPr>
              <a:t>分析该实践问题的一个视角。在已确定的理论范围内筛选一个</a:t>
            </a:r>
            <a:r>
              <a:rPr lang="zh-CN" altLang="en-US" sz="2000" kern="100" dirty="0">
                <a:latin typeface="+mj-ea"/>
                <a:ea typeface="+mj-ea"/>
                <a:cs typeface="Times New Roman" panose="02020603050405020304" pitchFamily="18" charset="0"/>
              </a:rPr>
              <a:t>。</a:t>
            </a:r>
            <a:endParaRPr lang="en-US" altLang="zh-CN" sz="2000" kern="100" dirty="0">
              <a:latin typeface="+mj-ea"/>
              <a:ea typeface="+mj-ea"/>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依据实践问题的特征和细化</a:t>
            </a:r>
            <a:r>
              <a:rPr lang="zh-CN" altLang="en-US" sz="2000" kern="100" dirty="0">
                <a:latin typeface="+mj-ea"/>
                <a:ea typeface="+mj-ea"/>
                <a:cs typeface="Times New Roman" panose="02020603050405020304" pitchFamily="18" charset="0"/>
              </a:rPr>
              <a:t>。</a:t>
            </a:r>
            <a:endParaRPr lang="en-US" altLang="zh-CN" sz="2000" kern="100" dirty="0">
              <a:latin typeface="+mj-ea"/>
              <a:ea typeface="+mj-ea"/>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增加理论筛选的范围。</a:t>
            </a:r>
            <a:endParaRPr lang="en-US" altLang="zh-CN" sz="2000" kern="100" dirty="0">
              <a:latin typeface="+mj-ea"/>
              <a:ea typeface="+mj-ea"/>
              <a:cs typeface="Times New Roman" panose="02020603050405020304" pitchFamily="18" charset="0"/>
            </a:endParaRPr>
          </a:p>
          <a:p>
            <a:pPr algn="just">
              <a:lnSpc>
                <a:spcPct val="150000"/>
              </a:lnSpc>
              <a:spcAft>
                <a:spcPts val="0"/>
              </a:spcAft>
            </a:pPr>
            <a:r>
              <a:rPr lang="en-US" altLang="zh-CN" sz="2000" b="1" kern="100" dirty="0">
                <a:latin typeface="+mj-ea"/>
                <a:ea typeface="+mj-ea"/>
                <a:cs typeface="Times New Roman" panose="02020603050405020304" pitchFamily="18" charset="0"/>
              </a:rPr>
              <a:t>2</a:t>
            </a:r>
            <a:r>
              <a:rPr lang="zh-CN" altLang="en-US" sz="2000" b="1" kern="100" dirty="0">
                <a:latin typeface="+mj-ea"/>
                <a:ea typeface="+mj-ea"/>
                <a:cs typeface="Times New Roman" panose="02020603050405020304" pitchFamily="18" charset="0"/>
              </a:rPr>
              <a:t>、</a:t>
            </a:r>
            <a:r>
              <a:rPr lang="zh-CN" altLang="zh-CN" sz="2000" b="1" kern="100" dirty="0">
                <a:latin typeface="+mj-ea"/>
                <a:ea typeface="+mj-ea"/>
                <a:cs typeface="Times New Roman" panose="02020603050405020304" pitchFamily="18" charset="0"/>
              </a:rPr>
              <a:t>实践问题的聚焦</a:t>
            </a:r>
            <a:r>
              <a:rPr lang="zh-CN" altLang="zh-CN" sz="2000" kern="100" dirty="0">
                <a:latin typeface="+mj-ea"/>
                <a:ea typeface="+mj-ea"/>
                <a:cs typeface="Times New Roman" panose="02020603050405020304" pitchFamily="18" charset="0"/>
              </a:rPr>
              <a:t>：</a:t>
            </a:r>
            <a:endParaRPr lang="en-US" altLang="zh-CN" sz="2000" kern="100" dirty="0">
              <a:latin typeface="+mj-ea"/>
              <a:ea typeface="+mj-ea"/>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从各要素中组合子问题</a:t>
            </a:r>
            <a:r>
              <a:rPr lang="zh-CN" altLang="en-US" sz="2000" kern="100" dirty="0">
                <a:latin typeface="+mj-ea"/>
                <a:ea typeface="+mj-ea"/>
                <a:cs typeface="Times New Roman" panose="02020603050405020304" pitchFamily="18" charset="0"/>
              </a:rPr>
              <a:t>。</a:t>
            </a:r>
            <a:endParaRPr lang="en-US" altLang="zh-CN" sz="2000" kern="100" dirty="0">
              <a:latin typeface="+mj-ea"/>
              <a:ea typeface="+mj-ea"/>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实践中的重要性。</a:t>
            </a:r>
          </a:p>
        </p:txBody>
      </p:sp>
      <p:sp>
        <p:nvSpPr>
          <p:cNvPr id="4" name="标题 1">
            <a:extLst>
              <a:ext uri="{FF2B5EF4-FFF2-40B4-BE49-F238E27FC236}">
                <a16:creationId xmlns:a16="http://schemas.microsoft.com/office/drawing/2014/main" id="{955F8FD8-A4A5-4CFA-B2C8-6347A843F1E3}"/>
              </a:ext>
            </a:extLst>
          </p:cNvPr>
          <p:cNvSpPr txBox="1">
            <a:spLocks noChangeArrowheads="1"/>
          </p:cNvSpPr>
          <p:nvPr/>
        </p:nvSpPr>
        <p:spPr>
          <a:xfrm>
            <a:off x="1730456" y="342002"/>
            <a:ext cx="8731087" cy="77668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spcAft>
                <a:spcPts val="0"/>
              </a:spcAft>
            </a:pPr>
            <a:r>
              <a:rPr lang="zh-CN" altLang="zh-CN" sz="3300" b="1" dirty="0"/>
              <a:t>第</a:t>
            </a:r>
            <a:r>
              <a:rPr lang="zh-CN" altLang="en-US" sz="3300" b="1" dirty="0"/>
              <a:t>二</a:t>
            </a:r>
            <a:r>
              <a:rPr lang="zh-CN" altLang="zh-CN" sz="3300" b="1" dirty="0"/>
              <a:t>步：</a:t>
            </a:r>
            <a:r>
              <a:rPr lang="zh-CN" altLang="en-US" sz="3300" b="1" dirty="0"/>
              <a:t>以可解释性为原则进行筛选</a:t>
            </a:r>
            <a:endParaRPr lang="zh-CN" altLang="zh-CN" sz="3300" b="1" dirty="0"/>
          </a:p>
        </p:txBody>
      </p:sp>
      <p:graphicFrame>
        <p:nvGraphicFramePr>
          <p:cNvPr id="5" name="对象 4">
            <a:extLst>
              <a:ext uri="{FF2B5EF4-FFF2-40B4-BE49-F238E27FC236}">
                <a16:creationId xmlns:a16="http://schemas.microsoft.com/office/drawing/2014/main" id="{0CDFA1ED-80E4-4760-A80D-CBEB4AD55410}"/>
              </a:ext>
            </a:extLst>
          </p:cNvPr>
          <p:cNvGraphicFramePr>
            <a:graphicFrameLocks noChangeAspect="1"/>
          </p:cNvGraphicFramePr>
          <p:nvPr>
            <p:extLst>
              <p:ext uri="{D42A27DB-BD31-4B8C-83A1-F6EECF244321}">
                <p14:modId xmlns:p14="http://schemas.microsoft.com/office/powerpoint/2010/main" val="561967851"/>
              </p:ext>
            </p:extLst>
          </p:nvPr>
        </p:nvGraphicFramePr>
        <p:xfrm>
          <a:off x="8046295" y="2487634"/>
          <a:ext cx="3565560" cy="3816340"/>
        </p:xfrm>
        <a:graphic>
          <a:graphicData uri="http://schemas.openxmlformats.org/presentationml/2006/ole">
            <mc:AlternateContent xmlns:mc="http://schemas.openxmlformats.org/markup-compatibility/2006">
              <mc:Choice xmlns:v="urn:schemas-microsoft-com:vml" Requires="v">
                <p:oleObj spid="_x0000_s2050" name="Visio" r:id="rId3" imgW="3064346" imgH="3053423" progId="Visio.Drawing.15">
                  <p:embed/>
                </p:oleObj>
              </mc:Choice>
              <mc:Fallback>
                <p:oleObj name="Visio" r:id="rId3" imgW="3064346" imgH="3053423" progId="Visio.Drawing.15">
                  <p:embed/>
                  <p:pic>
                    <p:nvPicPr>
                      <p:cNvPr id="5" name="对象 4">
                        <a:extLst>
                          <a:ext uri="{FF2B5EF4-FFF2-40B4-BE49-F238E27FC236}">
                            <a16:creationId xmlns:a16="http://schemas.microsoft.com/office/drawing/2014/main" id="{0CDFA1ED-80E4-4760-A80D-CBEB4AD554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6295" y="2487634"/>
                        <a:ext cx="3565560" cy="3816340"/>
                      </a:xfrm>
                      <a:prstGeom prst="rect">
                        <a:avLst/>
                      </a:prstGeom>
                      <a:noFill/>
                    </p:spPr>
                  </p:pic>
                </p:oleObj>
              </mc:Fallback>
            </mc:AlternateContent>
          </a:graphicData>
        </a:graphic>
      </p:graphicFrame>
    </p:spTree>
    <p:extLst>
      <p:ext uri="{BB962C8B-B14F-4D97-AF65-F5344CB8AC3E}">
        <p14:creationId xmlns:p14="http://schemas.microsoft.com/office/powerpoint/2010/main" val="2134275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CB7DBCC-91CB-470F-8171-BD5288538A73}"/>
              </a:ext>
            </a:extLst>
          </p:cNvPr>
          <p:cNvSpPr/>
          <p:nvPr/>
        </p:nvSpPr>
        <p:spPr>
          <a:xfrm>
            <a:off x="359227" y="1118688"/>
            <a:ext cx="11059887" cy="2727798"/>
          </a:xfrm>
          <a:prstGeom prst="rect">
            <a:avLst/>
          </a:prstGeom>
        </p:spPr>
        <p:txBody>
          <a:bodyPr wrap="square">
            <a:spAutoFit/>
          </a:bodyPr>
          <a:lstStyle/>
          <a:p>
            <a:pPr algn="just">
              <a:lnSpc>
                <a:spcPct val="150000"/>
              </a:lnSpc>
            </a:pPr>
            <a:r>
              <a:rPr lang="zh-CN" altLang="zh-CN" sz="2000" dirty="0">
                <a:latin typeface="+mj-ea"/>
                <a:ea typeface="+mj-ea"/>
              </a:rPr>
              <a:t>选择较高解释力的理论视角意味着实践问题可被更有效地认识，即能识别问题的根本矛盾。</a:t>
            </a:r>
          </a:p>
          <a:p>
            <a:pPr algn="just">
              <a:lnSpc>
                <a:spcPct val="150000"/>
              </a:lnSpc>
            </a:pPr>
            <a:r>
              <a:rPr lang="zh-CN" altLang="zh-CN" sz="2000" b="1" kern="100" dirty="0">
                <a:latin typeface="+mj-ea"/>
                <a:ea typeface="+mj-ea"/>
                <a:cs typeface="Times New Roman" panose="02020603050405020304" pitchFamily="18" charset="0"/>
              </a:rPr>
              <a:t>双向筛选</a:t>
            </a:r>
            <a:r>
              <a:rPr lang="zh-CN" altLang="en-US" sz="2000" b="1" kern="100" dirty="0">
                <a:latin typeface="+mj-ea"/>
                <a:ea typeface="+mj-ea"/>
                <a:cs typeface="Times New Roman" panose="02020603050405020304" pitchFamily="18" charset="0"/>
              </a:rPr>
              <a:t>的</a:t>
            </a:r>
            <a:r>
              <a:rPr lang="zh-CN" altLang="zh-CN" sz="2000" b="1" kern="100" dirty="0">
                <a:latin typeface="+mj-ea"/>
                <a:ea typeface="+mj-ea"/>
                <a:cs typeface="Times New Roman" panose="02020603050405020304" pitchFamily="18" charset="0"/>
              </a:rPr>
              <a:t>过程性决策因素</a:t>
            </a:r>
            <a:r>
              <a:rPr lang="zh-CN" altLang="zh-CN" sz="2000" kern="100" dirty="0">
                <a:latin typeface="+mj-ea"/>
                <a:ea typeface="+mj-ea"/>
                <a:cs typeface="Times New Roman" panose="02020603050405020304" pitchFamily="18" charset="0"/>
              </a:rPr>
              <a:t>：</a:t>
            </a:r>
          </a:p>
          <a:p>
            <a:pPr algn="just">
              <a:lnSpc>
                <a:spcPct val="150000"/>
              </a:lnSpc>
            </a:pPr>
            <a:r>
              <a:rPr lang="en-US" altLang="zh-CN" sz="2000" kern="100" dirty="0">
                <a:latin typeface="+mj-ea"/>
                <a:ea typeface="+mj-ea"/>
                <a:cs typeface="Times New Roman" panose="02020603050405020304" pitchFamily="18" charset="0"/>
              </a:rPr>
              <a:t>1</a:t>
            </a:r>
            <a:r>
              <a:rPr lang="zh-CN" altLang="en-US"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是否找到了理论和实践问题的最佳契合，有助于将实践问题抽象成一类理论问题</a:t>
            </a:r>
            <a:endParaRPr lang="en-US" altLang="zh-CN" sz="2000" kern="100" dirty="0">
              <a:latin typeface="+mj-ea"/>
              <a:ea typeface="+mj-ea"/>
              <a:cs typeface="Times New Roman" panose="02020603050405020304" pitchFamily="18" charset="0"/>
            </a:endParaRPr>
          </a:p>
          <a:p>
            <a:pPr algn="just">
              <a:lnSpc>
                <a:spcPct val="150000"/>
              </a:lnSpc>
            </a:pPr>
            <a:r>
              <a:rPr lang="en-US" altLang="zh-CN" sz="2000" kern="100" dirty="0">
                <a:latin typeface="+mj-ea"/>
                <a:ea typeface="+mj-ea"/>
                <a:cs typeface="Times New Roman" panose="02020603050405020304" pitchFamily="18" charset="0"/>
              </a:rPr>
              <a:t>2</a:t>
            </a:r>
            <a:r>
              <a:rPr lang="zh-CN" altLang="en-US"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实践问题的呈现是否抓住了问题的关键特征和属性</a:t>
            </a:r>
            <a:endParaRPr lang="en-US" altLang="zh-CN" sz="2000" kern="100" dirty="0">
              <a:latin typeface="+mj-ea"/>
              <a:ea typeface="+mj-ea"/>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抓实践问题的关键属性和特征，进行理论化抽象。实践问题的属性非常丰富、多样。</a:t>
            </a:r>
            <a:endParaRPr lang="en-US" altLang="zh-CN" kern="100" dirty="0">
              <a:latin typeface="+mj-ea"/>
              <a:ea typeface="+mj-ea"/>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借用理论视角解决问题，需要找到实践中最重要的属性部分，进行归纳和提炼，舍弃一些因素。</a:t>
            </a:r>
          </a:p>
        </p:txBody>
      </p:sp>
      <p:sp>
        <p:nvSpPr>
          <p:cNvPr id="4" name="标题 1">
            <a:extLst>
              <a:ext uri="{FF2B5EF4-FFF2-40B4-BE49-F238E27FC236}">
                <a16:creationId xmlns:a16="http://schemas.microsoft.com/office/drawing/2014/main" id="{955F8FD8-A4A5-4CFA-B2C8-6347A843F1E3}"/>
              </a:ext>
            </a:extLst>
          </p:cNvPr>
          <p:cNvSpPr txBox="1">
            <a:spLocks noChangeArrowheads="1"/>
          </p:cNvSpPr>
          <p:nvPr/>
        </p:nvSpPr>
        <p:spPr>
          <a:xfrm>
            <a:off x="1730456" y="342002"/>
            <a:ext cx="8731087" cy="77668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spcAft>
                <a:spcPts val="0"/>
              </a:spcAft>
            </a:pPr>
            <a:r>
              <a:rPr lang="zh-CN" altLang="zh-CN" sz="3300" b="1" dirty="0"/>
              <a:t>第</a:t>
            </a:r>
            <a:r>
              <a:rPr lang="zh-CN" altLang="en-US" sz="3300" b="1" dirty="0"/>
              <a:t>二</a:t>
            </a:r>
            <a:r>
              <a:rPr lang="zh-CN" altLang="zh-CN" sz="3300" b="1" dirty="0"/>
              <a:t>步：</a:t>
            </a:r>
            <a:r>
              <a:rPr lang="zh-CN" altLang="en-US" sz="3300" b="1" dirty="0"/>
              <a:t>以可解释性为原则进行筛选</a:t>
            </a:r>
            <a:endParaRPr lang="zh-CN" altLang="zh-CN" sz="3300" b="1" dirty="0"/>
          </a:p>
        </p:txBody>
      </p:sp>
      <p:sp>
        <p:nvSpPr>
          <p:cNvPr id="2" name="矩形 1">
            <a:extLst>
              <a:ext uri="{FF2B5EF4-FFF2-40B4-BE49-F238E27FC236}">
                <a16:creationId xmlns:a16="http://schemas.microsoft.com/office/drawing/2014/main" id="{DB6A7B94-FFF6-4107-AF09-7A26C5743871}"/>
              </a:ext>
            </a:extLst>
          </p:cNvPr>
          <p:cNvSpPr/>
          <p:nvPr/>
        </p:nvSpPr>
        <p:spPr>
          <a:xfrm>
            <a:off x="217714" y="4623877"/>
            <a:ext cx="11201400" cy="1892121"/>
          </a:xfrm>
          <a:prstGeom prst="rect">
            <a:avLst/>
          </a:prstGeom>
          <a:solidFill>
            <a:schemeClr val="accent6">
              <a:lumMod val="40000"/>
              <a:lumOff val="60000"/>
            </a:schemeClr>
          </a:solidFill>
        </p:spPr>
        <p:txBody>
          <a:bodyPr wrap="square">
            <a:spAutoFit/>
          </a:bodyPr>
          <a:lstStyle/>
          <a:p>
            <a:pPr>
              <a:lnSpc>
                <a:spcPct val="150000"/>
              </a:lnSpc>
            </a:pPr>
            <a:r>
              <a:rPr lang="zh-CN" altLang="zh-CN" sz="2000" kern="100" dirty="0">
                <a:latin typeface="+mj-ea"/>
                <a:ea typeface="+mj-ea"/>
                <a:cs typeface="Times New Roman" panose="02020603050405020304" pitchFamily="18" charset="0"/>
              </a:rPr>
              <a:t>针对全过程工程咨询的实践问题，究竟是抓住</a:t>
            </a:r>
            <a:r>
              <a:rPr lang="en-US" altLang="zh-CN"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跨专业</a:t>
            </a:r>
            <a:r>
              <a:rPr lang="en-US" altLang="zh-CN"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属性还是</a:t>
            </a:r>
            <a:r>
              <a:rPr lang="en-US" altLang="zh-CN"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跨团队</a:t>
            </a:r>
            <a:r>
              <a:rPr lang="en-US" altLang="zh-CN"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属性，如果是前者强调专业知识融合，如果是后者强调不同团队合作。在考虑对象属性，即知识密集型专业服务，在该特征下，归纳成“跨专业”的一般性问题。在归纳、取舍过程中，要有充分的逻辑支撑，有效地解释为什么做这种归纳和取舍决策。</a:t>
            </a:r>
            <a:endParaRPr lang="zh-CN" altLang="en-US" sz="2000" kern="100"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2926823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7B550B6-AB8C-4742-BAC9-662E9D8F1962}"/>
              </a:ext>
            </a:extLst>
          </p:cNvPr>
          <p:cNvSpPr/>
          <p:nvPr/>
        </p:nvSpPr>
        <p:spPr>
          <a:xfrm>
            <a:off x="359229" y="1097945"/>
            <a:ext cx="10961914" cy="4662110"/>
          </a:xfrm>
          <a:prstGeom prst="rect">
            <a:avLst/>
          </a:prstGeom>
        </p:spPr>
        <p:txBody>
          <a:bodyPr wrap="square">
            <a:spAutoFit/>
          </a:bodyPr>
          <a:lstStyle/>
          <a:p>
            <a:pPr algn="just">
              <a:lnSpc>
                <a:spcPct val="150000"/>
              </a:lnSpc>
              <a:spcAft>
                <a:spcPts val="0"/>
              </a:spcAft>
            </a:pPr>
            <a:r>
              <a:rPr lang="zh-CN" altLang="zh-CN" sz="2000" kern="0" dirty="0">
                <a:latin typeface="+mj-ea"/>
                <a:ea typeface="+mj-ea"/>
                <a:cs typeface="Calibri" panose="020F0502020204030204" pitchFamily="34" charset="0"/>
              </a:rPr>
              <a:t>将实践问题抽象和归类到一类理论。</a:t>
            </a:r>
            <a:endParaRPr lang="en-US" altLang="zh-CN" sz="2000" kern="0" dirty="0">
              <a:latin typeface="+mj-ea"/>
              <a:ea typeface="+mj-ea"/>
              <a:cs typeface="Calibri" panose="020F0502020204030204" pitchFamily="34" charset="0"/>
            </a:endParaRPr>
          </a:p>
          <a:p>
            <a:pPr marL="342900" indent="-342900" algn="just">
              <a:lnSpc>
                <a:spcPct val="150000"/>
              </a:lnSpc>
              <a:spcAft>
                <a:spcPts val="0"/>
              </a:spcAft>
              <a:buFont typeface="Arial" panose="020B0604020202020204" pitchFamily="34" charset="0"/>
              <a:buChar char="•"/>
            </a:pPr>
            <a:r>
              <a:rPr lang="zh-CN" altLang="en-US" sz="2000" b="1" kern="0" dirty="0">
                <a:latin typeface="+mj-ea"/>
                <a:ea typeface="+mj-ea"/>
                <a:cs typeface="Calibri" panose="020F0502020204030204" pitchFamily="34" charset="0"/>
              </a:rPr>
              <a:t>充分定义的理论问题</a:t>
            </a:r>
            <a:r>
              <a:rPr lang="zh-CN" altLang="en-US" sz="2000" kern="0" dirty="0">
                <a:latin typeface="+mj-ea"/>
                <a:ea typeface="+mj-ea"/>
                <a:cs typeface="Calibri" panose="020F0502020204030204" pitchFamily="34" charset="0"/>
              </a:rPr>
              <a:t>。</a:t>
            </a:r>
            <a:endParaRPr lang="en-US" altLang="zh-CN" sz="2000" kern="0" dirty="0">
              <a:latin typeface="+mj-ea"/>
              <a:ea typeface="+mj-ea"/>
              <a:cs typeface="Calibri" panose="020F0502020204030204" pitchFamily="34" charset="0"/>
            </a:endParaRPr>
          </a:p>
          <a:p>
            <a:pPr marL="800100" lvl="1" indent="-342900" algn="just">
              <a:lnSpc>
                <a:spcPct val="150000"/>
              </a:lnSpc>
              <a:buFont typeface="Arial" panose="020B0604020202020204" pitchFamily="34" charset="0"/>
              <a:buChar char="•"/>
            </a:pPr>
            <a:r>
              <a:rPr lang="zh-CN" altLang="zh-CN" sz="2000" kern="0" dirty="0">
                <a:latin typeface="+mj-ea"/>
                <a:ea typeface="+mj-ea"/>
                <a:cs typeface="Calibri" panose="020F0502020204030204" pitchFamily="34" charset="0"/>
              </a:rPr>
              <a:t>已有实践问题和某一理论较好对应，意味着实践问题在理论化阶段可以被充分定义，即能够在理论中找到一类理论问题进行分析。</a:t>
            </a:r>
            <a:endParaRPr lang="en-US" altLang="zh-CN" sz="2000" kern="0" dirty="0">
              <a:latin typeface="+mj-ea"/>
              <a:ea typeface="+mj-ea"/>
              <a:cs typeface="Calibri" panose="020F0502020204030204" pitchFamily="34" charset="0"/>
            </a:endParaRPr>
          </a:p>
          <a:p>
            <a:pPr marL="342900" indent="-342900" algn="just">
              <a:lnSpc>
                <a:spcPct val="150000"/>
              </a:lnSpc>
              <a:spcAft>
                <a:spcPts val="0"/>
              </a:spcAft>
              <a:buFont typeface="Arial" panose="020B0604020202020204" pitchFamily="34" charset="0"/>
              <a:buChar char="•"/>
            </a:pPr>
            <a:r>
              <a:rPr lang="zh-CN" altLang="zh-CN" sz="2000" b="1" kern="0" dirty="0">
                <a:latin typeface="+mj-ea"/>
                <a:ea typeface="+mj-ea"/>
                <a:cs typeface="Calibri" panose="020F0502020204030204" pitchFamily="34" charset="0"/>
              </a:rPr>
              <a:t>未充分定义的</a:t>
            </a:r>
            <a:r>
              <a:rPr lang="zh-CN" altLang="en-US" sz="2000" b="1" kern="0" dirty="0">
                <a:latin typeface="+mj-ea"/>
                <a:ea typeface="+mj-ea"/>
                <a:cs typeface="Calibri" panose="020F0502020204030204" pitchFamily="34" charset="0"/>
              </a:rPr>
              <a:t>理论</a:t>
            </a:r>
            <a:r>
              <a:rPr lang="zh-CN" altLang="zh-CN" sz="2000" b="1" kern="0" dirty="0">
                <a:latin typeface="+mj-ea"/>
                <a:ea typeface="+mj-ea"/>
                <a:cs typeface="Calibri" panose="020F0502020204030204" pitchFamily="34" charset="0"/>
              </a:rPr>
              <a:t>问题</a:t>
            </a:r>
            <a:r>
              <a:rPr lang="zh-CN" altLang="en-US" sz="2000" kern="0" dirty="0">
                <a:latin typeface="+mj-ea"/>
                <a:ea typeface="+mj-ea"/>
                <a:cs typeface="Calibri" panose="020F0502020204030204" pitchFamily="34" charset="0"/>
              </a:rPr>
              <a:t>。</a:t>
            </a:r>
            <a:endParaRPr lang="en-US" altLang="zh-CN" sz="2000" kern="0" dirty="0">
              <a:latin typeface="+mj-ea"/>
              <a:ea typeface="+mj-ea"/>
              <a:cs typeface="Calibri" panose="020F0502020204030204" pitchFamily="34" charset="0"/>
            </a:endParaRPr>
          </a:p>
          <a:p>
            <a:pPr marL="800100" lvl="1" indent="-342900" algn="just">
              <a:lnSpc>
                <a:spcPct val="150000"/>
              </a:lnSpc>
              <a:buFont typeface="Arial" panose="020B0604020202020204" pitchFamily="34" charset="0"/>
              <a:buChar char="•"/>
            </a:pPr>
            <a:r>
              <a:rPr lang="zh-CN" altLang="zh-CN" sz="2000" kern="0" dirty="0">
                <a:latin typeface="+mj-ea"/>
                <a:ea typeface="+mj-ea"/>
                <a:cs typeface="Calibri" panose="020F0502020204030204" pitchFamily="34" charset="0"/>
              </a:rPr>
              <a:t>即难以转化为一类已知的理论问题进行分析。针对该情形，一方面可以从问题研究角度进一步展开研究，以确定问题的类型。</a:t>
            </a:r>
          </a:p>
          <a:p>
            <a:pPr algn="just">
              <a:lnSpc>
                <a:spcPct val="150000"/>
              </a:lnSpc>
              <a:spcAft>
                <a:spcPts val="0"/>
              </a:spcAft>
            </a:pPr>
            <a:r>
              <a:rPr lang="zh-CN" altLang="zh-CN" sz="2000" kern="0" dirty="0">
                <a:latin typeface="+mj-ea"/>
                <a:ea typeface="+mj-ea"/>
                <a:cs typeface="Calibri" panose="020F0502020204030204" pitchFamily="34" charset="0"/>
              </a:rPr>
              <a:t>阶段性结论包括：</a:t>
            </a:r>
            <a:endParaRPr lang="en-US" altLang="zh-CN" sz="2000" kern="0" dirty="0">
              <a:latin typeface="+mj-ea"/>
              <a:ea typeface="+mj-ea"/>
              <a:cs typeface="Calibri" panose="020F0502020204030204" pitchFamily="34" charset="0"/>
            </a:endParaRPr>
          </a:p>
          <a:p>
            <a:pPr marL="342900" indent="-342900" algn="just">
              <a:lnSpc>
                <a:spcPct val="150000"/>
              </a:lnSpc>
              <a:spcAft>
                <a:spcPts val="0"/>
              </a:spcAft>
              <a:buFont typeface="Arial" panose="020B0604020202020204" pitchFamily="34" charset="0"/>
              <a:buChar char="•"/>
            </a:pPr>
            <a:r>
              <a:rPr lang="zh-CN" altLang="zh-CN" sz="2000" b="1" kern="0" dirty="0">
                <a:latin typeface="+mj-ea"/>
                <a:ea typeface="+mj-ea"/>
                <a:cs typeface="Calibri" panose="020F0502020204030204" pitchFamily="34" charset="0"/>
              </a:rPr>
              <a:t>实践问题</a:t>
            </a:r>
            <a:r>
              <a:rPr lang="zh-CN" altLang="zh-CN" sz="2000" kern="0" dirty="0">
                <a:latin typeface="+mj-ea"/>
                <a:ea typeface="+mj-ea"/>
                <a:cs typeface="Calibri" panose="020F0502020204030204" pitchFamily="34" charset="0"/>
              </a:rPr>
              <a:t>。明确了实践问题的具体情境与问题。</a:t>
            </a:r>
            <a:endParaRPr lang="en-US" altLang="zh-CN" sz="2000" kern="0" dirty="0">
              <a:latin typeface="+mj-ea"/>
              <a:ea typeface="+mj-ea"/>
              <a:cs typeface="Calibri" panose="020F0502020204030204" pitchFamily="34" charset="0"/>
            </a:endParaRPr>
          </a:p>
          <a:p>
            <a:pPr marL="342900" indent="-342900" algn="just">
              <a:lnSpc>
                <a:spcPct val="150000"/>
              </a:lnSpc>
              <a:spcAft>
                <a:spcPts val="0"/>
              </a:spcAft>
              <a:buFont typeface="Arial" panose="020B0604020202020204" pitchFamily="34" charset="0"/>
              <a:buChar char="•"/>
            </a:pPr>
            <a:r>
              <a:rPr lang="zh-CN" altLang="zh-CN" sz="2000" b="1" kern="0" dirty="0">
                <a:latin typeface="+mj-ea"/>
                <a:ea typeface="+mj-ea"/>
                <a:cs typeface="Calibri" panose="020F0502020204030204" pitchFamily="34" charset="0"/>
              </a:rPr>
              <a:t>理论基础</a:t>
            </a:r>
            <a:r>
              <a:rPr lang="zh-CN" altLang="zh-CN" sz="2000" kern="0" dirty="0">
                <a:latin typeface="+mj-ea"/>
                <a:ea typeface="+mj-ea"/>
                <a:cs typeface="Calibri" panose="020F0502020204030204" pitchFamily="34" charset="0"/>
              </a:rPr>
              <a:t>。用于解读该实践问题的理论视角和基础。</a:t>
            </a:r>
          </a:p>
        </p:txBody>
      </p:sp>
      <p:sp>
        <p:nvSpPr>
          <p:cNvPr id="4" name="标题 1">
            <a:extLst>
              <a:ext uri="{FF2B5EF4-FFF2-40B4-BE49-F238E27FC236}">
                <a16:creationId xmlns:a16="http://schemas.microsoft.com/office/drawing/2014/main" id="{61136B9F-4BE9-4741-A585-DCD8A6305A8A}"/>
              </a:ext>
            </a:extLst>
          </p:cNvPr>
          <p:cNvSpPr txBox="1">
            <a:spLocks noChangeArrowheads="1"/>
          </p:cNvSpPr>
          <p:nvPr/>
        </p:nvSpPr>
        <p:spPr>
          <a:xfrm>
            <a:off x="1730456" y="342002"/>
            <a:ext cx="10592173" cy="77668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spcAft>
                <a:spcPts val="0"/>
              </a:spcAft>
            </a:pPr>
            <a:r>
              <a:rPr lang="zh-CN" altLang="zh-CN" sz="3300" b="1" dirty="0"/>
              <a:t>第</a:t>
            </a:r>
            <a:r>
              <a:rPr lang="zh-CN" altLang="en-US" sz="3300" b="1" dirty="0"/>
              <a:t>三</a:t>
            </a:r>
            <a:r>
              <a:rPr lang="zh-CN" altLang="zh-CN" sz="3300" b="1" dirty="0"/>
              <a:t>步：</a:t>
            </a:r>
            <a:r>
              <a:rPr lang="zh-CN" altLang="en-US" sz="3200" b="1" dirty="0"/>
              <a:t>以具体实践问题与理论相吻合作为决策规则</a:t>
            </a:r>
            <a:endParaRPr lang="zh-CN" altLang="zh-CN" sz="3300" b="1" dirty="0"/>
          </a:p>
        </p:txBody>
      </p:sp>
    </p:spTree>
    <p:extLst>
      <p:ext uri="{BB962C8B-B14F-4D97-AF65-F5344CB8AC3E}">
        <p14:creationId xmlns:p14="http://schemas.microsoft.com/office/powerpoint/2010/main" val="38616138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029C162-4382-DB31-A945-10616EE3227B}"/>
              </a:ext>
            </a:extLst>
          </p:cNvPr>
          <p:cNvSpPr txBox="1"/>
          <p:nvPr/>
        </p:nvSpPr>
        <p:spPr>
          <a:xfrm>
            <a:off x="3961706" y="1268416"/>
            <a:ext cx="3935115" cy="861774"/>
          </a:xfrm>
          <a:prstGeom prst="rect">
            <a:avLst/>
          </a:prstGeom>
          <a:noFill/>
        </p:spPr>
        <p:txBody>
          <a:bodyPr wrap="square" rtlCol="0">
            <a:spAutoFit/>
          </a:bodyPr>
          <a:lstStyle/>
          <a:p>
            <a:pPr algn="ctr">
              <a:lnSpc>
                <a:spcPct val="125000"/>
              </a:lnSpc>
            </a:pPr>
            <a:r>
              <a:rPr kumimoji="1" lang="zh-CN" altLang="en-US" sz="2000" b="1" dirty="0">
                <a:latin typeface="+mj-ea"/>
                <a:ea typeface="+mj-ea"/>
              </a:rPr>
              <a:t>初步选题：全过程工程咨询</a:t>
            </a:r>
            <a:endParaRPr kumimoji="1" lang="en-US" altLang="zh-CN" sz="2000" b="1" dirty="0">
              <a:latin typeface="+mj-ea"/>
              <a:ea typeface="+mj-ea"/>
            </a:endParaRPr>
          </a:p>
          <a:p>
            <a:pPr algn="ctr">
              <a:lnSpc>
                <a:spcPct val="125000"/>
              </a:lnSpc>
            </a:pPr>
            <a:r>
              <a:rPr kumimoji="1" lang="zh-CN" altLang="en-US" sz="2000" dirty="0">
                <a:latin typeface="+mj-ea"/>
                <a:ea typeface="+mj-ea"/>
              </a:rPr>
              <a:t>（来源：研究基础与现实需求）</a:t>
            </a:r>
          </a:p>
        </p:txBody>
      </p:sp>
      <p:sp>
        <p:nvSpPr>
          <p:cNvPr id="3" name="矩形 2">
            <a:extLst>
              <a:ext uri="{FF2B5EF4-FFF2-40B4-BE49-F238E27FC236}">
                <a16:creationId xmlns:a16="http://schemas.microsoft.com/office/drawing/2014/main" id="{3124B989-13BD-E8FE-5720-B24DC3CF2A63}"/>
              </a:ext>
            </a:extLst>
          </p:cNvPr>
          <p:cNvSpPr/>
          <p:nvPr/>
        </p:nvSpPr>
        <p:spPr>
          <a:xfrm>
            <a:off x="3916054" y="1238450"/>
            <a:ext cx="3980766" cy="8802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801">
              <a:latin typeface="+mj-ea"/>
              <a:ea typeface="+mj-ea"/>
            </a:endParaRPr>
          </a:p>
        </p:txBody>
      </p:sp>
      <p:sp>
        <p:nvSpPr>
          <p:cNvPr id="4" name="文本框 3">
            <a:extLst>
              <a:ext uri="{FF2B5EF4-FFF2-40B4-BE49-F238E27FC236}">
                <a16:creationId xmlns:a16="http://schemas.microsoft.com/office/drawing/2014/main" id="{00A3DE4F-5BB2-35F2-9C00-4750E9CCE0A3}"/>
              </a:ext>
            </a:extLst>
          </p:cNvPr>
          <p:cNvSpPr txBox="1"/>
          <p:nvPr/>
        </p:nvSpPr>
        <p:spPr>
          <a:xfrm>
            <a:off x="1571833" y="3614308"/>
            <a:ext cx="2327698" cy="2586477"/>
          </a:xfrm>
          <a:prstGeom prst="rect">
            <a:avLst/>
          </a:prstGeom>
          <a:noFill/>
          <a:ln>
            <a:solidFill>
              <a:schemeClr val="tx1"/>
            </a:solidFill>
            <a:prstDash val="dash"/>
          </a:ln>
        </p:spPr>
        <p:txBody>
          <a:bodyPr wrap="square" rtlCol="0">
            <a:spAutoFit/>
          </a:bodyPr>
          <a:lstStyle/>
          <a:p>
            <a:pPr>
              <a:lnSpc>
                <a:spcPct val="150000"/>
              </a:lnSpc>
            </a:pPr>
            <a:r>
              <a:rPr kumimoji="1" lang="zh-CN" altLang="en-US" sz="1801" b="1" dirty="0">
                <a:latin typeface="+mj-ea"/>
                <a:ea typeface="+mj-ea"/>
              </a:rPr>
              <a:t>问题对象特征：</a:t>
            </a:r>
            <a:endParaRPr kumimoji="1" lang="en-US" altLang="zh-CN" sz="1801" b="1" dirty="0">
              <a:latin typeface="+mj-ea"/>
              <a:ea typeface="+mj-ea"/>
            </a:endParaRPr>
          </a:p>
          <a:p>
            <a:pPr marL="285760" indent="-285760">
              <a:lnSpc>
                <a:spcPct val="150000"/>
              </a:lnSpc>
              <a:buFont typeface="Wingdings" pitchFamily="2" charset="2"/>
              <a:buChar char="p"/>
            </a:pPr>
            <a:r>
              <a:rPr kumimoji="1" lang="zh-CN" altLang="en-US" sz="1801" dirty="0">
                <a:latin typeface="+mj-ea"/>
                <a:ea typeface="+mj-ea"/>
              </a:rPr>
              <a:t>知识密集型</a:t>
            </a:r>
            <a:endParaRPr kumimoji="1" lang="en-US" altLang="zh-CN" sz="1801" dirty="0">
              <a:latin typeface="+mj-ea"/>
              <a:ea typeface="+mj-ea"/>
            </a:endParaRPr>
          </a:p>
          <a:p>
            <a:pPr marL="285760" indent="-285760">
              <a:lnSpc>
                <a:spcPct val="150000"/>
              </a:lnSpc>
              <a:buFont typeface="Wingdings" pitchFamily="2" charset="2"/>
              <a:buChar char="p"/>
            </a:pPr>
            <a:r>
              <a:rPr kumimoji="1" lang="zh-CN" altLang="en-US" sz="1801" dirty="0">
                <a:latin typeface="+mj-ea"/>
                <a:ea typeface="+mj-ea"/>
              </a:rPr>
              <a:t>专业人士提供</a:t>
            </a:r>
            <a:endParaRPr kumimoji="1" lang="en-US" altLang="zh-CN" sz="1801" dirty="0">
              <a:latin typeface="+mj-ea"/>
              <a:ea typeface="+mj-ea"/>
            </a:endParaRPr>
          </a:p>
          <a:p>
            <a:pPr marL="285760" indent="-285760">
              <a:lnSpc>
                <a:spcPct val="150000"/>
              </a:lnSpc>
              <a:buFont typeface="Wingdings" pitchFamily="2" charset="2"/>
              <a:buChar char="p"/>
            </a:pPr>
            <a:r>
              <a:rPr kumimoji="1" lang="zh-CN" altLang="en-US" sz="1801" dirty="0">
                <a:latin typeface="+mj-ea"/>
                <a:ea typeface="+mj-ea"/>
              </a:rPr>
              <a:t>产出的无形性</a:t>
            </a:r>
          </a:p>
          <a:p>
            <a:pPr marL="285760" indent="-285760">
              <a:lnSpc>
                <a:spcPct val="150000"/>
              </a:lnSpc>
              <a:buFont typeface="Wingdings" pitchFamily="2" charset="2"/>
              <a:buChar char="p"/>
            </a:pPr>
            <a:r>
              <a:rPr kumimoji="1" lang="zh-CN" altLang="en-US" sz="1801" dirty="0">
                <a:latin typeface="+mj-ea"/>
                <a:ea typeface="+mj-ea"/>
              </a:rPr>
              <a:t>多团队系统</a:t>
            </a:r>
            <a:endParaRPr kumimoji="1" lang="en-US" altLang="zh-CN" sz="1801" dirty="0">
              <a:latin typeface="+mj-ea"/>
              <a:ea typeface="+mj-ea"/>
            </a:endParaRPr>
          </a:p>
          <a:p>
            <a:pPr marL="285760" indent="-285760">
              <a:lnSpc>
                <a:spcPct val="150000"/>
              </a:lnSpc>
              <a:buFont typeface="Wingdings" pitchFamily="2" charset="2"/>
              <a:buChar char="p"/>
            </a:pPr>
            <a:r>
              <a:rPr kumimoji="1" lang="zh-CN" altLang="en-US" sz="1801" dirty="0">
                <a:latin typeface="+mj-ea"/>
                <a:ea typeface="+mj-ea"/>
              </a:rPr>
              <a:t>整体性治理</a:t>
            </a:r>
            <a:endParaRPr kumimoji="1" lang="en-US" altLang="zh-CN" sz="1801" dirty="0">
              <a:latin typeface="+mj-ea"/>
              <a:ea typeface="+mj-ea"/>
            </a:endParaRPr>
          </a:p>
        </p:txBody>
      </p:sp>
      <p:sp>
        <p:nvSpPr>
          <p:cNvPr id="5" name="圆角矩形 4">
            <a:extLst>
              <a:ext uri="{FF2B5EF4-FFF2-40B4-BE49-F238E27FC236}">
                <a16:creationId xmlns:a16="http://schemas.microsoft.com/office/drawing/2014/main" id="{5F26ABBA-61EE-47FB-0282-91896B6EF1CD}"/>
              </a:ext>
            </a:extLst>
          </p:cNvPr>
          <p:cNvSpPr/>
          <p:nvPr/>
        </p:nvSpPr>
        <p:spPr>
          <a:xfrm>
            <a:off x="1421168" y="3118988"/>
            <a:ext cx="2650766" cy="3299184"/>
          </a:xfrm>
          <a:prstGeom prst="roundRect">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801">
              <a:latin typeface="+mj-ea"/>
              <a:ea typeface="+mj-ea"/>
            </a:endParaRPr>
          </a:p>
        </p:txBody>
      </p:sp>
      <p:sp>
        <p:nvSpPr>
          <p:cNvPr id="6" name="文本框 5">
            <a:extLst>
              <a:ext uri="{FF2B5EF4-FFF2-40B4-BE49-F238E27FC236}">
                <a16:creationId xmlns:a16="http://schemas.microsoft.com/office/drawing/2014/main" id="{FD1CC7B5-6DB0-D891-A06F-C3E282674D33}"/>
              </a:ext>
            </a:extLst>
          </p:cNvPr>
          <p:cNvSpPr txBox="1"/>
          <p:nvPr/>
        </p:nvSpPr>
        <p:spPr>
          <a:xfrm>
            <a:off x="2178478" y="3154991"/>
            <a:ext cx="1114408" cy="369460"/>
          </a:xfrm>
          <a:prstGeom prst="rect">
            <a:avLst/>
          </a:prstGeom>
          <a:solidFill>
            <a:schemeClr val="bg2">
              <a:lumMod val="90000"/>
            </a:schemeClr>
          </a:solidFill>
        </p:spPr>
        <p:txBody>
          <a:bodyPr wrap="none" rtlCol="0">
            <a:spAutoFit/>
          </a:bodyPr>
          <a:lstStyle/>
          <a:p>
            <a:r>
              <a:rPr kumimoji="1" lang="zh-CN" altLang="en-US" sz="1801" b="1" dirty="0">
                <a:latin typeface="+mj-ea"/>
                <a:ea typeface="+mj-ea"/>
              </a:rPr>
              <a:t>对象特征</a:t>
            </a:r>
          </a:p>
        </p:txBody>
      </p:sp>
      <p:sp>
        <p:nvSpPr>
          <p:cNvPr id="7" name="文本框 6">
            <a:extLst>
              <a:ext uri="{FF2B5EF4-FFF2-40B4-BE49-F238E27FC236}">
                <a16:creationId xmlns:a16="http://schemas.microsoft.com/office/drawing/2014/main" id="{E322761E-BD67-9AB5-07FE-DF667E6263C4}"/>
              </a:ext>
            </a:extLst>
          </p:cNvPr>
          <p:cNvSpPr txBox="1"/>
          <p:nvPr/>
        </p:nvSpPr>
        <p:spPr>
          <a:xfrm>
            <a:off x="8489244" y="3148098"/>
            <a:ext cx="1114408" cy="369460"/>
          </a:xfrm>
          <a:prstGeom prst="rect">
            <a:avLst/>
          </a:prstGeom>
          <a:solidFill>
            <a:schemeClr val="bg2">
              <a:lumMod val="90000"/>
            </a:schemeClr>
          </a:solidFill>
        </p:spPr>
        <p:txBody>
          <a:bodyPr wrap="none" rtlCol="0">
            <a:spAutoFit/>
          </a:bodyPr>
          <a:lstStyle/>
          <a:p>
            <a:r>
              <a:rPr kumimoji="1" lang="zh-CN" altLang="en-US" sz="1801" b="1" dirty="0">
                <a:latin typeface="+mj-ea"/>
                <a:ea typeface="+mj-ea"/>
              </a:rPr>
              <a:t>实践问题</a:t>
            </a:r>
          </a:p>
        </p:txBody>
      </p:sp>
      <p:sp>
        <p:nvSpPr>
          <p:cNvPr id="8" name="文本框 7">
            <a:extLst>
              <a:ext uri="{FF2B5EF4-FFF2-40B4-BE49-F238E27FC236}">
                <a16:creationId xmlns:a16="http://schemas.microsoft.com/office/drawing/2014/main" id="{BE03558B-B661-8A53-DBA2-077044AD509F}"/>
              </a:ext>
            </a:extLst>
          </p:cNvPr>
          <p:cNvSpPr txBox="1"/>
          <p:nvPr/>
        </p:nvSpPr>
        <p:spPr>
          <a:xfrm>
            <a:off x="6839755" y="3582753"/>
            <a:ext cx="4397358" cy="2586477"/>
          </a:xfrm>
          <a:prstGeom prst="rect">
            <a:avLst/>
          </a:prstGeom>
          <a:noFill/>
          <a:ln>
            <a:solidFill>
              <a:schemeClr val="tx1"/>
            </a:solidFill>
            <a:prstDash val="dash"/>
          </a:ln>
        </p:spPr>
        <p:txBody>
          <a:bodyPr wrap="none" rtlCol="0">
            <a:spAutoFit/>
          </a:bodyPr>
          <a:lstStyle/>
          <a:p>
            <a:pPr>
              <a:lnSpc>
                <a:spcPct val="150000"/>
              </a:lnSpc>
            </a:pPr>
            <a:r>
              <a:rPr kumimoji="1" lang="zh-CN" altLang="en-US" sz="1801" b="1" dirty="0">
                <a:latin typeface="+mj-ea"/>
                <a:ea typeface="+mj-ea"/>
              </a:rPr>
              <a:t>实践难题（相较于传统咨询）：</a:t>
            </a:r>
            <a:endParaRPr kumimoji="1" lang="en-US" altLang="zh-CN" sz="1801" b="1" dirty="0">
              <a:latin typeface="+mj-ea"/>
              <a:ea typeface="+mj-ea"/>
            </a:endParaRPr>
          </a:p>
          <a:p>
            <a:pPr marL="285760" indent="-285760">
              <a:lnSpc>
                <a:spcPct val="150000"/>
              </a:lnSpc>
              <a:buFont typeface="Wingdings" pitchFamily="2" charset="2"/>
              <a:buChar char="p"/>
            </a:pPr>
            <a:r>
              <a:rPr kumimoji="1" lang="zh-CN" altLang="en-US" sz="1801" dirty="0">
                <a:latin typeface="+mj-ea"/>
                <a:ea typeface="+mj-ea"/>
              </a:rPr>
              <a:t>对哪些专业咨询进行组合？</a:t>
            </a:r>
            <a:endParaRPr kumimoji="1" lang="en-US" altLang="zh-CN" sz="1801" dirty="0">
              <a:latin typeface="+mj-ea"/>
              <a:ea typeface="+mj-ea"/>
            </a:endParaRPr>
          </a:p>
          <a:p>
            <a:pPr marL="285760" indent="-285760">
              <a:lnSpc>
                <a:spcPct val="150000"/>
              </a:lnSpc>
              <a:buFont typeface="Wingdings" pitchFamily="2" charset="2"/>
              <a:buChar char="p"/>
            </a:pPr>
            <a:r>
              <a:rPr kumimoji="1" lang="zh-CN" altLang="en-US" sz="1801" dirty="0">
                <a:latin typeface="+mj-ea"/>
                <a:ea typeface="+mj-ea"/>
              </a:rPr>
              <a:t>组合后怎么计价？</a:t>
            </a:r>
            <a:endParaRPr kumimoji="1" lang="en-US" altLang="zh-CN" sz="1801" dirty="0">
              <a:latin typeface="+mj-ea"/>
              <a:ea typeface="+mj-ea"/>
            </a:endParaRPr>
          </a:p>
          <a:p>
            <a:pPr marL="285760" indent="-285760">
              <a:lnSpc>
                <a:spcPct val="150000"/>
              </a:lnSpc>
              <a:buFont typeface="Wingdings" pitchFamily="2" charset="2"/>
              <a:buChar char="p"/>
            </a:pPr>
            <a:r>
              <a:rPr kumimoji="1" lang="zh-CN" altLang="en-US" sz="1801" dirty="0">
                <a:latin typeface="+mj-ea"/>
                <a:ea typeface="+mj-ea"/>
              </a:rPr>
              <a:t>组合后的服务标准</a:t>
            </a:r>
            <a:r>
              <a:rPr kumimoji="1" lang="en-US" altLang="zh-CN" sz="1801" dirty="0">
                <a:latin typeface="+mj-ea"/>
                <a:ea typeface="+mj-ea"/>
              </a:rPr>
              <a:t>/</a:t>
            </a:r>
            <a:r>
              <a:rPr kumimoji="1" lang="zh-CN" altLang="en-US" sz="1801" dirty="0">
                <a:latin typeface="+mj-ea"/>
                <a:ea typeface="+mj-ea"/>
              </a:rPr>
              <a:t>规范怎么定？</a:t>
            </a:r>
            <a:endParaRPr kumimoji="1" lang="en-US" altLang="zh-CN" sz="1801" dirty="0">
              <a:latin typeface="+mj-ea"/>
              <a:ea typeface="+mj-ea"/>
            </a:endParaRPr>
          </a:p>
          <a:p>
            <a:pPr marL="285760" indent="-285760">
              <a:lnSpc>
                <a:spcPct val="150000"/>
              </a:lnSpc>
              <a:buFont typeface="Wingdings" pitchFamily="2" charset="2"/>
              <a:buChar char="p"/>
            </a:pPr>
            <a:r>
              <a:rPr kumimoji="1" lang="zh-CN" altLang="en-US" sz="1801" dirty="0">
                <a:latin typeface="+mj-ea"/>
                <a:ea typeface="+mj-ea"/>
              </a:rPr>
              <a:t>组合后的合同内容怎么定？</a:t>
            </a:r>
            <a:endParaRPr kumimoji="1" lang="en-US" altLang="zh-CN" sz="1801" dirty="0">
              <a:latin typeface="+mj-ea"/>
              <a:ea typeface="+mj-ea"/>
            </a:endParaRPr>
          </a:p>
          <a:p>
            <a:pPr marL="285760" indent="-285760">
              <a:lnSpc>
                <a:spcPct val="150000"/>
              </a:lnSpc>
              <a:buFont typeface="Wingdings" pitchFamily="2" charset="2"/>
              <a:buChar char="p"/>
            </a:pPr>
            <a:r>
              <a:rPr kumimoji="1" lang="zh-CN" altLang="en-US" sz="1801" dirty="0">
                <a:latin typeface="+mj-ea"/>
                <a:ea typeface="+mj-ea"/>
              </a:rPr>
              <a:t>如何实现真正的组合，避免联而不合？</a:t>
            </a:r>
            <a:endParaRPr kumimoji="1" lang="en-US" altLang="zh-CN" sz="1801" dirty="0">
              <a:latin typeface="+mj-ea"/>
              <a:ea typeface="+mj-ea"/>
            </a:endParaRPr>
          </a:p>
        </p:txBody>
      </p:sp>
      <p:sp>
        <p:nvSpPr>
          <p:cNvPr id="9" name="圆角矩形 8">
            <a:extLst>
              <a:ext uri="{FF2B5EF4-FFF2-40B4-BE49-F238E27FC236}">
                <a16:creationId xmlns:a16="http://schemas.microsoft.com/office/drawing/2014/main" id="{BD3FA69E-093E-07BD-6F06-61B658E4764F}"/>
              </a:ext>
            </a:extLst>
          </p:cNvPr>
          <p:cNvSpPr/>
          <p:nvPr/>
        </p:nvSpPr>
        <p:spPr>
          <a:xfrm>
            <a:off x="6706610" y="3118985"/>
            <a:ext cx="4698452" cy="3306482"/>
          </a:xfrm>
          <a:prstGeom prst="roundRect">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801">
              <a:latin typeface="+mj-ea"/>
              <a:ea typeface="+mj-ea"/>
            </a:endParaRPr>
          </a:p>
        </p:txBody>
      </p:sp>
      <p:cxnSp>
        <p:nvCxnSpPr>
          <p:cNvPr id="10" name="直线箭头连接符 65">
            <a:extLst>
              <a:ext uri="{FF2B5EF4-FFF2-40B4-BE49-F238E27FC236}">
                <a16:creationId xmlns:a16="http://schemas.microsoft.com/office/drawing/2014/main" id="{479824FD-73CF-4DDA-EA5F-553CB54F05F1}"/>
              </a:ext>
            </a:extLst>
          </p:cNvPr>
          <p:cNvCxnSpPr>
            <a:cxnSpLocks/>
            <a:stCxn id="3" idx="2"/>
            <a:endCxn id="5" idx="0"/>
          </p:cNvCxnSpPr>
          <p:nvPr/>
        </p:nvCxnSpPr>
        <p:spPr>
          <a:xfrm flipH="1">
            <a:off x="2746549" y="2118690"/>
            <a:ext cx="3159886" cy="1000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线箭头连接符 67">
            <a:extLst>
              <a:ext uri="{FF2B5EF4-FFF2-40B4-BE49-F238E27FC236}">
                <a16:creationId xmlns:a16="http://schemas.microsoft.com/office/drawing/2014/main" id="{59CFF467-93F5-4F5E-019B-39F3D1DB5FFE}"/>
              </a:ext>
            </a:extLst>
          </p:cNvPr>
          <p:cNvCxnSpPr>
            <a:cxnSpLocks/>
            <a:stCxn id="3" idx="2"/>
            <a:endCxn id="9" idx="0"/>
          </p:cNvCxnSpPr>
          <p:nvPr/>
        </p:nvCxnSpPr>
        <p:spPr>
          <a:xfrm>
            <a:off x="5906437" y="2118689"/>
            <a:ext cx="3149401" cy="10002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文本框 11">
            <a:extLst>
              <a:ext uri="{FF2B5EF4-FFF2-40B4-BE49-F238E27FC236}">
                <a16:creationId xmlns:a16="http://schemas.microsoft.com/office/drawing/2014/main" id="{40074689-18C7-295B-C495-DD18D0865F82}"/>
              </a:ext>
            </a:extLst>
          </p:cNvPr>
          <p:cNvSpPr txBox="1"/>
          <p:nvPr/>
        </p:nvSpPr>
        <p:spPr>
          <a:xfrm>
            <a:off x="239485" y="2299527"/>
            <a:ext cx="3877985" cy="646587"/>
          </a:xfrm>
          <a:prstGeom prst="rect">
            <a:avLst/>
          </a:prstGeom>
          <a:noFill/>
        </p:spPr>
        <p:txBody>
          <a:bodyPr wrap="square" rtlCol="0">
            <a:spAutoFit/>
          </a:bodyPr>
          <a:lstStyle/>
          <a:p>
            <a:r>
              <a:rPr kumimoji="1" lang="en-US" altLang="zh-CN" sz="1801" dirty="0">
                <a:latin typeface="+mj-ea"/>
                <a:ea typeface="+mj-ea"/>
              </a:rPr>
              <a:t>①</a:t>
            </a:r>
            <a:r>
              <a:rPr kumimoji="1" lang="zh-CN" altLang="en-US" sz="1801" dirty="0">
                <a:latin typeface="+mj-ea"/>
                <a:ea typeface="+mj-ea"/>
              </a:rPr>
              <a:t>形成备选理论库：对象的核心特征</a:t>
            </a:r>
            <a:endParaRPr kumimoji="1" lang="en-US" altLang="zh-CN" sz="1801" dirty="0">
              <a:latin typeface="+mj-ea"/>
              <a:ea typeface="+mj-ea"/>
            </a:endParaRPr>
          </a:p>
          <a:p>
            <a:r>
              <a:rPr kumimoji="1" lang="zh-CN" altLang="en-US" sz="1801" dirty="0">
                <a:latin typeface="+mj-ea"/>
                <a:ea typeface="+mj-ea"/>
              </a:rPr>
              <a:t>（来源：研究基础、文献综述）</a:t>
            </a:r>
            <a:endParaRPr kumimoji="1" lang="en-US" altLang="zh-CN" sz="1801" dirty="0">
              <a:latin typeface="+mj-ea"/>
              <a:ea typeface="+mj-ea"/>
            </a:endParaRPr>
          </a:p>
        </p:txBody>
      </p:sp>
      <p:sp>
        <p:nvSpPr>
          <p:cNvPr id="13" name="文本框 12">
            <a:extLst>
              <a:ext uri="{FF2B5EF4-FFF2-40B4-BE49-F238E27FC236}">
                <a16:creationId xmlns:a16="http://schemas.microsoft.com/office/drawing/2014/main" id="{89695414-E0E5-71D9-EE0A-C002BFF0434F}"/>
              </a:ext>
            </a:extLst>
          </p:cNvPr>
          <p:cNvSpPr txBox="1"/>
          <p:nvPr/>
        </p:nvSpPr>
        <p:spPr>
          <a:xfrm>
            <a:off x="8092667" y="2093247"/>
            <a:ext cx="3877986" cy="646587"/>
          </a:xfrm>
          <a:prstGeom prst="rect">
            <a:avLst/>
          </a:prstGeom>
          <a:noFill/>
        </p:spPr>
        <p:txBody>
          <a:bodyPr wrap="none" rtlCol="0">
            <a:spAutoFit/>
          </a:bodyPr>
          <a:lstStyle/>
          <a:p>
            <a:pPr algn="r"/>
            <a:r>
              <a:rPr kumimoji="1" lang="en-US" altLang="zh-CN" sz="1801" dirty="0">
                <a:latin typeface="+mj-ea"/>
                <a:ea typeface="+mj-ea"/>
              </a:rPr>
              <a:t>①</a:t>
            </a:r>
            <a:r>
              <a:rPr kumimoji="1" lang="zh-CN" altLang="en-US" sz="1801" dirty="0">
                <a:latin typeface="+mj-ea"/>
                <a:ea typeface="+mj-ea"/>
              </a:rPr>
              <a:t>形成实践问题库：实践问题的分解</a:t>
            </a:r>
            <a:endParaRPr kumimoji="1" lang="en-US" altLang="zh-CN" sz="1801" dirty="0">
              <a:latin typeface="+mj-ea"/>
              <a:ea typeface="+mj-ea"/>
            </a:endParaRPr>
          </a:p>
          <a:p>
            <a:pPr algn="r"/>
            <a:r>
              <a:rPr kumimoji="1" lang="zh-CN" altLang="en-US" sz="1801" dirty="0">
                <a:latin typeface="+mj-ea"/>
                <a:ea typeface="+mj-ea"/>
              </a:rPr>
              <a:t>（来源：行业理解、实践观察）</a:t>
            </a:r>
            <a:endParaRPr kumimoji="1" lang="en-US" altLang="zh-CN" sz="1801" dirty="0">
              <a:latin typeface="+mj-ea"/>
              <a:ea typeface="+mj-ea"/>
            </a:endParaRPr>
          </a:p>
        </p:txBody>
      </p:sp>
      <p:sp>
        <p:nvSpPr>
          <p:cNvPr id="14" name="标题 1">
            <a:extLst>
              <a:ext uri="{FF2B5EF4-FFF2-40B4-BE49-F238E27FC236}">
                <a16:creationId xmlns:a16="http://schemas.microsoft.com/office/drawing/2014/main" id="{4D32431F-9402-42E6-9C6B-70410088C85F}"/>
              </a:ext>
            </a:extLst>
          </p:cNvPr>
          <p:cNvSpPr txBox="1">
            <a:spLocks noChangeArrowheads="1"/>
          </p:cNvSpPr>
          <p:nvPr/>
        </p:nvSpPr>
        <p:spPr>
          <a:xfrm>
            <a:off x="1730457" y="342002"/>
            <a:ext cx="9866458" cy="77668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spcAft>
                <a:spcPts val="0"/>
              </a:spcAft>
            </a:pPr>
            <a:r>
              <a:rPr lang="zh-CN" altLang="en-US" sz="3300" b="1" dirty="0"/>
              <a:t>案例</a:t>
            </a:r>
            <a:r>
              <a:rPr lang="zh-CN" altLang="zh-CN" sz="3300" b="1" dirty="0"/>
              <a:t>：</a:t>
            </a:r>
            <a:r>
              <a:rPr lang="zh-CN" altLang="en-US" sz="3300" b="1" dirty="0"/>
              <a:t>全过程工程咨询的知识融合</a:t>
            </a:r>
            <a:endParaRPr lang="zh-CN" altLang="zh-CN" sz="3300" b="1" dirty="0"/>
          </a:p>
        </p:txBody>
      </p:sp>
    </p:spTree>
    <p:extLst>
      <p:ext uri="{BB962C8B-B14F-4D97-AF65-F5344CB8AC3E}">
        <p14:creationId xmlns:p14="http://schemas.microsoft.com/office/powerpoint/2010/main" val="1017896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241CA44-2268-AF34-CE53-56C473CF7803}"/>
              </a:ext>
            </a:extLst>
          </p:cNvPr>
          <p:cNvSpPr txBox="1"/>
          <p:nvPr/>
        </p:nvSpPr>
        <p:spPr>
          <a:xfrm>
            <a:off x="7898517" y="530924"/>
            <a:ext cx="4293483" cy="923714"/>
          </a:xfrm>
          <a:prstGeom prst="rect">
            <a:avLst/>
          </a:prstGeom>
          <a:noFill/>
        </p:spPr>
        <p:txBody>
          <a:bodyPr wrap="none" rtlCol="0">
            <a:spAutoFit/>
          </a:bodyPr>
          <a:lstStyle/>
          <a:p>
            <a:r>
              <a:rPr kumimoji="1" lang="en-US" altLang="zh-CN" sz="1801" dirty="0">
                <a:latin typeface="+mj-ea"/>
                <a:ea typeface="+mj-ea"/>
              </a:rPr>
              <a:t>②</a:t>
            </a:r>
            <a:r>
              <a:rPr kumimoji="1" lang="zh-CN" altLang="en-US" sz="1801" dirty="0">
                <a:latin typeface="+mj-ea"/>
                <a:ea typeface="+mj-ea"/>
              </a:rPr>
              <a:t>单边筛选</a:t>
            </a:r>
            <a:r>
              <a:rPr kumimoji="1" lang="en-US" altLang="zh-CN" sz="1801" dirty="0">
                <a:latin typeface="+mj-ea"/>
                <a:ea typeface="+mj-ea"/>
              </a:rPr>
              <a:t>/</a:t>
            </a:r>
            <a:r>
              <a:rPr kumimoji="1" lang="zh-CN" altLang="en-US" sz="1801" dirty="0">
                <a:latin typeface="+mj-ea"/>
                <a:ea typeface="+mj-ea"/>
              </a:rPr>
              <a:t>抽象实践问题</a:t>
            </a:r>
            <a:endParaRPr kumimoji="1" lang="en-US" altLang="zh-CN" sz="1801" dirty="0">
              <a:latin typeface="+mj-ea"/>
              <a:ea typeface="+mj-ea"/>
            </a:endParaRPr>
          </a:p>
          <a:p>
            <a:pPr marL="411178" indent="-142880">
              <a:buFont typeface="Arial" panose="020B0604020202020204" pitchFamily="34" charset="0"/>
              <a:buChar char="•"/>
            </a:pPr>
            <a:r>
              <a:rPr kumimoji="1" lang="zh-CN" altLang="en-US" sz="1801" dirty="0">
                <a:latin typeface="+mj-ea"/>
                <a:ea typeface="+mj-ea"/>
              </a:rPr>
              <a:t>问题之间的关系（表层</a:t>
            </a:r>
            <a:r>
              <a:rPr kumimoji="1" lang="en-US" altLang="zh-CN" sz="1801" dirty="0">
                <a:latin typeface="+mj-ea"/>
                <a:ea typeface="+mj-ea"/>
              </a:rPr>
              <a:t>/</a:t>
            </a:r>
            <a:r>
              <a:rPr kumimoji="1" lang="zh-CN" altLang="en-US" sz="1801" dirty="0">
                <a:latin typeface="+mj-ea"/>
                <a:ea typeface="+mj-ea"/>
              </a:rPr>
              <a:t>根本问题）</a:t>
            </a:r>
            <a:endParaRPr kumimoji="1" lang="en-US" altLang="zh-CN" sz="1801" dirty="0">
              <a:latin typeface="+mj-ea"/>
              <a:ea typeface="+mj-ea"/>
            </a:endParaRPr>
          </a:p>
          <a:p>
            <a:pPr marL="411178" indent="-142880">
              <a:buFont typeface="Arial" panose="020B0604020202020204" pitchFamily="34" charset="0"/>
              <a:buChar char="•"/>
            </a:pPr>
            <a:r>
              <a:rPr kumimoji="1" lang="zh-CN" altLang="en-US" sz="1801" dirty="0">
                <a:latin typeface="+mj-ea"/>
                <a:ea typeface="+mj-ea"/>
              </a:rPr>
              <a:t>对问题的驾驭程度（可解决的问题）</a:t>
            </a:r>
          </a:p>
        </p:txBody>
      </p:sp>
      <p:sp>
        <p:nvSpPr>
          <p:cNvPr id="3" name="文本框 2">
            <a:extLst>
              <a:ext uri="{FF2B5EF4-FFF2-40B4-BE49-F238E27FC236}">
                <a16:creationId xmlns:a16="http://schemas.microsoft.com/office/drawing/2014/main" id="{5EB7F5F9-7D8B-6E69-CA2A-5A4985F2A92B}"/>
              </a:ext>
            </a:extLst>
          </p:cNvPr>
          <p:cNvSpPr txBox="1"/>
          <p:nvPr/>
        </p:nvSpPr>
        <p:spPr>
          <a:xfrm>
            <a:off x="6147421" y="1531306"/>
            <a:ext cx="3531044" cy="508024"/>
          </a:xfrm>
          <a:prstGeom prst="rect">
            <a:avLst/>
          </a:prstGeom>
          <a:noFill/>
          <a:ln>
            <a:solidFill>
              <a:schemeClr val="tx1"/>
            </a:solidFill>
            <a:prstDash val="solid"/>
          </a:ln>
        </p:spPr>
        <p:txBody>
          <a:bodyPr wrap="square" rtlCol="0">
            <a:spAutoFit/>
          </a:bodyPr>
          <a:lstStyle/>
          <a:p>
            <a:pPr algn="ctr">
              <a:lnSpc>
                <a:spcPct val="150000"/>
              </a:lnSpc>
            </a:pPr>
            <a:r>
              <a:rPr kumimoji="1" lang="zh-CN" altLang="en-US" sz="1801" b="1" dirty="0">
                <a:latin typeface="+mj-ea"/>
                <a:ea typeface="+mj-ea"/>
              </a:rPr>
              <a:t>原本分散的多咨询团队组合问题</a:t>
            </a:r>
            <a:endParaRPr kumimoji="1" lang="en-US" altLang="zh-CN" sz="1801" b="1" dirty="0">
              <a:latin typeface="+mj-ea"/>
              <a:ea typeface="+mj-ea"/>
            </a:endParaRPr>
          </a:p>
        </p:txBody>
      </p:sp>
      <p:sp>
        <p:nvSpPr>
          <p:cNvPr id="4" name="文本框 3">
            <a:extLst>
              <a:ext uri="{FF2B5EF4-FFF2-40B4-BE49-F238E27FC236}">
                <a16:creationId xmlns:a16="http://schemas.microsoft.com/office/drawing/2014/main" id="{EA8FE0F9-F3F9-3E53-038E-E83C58A510AD}"/>
              </a:ext>
            </a:extLst>
          </p:cNvPr>
          <p:cNvSpPr txBox="1"/>
          <p:nvPr/>
        </p:nvSpPr>
        <p:spPr>
          <a:xfrm>
            <a:off x="2297336" y="2877999"/>
            <a:ext cx="4655413" cy="2170787"/>
          </a:xfrm>
          <a:prstGeom prst="rect">
            <a:avLst/>
          </a:prstGeom>
          <a:noFill/>
          <a:ln>
            <a:solidFill>
              <a:schemeClr val="tx1"/>
            </a:solidFill>
            <a:prstDash val="dash"/>
          </a:ln>
        </p:spPr>
        <p:txBody>
          <a:bodyPr wrap="square" rtlCol="0">
            <a:spAutoFit/>
          </a:bodyPr>
          <a:lstStyle/>
          <a:p>
            <a:pPr>
              <a:lnSpc>
                <a:spcPct val="150000"/>
              </a:lnSpc>
            </a:pPr>
            <a:r>
              <a:rPr kumimoji="1" lang="zh-CN" altLang="en-US" sz="1801" b="1" dirty="0">
                <a:latin typeface="+mj-ea"/>
                <a:ea typeface="+mj-ea"/>
              </a:rPr>
              <a:t>对实践问题的理论解读：</a:t>
            </a:r>
            <a:endParaRPr kumimoji="1" lang="en-US" altLang="zh-CN" sz="1801" dirty="0">
              <a:latin typeface="+mj-ea"/>
              <a:ea typeface="+mj-ea"/>
            </a:endParaRPr>
          </a:p>
          <a:p>
            <a:pPr marL="285760" indent="-285760">
              <a:lnSpc>
                <a:spcPct val="150000"/>
              </a:lnSpc>
              <a:buFont typeface="Wingdings" pitchFamily="2" charset="2"/>
              <a:buChar char="p"/>
            </a:pPr>
            <a:r>
              <a:rPr kumimoji="1" lang="zh-CN" altLang="en-US" sz="1801" dirty="0">
                <a:latin typeface="+mj-ea"/>
                <a:ea typeface="+mj-ea"/>
              </a:rPr>
              <a:t>跨团队合作</a:t>
            </a:r>
            <a:r>
              <a:rPr kumimoji="1" lang="en-US" altLang="zh-CN" sz="1801" dirty="0">
                <a:latin typeface="+mj-ea"/>
                <a:ea typeface="+mj-ea"/>
              </a:rPr>
              <a:t>/</a:t>
            </a:r>
            <a:r>
              <a:rPr kumimoji="1" lang="zh-CN" altLang="en-US" sz="1801" dirty="0">
                <a:latin typeface="+mj-ea"/>
                <a:ea typeface="+mj-ea"/>
              </a:rPr>
              <a:t>协同问题（沟通、协调等）</a:t>
            </a:r>
            <a:endParaRPr kumimoji="1" lang="en-US" altLang="zh-CN" sz="1801" dirty="0">
              <a:latin typeface="+mj-ea"/>
              <a:ea typeface="+mj-ea"/>
            </a:endParaRPr>
          </a:p>
          <a:p>
            <a:pPr marL="285760" indent="-285760">
              <a:lnSpc>
                <a:spcPct val="150000"/>
              </a:lnSpc>
              <a:buFont typeface="Wingdings" pitchFamily="2" charset="2"/>
              <a:buChar char="p"/>
            </a:pPr>
            <a:r>
              <a:rPr kumimoji="1" lang="zh-CN" altLang="en-US" sz="1801" dirty="0">
                <a:latin typeface="+mj-ea"/>
                <a:ea typeface="+mj-ea"/>
              </a:rPr>
              <a:t>多团队治理</a:t>
            </a:r>
            <a:r>
              <a:rPr kumimoji="1" lang="en-US" altLang="zh-CN" sz="1801" dirty="0">
                <a:latin typeface="+mj-ea"/>
                <a:ea typeface="+mj-ea"/>
              </a:rPr>
              <a:t>/</a:t>
            </a:r>
            <a:r>
              <a:rPr kumimoji="1" lang="zh-CN" altLang="en-US" sz="1801" dirty="0">
                <a:latin typeface="+mj-ea"/>
                <a:ea typeface="+mj-ea"/>
              </a:rPr>
              <a:t>网络治理</a:t>
            </a:r>
            <a:endParaRPr kumimoji="1" lang="en-US" altLang="zh-CN" sz="1801" dirty="0">
              <a:latin typeface="+mj-ea"/>
              <a:ea typeface="+mj-ea"/>
            </a:endParaRPr>
          </a:p>
          <a:p>
            <a:pPr marL="285760" indent="-285760">
              <a:lnSpc>
                <a:spcPct val="150000"/>
              </a:lnSpc>
              <a:buFont typeface="Wingdings" pitchFamily="2" charset="2"/>
              <a:buChar char="p"/>
            </a:pPr>
            <a:r>
              <a:rPr kumimoji="1" lang="zh-CN" altLang="en-US" sz="1801" dirty="0">
                <a:latin typeface="+mj-ea"/>
                <a:ea typeface="+mj-ea"/>
              </a:rPr>
              <a:t>专业人士合作</a:t>
            </a:r>
            <a:r>
              <a:rPr kumimoji="1" lang="en-US" altLang="zh-CN" sz="1801" dirty="0">
                <a:latin typeface="+mj-ea"/>
                <a:ea typeface="+mj-ea"/>
              </a:rPr>
              <a:t>/</a:t>
            </a:r>
            <a:r>
              <a:rPr kumimoji="1" lang="zh-CN" altLang="en-US" sz="1801" dirty="0">
                <a:latin typeface="+mj-ea"/>
                <a:ea typeface="+mj-ea"/>
              </a:rPr>
              <a:t>协调问题（激励、约束等）</a:t>
            </a:r>
            <a:endParaRPr kumimoji="1" lang="en-US" altLang="zh-CN" sz="1801" dirty="0">
              <a:latin typeface="+mj-ea"/>
              <a:ea typeface="+mj-ea"/>
            </a:endParaRPr>
          </a:p>
          <a:p>
            <a:pPr marL="285760" indent="-285760">
              <a:lnSpc>
                <a:spcPct val="150000"/>
              </a:lnSpc>
              <a:buFont typeface="Wingdings" pitchFamily="2" charset="2"/>
              <a:buChar char="p"/>
            </a:pPr>
            <a:r>
              <a:rPr kumimoji="1" lang="zh-CN" altLang="en-US" sz="1801" dirty="0">
                <a:latin typeface="+mj-ea"/>
                <a:ea typeface="+mj-ea"/>
              </a:rPr>
              <a:t>跨专业组合问题（知识共享、融合等）</a:t>
            </a:r>
            <a:endParaRPr kumimoji="1" lang="en-US" altLang="zh-CN" sz="1801" dirty="0">
              <a:latin typeface="+mj-ea"/>
              <a:ea typeface="+mj-ea"/>
            </a:endParaRPr>
          </a:p>
        </p:txBody>
      </p:sp>
      <p:sp>
        <p:nvSpPr>
          <p:cNvPr id="5" name="圆角矩形 4">
            <a:extLst>
              <a:ext uri="{FF2B5EF4-FFF2-40B4-BE49-F238E27FC236}">
                <a16:creationId xmlns:a16="http://schemas.microsoft.com/office/drawing/2014/main" id="{2865F772-4E01-4CC8-F294-C302D4336161}"/>
              </a:ext>
            </a:extLst>
          </p:cNvPr>
          <p:cNvSpPr/>
          <p:nvPr/>
        </p:nvSpPr>
        <p:spPr>
          <a:xfrm>
            <a:off x="2157515" y="2425825"/>
            <a:ext cx="4938672" cy="2689191"/>
          </a:xfrm>
          <a:prstGeom prst="roundRect">
            <a:avLst/>
          </a:pr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801">
              <a:latin typeface="+mj-ea"/>
              <a:ea typeface="+mj-ea"/>
            </a:endParaRPr>
          </a:p>
        </p:txBody>
      </p:sp>
      <p:sp>
        <p:nvSpPr>
          <p:cNvPr id="6" name="文本框 5">
            <a:extLst>
              <a:ext uri="{FF2B5EF4-FFF2-40B4-BE49-F238E27FC236}">
                <a16:creationId xmlns:a16="http://schemas.microsoft.com/office/drawing/2014/main" id="{B1D61D41-4660-FDCF-02BE-D5A46A869EA9}"/>
              </a:ext>
            </a:extLst>
          </p:cNvPr>
          <p:cNvSpPr txBox="1"/>
          <p:nvPr/>
        </p:nvSpPr>
        <p:spPr>
          <a:xfrm>
            <a:off x="3354503" y="2506620"/>
            <a:ext cx="2509020" cy="369460"/>
          </a:xfrm>
          <a:prstGeom prst="rect">
            <a:avLst/>
          </a:prstGeom>
          <a:solidFill>
            <a:schemeClr val="bg2">
              <a:lumMod val="90000"/>
            </a:schemeClr>
          </a:solidFill>
        </p:spPr>
        <p:txBody>
          <a:bodyPr wrap="none" rtlCol="0">
            <a:spAutoFit/>
          </a:bodyPr>
          <a:lstStyle/>
          <a:p>
            <a:r>
              <a:rPr kumimoji="1" lang="zh-CN" altLang="en-US" sz="1801" b="1" dirty="0">
                <a:latin typeface="+mj-ea"/>
                <a:ea typeface="+mj-ea"/>
              </a:rPr>
              <a:t>实践和理论的备选组合</a:t>
            </a:r>
          </a:p>
        </p:txBody>
      </p:sp>
      <p:cxnSp>
        <p:nvCxnSpPr>
          <p:cNvPr id="7" name="直线箭头连接符 47">
            <a:extLst>
              <a:ext uri="{FF2B5EF4-FFF2-40B4-BE49-F238E27FC236}">
                <a16:creationId xmlns:a16="http://schemas.microsoft.com/office/drawing/2014/main" id="{0A4CD0FA-E48E-C0CA-6F4F-0083D58F4AAA}"/>
              </a:ext>
            </a:extLst>
          </p:cNvPr>
          <p:cNvCxnSpPr>
            <a:cxnSpLocks/>
            <a:endCxn id="3" idx="0"/>
          </p:cNvCxnSpPr>
          <p:nvPr/>
        </p:nvCxnSpPr>
        <p:spPr>
          <a:xfrm flipH="1">
            <a:off x="7912943" y="346300"/>
            <a:ext cx="2976" cy="11850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肘形连接符 7">
            <a:extLst>
              <a:ext uri="{FF2B5EF4-FFF2-40B4-BE49-F238E27FC236}">
                <a16:creationId xmlns:a16="http://schemas.microsoft.com/office/drawing/2014/main" id="{435B4F2C-29CA-C08C-DDEC-D4852F7C6624}"/>
              </a:ext>
            </a:extLst>
          </p:cNvPr>
          <p:cNvCxnSpPr>
            <a:stCxn id="3" idx="2"/>
            <a:endCxn id="5" idx="0"/>
          </p:cNvCxnSpPr>
          <p:nvPr/>
        </p:nvCxnSpPr>
        <p:spPr>
          <a:xfrm rot="5400000">
            <a:off x="6076650" y="589531"/>
            <a:ext cx="386495" cy="32860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肘形连接符 8">
            <a:extLst>
              <a:ext uri="{FF2B5EF4-FFF2-40B4-BE49-F238E27FC236}">
                <a16:creationId xmlns:a16="http://schemas.microsoft.com/office/drawing/2014/main" id="{75163361-D1F3-B37B-F778-8F6B5CFAE2D7}"/>
              </a:ext>
            </a:extLst>
          </p:cNvPr>
          <p:cNvCxnSpPr/>
          <p:nvPr/>
        </p:nvCxnSpPr>
        <p:spPr>
          <a:xfrm>
            <a:off x="1604825" y="608228"/>
            <a:ext cx="3020218" cy="1624349"/>
          </a:xfrm>
          <a:prstGeom prst="bentConnector3">
            <a:avLst>
              <a:gd name="adj1" fmla="val -354"/>
            </a:avLst>
          </a:prstGeom>
          <a:ln>
            <a:tailEnd type="triangle"/>
          </a:ln>
        </p:spPr>
        <p:style>
          <a:lnRef idx="1">
            <a:schemeClr val="dk1"/>
          </a:lnRef>
          <a:fillRef idx="0">
            <a:schemeClr val="dk1"/>
          </a:fillRef>
          <a:effectRef idx="0">
            <a:schemeClr val="dk1"/>
          </a:effectRef>
          <a:fontRef idx="minor">
            <a:schemeClr val="tx1"/>
          </a:fontRef>
        </p:style>
      </p:cxnSp>
      <p:sp>
        <p:nvSpPr>
          <p:cNvPr id="10" name="文本框 9">
            <a:extLst>
              <a:ext uri="{FF2B5EF4-FFF2-40B4-BE49-F238E27FC236}">
                <a16:creationId xmlns:a16="http://schemas.microsoft.com/office/drawing/2014/main" id="{494556AD-172A-38D5-E068-1F234E9F1371}"/>
              </a:ext>
            </a:extLst>
          </p:cNvPr>
          <p:cNvSpPr txBox="1"/>
          <p:nvPr/>
        </p:nvSpPr>
        <p:spPr>
          <a:xfrm>
            <a:off x="1628246" y="999427"/>
            <a:ext cx="3831818" cy="923714"/>
          </a:xfrm>
          <a:prstGeom prst="rect">
            <a:avLst/>
          </a:prstGeom>
          <a:noFill/>
        </p:spPr>
        <p:txBody>
          <a:bodyPr wrap="none" rtlCol="0">
            <a:spAutoFit/>
          </a:bodyPr>
          <a:lstStyle/>
          <a:p>
            <a:r>
              <a:rPr kumimoji="1" lang="en-US" altLang="zh-CN" sz="1801" dirty="0">
                <a:latin typeface="+mj-ea"/>
                <a:ea typeface="+mj-ea"/>
              </a:rPr>
              <a:t>③</a:t>
            </a:r>
            <a:r>
              <a:rPr kumimoji="1" lang="zh-CN" altLang="en-US" sz="1801" dirty="0">
                <a:latin typeface="+mj-ea"/>
                <a:ea typeface="+mj-ea"/>
              </a:rPr>
              <a:t>双边组合</a:t>
            </a:r>
            <a:r>
              <a:rPr kumimoji="1" lang="en-US" altLang="zh-CN" sz="1801" dirty="0">
                <a:latin typeface="+mj-ea"/>
                <a:ea typeface="+mj-ea"/>
              </a:rPr>
              <a:t>/</a:t>
            </a:r>
            <a:r>
              <a:rPr kumimoji="1" lang="zh-CN" altLang="en-US" sz="1801" dirty="0">
                <a:latin typeface="+mj-ea"/>
                <a:ea typeface="+mj-ea"/>
              </a:rPr>
              <a:t>筛选</a:t>
            </a:r>
            <a:endParaRPr kumimoji="1" lang="en-US" altLang="zh-CN" sz="1801" dirty="0">
              <a:latin typeface="+mj-ea"/>
              <a:ea typeface="+mj-ea"/>
            </a:endParaRPr>
          </a:p>
          <a:p>
            <a:pPr marL="411178" indent="-142880">
              <a:buFont typeface="Arial" panose="020B0604020202020204" pitchFamily="34" charset="0"/>
              <a:buChar char="•"/>
            </a:pPr>
            <a:r>
              <a:rPr kumimoji="1" lang="zh-CN" altLang="en-US" sz="1801" dirty="0">
                <a:latin typeface="+mj-ea"/>
                <a:ea typeface="+mj-ea"/>
              </a:rPr>
              <a:t>对实践问题可能的理论解读</a:t>
            </a:r>
            <a:endParaRPr kumimoji="1" lang="en-US" altLang="zh-CN" sz="1801" dirty="0">
              <a:latin typeface="+mj-ea"/>
              <a:ea typeface="+mj-ea"/>
            </a:endParaRPr>
          </a:p>
          <a:p>
            <a:pPr marL="411178" indent="-142880">
              <a:buFont typeface="Arial" panose="020B0604020202020204" pitchFamily="34" charset="0"/>
              <a:buChar char="•"/>
            </a:pPr>
            <a:r>
              <a:rPr kumimoji="1" lang="zh-CN" altLang="en-US" sz="1801" dirty="0">
                <a:latin typeface="+mj-ea"/>
                <a:ea typeface="+mj-ea"/>
              </a:rPr>
              <a:t>舍弃与实践问题最不相关的理论</a:t>
            </a:r>
            <a:endParaRPr kumimoji="1" lang="en-US" altLang="zh-CN" sz="1801" dirty="0">
              <a:latin typeface="+mj-ea"/>
              <a:ea typeface="+mj-ea"/>
            </a:endParaRPr>
          </a:p>
        </p:txBody>
      </p:sp>
      <p:sp>
        <p:nvSpPr>
          <p:cNvPr id="11" name="文本框 10">
            <a:extLst>
              <a:ext uri="{FF2B5EF4-FFF2-40B4-BE49-F238E27FC236}">
                <a16:creationId xmlns:a16="http://schemas.microsoft.com/office/drawing/2014/main" id="{FD1CC7B5-6DB0-D891-A06F-C3E282674D33}"/>
              </a:ext>
            </a:extLst>
          </p:cNvPr>
          <p:cNvSpPr txBox="1"/>
          <p:nvPr/>
        </p:nvSpPr>
        <p:spPr>
          <a:xfrm>
            <a:off x="1071042" y="226248"/>
            <a:ext cx="1114408" cy="369460"/>
          </a:xfrm>
          <a:prstGeom prst="rect">
            <a:avLst/>
          </a:prstGeom>
          <a:solidFill>
            <a:schemeClr val="bg2">
              <a:lumMod val="90000"/>
            </a:schemeClr>
          </a:solidFill>
        </p:spPr>
        <p:txBody>
          <a:bodyPr wrap="none" rtlCol="0">
            <a:spAutoFit/>
          </a:bodyPr>
          <a:lstStyle/>
          <a:p>
            <a:r>
              <a:rPr kumimoji="1" lang="zh-CN" altLang="en-US" sz="1801" b="1" dirty="0">
                <a:latin typeface="+mj-ea"/>
                <a:ea typeface="+mj-ea"/>
              </a:rPr>
              <a:t>对象特征</a:t>
            </a:r>
          </a:p>
        </p:txBody>
      </p:sp>
      <p:sp>
        <p:nvSpPr>
          <p:cNvPr id="12" name="文本框 11">
            <a:extLst>
              <a:ext uri="{FF2B5EF4-FFF2-40B4-BE49-F238E27FC236}">
                <a16:creationId xmlns:a16="http://schemas.microsoft.com/office/drawing/2014/main" id="{E322761E-BD67-9AB5-07FE-DF667E6263C4}"/>
              </a:ext>
            </a:extLst>
          </p:cNvPr>
          <p:cNvSpPr txBox="1"/>
          <p:nvPr/>
        </p:nvSpPr>
        <p:spPr>
          <a:xfrm>
            <a:off x="7355739" y="0"/>
            <a:ext cx="1114408" cy="369460"/>
          </a:xfrm>
          <a:prstGeom prst="rect">
            <a:avLst/>
          </a:prstGeom>
          <a:solidFill>
            <a:schemeClr val="bg2">
              <a:lumMod val="90000"/>
            </a:schemeClr>
          </a:solidFill>
        </p:spPr>
        <p:txBody>
          <a:bodyPr wrap="none" rtlCol="0">
            <a:spAutoFit/>
          </a:bodyPr>
          <a:lstStyle/>
          <a:p>
            <a:r>
              <a:rPr kumimoji="1" lang="zh-CN" altLang="en-US" sz="1801" b="1" dirty="0">
                <a:latin typeface="+mj-ea"/>
                <a:ea typeface="+mj-ea"/>
              </a:rPr>
              <a:t>实践问题</a:t>
            </a:r>
          </a:p>
        </p:txBody>
      </p:sp>
      <p:sp>
        <p:nvSpPr>
          <p:cNvPr id="13" name="文本框 12">
            <a:extLst>
              <a:ext uri="{FF2B5EF4-FFF2-40B4-BE49-F238E27FC236}">
                <a16:creationId xmlns:a16="http://schemas.microsoft.com/office/drawing/2014/main" id="{5A10B723-0749-FB58-9E79-DB94E156699E}"/>
              </a:ext>
            </a:extLst>
          </p:cNvPr>
          <p:cNvSpPr txBox="1"/>
          <p:nvPr/>
        </p:nvSpPr>
        <p:spPr>
          <a:xfrm>
            <a:off x="2448913" y="6377373"/>
            <a:ext cx="3531043" cy="508024"/>
          </a:xfrm>
          <a:prstGeom prst="rect">
            <a:avLst/>
          </a:prstGeom>
          <a:noFill/>
          <a:ln>
            <a:solidFill>
              <a:schemeClr val="tx1"/>
            </a:solidFill>
            <a:prstDash val="solid"/>
          </a:ln>
        </p:spPr>
        <p:txBody>
          <a:bodyPr wrap="square" rtlCol="0">
            <a:spAutoFit/>
          </a:bodyPr>
          <a:lstStyle/>
          <a:p>
            <a:pPr algn="ctr">
              <a:lnSpc>
                <a:spcPct val="150000"/>
              </a:lnSpc>
            </a:pPr>
            <a:r>
              <a:rPr kumimoji="1" lang="zh-CN" altLang="en-US" sz="1801" b="1" dirty="0">
                <a:solidFill>
                  <a:srgbClr val="0070C0"/>
                </a:solidFill>
                <a:latin typeface="+mj-ea"/>
                <a:ea typeface="+mj-ea"/>
              </a:rPr>
              <a:t>咨询服务跨专业知识融合问题</a:t>
            </a:r>
            <a:endParaRPr kumimoji="1" lang="en-US" altLang="zh-CN" sz="1801" b="1" dirty="0">
              <a:solidFill>
                <a:srgbClr val="0070C0"/>
              </a:solidFill>
              <a:latin typeface="+mj-ea"/>
              <a:ea typeface="+mj-ea"/>
            </a:endParaRPr>
          </a:p>
        </p:txBody>
      </p:sp>
      <p:cxnSp>
        <p:nvCxnSpPr>
          <p:cNvPr id="14" name="直线箭头连接符 80">
            <a:extLst>
              <a:ext uri="{FF2B5EF4-FFF2-40B4-BE49-F238E27FC236}">
                <a16:creationId xmlns:a16="http://schemas.microsoft.com/office/drawing/2014/main" id="{73819FAE-0D6C-43D1-BC39-CF4EEF508ECF}"/>
              </a:ext>
            </a:extLst>
          </p:cNvPr>
          <p:cNvCxnSpPr/>
          <p:nvPr/>
        </p:nvCxnSpPr>
        <p:spPr>
          <a:xfrm flipH="1">
            <a:off x="4214435" y="5114150"/>
            <a:ext cx="1808" cy="12632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文本框 14">
            <a:extLst>
              <a:ext uri="{FF2B5EF4-FFF2-40B4-BE49-F238E27FC236}">
                <a16:creationId xmlns:a16="http://schemas.microsoft.com/office/drawing/2014/main" id="{E51FD216-E162-B9D6-F248-84A7CC5ACA91}"/>
              </a:ext>
            </a:extLst>
          </p:cNvPr>
          <p:cNvSpPr txBox="1"/>
          <p:nvPr/>
        </p:nvSpPr>
        <p:spPr>
          <a:xfrm>
            <a:off x="4214435" y="5126415"/>
            <a:ext cx="2908489" cy="1200842"/>
          </a:xfrm>
          <a:prstGeom prst="rect">
            <a:avLst/>
          </a:prstGeom>
          <a:noFill/>
        </p:spPr>
        <p:txBody>
          <a:bodyPr wrap="none" rtlCol="0">
            <a:spAutoFit/>
          </a:bodyPr>
          <a:lstStyle/>
          <a:p>
            <a:r>
              <a:rPr kumimoji="1" lang="en-US" altLang="zh-CN" sz="1801" dirty="0">
                <a:latin typeface="+mj-ea"/>
                <a:ea typeface="+mj-ea"/>
              </a:rPr>
              <a:t>④</a:t>
            </a:r>
            <a:r>
              <a:rPr kumimoji="1" lang="zh-CN" altLang="en-US" sz="1801" dirty="0">
                <a:latin typeface="+mj-ea"/>
                <a:ea typeface="+mj-ea"/>
              </a:rPr>
              <a:t>对组合的筛选</a:t>
            </a:r>
            <a:endParaRPr kumimoji="1" lang="en-US" altLang="zh-CN" sz="1801" dirty="0">
              <a:latin typeface="+mj-ea"/>
              <a:ea typeface="+mj-ea"/>
            </a:endParaRPr>
          </a:p>
          <a:p>
            <a:pPr marL="411178" indent="-142880">
              <a:buFont typeface="Arial" panose="020B0604020202020204" pitchFamily="34" charset="0"/>
              <a:buChar char="•"/>
            </a:pPr>
            <a:r>
              <a:rPr kumimoji="1" lang="zh-CN" altLang="en-US" sz="1801" dirty="0">
                <a:latin typeface="+mj-ea"/>
                <a:ea typeface="+mj-ea"/>
              </a:rPr>
              <a:t>实践与理论的最佳契合</a:t>
            </a:r>
            <a:endParaRPr kumimoji="1" lang="en-US" altLang="zh-CN" sz="1801" dirty="0">
              <a:latin typeface="+mj-ea"/>
              <a:ea typeface="+mj-ea"/>
            </a:endParaRPr>
          </a:p>
          <a:p>
            <a:pPr marL="411178" indent="-142880">
              <a:buFont typeface="Arial" panose="020B0604020202020204" pitchFamily="34" charset="0"/>
              <a:buChar char="•"/>
            </a:pPr>
            <a:r>
              <a:rPr kumimoji="1" lang="zh-CN" altLang="en-US" sz="1801" dirty="0">
                <a:latin typeface="+mj-ea"/>
                <a:ea typeface="+mj-ea"/>
              </a:rPr>
              <a:t>抓住实践问题的关键</a:t>
            </a:r>
            <a:endParaRPr kumimoji="1" lang="en-US" altLang="zh-CN" sz="1801" dirty="0">
              <a:latin typeface="+mj-ea"/>
              <a:ea typeface="+mj-ea"/>
            </a:endParaRPr>
          </a:p>
          <a:p>
            <a:pPr marL="411178" indent="-142880">
              <a:buFont typeface="Arial" panose="020B0604020202020204" pitchFamily="34" charset="0"/>
              <a:buChar char="•"/>
            </a:pPr>
            <a:r>
              <a:rPr kumimoji="1" lang="zh-CN" altLang="en-US" sz="1801" dirty="0">
                <a:latin typeface="+mj-ea"/>
                <a:ea typeface="+mj-ea"/>
              </a:rPr>
              <a:t>体现对象的核心特征</a:t>
            </a:r>
            <a:endParaRPr kumimoji="1" lang="en-US" altLang="zh-CN" sz="1801" dirty="0">
              <a:latin typeface="+mj-ea"/>
              <a:ea typeface="+mj-ea"/>
            </a:endParaRPr>
          </a:p>
        </p:txBody>
      </p:sp>
      <p:sp>
        <p:nvSpPr>
          <p:cNvPr id="16" name="文本框 15">
            <a:extLst>
              <a:ext uri="{FF2B5EF4-FFF2-40B4-BE49-F238E27FC236}">
                <a16:creationId xmlns:a16="http://schemas.microsoft.com/office/drawing/2014/main" id="{D578F464-1CC3-A577-B629-CD289172DA02}"/>
              </a:ext>
            </a:extLst>
          </p:cNvPr>
          <p:cNvSpPr txBox="1"/>
          <p:nvPr/>
        </p:nvSpPr>
        <p:spPr>
          <a:xfrm>
            <a:off x="5863523" y="6446655"/>
            <a:ext cx="3206327" cy="369460"/>
          </a:xfrm>
          <a:prstGeom prst="rect">
            <a:avLst/>
          </a:prstGeom>
          <a:noFill/>
        </p:spPr>
        <p:txBody>
          <a:bodyPr wrap="none" rtlCol="0">
            <a:spAutoFit/>
          </a:bodyPr>
          <a:lstStyle/>
          <a:p>
            <a:r>
              <a:rPr kumimoji="1" lang="zh-CN" altLang="en-US" sz="1801" b="1" dirty="0">
                <a:latin typeface="+mj-ea"/>
                <a:ea typeface="+mj-ea"/>
              </a:rPr>
              <a:t>（实现对实践问题的理论化）</a:t>
            </a:r>
          </a:p>
        </p:txBody>
      </p:sp>
    </p:spTree>
    <p:extLst>
      <p:ext uri="{BB962C8B-B14F-4D97-AF65-F5344CB8AC3E}">
        <p14:creationId xmlns:p14="http://schemas.microsoft.com/office/powerpoint/2010/main" val="4276057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A10B723-0749-FB58-9E79-DB94E156699E}"/>
              </a:ext>
            </a:extLst>
          </p:cNvPr>
          <p:cNvSpPr txBox="1"/>
          <p:nvPr/>
        </p:nvSpPr>
        <p:spPr>
          <a:xfrm>
            <a:off x="3541176" y="0"/>
            <a:ext cx="3531043" cy="508024"/>
          </a:xfrm>
          <a:prstGeom prst="rect">
            <a:avLst/>
          </a:prstGeom>
          <a:noFill/>
          <a:ln>
            <a:solidFill>
              <a:schemeClr val="tx1"/>
            </a:solidFill>
            <a:prstDash val="solid"/>
          </a:ln>
        </p:spPr>
        <p:txBody>
          <a:bodyPr wrap="square" rtlCol="0">
            <a:spAutoFit/>
          </a:bodyPr>
          <a:lstStyle/>
          <a:p>
            <a:pPr algn="ctr">
              <a:lnSpc>
                <a:spcPct val="150000"/>
              </a:lnSpc>
            </a:pPr>
            <a:r>
              <a:rPr kumimoji="1" lang="zh-CN" altLang="en-US" sz="1801" b="1" dirty="0">
                <a:solidFill>
                  <a:srgbClr val="0070C0"/>
                </a:solidFill>
                <a:latin typeface="+mj-ea"/>
                <a:ea typeface="+mj-ea"/>
              </a:rPr>
              <a:t>咨询服务跨专业知识融合问题</a:t>
            </a:r>
            <a:endParaRPr kumimoji="1" lang="en-US" altLang="zh-CN" sz="1801" b="1" dirty="0">
              <a:solidFill>
                <a:srgbClr val="0070C0"/>
              </a:solidFill>
              <a:latin typeface="+mj-ea"/>
              <a:ea typeface="+mj-ea"/>
            </a:endParaRPr>
          </a:p>
        </p:txBody>
      </p:sp>
      <p:sp>
        <p:nvSpPr>
          <p:cNvPr id="7" name="文本框 6">
            <a:extLst>
              <a:ext uri="{FF2B5EF4-FFF2-40B4-BE49-F238E27FC236}">
                <a16:creationId xmlns:a16="http://schemas.microsoft.com/office/drawing/2014/main" id="{5296C03A-A1A6-B2F9-08F3-4A5C907DEDE2}"/>
              </a:ext>
            </a:extLst>
          </p:cNvPr>
          <p:cNvSpPr txBox="1"/>
          <p:nvPr/>
        </p:nvSpPr>
        <p:spPr>
          <a:xfrm>
            <a:off x="5318516" y="512329"/>
            <a:ext cx="2908489" cy="1200842"/>
          </a:xfrm>
          <a:prstGeom prst="rect">
            <a:avLst/>
          </a:prstGeom>
          <a:noFill/>
        </p:spPr>
        <p:txBody>
          <a:bodyPr wrap="none" rtlCol="0">
            <a:spAutoFit/>
          </a:bodyPr>
          <a:lstStyle/>
          <a:p>
            <a:r>
              <a:rPr kumimoji="1" lang="en-US" altLang="zh-CN" sz="1801" dirty="0">
                <a:latin typeface="+mj-ea"/>
                <a:ea typeface="+mj-ea"/>
              </a:rPr>
              <a:t>⑤</a:t>
            </a:r>
            <a:r>
              <a:rPr kumimoji="1" lang="zh-CN" altLang="en-US" sz="1801" dirty="0">
                <a:latin typeface="+mj-ea"/>
                <a:ea typeface="+mj-ea"/>
              </a:rPr>
              <a:t>问题评价与解析</a:t>
            </a:r>
            <a:endParaRPr kumimoji="1" lang="en-US" altLang="zh-CN" sz="1801" dirty="0">
              <a:latin typeface="+mj-ea"/>
              <a:ea typeface="+mj-ea"/>
            </a:endParaRPr>
          </a:p>
          <a:p>
            <a:pPr marL="411178" indent="-142880">
              <a:buFont typeface="Arial" panose="020B0604020202020204" pitchFamily="34" charset="0"/>
              <a:buChar char="•"/>
            </a:pPr>
            <a:r>
              <a:rPr kumimoji="1" lang="zh-CN" altLang="en-US" sz="1801" dirty="0">
                <a:latin typeface="+mj-ea"/>
                <a:ea typeface="+mj-ea"/>
              </a:rPr>
              <a:t>情境的代入</a:t>
            </a:r>
            <a:endParaRPr kumimoji="1" lang="en-US" altLang="zh-CN" sz="1801" dirty="0">
              <a:latin typeface="+mj-ea"/>
              <a:ea typeface="+mj-ea"/>
            </a:endParaRPr>
          </a:p>
          <a:p>
            <a:pPr marL="411178" indent="-142880">
              <a:buFont typeface="Arial" panose="020B0604020202020204" pitchFamily="34" charset="0"/>
              <a:buChar char="•"/>
            </a:pPr>
            <a:r>
              <a:rPr kumimoji="1" lang="zh-CN" altLang="en-US" sz="1801" dirty="0">
                <a:latin typeface="+mj-ea"/>
                <a:ea typeface="+mj-ea"/>
              </a:rPr>
              <a:t>与已有研究间的关系</a:t>
            </a:r>
            <a:endParaRPr kumimoji="1" lang="en-US" altLang="zh-CN" sz="1801" dirty="0">
              <a:latin typeface="+mj-ea"/>
              <a:ea typeface="+mj-ea"/>
            </a:endParaRPr>
          </a:p>
          <a:p>
            <a:pPr marL="411178" indent="-142880">
              <a:buFont typeface="Arial" panose="020B0604020202020204" pitchFamily="34" charset="0"/>
              <a:buChar char="•"/>
            </a:pPr>
            <a:r>
              <a:rPr kumimoji="1" lang="zh-CN" altLang="en-US" sz="1801" dirty="0">
                <a:latin typeface="+mj-ea"/>
                <a:ea typeface="+mj-ea"/>
              </a:rPr>
              <a:t>潜在理论贡献是否突出</a:t>
            </a:r>
            <a:endParaRPr kumimoji="1" lang="en-US" altLang="zh-CN" sz="1801" dirty="0">
              <a:latin typeface="+mj-ea"/>
              <a:ea typeface="+mj-ea"/>
            </a:endParaRPr>
          </a:p>
        </p:txBody>
      </p:sp>
      <p:sp>
        <p:nvSpPr>
          <p:cNvPr id="8" name="文本框 7">
            <a:extLst>
              <a:ext uri="{FF2B5EF4-FFF2-40B4-BE49-F238E27FC236}">
                <a16:creationId xmlns:a16="http://schemas.microsoft.com/office/drawing/2014/main" id="{2F55196A-9807-5FE1-6EEC-64BBB97EF350}"/>
              </a:ext>
            </a:extLst>
          </p:cNvPr>
          <p:cNvSpPr txBox="1"/>
          <p:nvPr/>
        </p:nvSpPr>
        <p:spPr>
          <a:xfrm>
            <a:off x="2454868" y="2128350"/>
            <a:ext cx="1933472" cy="508024"/>
          </a:xfrm>
          <a:prstGeom prst="rect">
            <a:avLst/>
          </a:prstGeom>
          <a:noFill/>
          <a:ln>
            <a:solidFill>
              <a:schemeClr val="tx1"/>
            </a:solidFill>
            <a:prstDash val="dash"/>
          </a:ln>
        </p:spPr>
        <p:txBody>
          <a:bodyPr wrap="square" rtlCol="0">
            <a:spAutoFit/>
          </a:bodyPr>
          <a:lstStyle/>
          <a:p>
            <a:pPr algn="ctr">
              <a:lnSpc>
                <a:spcPct val="150000"/>
              </a:lnSpc>
            </a:pPr>
            <a:r>
              <a:rPr kumimoji="1" lang="zh-CN" altLang="en-US" sz="1801" dirty="0">
                <a:latin typeface="+mj-ea"/>
                <a:ea typeface="+mj-ea"/>
              </a:rPr>
              <a:t>知识的属性</a:t>
            </a:r>
            <a:endParaRPr kumimoji="1" lang="en-US" altLang="zh-CN" sz="1801" dirty="0">
              <a:latin typeface="+mj-ea"/>
              <a:ea typeface="+mj-ea"/>
            </a:endParaRPr>
          </a:p>
        </p:txBody>
      </p:sp>
      <p:sp>
        <p:nvSpPr>
          <p:cNvPr id="9" name="文本框 8">
            <a:extLst>
              <a:ext uri="{FF2B5EF4-FFF2-40B4-BE49-F238E27FC236}">
                <a16:creationId xmlns:a16="http://schemas.microsoft.com/office/drawing/2014/main" id="{A6187DEC-0958-20B3-3075-F6F9F4808E7F}"/>
              </a:ext>
            </a:extLst>
          </p:cNvPr>
          <p:cNvSpPr txBox="1"/>
          <p:nvPr/>
        </p:nvSpPr>
        <p:spPr>
          <a:xfrm>
            <a:off x="2454868" y="3082525"/>
            <a:ext cx="1933472" cy="508024"/>
          </a:xfrm>
          <a:prstGeom prst="rect">
            <a:avLst/>
          </a:prstGeom>
          <a:noFill/>
          <a:ln>
            <a:solidFill>
              <a:schemeClr val="tx1"/>
            </a:solidFill>
            <a:prstDash val="dash"/>
          </a:ln>
        </p:spPr>
        <p:txBody>
          <a:bodyPr wrap="square" rtlCol="0">
            <a:spAutoFit/>
          </a:bodyPr>
          <a:lstStyle/>
          <a:p>
            <a:pPr algn="ctr">
              <a:lnSpc>
                <a:spcPct val="150000"/>
              </a:lnSpc>
            </a:pPr>
            <a:r>
              <a:rPr kumimoji="1" lang="zh-CN" altLang="en-US" sz="1801" dirty="0">
                <a:latin typeface="+mj-ea"/>
                <a:ea typeface="+mj-ea"/>
              </a:rPr>
              <a:t>咨询知识的属性</a:t>
            </a:r>
            <a:endParaRPr kumimoji="1" lang="en-US" altLang="zh-CN" sz="1801" dirty="0">
              <a:latin typeface="+mj-ea"/>
              <a:ea typeface="+mj-ea"/>
            </a:endParaRPr>
          </a:p>
        </p:txBody>
      </p:sp>
      <p:sp>
        <p:nvSpPr>
          <p:cNvPr id="10" name="文本框 9">
            <a:extLst>
              <a:ext uri="{FF2B5EF4-FFF2-40B4-BE49-F238E27FC236}">
                <a16:creationId xmlns:a16="http://schemas.microsoft.com/office/drawing/2014/main" id="{8AF5B6BE-EB55-5B98-88B7-A6335DF46B88}"/>
              </a:ext>
            </a:extLst>
          </p:cNvPr>
          <p:cNvSpPr txBox="1"/>
          <p:nvPr/>
        </p:nvSpPr>
        <p:spPr>
          <a:xfrm>
            <a:off x="5379706" y="2128350"/>
            <a:ext cx="2737946" cy="508024"/>
          </a:xfrm>
          <a:prstGeom prst="rect">
            <a:avLst/>
          </a:prstGeom>
          <a:noFill/>
          <a:ln>
            <a:solidFill>
              <a:schemeClr val="tx1"/>
            </a:solidFill>
            <a:prstDash val="dash"/>
          </a:ln>
        </p:spPr>
        <p:txBody>
          <a:bodyPr wrap="square" rtlCol="0">
            <a:spAutoFit/>
          </a:bodyPr>
          <a:lstStyle/>
          <a:p>
            <a:pPr algn="ctr">
              <a:lnSpc>
                <a:spcPct val="150000"/>
              </a:lnSpc>
            </a:pPr>
            <a:r>
              <a:rPr kumimoji="1" lang="zh-CN" altLang="en-US" sz="1801" dirty="0">
                <a:latin typeface="+mj-ea"/>
                <a:ea typeface="+mj-ea"/>
              </a:rPr>
              <a:t>跨职能团队知识融合</a:t>
            </a:r>
            <a:endParaRPr kumimoji="1" lang="en-US" altLang="zh-CN" sz="1801" dirty="0">
              <a:latin typeface="+mj-ea"/>
              <a:ea typeface="+mj-ea"/>
            </a:endParaRPr>
          </a:p>
        </p:txBody>
      </p:sp>
      <p:sp>
        <p:nvSpPr>
          <p:cNvPr id="11" name="文本框 10">
            <a:extLst>
              <a:ext uri="{FF2B5EF4-FFF2-40B4-BE49-F238E27FC236}">
                <a16:creationId xmlns:a16="http://schemas.microsoft.com/office/drawing/2014/main" id="{6C11BA13-ED09-21F1-DC15-421A1C9D0829}"/>
              </a:ext>
            </a:extLst>
          </p:cNvPr>
          <p:cNvSpPr txBox="1"/>
          <p:nvPr/>
        </p:nvSpPr>
        <p:spPr>
          <a:xfrm>
            <a:off x="5379707" y="3082525"/>
            <a:ext cx="2737946" cy="508024"/>
          </a:xfrm>
          <a:prstGeom prst="rect">
            <a:avLst/>
          </a:prstGeom>
          <a:noFill/>
          <a:ln>
            <a:solidFill>
              <a:schemeClr val="tx1"/>
            </a:solidFill>
            <a:prstDash val="dash"/>
          </a:ln>
        </p:spPr>
        <p:txBody>
          <a:bodyPr wrap="square" rtlCol="0">
            <a:spAutoFit/>
          </a:bodyPr>
          <a:lstStyle/>
          <a:p>
            <a:pPr algn="ctr">
              <a:lnSpc>
                <a:spcPct val="150000"/>
              </a:lnSpc>
            </a:pPr>
            <a:r>
              <a:rPr kumimoji="1" lang="zh-CN" altLang="en-US" sz="1801" dirty="0">
                <a:latin typeface="+mj-ea"/>
                <a:ea typeface="+mj-ea"/>
              </a:rPr>
              <a:t>跨咨询专业知识融合</a:t>
            </a:r>
            <a:endParaRPr kumimoji="1" lang="en-US" altLang="zh-CN" sz="1801" dirty="0">
              <a:latin typeface="+mj-ea"/>
              <a:ea typeface="+mj-ea"/>
            </a:endParaRPr>
          </a:p>
        </p:txBody>
      </p:sp>
      <p:cxnSp>
        <p:nvCxnSpPr>
          <p:cNvPr id="12" name="直线箭头连接符 96">
            <a:extLst>
              <a:ext uri="{FF2B5EF4-FFF2-40B4-BE49-F238E27FC236}">
                <a16:creationId xmlns:a16="http://schemas.microsoft.com/office/drawing/2014/main" id="{AFA57429-179C-FFE4-5D46-B199ABDC3208}"/>
              </a:ext>
            </a:extLst>
          </p:cNvPr>
          <p:cNvCxnSpPr>
            <a:stCxn id="8" idx="3"/>
            <a:endCxn id="10" idx="1"/>
          </p:cNvCxnSpPr>
          <p:nvPr/>
        </p:nvCxnSpPr>
        <p:spPr>
          <a:xfrm>
            <a:off x="4388340" y="2382362"/>
            <a:ext cx="99136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文本框 12">
            <a:extLst>
              <a:ext uri="{FF2B5EF4-FFF2-40B4-BE49-F238E27FC236}">
                <a16:creationId xmlns:a16="http://schemas.microsoft.com/office/drawing/2014/main" id="{C4FD4686-0B6E-B469-F4F9-1EF0A0A6C4F2}"/>
              </a:ext>
            </a:extLst>
          </p:cNvPr>
          <p:cNvSpPr txBox="1"/>
          <p:nvPr/>
        </p:nvSpPr>
        <p:spPr>
          <a:xfrm>
            <a:off x="2914904" y="1790550"/>
            <a:ext cx="1005403" cy="338554"/>
          </a:xfrm>
          <a:prstGeom prst="rect">
            <a:avLst/>
          </a:prstGeom>
          <a:noFill/>
        </p:spPr>
        <p:txBody>
          <a:bodyPr wrap="none" rtlCol="0">
            <a:spAutoFit/>
          </a:bodyPr>
          <a:lstStyle/>
          <a:p>
            <a:r>
              <a:rPr kumimoji="1" lang="zh-CN" altLang="en-US" sz="1600" dirty="0">
                <a:latin typeface="+mj-ea"/>
                <a:ea typeface="+mj-ea"/>
              </a:rPr>
              <a:t>（已知）</a:t>
            </a:r>
          </a:p>
        </p:txBody>
      </p:sp>
      <p:sp>
        <p:nvSpPr>
          <p:cNvPr id="14" name="文本框 13">
            <a:extLst>
              <a:ext uri="{FF2B5EF4-FFF2-40B4-BE49-F238E27FC236}">
                <a16:creationId xmlns:a16="http://schemas.microsoft.com/office/drawing/2014/main" id="{9D87A329-C413-E6AB-1823-4349C742D6CA}"/>
              </a:ext>
            </a:extLst>
          </p:cNvPr>
          <p:cNvSpPr txBox="1"/>
          <p:nvPr/>
        </p:nvSpPr>
        <p:spPr>
          <a:xfrm>
            <a:off x="6229925" y="1790550"/>
            <a:ext cx="1005403" cy="338554"/>
          </a:xfrm>
          <a:prstGeom prst="rect">
            <a:avLst/>
          </a:prstGeom>
          <a:noFill/>
        </p:spPr>
        <p:txBody>
          <a:bodyPr wrap="none" rtlCol="0">
            <a:spAutoFit/>
          </a:bodyPr>
          <a:lstStyle>
            <a:defPPr>
              <a:defRPr lang="zh-CN"/>
            </a:defPPr>
            <a:lvl1pPr>
              <a:defRPr kumimoji="1" sz="1600">
                <a:latin typeface="SimSun" panose="02010600030101010101" pitchFamily="2" charset="-122"/>
                <a:ea typeface="SimSun" panose="02010600030101010101" pitchFamily="2" charset="-122"/>
              </a:defRPr>
            </a:lvl1pPr>
          </a:lstStyle>
          <a:p>
            <a:r>
              <a:rPr lang="zh-CN" altLang="en-US" dirty="0">
                <a:latin typeface="+mj-ea"/>
                <a:ea typeface="+mj-ea"/>
              </a:rPr>
              <a:t>（已知）</a:t>
            </a:r>
          </a:p>
        </p:txBody>
      </p:sp>
      <p:cxnSp>
        <p:nvCxnSpPr>
          <p:cNvPr id="15" name="直线箭头连接符 100">
            <a:extLst>
              <a:ext uri="{FF2B5EF4-FFF2-40B4-BE49-F238E27FC236}">
                <a16:creationId xmlns:a16="http://schemas.microsoft.com/office/drawing/2014/main" id="{8BBB40E8-0761-7FCC-1CA7-01BF29ECEFE3}"/>
              </a:ext>
            </a:extLst>
          </p:cNvPr>
          <p:cNvCxnSpPr>
            <a:stCxn id="8" idx="2"/>
            <a:endCxn id="9" idx="0"/>
          </p:cNvCxnSpPr>
          <p:nvPr/>
        </p:nvCxnSpPr>
        <p:spPr>
          <a:xfrm>
            <a:off x="3421604" y="2636374"/>
            <a:ext cx="0" cy="446151"/>
          </a:xfrm>
          <a:prstGeom prst="straightConnector1">
            <a:avLst/>
          </a:prstGeom>
          <a:ln>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03">
            <a:extLst>
              <a:ext uri="{FF2B5EF4-FFF2-40B4-BE49-F238E27FC236}">
                <a16:creationId xmlns:a16="http://schemas.microsoft.com/office/drawing/2014/main" id="{82D59B1A-6A0D-39A7-EF62-4C06C2808677}"/>
              </a:ext>
            </a:extLst>
          </p:cNvPr>
          <p:cNvCxnSpPr/>
          <p:nvPr/>
        </p:nvCxnSpPr>
        <p:spPr>
          <a:xfrm>
            <a:off x="6748679" y="2571227"/>
            <a:ext cx="0" cy="511297"/>
          </a:xfrm>
          <a:prstGeom prst="straightConnector1">
            <a:avLst/>
          </a:prstGeom>
          <a:ln>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DBE81A5F-5EC4-48C0-C913-84A1AB7DCA32}"/>
              </a:ext>
            </a:extLst>
          </p:cNvPr>
          <p:cNvSpPr txBox="1"/>
          <p:nvPr/>
        </p:nvSpPr>
        <p:spPr>
          <a:xfrm>
            <a:off x="3435559" y="2685049"/>
            <a:ext cx="1415772" cy="338554"/>
          </a:xfrm>
          <a:prstGeom prst="rect">
            <a:avLst/>
          </a:prstGeom>
          <a:noFill/>
        </p:spPr>
        <p:txBody>
          <a:bodyPr wrap="none" rtlCol="0">
            <a:spAutoFit/>
          </a:bodyPr>
          <a:lstStyle/>
          <a:p>
            <a:r>
              <a:rPr kumimoji="1" lang="zh-CN" altLang="en-US" sz="1600" dirty="0">
                <a:solidFill>
                  <a:srgbClr val="0070C0"/>
                </a:solidFill>
                <a:latin typeface="+mj-ea"/>
                <a:ea typeface="+mj-ea"/>
              </a:rPr>
              <a:t>从一般到特殊</a:t>
            </a:r>
          </a:p>
        </p:txBody>
      </p:sp>
      <p:sp>
        <p:nvSpPr>
          <p:cNvPr id="18" name="文本框 17">
            <a:extLst>
              <a:ext uri="{FF2B5EF4-FFF2-40B4-BE49-F238E27FC236}">
                <a16:creationId xmlns:a16="http://schemas.microsoft.com/office/drawing/2014/main" id="{9AF5DF80-EB0F-B732-C200-837A0DA889A5}"/>
              </a:ext>
            </a:extLst>
          </p:cNvPr>
          <p:cNvSpPr txBox="1"/>
          <p:nvPr/>
        </p:nvSpPr>
        <p:spPr>
          <a:xfrm>
            <a:off x="6762633" y="2685049"/>
            <a:ext cx="1415772" cy="338554"/>
          </a:xfrm>
          <a:prstGeom prst="rect">
            <a:avLst/>
          </a:prstGeom>
          <a:noFill/>
        </p:spPr>
        <p:txBody>
          <a:bodyPr wrap="none" rtlCol="0">
            <a:spAutoFit/>
          </a:bodyPr>
          <a:lstStyle>
            <a:defPPr>
              <a:defRPr lang="zh-CN"/>
            </a:defPPr>
            <a:lvl1pPr>
              <a:defRPr kumimoji="1" sz="1600">
                <a:solidFill>
                  <a:srgbClr val="0070C0"/>
                </a:solidFill>
                <a:latin typeface="SimSun" panose="02010600030101010101" pitchFamily="2" charset="-122"/>
                <a:ea typeface="SimSun" panose="02010600030101010101" pitchFamily="2" charset="-122"/>
              </a:defRPr>
            </a:lvl1pPr>
          </a:lstStyle>
          <a:p>
            <a:r>
              <a:rPr lang="zh-CN" altLang="en-US" dirty="0">
                <a:latin typeface="+mj-ea"/>
                <a:ea typeface="+mj-ea"/>
              </a:rPr>
              <a:t>从一般到特殊</a:t>
            </a:r>
          </a:p>
        </p:txBody>
      </p:sp>
      <p:cxnSp>
        <p:nvCxnSpPr>
          <p:cNvPr id="19" name="直线箭头连接符 112">
            <a:extLst>
              <a:ext uri="{FF2B5EF4-FFF2-40B4-BE49-F238E27FC236}">
                <a16:creationId xmlns:a16="http://schemas.microsoft.com/office/drawing/2014/main" id="{BF783C91-B9FB-E4BC-1165-3088F17491A4}"/>
              </a:ext>
            </a:extLst>
          </p:cNvPr>
          <p:cNvCxnSpPr>
            <a:stCxn id="9" idx="3"/>
            <a:endCxn id="11" idx="1"/>
          </p:cNvCxnSpPr>
          <p:nvPr/>
        </p:nvCxnSpPr>
        <p:spPr>
          <a:xfrm>
            <a:off x="4388340" y="3336537"/>
            <a:ext cx="991367" cy="0"/>
          </a:xfrm>
          <a:prstGeom prst="straightConnector1">
            <a:avLst/>
          </a:prstGeom>
          <a:ln>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9C8A84CC-AC01-1154-5FB0-0673C1B693A4}"/>
              </a:ext>
            </a:extLst>
          </p:cNvPr>
          <p:cNvSpPr/>
          <p:nvPr/>
        </p:nvSpPr>
        <p:spPr>
          <a:xfrm>
            <a:off x="2342344" y="1790550"/>
            <a:ext cx="5899125" cy="208286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801">
              <a:latin typeface="+mj-ea"/>
              <a:ea typeface="+mj-ea"/>
            </a:endParaRPr>
          </a:p>
        </p:txBody>
      </p:sp>
      <p:sp>
        <p:nvSpPr>
          <p:cNvPr id="21" name="文本框 20">
            <a:extLst>
              <a:ext uri="{FF2B5EF4-FFF2-40B4-BE49-F238E27FC236}">
                <a16:creationId xmlns:a16="http://schemas.microsoft.com/office/drawing/2014/main" id="{52081270-7CFA-B2FE-D771-5C8EAB56EB71}"/>
              </a:ext>
            </a:extLst>
          </p:cNvPr>
          <p:cNvSpPr txBox="1"/>
          <p:nvPr/>
        </p:nvSpPr>
        <p:spPr>
          <a:xfrm>
            <a:off x="2709719" y="3519094"/>
            <a:ext cx="1415772" cy="338554"/>
          </a:xfrm>
          <a:prstGeom prst="rect">
            <a:avLst/>
          </a:prstGeom>
          <a:noFill/>
        </p:spPr>
        <p:txBody>
          <a:bodyPr wrap="none" rtlCol="0">
            <a:spAutoFit/>
          </a:bodyPr>
          <a:lstStyle/>
          <a:p>
            <a:r>
              <a:rPr kumimoji="1" lang="zh-CN" altLang="en-US" sz="1600" dirty="0">
                <a:latin typeface="+mj-ea"/>
                <a:ea typeface="+mj-ea"/>
              </a:rPr>
              <a:t>（有限已知）</a:t>
            </a:r>
          </a:p>
        </p:txBody>
      </p:sp>
      <p:sp>
        <p:nvSpPr>
          <p:cNvPr id="22" name="文本框 21">
            <a:extLst>
              <a:ext uri="{FF2B5EF4-FFF2-40B4-BE49-F238E27FC236}">
                <a16:creationId xmlns:a16="http://schemas.microsoft.com/office/drawing/2014/main" id="{77AEEF4C-7727-8E48-5C80-07C9524D0B89}"/>
              </a:ext>
            </a:extLst>
          </p:cNvPr>
          <p:cNvSpPr txBox="1"/>
          <p:nvPr/>
        </p:nvSpPr>
        <p:spPr>
          <a:xfrm>
            <a:off x="6229924" y="3549466"/>
            <a:ext cx="1005403" cy="338554"/>
          </a:xfrm>
          <a:prstGeom prst="rect">
            <a:avLst/>
          </a:prstGeom>
          <a:noFill/>
        </p:spPr>
        <p:txBody>
          <a:bodyPr wrap="none" rtlCol="0">
            <a:spAutoFit/>
          </a:bodyPr>
          <a:lstStyle/>
          <a:p>
            <a:r>
              <a:rPr kumimoji="1" lang="zh-CN" altLang="en-US" sz="1600" dirty="0">
                <a:latin typeface="+mj-ea"/>
                <a:ea typeface="+mj-ea"/>
              </a:rPr>
              <a:t>（未知）</a:t>
            </a:r>
          </a:p>
        </p:txBody>
      </p:sp>
      <p:cxnSp>
        <p:nvCxnSpPr>
          <p:cNvPr id="23" name="直线箭头连接符 120">
            <a:extLst>
              <a:ext uri="{FF2B5EF4-FFF2-40B4-BE49-F238E27FC236}">
                <a16:creationId xmlns:a16="http://schemas.microsoft.com/office/drawing/2014/main" id="{2AC5DAA5-C0CD-1DFF-A389-AB515BA7B361}"/>
              </a:ext>
            </a:extLst>
          </p:cNvPr>
          <p:cNvCxnSpPr>
            <a:stCxn id="6" idx="2"/>
            <a:endCxn id="20" idx="0"/>
          </p:cNvCxnSpPr>
          <p:nvPr/>
        </p:nvCxnSpPr>
        <p:spPr>
          <a:xfrm flipH="1">
            <a:off x="5291907" y="508024"/>
            <a:ext cx="14791" cy="12825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文本框 23">
            <a:extLst>
              <a:ext uri="{FF2B5EF4-FFF2-40B4-BE49-F238E27FC236}">
                <a16:creationId xmlns:a16="http://schemas.microsoft.com/office/drawing/2014/main" id="{F7151E63-0387-BD19-B238-4FE5999B19BE}"/>
              </a:ext>
            </a:extLst>
          </p:cNvPr>
          <p:cNvSpPr txBox="1"/>
          <p:nvPr/>
        </p:nvSpPr>
        <p:spPr>
          <a:xfrm>
            <a:off x="5325764" y="3949258"/>
            <a:ext cx="2908489" cy="1200842"/>
          </a:xfrm>
          <a:prstGeom prst="rect">
            <a:avLst/>
          </a:prstGeom>
          <a:noFill/>
        </p:spPr>
        <p:txBody>
          <a:bodyPr wrap="none" rtlCol="0">
            <a:spAutoFit/>
          </a:bodyPr>
          <a:lstStyle/>
          <a:p>
            <a:r>
              <a:rPr kumimoji="1" lang="en-US" altLang="zh-CN" sz="1801" dirty="0">
                <a:latin typeface="+mj-ea"/>
                <a:ea typeface="+mj-ea"/>
              </a:rPr>
              <a:t>⑥</a:t>
            </a:r>
            <a:r>
              <a:rPr kumimoji="1" lang="zh-CN" altLang="en-US" sz="1801" dirty="0">
                <a:latin typeface="+mj-ea"/>
                <a:ea typeface="+mj-ea"/>
              </a:rPr>
              <a:t>解决方案构思</a:t>
            </a:r>
            <a:endParaRPr kumimoji="1" lang="en-US" altLang="zh-CN" sz="1801" dirty="0">
              <a:latin typeface="+mj-ea"/>
              <a:ea typeface="+mj-ea"/>
            </a:endParaRPr>
          </a:p>
          <a:p>
            <a:pPr marL="411178" indent="-142880">
              <a:buFont typeface="Arial" panose="020B0604020202020204" pitchFamily="34" charset="0"/>
              <a:buChar char="•"/>
            </a:pPr>
            <a:r>
              <a:rPr kumimoji="1" lang="zh-CN" altLang="en-US" sz="1801" dirty="0">
                <a:latin typeface="+mj-ea"/>
                <a:ea typeface="+mj-ea"/>
              </a:rPr>
              <a:t>既有方案能否可行</a:t>
            </a:r>
            <a:endParaRPr kumimoji="1" lang="en-US" altLang="zh-CN" sz="1801" dirty="0">
              <a:latin typeface="+mj-ea"/>
              <a:ea typeface="+mj-ea"/>
            </a:endParaRPr>
          </a:p>
          <a:p>
            <a:pPr marL="411178" indent="-142880">
              <a:buFont typeface="Arial" panose="020B0604020202020204" pitchFamily="34" charset="0"/>
              <a:buChar char="•"/>
            </a:pPr>
            <a:r>
              <a:rPr kumimoji="1" lang="zh-CN" altLang="en-US" sz="1801" dirty="0">
                <a:latin typeface="+mj-ea"/>
                <a:ea typeface="+mj-ea"/>
              </a:rPr>
              <a:t>方案如何契合对象特征</a:t>
            </a:r>
            <a:endParaRPr kumimoji="1" lang="en-US" altLang="zh-CN" sz="1801" dirty="0">
              <a:latin typeface="+mj-ea"/>
              <a:ea typeface="+mj-ea"/>
            </a:endParaRPr>
          </a:p>
          <a:p>
            <a:pPr marL="411178" indent="-142880">
              <a:buFont typeface="Arial" panose="020B0604020202020204" pitchFamily="34" charset="0"/>
              <a:buChar char="•"/>
            </a:pPr>
            <a:r>
              <a:rPr kumimoji="1" lang="zh-CN" altLang="en-US" sz="1801" dirty="0">
                <a:latin typeface="+mj-ea"/>
                <a:ea typeface="+mj-ea"/>
              </a:rPr>
              <a:t>方案对问题的解决程度</a:t>
            </a:r>
            <a:endParaRPr kumimoji="1" lang="en-US" altLang="zh-CN" sz="1801" dirty="0">
              <a:latin typeface="+mj-ea"/>
              <a:ea typeface="+mj-ea"/>
            </a:endParaRPr>
          </a:p>
        </p:txBody>
      </p:sp>
      <p:sp>
        <p:nvSpPr>
          <p:cNvPr id="25" name="文本框 24">
            <a:extLst>
              <a:ext uri="{FF2B5EF4-FFF2-40B4-BE49-F238E27FC236}">
                <a16:creationId xmlns:a16="http://schemas.microsoft.com/office/drawing/2014/main" id="{70D88442-2664-BBFA-7C22-ADEDE1EAF58D}"/>
              </a:ext>
            </a:extLst>
          </p:cNvPr>
          <p:cNvSpPr txBox="1"/>
          <p:nvPr/>
        </p:nvSpPr>
        <p:spPr>
          <a:xfrm>
            <a:off x="1674714" y="5753915"/>
            <a:ext cx="2756667" cy="923714"/>
          </a:xfrm>
          <a:prstGeom prst="rect">
            <a:avLst/>
          </a:prstGeom>
          <a:noFill/>
          <a:ln>
            <a:solidFill>
              <a:schemeClr val="tx1"/>
            </a:solidFill>
            <a:prstDash val="dash"/>
          </a:ln>
        </p:spPr>
        <p:txBody>
          <a:bodyPr wrap="square" rtlCol="0">
            <a:spAutoFit/>
          </a:bodyPr>
          <a:lstStyle/>
          <a:p>
            <a:pPr marL="187332" indent="-187332">
              <a:buFont typeface="Arial" panose="020B0604020202020204" pitchFamily="34" charset="0"/>
              <a:buChar char="•"/>
            </a:pPr>
            <a:r>
              <a:rPr kumimoji="1" lang="zh-CN" altLang="en-US" sz="1801" dirty="0">
                <a:latin typeface="+mj-ea"/>
                <a:ea typeface="+mj-ea"/>
              </a:rPr>
              <a:t>咨询知识类型差异</a:t>
            </a:r>
            <a:endParaRPr kumimoji="1" lang="en-US" altLang="zh-CN" sz="1801" dirty="0">
              <a:latin typeface="+mj-ea"/>
              <a:ea typeface="+mj-ea"/>
            </a:endParaRPr>
          </a:p>
          <a:p>
            <a:pPr marL="187332" indent="-187332">
              <a:buFont typeface="Arial" panose="020B0604020202020204" pitchFamily="34" charset="0"/>
              <a:buChar char="•"/>
            </a:pPr>
            <a:r>
              <a:rPr kumimoji="1" lang="zh-CN" altLang="en-US" sz="1801" dirty="0">
                <a:latin typeface="+mj-ea"/>
                <a:ea typeface="+mj-ea"/>
              </a:rPr>
              <a:t>“知识</a:t>
            </a:r>
            <a:r>
              <a:rPr kumimoji="1" lang="en-US" altLang="zh-CN" sz="1801" dirty="0">
                <a:latin typeface="+mj-ea"/>
                <a:ea typeface="+mj-ea"/>
              </a:rPr>
              <a:t>→</a:t>
            </a:r>
            <a:r>
              <a:rPr kumimoji="1" lang="zh-CN" altLang="en-US" sz="1801" dirty="0">
                <a:latin typeface="+mj-ea"/>
                <a:ea typeface="+mj-ea"/>
              </a:rPr>
              <a:t>专业人士</a:t>
            </a:r>
            <a:r>
              <a:rPr kumimoji="1" lang="en-US" altLang="zh-CN" sz="1801" dirty="0">
                <a:latin typeface="+mj-ea"/>
                <a:ea typeface="+mj-ea"/>
              </a:rPr>
              <a:t>→</a:t>
            </a:r>
            <a:r>
              <a:rPr kumimoji="1" lang="zh-CN" altLang="en-US" sz="1801" dirty="0">
                <a:latin typeface="+mj-ea"/>
                <a:ea typeface="+mj-ea"/>
              </a:rPr>
              <a:t>知识型团队</a:t>
            </a:r>
            <a:r>
              <a:rPr kumimoji="1" lang="en-US" altLang="zh-CN" sz="1801" dirty="0">
                <a:latin typeface="+mj-ea"/>
                <a:ea typeface="+mj-ea"/>
              </a:rPr>
              <a:t>→</a:t>
            </a:r>
            <a:r>
              <a:rPr kumimoji="1" lang="zh-CN" altLang="en-US" sz="1801" dirty="0">
                <a:latin typeface="+mj-ea"/>
                <a:ea typeface="+mj-ea"/>
              </a:rPr>
              <a:t>全咨项目”</a:t>
            </a:r>
            <a:endParaRPr kumimoji="1" lang="en-US" altLang="zh-CN" sz="1801" dirty="0">
              <a:latin typeface="+mj-ea"/>
              <a:ea typeface="+mj-ea"/>
            </a:endParaRPr>
          </a:p>
        </p:txBody>
      </p:sp>
      <p:sp>
        <p:nvSpPr>
          <p:cNvPr id="26" name="文本框 25">
            <a:extLst>
              <a:ext uri="{FF2B5EF4-FFF2-40B4-BE49-F238E27FC236}">
                <a16:creationId xmlns:a16="http://schemas.microsoft.com/office/drawing/2014/main" id="{8D21C2E4-90CF-9D48-6339-79E2761178A8}"/>
              </a:ext>
            </a:extLst>
          </p:cNvPr>
          <p:cNvSpPr txBox="1"/>
          <p:nvPr/>
        </p:nvSpPr>
        <p:spPr>
          <a:xfrm>
            <a:off x="5881925" y="5738757"/>
            <a:ext cx="3077901" cy="923714"/>
          </a:xfrm>
          <a:prstGeom prst="rect">
            <a:avLst/>
          </a:prstGeom>
          <a:noFill/>
          <a:ln>
            <a:solidFill>
              <a:schemeClr val="tx1"/>
            </a:solidFill>
            <a:prstDash val="dash"/>
          </a:ln>
        </p:spPr>
        <p:txBody>
          <a:bodyPr wrap="square" rtlCol="0">
            <a:spAutoFit/>
          </a:bodyPr>
          <a:lstStyle/>
          <a:p>
            <a:pPr marL="187332" indent="-187332">
              <a:buFont typeface="Arial" panose="020B0604020202020204" pitchFamily="34" charset="0"/>
              <a:buChar char="•"/>
            </a:pPr>
            <a:r>
              <a:rPr kumimoji="1" lang="zh-CN" altLang="en-US" sz="1801" dirty="0">
                <a:latin typeface="+mj-ea"/>
                <a:ea typeface="+mj-ea"/>
              </a:rPr>
              <a:t>跨专业知识融合活动</a:t>
            </a:r>
            <a:endParaRPr kumimoji="1" lang="en-US" altLang="zh-CN" sz="1801" dirty="0">
              <a:latin typeface="+mj-ea"/>
              <a:ea typeface="+mj-ea"/>
            </a:endParaRPr>
          </a:p>
          <a:p>
            <a:pPr marL="187332" indent="-187332">
              <a:buFont typeface="Arial" panose="020B0604020202020204" pitchFamily="34" charset="0"/>
              <a:buChar char="•"/>
            </a:pPr>
            <a:r>
              <a:rPr kumimoji="1" lang="zh-CN" altLang="en-US" sz="1801" dirty="0">
                <a:latin typeface="+mj-ea"/>
                <a:ea typeface="+mj-ea"/>
              </a:rPr>
              <a:t>“个体</a:t>
            </a:r>
            <a:r>
              <a:rPr kumimoji="1" lang="en-US" altLang="zh-CN" sz="1801" dirty="0">
                <a:latin typeface="+mj-ea"/>
                <a:ea typeface="+mj-ea"/>
              </a:rPr>
              <a:t>-</a:t>
            </a:r>
            <a:r>
              <a:rPr kumimoji="1" lang="zh-CN" altLang="en-US" sz="1801" dirty="0">
                <a:latin typeface="+mj-ea"/>
                <a:ea typeface="+mj-ea"/>
              </a:rPr>
              <a:t>团队”跨层级驱动</a:t>
            </a:r>
            <a:endParaRPr kumimoji="1" lang="en-US" altLang="zh-CN" sz="1801" dirty="0">
              <a:latin typeface="+mj-ea"/>
              <a:ea typeface="+mj-ea"/>
            </a:endParaRPr>
          </a:p>
          <a:p>
            <a:pPr marL="187332" indent="-187332">
              <a:buFont typeface="Arial" panose="020B0604020202020204" pitchFamily="34" charset="0"/>
              <a:buChar char="•"/>
            </a:pPr>
            <a:r>
              <a:rPr kumimoji="1" lang="zh-CN" altLang="en-US" sz="1801" dirty="0">
                <a:latin typeface="+mj-ea"/>
                <a:ea typeface="+mj-ea"/>
              </a:rPr>
              <a:t>项目层面的知识融合治理</a:t>
            </a:r>
            <a:endParaRPr kumimoji="1" lang="en-US" altLang="zh-CN" sz="1801" dirty="0">
              <a:latin typeface="+mj-ea"/>
              <a:ea typeface="+mj-ea"/>
            </a:endParaRPr>
          </a:p>
        </p:txBody>
      </p:sp>
      <p:cxnSp>
        <p:nvCxnSpPr>
          <p:cNvPr id="27" name="直线箭头连接符 136">
            <a:extLst>
              <a:ext uri="{FF2B5EF4-FFF2-40B4-BE49-F238E27FC236}">
                <a16:creationId xmlns:a16="http://schemas.microsoft.com/office/drawing/2014/main" id="{72B1B358-744F-9653-FE38-02733F96DF89}"/>
              </a:ext>
            </a:extLst>
          </p:cNvPr>
          <p:cNvCxnSpPr>
            <a:cxnSpLocks/>
            <a:stCxn id="25" idx="3"/>
            <a:endCxn id="26" idx="1"/>
          </p:cNvCxnSpPr>
          <p:nvPr/>
        </p:nvCxnSpPr>
        <p:spPr>
          <a:xfrm flipV="1">
            <a:off x="4431381" y="6200614"/>
            <a:ext cx="1450544" cy="151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文本框 27">
            <a:extLst>
              <a:ext uri="{FF2B5EF4-FFF2-40B4-BE49-F238E27FC236}">
                <a16:creationId xmlns:a16="http://schemas.microsoft.com/office/drawing/2014/main" id="{E6D220FF-2CC7-68A2-6586-5667E0A5E417}"/>
              </a:ext>
            </a:extLst>
          </p:cNvPr>
          <p:cNvSpPr txBox="1"/>
          <p:nvPr/>
        </p:nvSpPr>
        <p:spPr>
          <a:xfrm>
            <a:off x="4448767" y="5633972"/>
            <a:ext cx="1415772" cy="584775"/>
          </a:xfrm>
          <a:prstGeom prst="rect">
            <a:avLst/>
          </a:prstGeom>
          <a:noFill/>
        </p:spPr>
        <p:txBody>
          <a:bodyPr wrap="square" rtlCol="0">
            <a:spAutoFit/>
          </a:bodyPr>
          <a:lstStyle/>
          <a:p>
            <a:r>
              <a:rPr kumimoji="1" lang="zh-CN" altLang="en-US" sz="1600" dirty="0">
                <a:solidFill>
                  <a:srgbClr val="0070C0"/>
                </a:solidFill>
                <a:latin typeface="+mj-ea"/>
                <a:ea typeface="+mj-ea"/>
              </a:rPr>
              <a:t>知识边界理论</a:t>
            </a:r>
            <a:endParaRPr kumimoji="1" lang="en-US" altLang="zh-CN" sz="1600" dirty="0">
              <a:solidFill>
                <a:srgbClr val="0070C0"/>
              </a:solidFill>
              <a:latin typeface="+mj-ea"/>
              <a:ea typeface="+mj-ea"/>
            </a:endParaRPr>
          </a:p>
          <a:p>
            <a:r>
              <a:rPr kumimoji="1" lang="zh-CN" altLang="en-US" sz="1600" dirty="0">
                <a:solidFill>
                  <a:srgbClr val="0070C0"/>
                </a:solidFill>
                <a:latin typeface="+mj-ea"/>
                <a:ea typeface="+mj-ea"/>
              </a:rPr>
              <a:t>多重嵌入视角</a:t>
            </a:r>
          </a:p>
        </p:txBody>
      </p:sp>
      <p:sp>
        <p:nvSpPr>
          <p:cNvPr id="29" name="矩形 28">
            <a:extLst>
              <a:ext uri="{FF2B5EF4-FFF2-40B4-BE49-F238E27FC236}">
                <a16:creationId xmlns:a16="http://schemas.microsoft.com/office/drawing/2014/main" id="{AABED899-D3BD-9FAC-9175-CB4EA3E7781E}"/>
              </a:ext>
            </a:extLst>
          </p:cNvPr>
          <p:cNvSpPr/>
          <p:nvPr/>
        </p:nvSpPr>
        <p:spPr>
          <a:xfrm>
            <a:off x="1598404" y="5232570"/>
            <a:ext cx="7405338" cy="14450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801">
              <a:latin typeface="+mj-ea"/>
              <a:ea typeface="+mj-ea"/>
            </a:endParaRPr>
          </a:p>
        </p:txBody>
      </p:sp>
      <p:cxnSp>
        <p:nvCxnSpPr>
          <p:cNvPr id="30" name="直线箭头连接符 145">
            <a:extLst>
              <a:ext uri="{FF2B5EF4-FFF2-40B4-BE49-F238E27FC236}">
                <a16:creationId xmlns:a16="http://schemas.microsoft.com/office/drawing/2014/main" id="{28FB03E6-3714-44DD-43A2-DB5DC6FCFA7F}"/>
              </a:ext>
            </a:extLst>
          </p:cNvPr>
          <p:cNvCxnSpPr>
            <a:cxnSpLocks/>
            <a:stCxn id="20" idx="2"/>
            <a:endCxn id="29" idx="0"/>
          </p:cNvCxnSpPr>
          <p:nvPr/>
        </p:nvCxnSpPr>
        <p:spPr>
          <a:xfrm>
            <a:off x="5291907" y="3873414"/>
            <a:ext cx="9166" cy="13591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文本框 30">
            <a:extLst>
              <a:ext uri="{FF2B5EF4-FFF2-40B4-BE49-F238E27FC236}">
                <a16:creationId xmlns:a16="http://schemas.microsoft.com/office/drawing/2014/main" id="{13C856AE-062B-0759-946A-5A1F90968460}"/>
              </a:ext>
            </a:extLst>
          </p:cNvPr>
          <p:cNvSpPr txBox="1"/>
          <p:nvPr/>
        </p:nvSpPr>
        <p:spPr>
          <a:xfrm>
            <a:off x="2253789" y="5292080"/>
            <a:ext cx="1579278" cy="369460"/>
          </a:xfrm>
          <a:prstGeom prst="rect">
            <a:avLst/>
          </a:prstGeom>
          <a:solidFill>
            <a:schemeClr val="bg2">
              <a:lumMod val="90000"/>
            </a:schemeClr>
          </a:solidFill>
        </p:spPr>
        <p:txBody>
          <a:bodyPr wrap="none" rtlCol="0">
            <a:spAutoFit/>
          </a:bodyPr>
          <a:lstStyle/>
          <a:p>
            <a:r>
              <a:rPr kumimoji="1" lang="zh-CN" altLang="en-US" sz="1801" b="1" dirty="0">
                <a:latin typeface="+mj-ea"/>
                <a:ea typeface="+mj-ea"/>
              </a:rPr>
              <a:t>咨询知识属性</a:t>
            </a:r>
          </a:p>
        </p:txBody>
      </p:sp>
      <p:sp>
        <p:nvSpPr>
          <p:cNvPr id="32" name="文本框 31">
            <a:extLst>
              <a:ext uri="{FF2B5EF4-FFF2-40B4-BE49-F238E27FC236}">
                <a16:creationId xmlns:a16="http://schemas.microsoft.com/office/drawing/2014/main" id="{A34C4E36-65A7-86B3-9E9F-45CEA5858077}"/>
              </a:ext>
            </a:extLst>
          </p:cNvPr>
          <p:cNvSpPr txBox="1"/>
          <p:nvPr/>
        </p:nvSpPr>
        <p:spPr>
          <a:xfrm>
            <a:off x="6212365" y="5290190"/>
            <a:ext cx="2276585" cy="369460"/>
          </a:xfrm>
          <a:prstGeom prst="rect">
            <a:avLst/>
          </a:prstGeom>
          <a:solidFill>
            <a:schemeClr val="bg2">
              <a:lumMod val="90000"/>
            </a:schemeClr>
          </a:solidFill>
        </p:spPr>
        <p:txBody>
          <a:bodyPr wrap="none" rtlCol="0">
            <a:spAutoFit/>
          </a:bodyPr>
          <a:lstStyle/>
          <a:p>
            <a:r>
              <a:rPr kumimoji="1" lang="zh-CN" altLang="en-US" sz="1801" b="1" dirty="0">
                <a:latin typeface="+mj-ea"/>
                <a:ea typeface="+mj-ea"/>
              </a:rPr>
              <a:t>咨询知识跨专业融合</a:t>
            </a:r>
          </a:p>
        </p:txBody>
      </p:sp>
      <p:sp>
        <p:nvSpPr>
          <p:cNvPr id="33" name="文本框 32">
            <a:extLst>
              <a:ext uri="{FF2B5EF4-FFF2-40B4-BE49-F238E27FC236}">
                <a16:creationId xmlns:a16="http://schemas.microsoft.com/office/drawing/2014/main" id="{D578F464-1CC3-A577-B629-CD289172DA02}"/>
              </a:ext>
            </a:extLst>
          </p:cNvPr>
          <p:cNvSpPr txBox="1"/>
          <p:nvPr/>
        </p:nvSpPr>
        <p:spPr>
          <a:xfrm>
            <a:off x="6987080" y="43567"/>
            <a:ext cx="3206327" cy="369460"/>
          </a:xfrm>
          <a:prstGeom prst="rect">
            <a:avLst/>
          </a:prstGeom>
          <a:noFill/>
        </p:spPr>
        <p:txBody>
          <a:bodyPr wrap="none" rtlCol="0">
            <a:spAutoFit/>
          </a:bodyPr>
          <a:lstStyle/>
          <a:p>
            <a:r>
              <a:rPr kumimoji="1" lang="zh-CN" altLang="en-US" sz="1801" b="1" dirty="0">
                <a:latin typeface="+mj-ea"/>
                <a:ea typeface="+mj-ea"/>
              </a:rPr>
              <a:t>（实现对实践问题的理论化）</a:t>
            </a:r>
          </a:p>
        </p:txBody>
      </p:sp>
    </p:spTree>
    <p:extLst>
      <p:ext uri="{BB962C8B-B14F-4D97-AF65-F5344CB8AC3E}">
        <p14:creationId xmlns:p14="http://schemas.microsoft.com/office/powerpoint/2010/main" val="864836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EF59B2-9CB3-4E42-8A51-4E60EBFB215A}"/>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第四步：解决方案的猜想</a:t>
            </a:r>
            <a:endParaRPr lang="zh-CN" altLang="en-US" sz="3300" dirty="0">
              <a:latin typeface="+mn-ea"/>
              <a:ea typeface="+mn-ea"/>
            </a:endParaRPr>
          </a:p>
        </p:txBody>
      </p:sp>
      <p:sp>
        <p:nvSpPr>
          <p:cNvPr id="3" name="矩形 2">
            <a:extLst>
              <a:ext uri="{FF2B5EF4-FFF2-40B4-BE49-F238E27FC236}">
                <a16:creationId xmlns:a16="http://schemas.microsoft.com/office/drawing/2014/main" id="{835B5711-7D32-4447-B4A8-AB2ADD389220}"/>
              </a:ext>
            </a:extLst>
          </p:cNvPr>
          <p:cNvSpPr/>
          <p:nvPr/>
        </p:nvSpPr>
        <p:spPr>
          <a:xfrm>
            <a:off x="432262" y="1157536"/>
            <a:ext cx="10831483" cy="3277116"/>
          </a:xfrm>
          <a:prstGeom prst="rect">
            <a:avLst/>
          </a:prstGeom>
        </p:spPr>
        <p:txBody>
          <a:bodyPr wrap="square">
            <a:spAutoFit/>
          </a:bodyPr>
          <a:lstStyle/>
          <a:p>
            <a:pPr algn="just">
              <a:lnSpc>
                <a:spcPct val="150000"/>
              </a:lnSpc>
              <a:spcAft>
                <a:spcPts val="0"/>
              </a:spcAft>
            </a:pPr>
            <a:r>
              <a:rPr lang="zh-CN" altLang="zh-CN" sz="2000" kern="100" dirty="0">
                <a:latin typeface="+mj-ea"/>
                <a:ea typeface="+mj-ea"/>
                <a:cs typeface="Times New Roman" panose="02020603050405020304" pitchFamily="18" charset="0"/>
              </a:rPr>
              <a:t>解决方案的猜想</a:t>
            </a:r>
            <a:r>
              <a:rPr lang="zh-CN" altLang="en-US"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可以解决一类问题的理论和方法。</a:t>
            </a:r>
          </a:p>
          <a:p>
            <a:pPr marL="285750" indent="-28575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已有问题的已有解决方案。</a:t>
            </a:r>
            <a:endParaRPr lang="en-US" altLang="zh-CN" sz="2000" kern="100" dirty="0">
              <a:latin typeface="+mj-ea"/>
              <a:ea typeface="+mj-ea"/>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可以沿用已有研究的解决方案。</a:t>
            </a:r>
          </a:p>
          <a:p>
            <a:pPr marL="285750" indent="-28575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已有问题的新解决方案。</a:t>
            </a:r>
            <a:endParaRPr lang="en-US" altLang="zh-CN" sz="2000" kern="100" dirty="0">
              <a:latin typeface="+mj-ea"/>
              <a:ea typeface="+mj-ea"/>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对解决问题的理论和方法进行修改、调整、组合，形成一个新理论。</a:t>
            </a:r>
          </a:p>
          <a:p>
            <a:pPr marL="285750" indent="-28575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新问题的解决方案。</a:t>
            </a:r>
            <a:endParaRPr lang="en-US" altLang="zh-CN" sz="2000" kern="100" dirty="0">
              <a:latin typeface="+mj-ea"/>
              <a:ea typeface="+mj-ea"/>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针对新问题，采用已有解决方案或设计新解决方案。</a:t>
            </a:r>
          </a:p>
        </p:txBody>
      </p:sp>
    </p:spTree>
    <p:extLst>
      <p:ext uri="{BB962C8B-B14F-4D97-AF65-F5344CB8AC3E}">
        <p14:creationId xmlns:p14="http://schemas.microsoft.com/office/powerpoint/2010/main" val="1292585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8AFBD866-606B-4406-A93C-1B3147964AD4}"/>
              </a:ext>
            </a:extLst>
          </p:cNvPr>
          <p:cNvGraphicFramePr>
            <a:graphicFrameLocks noGrp="1"/>
          </p:cNvGraphicFramePr>
          <p:nvPr>
            <p:extLst>
              <p:ext uri="{D42A27DB-BD31-4B8C-83A1-F6EECF244321}">
                <p14:modId xmlns:p14="http://schemas.microsoft.com/office/powerpoint/2010/main" val="1748706021"/>
              </p:ext>
            </p:extLst>
          </p:nvPr>
        </p:nvGraphicFramePr>
        <p:xfrm>
          <a:off x="248689" y="1154792"/>
          <a:ext cx="11811000" cy="5595143"/>
        </p:xfrm>
        <a:graphic>
          <a:graphicData uri="http://schemas.openxmlformats.org/drawingml/2006/table">
            <a:tbl>
              <a:tblPr firstRow="1" firstCol="1" bandRow="1">
                <a:tableStyleId>{5C22544A-7EE6-4342-B048-85BDC9FD1C3A}</a:tableStyleId>
              </a:tblPr>
              <a:tblGrid>
                <a:gridCol w="853482">
                  <a:extLst>
                    <a:ext uri="{9D8B030D-6E8A-4147-A177-3AD203B41FA5}">
                      <a16:colId xmlns:a16="http://schemas.microsoft.com/office/drawing/2014/main" val="2070538261"/>
                    </a:ext>
                  </a:extLst>
                </a:gridCol>
                <a:gridCol w="1963045">
                  <a:extLst>
                    <a:ext uri="{9D8B030D-6E8A-4147-A177-3AD203B41FA5}">
                      <a16:colId xmlns:a16="http://schemas.microsoft.com/office/drawing/2014/main" val="4264515500"/>
                    </a:ext>
                  </a:extLst>
                </a:gridCol>
                <a:gridCol w="2005354">
                  <a:extLst>
                    <a:ext uri="{9D8B030D-6E8A-4147-A177-3AD203B41FA5}">
                      <a16:colId xmlns:a16="http://schemas.microsoft.com/office/drawing/2014/main" val="2420159805"/>
                    </a:ext>
                  </a:extLst>
                </a:gridCol>
                <a:gridCol w="2153190">
                  <a:extLst>
                    <a:ext uri="{9D8B030D-6E8A-4147-A177-3AD203B41FA5}">
                      <a16:colId xmlns:a16="http://schemas.microsoft.com/office/drawing/2014/main" val="3896343820"/>
                    </a:ext>
                  </a:extLst>
                </a:gridCol>
                <a:gridCol w="2551352">
                  <a:extLst>
                    <a:ext uri="{9D8B030D-6E8A-4147-A177-3AD203B41FA5}">
                      <a16:colId xmlns:a16="http://schemas.microsoft.com/office/drawing/2014/main" val="1864732438"/>
                    </a:ext>
                  </a:extLst>
                </a:gridCol>
                <a:gridCol w="2284577">
                  <a:extLst>
                    <a:ext uri="{9D8B030D-6E8A-4147-A177-3AD203B41FA5}">
                      <a16:colId xmlns:a16="http://schemas.microsoft.com/office/drawing/2014/main" val="568545605"/>
                    </a:ext>
                  </a:extLst>
                </a:gridCol>
              </a:tblGrid>
              <a:tr h="390135">
                <a:tc>
                  <a:txBody>
                    <a:bodyPr/>
                    <a:lstStyle/>
                    <a:p>
                      <a:pPr algn="ctr">
                        <a:spcAft>
                          <a:spcPts val="0"/>
                        </a:spcAft>
                      </a:pPr>
                      <a:r>
                        <a:rPr lang="en-US" sz="2400" kern="100" dirty="0">
                          <a:effectLst/>
                        </a:rPr>
                        <a:t> </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400" kern="100" dirty="0">
                          <a:effectLst/>
                        </a:rPr>
                        <a:t>类别描述</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400" kern="100" dirty="0">
                          <a:effectLst/>
                        </a:rPr>
                        <a:t>情境</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400" kern="100" dirty="0">
                          <a:effectLst/>
                        </a:rPr>
                        <a:t>问题</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altLang="en-US" sz="2400" kern="100" dirty="0">
                          <a:effectLst/>
                          <a:latin typeface="等线" panose="02010600030101010101" pitchFamily="2" charset="-122"/>
                          <a:ea typeface="等线" panose="02010600030101010101" pitchFamily="2" charset="-122"/>
                          <a:cs typeface="Times New Roman" panose="02020603050405020304" pitchFamily="18" charset="0"/>
                        </a:rPr>
                        <a:t>理论与方法基础</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400" kern="100" dirty="0">
                          <a:effectLst/>
                        </a:rPr>
                        <a:t>解决方案</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9037551"/>
                  </a:ext>
                </a:extLst>
              </a:tr>
              <a:tr h="665653">
                <a:tc>
                  <a:txBody>
                    <a:bodyPr/>
                    <a:lstStyle/>
                    <a:p>
                      <a:pPr algn="ctr">
                        <a:spcAft>
                          <a:spcPts val="0"/>
                        </a:spcAft>
                      </a:pPr>
                      <a:r>
                        <a:rPr lang="zh-CN" altLang="en-US" sz="2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验</a:t>
                      </a:r>
                      <a:endParaRPr lang="en-US" altLang="zh-CN" sz="2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algn="ctr">
                        <a:spcAft>
                          <a:spcPts val="0"/>
                        </a:spcAft>
                      </a:pPr>
                      <a:r>
                        <a:rPr lang="zh-CN" altLang="en-US" sz="2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证</a:t>
                      </a:r>
                      <a:endParaRPr lang="zh-CN" sz="2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重复验证</a:t>
                      </a:r>
                      <a:r>
                        <a:rPr lang="zh-CN" altLang="en-US" sz="1600" kern="100" dirty="0">
                          <a:effectLst/>
                        </a:rPr>
                        <a:t>已有理论</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已有情境</a:t>
                      </a:r>
                      <a:r>
                        <a:rPr lang="zh-CN" altLang="en-US" sz="1600" kern="100" dirty="0">
                          <a:effectLst/>
                        </a:rPr>
                        <a:t>：</a:t>
                      </a:r>
                      <a:r>
                        <a:rPr lang="zh-CN" sz="1600" kern="100" dirty="0">
                          <a:effectLst/>
                        </a:rPr>
                        <a:t>如</a:t>
                      </a:r>
                      <a:r>
                        <a:rPr lang="en-US" altLang="zh-CN" sz="1600" kern="100" dirty="0">
                          <a:effectLst/>
                        </a:rPr>
                        <a:t>IT</a:t>
                      </a:r>
                      <a:r>
                        <a:rPr lang="zh-CN" altLang="en-US" sz="1600" kern="100" dirty="0">
                          <a:effectLst/>
                        </a:rPr>
                        <a:t>项目</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highlight>
                            <a:srgbClr val="FFFF00"/>
                          </a:highlight>
                        </a:rPr>
                        <a:t>传统</a:t>
                      </a:r>
                      <a:r>
                        <a:rPr lang="zh-CN" sz="1600" kern="100" dirty="0">
                          <a:effectLst/>
                        </a:rPr>
                        <a:t>问题</a:t>
                      </a:r>
                      <a:r>
                        <a:rPr lang="zh-CN" altLang="en-US" sz="1600" kern="100" dirty="0">
                          <a:effectLst/>
                        </a:rPr>
                        <a:t>：</a:t>
                      </a:r>
                      <a:r>
                        <a:rPr lang="zh-CN" sz="1600" kern="100" dirty="0">
                          <a:effectLst/>
                        </a:rPr>
                        <a:t>如</a:t>
                      </a:r>
                      <a:r>
                        <a:rPr lang="zh-CN" altLang="en-US" sz="1600" kern="100" dirty="0">
                          <a:effectLst/>
                        </a:rPr>
                        <a:t>项目管理成熟度评价</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已有</a:t>
                      </a:r>
                      <a:r>
                        <a:rPr lang="zh-CN" altLang="en-US" sz="1600" kern="100" dirty="0">
                          <a:effectLst/>
                        </a:rPr>
                        <a:t>理论与方法：</a:t>
                      </a:r>
                      <a:r>
                        <a:rPr lang="zh-CN" sz="1600" kern="100" dirty="0">
                          <a:effectLst/>
                        </a:rPr>
                        <a:t>如</a:t>
                      </a:r>
                      <a:r>
                        <a:rPr lang="en-US" altLang="zh-CN" sz="1600" kern="100" dirty="0">
                          <a:effectLst/>
                        </a:rPr>
                        <a:t>PMP</a:t>
                      </a:r>
                      <a:r>
                        <a:rPr lang="zh-CN" altLang="en-US" sz="1600" kern="100" dirty="0">
                          <a:effectLst/>
                        </a:rPr>
                        <a:t>成熟度</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采用</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PMP</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成熟度模型评价</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IT</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项目的项目管理成熟度</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1623937"/>
                  </a:ext>
                </a:extLst>
              </a:tr>
              <a:tr h="665653">
                <a:tc rowSpan="2">
                  <a:txBody>
                    <a:bodyPr/>
                    <a:lstStyle/>
                    <a:p>
                      <a:pPr algn="ctr">
                        <a:spcAft>
                          <a:spcPts val="0"/>
                        </a:spcAft>
                      </a:pPr>
                      <a:r>
                        <a:rPr lang="zh-CN" sz="2800" kern="100" dirty="0">
                          <a:solidFill>
                            <a:srgbClr val="FF0000"/>
                          </a:solidFill>
                          <a:effectLst/>
                        </a:rPr>
                        <a:t>扩</a:t>
                      </a:r>
                      <a:endParaRPr lang="en-US" altLang="zh-CN" sz="2800" kern="100" dirty="0">
                        <a:solidFill>
                          <a:srgbClr val="FF0000"/>
                        </a:solidFill>
                        <a:effectLst/>
                      </a:endParaRPr>
                    </a:p>
                    <a:p>
                      <a:pPr algn="ctr">
                        <a:spcAft>
                          <a:spcPts val="0"/>
                        </a:spcAft>
                      </a:pPr>
                      <a:r>
                        <a:rPr lang="zh-CN" sz="2800" kern="100" dirty="0">
                          <a:solidFill>
                            <a:srgbClr val="FF0000"/>
                          </a:solidFill>
                          <a:effectLst/>
                        </a:rPr>
                        <a:t>展</a:t>
                      </a:r>
                      <a:endParaRPr lang="zh-CN" sz="2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rowSpan="2">
                  <a:txBody>
                    <a:bodyPr/>
                    <a:lstStyle/>
                    <a:p>
                      <a:pPr algn="l">
                        <a:spcAft>
                          <a:spcPts val="0"/>
                        </a:spcAft>
                      </a:pPr>
                      <a:r>
                        <a:rPr lang="zh-CN" sz="1600" kern="100" dirty="0">
                          <a:effectLst/>
                        </a:rPr>
                        <a:t>对已有理论边界范围的扩展：基于已有设计理论，情境和问题边界的扩展</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新情境</a:t>
                      </a:r>
                      <a:r>
                        <a:rPr lang="zh-CN" altLang="en-US" sz="1600" kern="100" dirty="0">
                          <a:effectLst/>
                        </a:rPr>
                        <a:t>：</a:t>
                      </a:r>
                      <a:r>
                        <a:rPr lang="zh-CN" sz="1600" kern="100" dirty="0">
                          <a:effectLst/>
                        </a:rPr>
                        <a:t>装配式建筑</a:t>
                      </a:r>
                      <a:r>
                        <a:rPr lang="zh-CN" altLang="en-US" sz="1600" kern="100" dirty="0">
                          <a:effectLst/>
                        </a:rPr>
                        <a:t>项目</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highlight>
                            <a:srgbClr val="FFFF00"/>
                          </a:highlight>
                        </a:rPr>
                        <a:t>传统</a:t>
                      </a:r>
                      <a:r>
                        <a:rPr lang="zh-CN" sz="1600" kern="100" dirty="0">
                          <a:effectLst/>
                        </a:rPr>
                        <a:t>问题</a:t>
                      </a:r>
                      <a:r>
                        <a:rPr lang="zh-CN" altLang="en-US" sz="1600" kern="100" dirty="0">
                          <a:effectLst/>
                        </a:rPr>
                        <a:t>：风险评价</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已有</a:t>
                      </a:r>
                      <a:r>
                        <a:rPr lang="zh-CN" altLang="en-US" sz="1600" kern="100" dirty="0">
                          <a:effectLst/>
                        </a:rPr>
                        <a:t>理论与方法：</a:t>
                      </a:r>
                      <a:r>
                        <a:rPr lang="zh-CN" altLang="zh-CN" sz="1600" kern="100" dirty="0">
                          <a:effectLst/>
                        </a:rPr>
                        <a:t>如</a:t>
                      </a:r>
                      <a:r>
                        <a:rPr lang="zh-CN" altLang="en-US" sz="1600" kern="100" dirty="0">
                          <a:effectLst/>
                        </a:rPr>
                        <a:t>标准中的风险评价模型</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altLang="zh-CN" sz="1600" kern="100" dirty="0">
                          <a:effectLst/>
                        </a:rPr>
                        <a:t>装配式建筑</a:t>
                      </a:r>
                      <a:r>
                        <a:rPr lang="zh-CN" altLang="en-US" sz="1600" kern="100" dirty="0">
                          <a:effectLst/>
                        </a:rPr>
                        <a:t>项目的风险评价</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3400223"/>
                  </a:ext>
                </a:extLst>
              </a:tr>
              <a:tr h="598706">
                <a:tc vMerge="1">
                  <a:txBody>
                    <a:bodyPr/>
                    <a:lstStyle/>
                    <a:p>
                      <a:endParaRPr lang="zh-CN" altLang="en-US"/>
                    </a:p>
                  </a:txBody>
                  <a:tcPr/>
                </a:tc>
                <a:tc vMerge="1">
                  <a:txBody>
                    <a:bodyPr/>
                    <a:lstStyle/>
                    <a:p>
                      <a:endParaRPr lang="zh-CN" altLang="en-US"/>
                    </a:p>
                  </a:txBody>
                  <a:tcPr/>
                </a:tc>
                <a:tc>
                  <a:txBody>
                    <a:bodyPr/>
                    <a:lstStyle/>
                    <a:p>
                      <a:pPr algn="l">
                        <a:spcAft>
                          <a:spcPts val="0"/>
                        </a:spcAft>
                      </a:pPr>
                      <a:r>
                        <a:rPr lang="zh-CN" sz="1600" kern="100" dirty="0">
                          <a:effectLst/>
                        </a:rPr>
                        <a:t>已有情境</a:t>
                      </a:r>
                      <a:r>
                        <a:rPr lang="zh-CN" altLang="en-US" sz="1600" kern="100" dirty="0">
                          <a:effectLst/>
                        </a:rPr>
                        <a:t>：</a:t>
                      </a:r>
                      <a:r>
                        <a:rPr lang="zh-CN" sz="1600" kern="100" dirty="0">
                          <a:effectLst/>
                        </a:rPr>
                        <a:t>基础设施工程</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新问题</a:t>
                      </a:r>
                      <a:r>
                        <a:rPr lang="zh-CN" altLang="en-US" sz="1600" kern="100" dirty="0">
                          <a:effectLst/>
                        </a:rPr>
                        <a:t>：</a:t>
                      </a:r>
                      <a:r>
                        <a:rPr lang="zh-CN" sz="1600" kern="100" dirty="0">
                          <a:effectLst/>
                        </a:rPr>
                        <a:t>碳排放</a:t>
                      </a:r>
                      <a:r>
                        <a:rPr lang="zh-CN" altLang="en-US" sz="1600" kern="100" dirty="0">
                          <a:effectLst/>
                        </a:rPr>
                        <a:t>量评价</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已有</a:t>
                      </a:r>
                      <a:r>
                        <a:rPr lang="zh-CN" altLang="en-US" sz="1600" kern="100" dirty="0">
                          <a:effectLst/>
                        </a:rPr>
                        <a:t>理论与方法：</a:t>
                      </a:r>
                      <a:r>
                        <a:rPr lang="zh-CN" sz="1600" kern="100" dirty="0">
                          <a:effectLst/>
                        </a:rPr>
                        <a:t>如</a:t>
                      </a:r>
                      <a:r>
                        <a:rPr lang="en-US" altLang="zh-CN" sz="1600" kern="100" dirty="0">
                          <a:effectLst/>
                        </a:rPr>
                        <a:t>LCA</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基础设施工程采用目标设置理论来控制碳排放</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61559069"/>
                  </a:ext>
                </a:extLst>
              </a:tr>
              <a:tr h="845018">
                <a:tc rowSpan="2">
                  <a:txBody>
                    <a:bodyPr/>
                    <a:lstStyle/>
                    <a:p>
                      <a:pPr algn="ctr">
                        <a:spcAft>
                          <a:spcPts val="0"/>
                        </a:spcAft>
                      </a:pPr>
                      <a:r>
                        <a:rPr lang="zh-CN" sz="2800" kern="100" dirty="0">
                          <a:solidFill>
                            <a:srgbClr val="FF0000"/>
                          </a:solidFill>
                          <a:effectLst/>
                        </a:rPr>
                        <a:t>改</a:t>
                      </a:r>
                      <a:endParaRPr lang="en-US" altLang="zh-CN" sz="2800" kern="100" dirty="0">
                        <a:solidFill>
                          <a:srgbClr val="FF0000"/>
                        </a:solidFill>
                        <a:effectLst/>
                      </a:endParaRPr>
                    </a:p>
                    <a:p>
                      <a:pPr algn="ctr">
                        <a:spcAft>
                          <a:spcPts val="0"/>
                        </a:spcAft>
                      </a:pPr>
                      <a:r>
                        <a:rPr lang="zh-CN" sz="2800" kern="100" dirty="0">
                          <a:solidFill>
                            <a:srgbClr val="FF0000"/>
                          </a:solidFill>
                          <a:effectLst/>
                        </a:rPr>
                        <a:t>进</a:t>
                      </a:r>
                      <a:endParaRPr lang="zh-CN" sz="2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rowSpan="2">
                  <a:txBody>
                    <a:bodyPr/>
                    <a:lstStyle/>
                    <a:p>
                      <a:pPr algn="l">
                        <a:spcAft>
                          <a:spcPts val="0"/>
                        </a:spcAft>
                      </a:pPr>
                      <a:r>
                        <a:rPr lang="zh-CN" sz="1600" kern="100" dirty="0">
                          <a:effectLst/>
                        </a:rPr>
                        <a:t>实现目标的改进：基于新的设计假设，实现传统问题的目标改进</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新情境</a:t>
                      </a:r>
                      <a:r>
                        <a:rPr lang="zh-CN" altLang="en-US" sz="1600" kern="100" dirty="0">
                          <a:effectLst/>
                        </a:rPr>
                        <a:t>，</a:t>
                      </a:r>
                      <a:r>
                        <a:rPr lang="zh-CN" sz="1600" kern="100" dirty="0">
                          <a:effectLst/>
                        </a:rPr>
                        <a:t>如装配式建筑</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highlight>
                            <a:srgbClr val="FFFF00"/>
                          </a:highlight>
                        </a:rPr>
                        <a:t>传统</a:t>
                      </a:r>
                      <a:r>
                        <a:rPr lang="zh-CN" sz="1600" kern="100" dirty="0">
                          <a:effectLst/>
                        </a:rPr>
                        <a:t>问题</a:t>
                      </a:r>
                      <a:r>
                        <a:rPr lang="zh-CN" altLang="en-US" sz="1600" kern="100" dirty="0">
                          <a:effectLst/>
                        </a:rPr>
                        <a:t>，</a:t>
                      </a:r>
                      <a:r>
                        <a:rPr lang="zh-CN" sz="1600" kern="100" dirty="0">
                          <a:effectLst/>
                        </a:rPr>
                        <a:t>如质量</a:t>
                      </a:r>
                      <a:r>
                        <a:rPr lang="zh-CN" altLang="en-US" sz="1600" kern="100" dirty="0">
                          <a:effectLst/>
                        </a:rPr>
                        <a:t>评价</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highlight>
                            <a:srgbClr val="FF00FF"/>
                          </a:highlight>
                        </a:rPr>
                        <a:t>新</a:t>
                      </a:r>
                      <a:r>
                        <a:rPr lang="zh-CN" altLang="en-US" sz="1600" kern="100" dirty="0">
                          <a:effectLst/>
                        </a:rPr>
                        <a:t>理论与方法，如</a:t>
                      </a:r>
                      <a:r>
                        <a:rPr lang="zh-CN" sz="1600" kern="100" dirty="0">
                          <a:effectLst/>
                        </a:rPr>
                        <a:t>采用机器视觉提升自动监控</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装配式建筑采用机器视觉进行</a:t>
                      </a:r>
                      <a:r>
                        <a:rPr lang="zh-CN" altLang="en-US" sz="1600" kern="100" dirty="0">
                          <a:effectLst/>
                        </a:rPr>
                        <a:t>质量评价</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69004667"/>
                  </a:ext>
                </a:extLst>
              </a:tr>
              <a:tr h="606799">
                <a:tc vMerge="1">
                  <a:txBody>
                    <a:bodyPr/>
                    <a:lstStyle/>
                    <a:p>
                      <a:endParaRPr lang="zh-CN" altLang="en-US"/>
                    </a:p>
                  </a:txBody>
                  <a:tcPr/>
                </a:tc>
                <a:tc vMerge="1">
                  <a:txBody>
                    <a:bodyPr/>
                    <a:lstStyle/>
                    <a:p>
                      <a:endParaRPr lang="zh-CN" altLang="en-US"/>
                    </a:p>
                  </a:txBody>
                  <a:tcPr/>
                </a:tc>
                <a:tc>
                  <a:txBody>
                    <a:bodyPr/>
                    <a:lstStyle/>
                    <a:p>
                      <a:pPr algn="l">
                        <a:spcAft>
                          <a:spcPts val="0"/>
                        </a:spcAft>
                      </a:pPr>
                      <a:r>
                        <a:rPr lang="zh-CN" sz="1600" kern="100" dirty="0">
                          <a:effectLst/>
                        </a:rPr>
                        <a:t>已有情境</a:t>
                      </a:r>
                      <a:r>
                        <a:rPr lang="zh-CN" altLang="en-US" sz="1600" kern="100" dirty="0">
                          <a:effectLst/>
                        </a:rPr>
                        <a:t>，</a:t>
                      </a:r>
                      <a:r>
                        <a:rPr lang="zh-CN" sz="1600" kern="100" dirty="0">
                          <a:effectLst/>
                        </a:rPr>
                        <a:t>如基础设施工程</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highlight>
                            <a:srgbClr val="FFFF00"/>
                          </a:highlight>
                        </a:rPr>
                        <a:t>传统</a:t>
                      </a:r>
                      <a:r>
                        <a:rPr lang="zh-CN" sz="1600" kern="100" dirty="0">
                          <a:effectLst/>
                        </a:rPr>
                        <a:t>问题</a:t>
                      </a:r>
                      <a:r>
                        <a:rPr lang="zh-CN" altLang="en-US" sz="1600" kern="100" dirty="0">
                          <a:effectLst/>
                        </a:rPr>
                        <a:t>，</a:t>
                      </a:r>
                      <a:r>
                        <a:rPr lang="zh-CN" sz="1600" kern="100" dirty="0">
                          <a:effectLst/>
                        </a:rPr>
                        <a:t>如成本估算</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highlight>
                            <a:srgbClr val="FF00FF"/>
                          </a:highlight>
                        </a:rPr>
                        <a:t>新</a:t>
                      </a:r>
                      <a:r>
                        <a:rPr lang="zh-CN" altLang="en-US" sz="1600" kern="100" dirty="0">
                          <a:effectLst/>
                        </a:rPr>
                        <a:t>理论与方法，</a:t>
                      </a:r>
                      <a:r>
                        <a:rPr lang="zh-CN" sz="1600" kern="100" dirty="0">
                          <a:effectLst/>
                        </a:rPr>
                        <a:t>如采用基于参照集的方法提升准确性</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基础设施工程采用基于参照集的方法改进成本估算</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70430136"/>
                  </a:ext>
                </a:extLst>
              </a:tr>
              <a:tr h="665653">
                <a:tc rowSpan="2">
                  <a:txBody>
                    <a:bodyPr/>
                    <a:lstStyle/>
                    <a:p>
                      <a:pPr algn="ctr">
                        <a:spcAft>
                          <a:spcPts val="0"/>
                        </a:spcAft>
                      </a:pPr>
                      <a:r>
                        <a:rPr lang="zh-CN" sz="2800" kern="100" dirty="0">
                          <a:solidFill>
                            <a:srgbClr val="FF0000"/>
                          </a:solidFill>
                          <a:effectLst/>
                        </a:rPr>
                        <a:t>建</a:t>
                      </a:r>
                      <a:endParaRPr lang="en-US" altLang="zh-CN" sz="2800" kern="100" dirty="0">
                        <a:solidFill>
                          <a:srgbClr val="FF0000"/>
                        </a:solidFill>
                        <a:effectLst/>
                      </a:endParaRPr>
                    </a:p>
                    <a:p>
                      <a:pPr algn="ctr">
                        <a:spcAft>
                          <a:spcPts val="0"/>
                        </a:spcAft>
                      </a:pPr>
                      <a:r>
                        <a:rPr lang="zh-CN" sz="2800" kern="100" dirty="0">
                          <a:solidFill>
                            <a:srgbClr val="FF0000"/>
                          </a:solidFill>
                          <a:effectLst/>
                        </a:rPr>
                        <a:t>构</a:t>
                      </a:r>
                      <a:endParaRPr lang="zh-CN" sz="2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rowSpan="2">
                  <a:txBody>
                    <a:bodyPr/>
                    <a:lstStyle/>
                    <a:p>
                      <a:pPr algn="l">
                        <a:spcAft>
                          <a:spcPts val="0"/>
                        </a:spcAft>
                      </a:pPr>
                      <a:r>
                        <a:rPr lang="zh-CN" sz="1600" kern="100">
                          <a:effectLst/>
                        </a:rPr>
                        <a:t>探索性地构建理论：基于新的设计假设，应对新问题</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新情境</a:t>
                      </a:r>
                      <a:r>
                        <a:rPr lang="zh-CN" altLang="en-US" sz="1600" kern="100" dirty="0">
                          <a:effectLst/>
                        </a:rPr>
                        <a:t>，</a:t>
                      </a:r>
                      <a:r>
                        <a:rPr lang="zh-CN" sz="1600" kern="100" dirty="0">
                          <a:effectLst/>
                        </a:rPr>
                        <a:t>如装配式建筑</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新问题</a:t>
                      </a:r>
                      <a:r>
                        <a:rPr lang="zh-CN" altLang="en-US" sz="1600" kern="100" dirty="0">
                          <a:effectLst/>
                        </a:rPr>
                        <a:t>，</a:t>
                      </a:r>
                      <a:r>
                        <a:rPr lang="zh-CN" sz="1600" kern="100" dirty="0">
                          <a:effectLst/>
                        </a:rPr>
                        <a:t>如探索性质量</a:t>
                      </a:r>
                      <a:r>
                        <a:rPr lang="zh-CN" altLang="en-US" sz="1600" kern="100" dirty="0">
                          <a:effectLst/>
                        </a:rPr>
                        <a:t>评价</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highlight>
                            <a:srgbClr val="FF00FF"/>
                          </a:highlight>
                        </a:rPr>
                        <a:t>新</a:t>
                      </a:r>
                      <a:r>
                        <a:rPr lang="zh-CN" altLang="en-US" sz="1600" kern="100" dirty="0">
                          <a:effectLst/>
                        </a:rPr>
                        <a:t>理论与方法，如</a:t>
                      </a:r>
                      <a:r>
                        <a:rPr lang="zh-CN" sz="1600" kern="100" dirty="0">
                          <a:effectLst/>
                        </a:rPr>
                        <a:t>韧性工程</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装配式建筑采用韧性工程进行探索性质量</a:t>
                      </a:r>
                      <a:r>
                        <a:rPr lang="zh-CN" altLang="en-US" sz="1600" kern="100" dirty="0">
                          <a:effectLst/>
                        </a:rPr>
                        <a:t>评价</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88333023"/>
                  </a:ext>
                </a:extLst>
              </a:tr>
              <a:tr h="845018">
                <a:tc vMerge="1">
                  <a:txBody>
                    <a:bodyPr/>
                    <a:lstStyle/>
                    <a:p>
                      <a:endParaRPr lang="zh-CN" altLang="en-US"/>
                    </a:p>
                  </a:txBody>
                  <a:tcPr/>
                </a:tc>
                <a:tc vMerge="1">
                  <a:txBody>
                    <a:bodyPr/>
                    <a:lstStyle/>
                    <a:p>
                      <a:endParaRPr lang="zh-CN" altLang="en-US"/>
                    </a:p>
                  </a:txBody>
                  <a:tcPr/>
                </a:tc>
                <a:tc>
                  <a:txBody>
                    <a:bodyPr/>
                    <a:lstStyle/>
                    <a:p>
                      <a:pPr algn="l">
                        <a:spcAft>
                          <a:spcPts val="0"/>
                        </a:spcAft>
                      </a:pPr>
                      <a:r>
                        <a:rPr lang="zh-CN" sz="1600" kern="100" dirty="0">
                          <a:effectLst/>
                        </a:rPr>
                        <a:t>已有情境</a:t>
                      </a:r>
                      <a:r>
                        <a:rPr lang="zh-CN" altLang="en-US" sz="1600" kern="100" dirty="0">
                          <a:effectLst/>
                        </a:rPr>
                        <a:t>，</a:t>
                      </a:r>
                      <a:r>
                        <a:rPr lang="zh-CN" sz="1600" kern="100" dirty="0">
                          <a:effectLst/>
                        </a:rPr>
                        <a:t>如基础设施工程</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新问题</a:t>
                      </a:r>
                      <a:r>
                        <a:rPr lang="zh-CN" altLang="en-US" sz="1600" kern="100" dirty="0">
                          <a:effectLst/>
                        </a:rPr>
                        <a:t>，</a:t>
                      </a:r>
                      <a:r>
                        <a:rPr lang="zh-CN" sz="1600" kern="100" dirty="0">
                          <a:effectLst/>
                        </a:rPr>
                        <a:t>如环境</a:t>
                      </a:r>
                      <a:r>
                        <a:rPr lang="zh-CN" altLang="en-US" sz="1600" kern="100" dirty="0">
                          <a:effectLst/>
                        </a:rPr>
                        <a:t>评价</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highlight>
                            <a:srgbClr val="FF00FF"/>
                          </a:highlight>
                        </a:rPr>
                        <a:t>新</a:t>
                      </a:r>
                      <a:r>
                        <a:rPr lang="zh-CN" altLang="en-US" sz="1600" kern="100" dirty="0">
                          <a:effectLst/>
                        </a:rPr>
                        <a:t>理论与方法，如</a:t>
                      </a:r>
                      <a:r>
                        <a:rPr lang="zh-CN" sz="1600" kern="100" dirty="0">
                          <a:effectLst/>
                        </a:rPr>
                        <a:t>价值共创</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1600" kern="100" dirty="0">
                          <a:effectLst/>
                        </a:rPr>
                        <a:t>基础设施工程采用价值共创理论实现环境</a:t>
                      </a:r>
                      <a:r>
                        <a:rPr lang="zh-CN" altLang="en-US" sz="1600" kern="100" dirty="0">
                          <a:effectLst/>
                        </a:rPr>
                        <a:t>评价</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49776255"/>
                  </a:ext>
                </a:extLst>
              </a:tr>
            </a:tbl>
          </a:graphicData>
        </a:graphic>
      </p:graphicFrame>
      <p:sp>
        <p:nvSpPr>
          <p:cNvPr id="4" name="标题 1">
            <a:extLst>
              <a:ext uri="{FF2B5EF4-FFF2-40B4-BE49-F238E27FC236}">
                <a16:creationId xmlns:a16="http://schemas.microsoft.com/office/drawing/2014/main" id="{5B2966EC-949A-4EC0-AFCC-68D4B7E59948}"/>
              </a:ext>
            </a:extLst>
          </p:cNvPr>
          <p:cNvSpPr txBox="1">
            <a:spLocks noChangeArrowheads="1"/>
          </p:cNvSpPr>
          <p:nvPr/>
        </p:nvSpPr>
        <p:spPr>
          <a:xfrm>
            <a:off x="1762742" y="426696"/>
            <a:ext cx="8371857" cy="56390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预期的理论贡献类型</a:t>
            </a:r>
            <a:endParaRPr lang="zh-CN" altLang="en-US" sz="3600" dirty="0"/>
          </a:p>
          <a:p>
            <a:endParaRPr lang="zh-CN" altLang="en-US" sz="3300" dirty="0">
              <a:latin typeface="+mn-ea"/>
              <a:ea typeface="+mn-ea"/>
            </a:endParaRPr>
          </a:p>
        </p:txBody>
      </p:sp>
    </p:spTree>
    <p:extLst>
      <p:ext uri="{BB962C8B-B14F-4D97-AF65-F5344CB8AC3E}">
        <p14:creationId xmlns:p14="http://schemas.microsoft.com/office/powerpoint/2010/main" val="20430878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DC7C8EBC-AF30-438F-B7A7-A04FF827BE3D}"/>
              </a:ext>
            </a:extLst>
          </p:cNvPr>
          <p:cNvSpPr txBox="1">
            <a:spLocks noChangeArrowheads="1"/>
          </p:cNvSpPr>
          <p:nvPr/>
        </p:nvSpPr>
        <p:spPr>
          <a:xfrm>
            <a:off x="1762742" y="426696"/>
            <a:ext cx="8371857" cy="56390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sym typeface="Wingdings" panose="05000000000000000000" pitchFamily="2" charset="2"/>
              </a:rPr>
              <a:t>研究问题的提出</a:t>
            </a:r>
          </a:p>
          <a:p>
            <a:endParaRPr lang="zh-CN" altLang="en-US" sz="3600" dirty="0"/>
          </a:p>
          <a:p>
            <a:endParaRPr lang="zh-CN" altLang="en-US" sz="3300" dirty="0">
              <a:latin typeface="+mn-ea"/>
              <a:ea typeface="+mn-ea"/>
            </a:endParaRPr>
          </a:p>
        </p:txBody>
      </p:sp>
      <p:sp>
        <p:nvSpPr>
          <p:cNvPr id="5" name="内容占位符 2"/>
          <p:cNvSpPr txBox="1"/>
          <p:nvPr/>
        </p:nvSpPr>
        <p:spPr>
          <a:xfrm>
            <a:off x="4409833" y="1836707"/>
            <a:ext cx="1485901" cy="548845"/>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dirty="0">
                <a:latin typeface="+mn-ea"/>
              </a:rPr>
              <a:t>问题</a:t>
            </a:r>
            <a:endParaRPr lang="en-US" altLang="zh-CN" dirty="0">
              <a:latin typeface="+mn-ea"/>
            </a:endParaRPr>
          </a:p>
        </p:txBody>
      </p:sp>
      <p:sp>
        <p:nvSpPr>
          <p:cNvPr id="6" name="内容占位符 2"/>
          <p:cNvSpPr txBox="1"/>
          <p:nvPr/>
        </p:nvSpPr>
        <p:spPr>
          <a:xfrm>
            <a:off x="6851150" y="1798479"/>
            <a:ext cx="3651750" cy="548844"/>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dirty="0">
                <a:latin typeface="+mn-ea"/>
              </a:rPr>
              <a:t>解决方案的理论</a:t>
            </a:r>
            <a:r>
              <a:rPr lang="en-US" altLang="zh-CN" dirty="0">
                <a:latin typeface="+mn-ea"/>
              </a:rPr>
              <a:t>/</a:t>
            </a:r>
            <a:r>
              <a:rPr lang="zh-CN" altLang="en-US" dirty="0">
                <a:latin typeface="+mn-ea"/>
              </a:rPr>
              <a:t>方法</a:t>
            </a:r>
          </a:p>
        </p:txBody>
      </p:sp>
      <p:sp>
        <p:nvSpPr>
          <p:cNvPr id="7" name="虚尾箭头 6"/>
          <p:cNvSpPr/>
          <p:nvPr/>
        </p:nvSpPr>
        <p:spPr>
          <a:xfrm>
            <a:off x="6143213" y="1898399"/>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8" name="内容占位符 2"/>
          <p:cNvSpPr txBox="1"/>
          <p:nvPr/>
        </p:nvSpPr>
        <p:spPr>
          <a:xfrm>
            <a:off x="1862025" y="1837731"/>
            <a:ext cx="1485901" cy="548845"/>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dirty="0">
                <a:latin typeface="+mn-ea"/>
              </a:rPr>
              <a:t>情境</a:t>
            </a:r>
            <a:endParaRPr lang="en-US" altLang="zh-CN" dirty="0">
              <a:latin typeface="+mn-ea"/>
            </a:endParaRPr>
          </a:p>
        </p:txBody>
      </p:sp>
      <p:sp>
        <p:nvSpPr>
          <p:cNvPr id="9" name="虚尾箭头 8"/>
          <p:cNvSpPr/>
          <p:nvPr/>
        </p:nvSpPr>
        <p:spPr>
          <a:xfrm rot="10800000">
            <a:off x="3548410" y="1898399"/>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0" name="内容占位符 2"/>
          <p:cNvSpPr txBox="1"/>
          <p:nvPr/>
        </p:nvSpPr>
        <p:spPr>
          <a:xfrm>
            <a:off x="1522050" y="1622222"/>
            <a:ext cx="9107849" cy="1082878"/>
          </a:xfrm>
          <a:prstGeom prst="rect">
            <a:avLst/>
          </a:prstGeom>
          <a:ln w="12700">
            <a:solidFill>
              <a:srgbClr val="31859C"/>
            </a:solidFill>
            <a:prstDash val="dash"/>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endParaRPr lang="zh-CN" altLang="en-US" dirty="0">
              <a:latin typeface="+mn-ea"/>
            </a:endParaRPr>
          </a:p>
        </p:txBody>
      </p:sp>
      <p:sp>
        <p:nvSpPr>
          <p:cNvPr id="11" name="虚尾箭头 10"/>
          <p:cNvSpPr/>
          <p:nvPr/>
        </p:nvSpPr>
        <p:spPr>
          <a:xfrm rot="5400000">
            <a:off x="4936713" y="2919585"/>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2" name="内容占位符 2"/>
          <p:cNvSpPr txBox="1"/>
          <p:nvPr/>
        </p:nvSpPr>
        <p:spPr>
          <a:xfrm>
            <a:off x="4024572" y="3561580"/>
            <a:ext cx="2438226" cy="548845"/>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dirty="0">
                <a:latin typeface="+mn-ea"/>
              </a:rPr>
              <a:t>确定研究不足</a:t>
            </a:r>
            <a:endParaRPr lang="en-US" altLang="zh-CN" dirty="0">
              <a:latin typeface="+mn-ea"/>
            </a:endParaRPr>
          </a:p>
        </p:txBody>
      </p:sp>
      <p:sp>
        <p:nvSpPr>
          <p:cNvPr id="14" name="虚尾箭头 13"/>
          <p:cNvSpPr/>
          <p:nvPr/>
        </p:nvSpPr>
        <p:spPr>
          <a:xfrm rot="5400000">
            <a:off x="4936713" y="4324910"/>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5" name="内容占位符 2"/>
          <p:cNvSpPr txBox="1"/>
          <p:nvPr/>
        </p:nvSpPr>
        <p:spPr>
          <a:xfrm>
            <a:off x="4024572" y="4966905"/>
            <a:ext cx="2438226" cy="548845"/>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dirty="0">
                <a:latin typeface="+mn-ea"/>
              </a:rPr>
              <a:t>确定研究问题</a:t>
            </a:r>
            <a:endParaRPr lang="en-US" altLang="zh-CN" dirty="0">
              <a:latin typeface="+mn-ea"/>
            </a:endParaRPr>
          </a:p>
        </p:txBody>
      </p:sp>
    </p:spTree>
    <p:extLst>
      <p:ext uri="{BB962C8B-B14F-4D97-AF65-F5344CB8AC3E}">
        <p14:creationId xmlns:p14="http://schemas.microsoft.com/office/powerpoint/2010/main" val="3105142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3FD1454D-03E4-4A4E-B223-903CA4F8BC1A}"/>
              </a:ext>
            </a:extLst>
          </p:cNvPr>
          <p:cNvSpPr txBox="1"/>
          <p:nvPr/>
        </p:nvSpPr>
        <p:spPr>
          <a:xfrm>
            <a:off x="732394" y="1507928"/>
            <a:ext cx="1690121" cy="427511"/>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2000" dirty="0">
                <a:latin typeface="+mn-ea"/>
              </a:rPr>
              <a:t>1</a:t>
            </a:r>
            <a:r>
              <a:rPr lang="zh-CN" altLang="en-US" sz="2000" dirty="0">
                <a:latin typeface="+mn-ea"/>
              </a:rPr>
              <a:t>、实践问题</a:t>
            </a:r>
            <a:endParaRPr lang="en-US" altLang="zh-CN" sz="2000" dirty="0">
              <a:latin typeface="+mn-ea"/>
            </a:endParaRPr>
          </a:p>
        </p:txBody>
      </p:sp>
      <p:sp>
        <p:nvSpPr>
          <p:cNvPr id="3" name="内容占位符 2">
            <a:extLst>
              <a:ext uri="{FF2B5EF4-FFF2-40B4-BE49-F238E27FC236}">
                <a16:creationId xmlns:a16="http://schemas.microsoft.com/office/drawing/2014/main" id="{54C96444-B54B-41F8-9CAB-519C5F69B526}"/>
              </a:ext>
            </a:extLst>
          </p:cNvPr>
          <p:cNvSpPr txBox="1"/>
          <p:nvPr/>
        </p:nvSpPr>
        <p:spPr>
          <a:xfrm>
            <a:off x="3372836" y="1507928"/>
            <a:ext cx="2408105" cy="427511"/>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2000" dirty="0">
                <a:latin typeface="+mn-ea"/>
              </a:rPr>
              <a:t>4</a:t>
            </a:r>
            <a:r>
              <a:rPr lang="zh-CN" altLang="en-US" sz="2000" dirty="0">
                <a:latin typeface="+mn-ea"/>
              </a:rPr>
              <a:t>、具体解决方案</a:t>
            </a:r>
            <a:endParaRPr lang="en-US" altLang="zh-CN" sz="2000" dirty="0">
              <a:latin typeface="+mn-ea"/>
            </a:endParaRPr>
          </a:p>
        </p:txBody>
      </p:sp>
      <p:sp>
        <p:nvSpPr>
          <p:cNvPr id="4" name="虚尾箭头 13">
            <a:extLst>
              <a:ext uri="{FF2B5EF4-FFF2-40B4-BE49-F238E27FC236}">
                <a16:creationId xmlns:a16="http://schemas.microsoft.com/office/drawing/2014/main" id="{4E72218C-2B21-4F5B-920F-FC7346D47FB8}"/>
              </a:ext>
            </a:extLst>
          </p:cNvPr>
          <p:cNvSpPr/>
          <p:nvPr/>
        </p:nvSpPr>
        <p:spPr>
          <a:xfrm rot="10800000">
            <a:off x="2569729" y="1542296"/>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5" name="内容占位符 2">
            <a:extLst>
              <a:ext uri="{FF2B5EF4-FFF2-40B4-BE49-F238E27FC236}">
                <a16:creationId xmlns:a16="http://schemas.microsoft.com/office/drawing/2014/main" id="{2C9968CB-AF81-4FB0-B595-B755A443BE15}"/>
              </a:ext>
            </a:extLst>
          </p:cNvPr>
          <p:cNvSpPr txBox="1"/>
          <p:nvPr/>
        </p:nvSpPr>
        <p:spPr>
          <a:xfrm>
            <a:off x="732394" y="2617422"/>
            <a:ext cx="1690123" cy="719154"/>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altLang="zh-CN" sz="2000" dirty="0">
                <a:latin typeface="+mn-ea"/>
              </a:rPr>
              <a:t>2</a:t>
            </a:r>
            <a:r>
              <a:rPr lang="zh-CN" altLang="en-US" sz="2000" dirty="0">
                <a:latin typeface="+mn-ea"/>
              </a:rPr>
              <a:t>、某一类理论问题</a:t>
            </a:r>
            <a:endParaRPr lang="en-US" altLang="zh-CN" sz="2000" dirty="0">
              <a:latin typeface="+mn-ea"/>
            </a:endParaRPr>
          </a:p>
        </p:txBody>
      </p:sp>
      <p:sp>
        <p:nvSpPr>
          <p:cNvPr id="6" name="虚尾箭头 13">
            <a:extLst>
              <a:ext uri="{FF2B5EF4-FFF2-40B4-BE49-F238E27FC236}">
                <a16:creationId xmlns:a16="http://schemas.microsoft.com/office/drawing/2014/main" id="{F1540E00-2F9A-4FAD-A000-5B48104F6353}"/>
              </a:ext>
            </a:extLst>
          </p:cNvPr>
          <p:cNvSpPr/>
          <p:nvPr/>
        </p:nvSpPr>
        <p:spPr>
          <a:xfrm rot="5400000">
            <a:off x="1496244" y="2063024"/>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7" name="内容占位符 2">
            <a:extLst>
              <a:ext uri="{FF2B5EF4-FFF2-40B4-BE49-F238E27FC236}">
                <a16:creationId xmlns:a16="http://schemas.microsoft.com/office/drawing/2014/main" id="{A18FB383-60DB-46BC-AF00-B258A3C150C5}"/>
              </a:ext>
            </a:extLst>
          </p:cNvPr>
          <p:cNvSpPr txBox="1"/>
          <p:nvPr/>
        </p:nvSpPr>
        <p:spPr>
          <a:xfrm>
            <a:off x="3372836" y="2807051"/>
            <a:ext cx="2408104" cy="424427"/>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altLang="zh-CN" sz="2000" dirty="0">
                <a:latin typeface="+mn-ea"/>
              </a:rPr>
              <a:t>3</a:t>
            </a:r>
            <a:r>
              <a:rPr lang="zh-CN" altLang="en-US" sz="2000" dirty="0">
                <a:latin typeface="+mn-ea"/>
              </a:rPr>
              <a:t>、一般性解决方案</a:t>
            </a:r>
            <a:endParaRPr lang="en-US" altLang="zh-CN" sz="2000" dirty="0">
              <a:latin typeface="+mn-ea"/>
            </a:endParaRPr>
          </a:p>
        </p:txBody>
      </p:sp>
      <p:sp>
        <p:nvSpPr>
          <p:cNvPr id="8" name="虚尾箭头 13">
            <a:extLst>
              <a:ext uri="{FF2B5EF4-FFF2-40B4-BE49-F238E27FC236}">
                <a16:creationId xmlns:a16="http://schemas.microsoft.com/office/drawing/2014/main" id="{57A221B7-2046-4431-8C55-39C28E0B29D9}"/>
              </a:ext>
            </a:extLst>
          </p:cNvPr>
          <p:cNvSpPr/>
          <p:nvPr/>
        </p:nvSpPr>
        <p:spPr>
          <a:xfrm>
            <a:off x="2578703" y="2770060"/>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9" name="虚尾箭头 13">
            <a:extLst>
              <a:ext uri="{FF2B5EF4-FFF2-40B4-BE49-F238E27FC236}">
                <a16:creationId xmlns:a16="http://schemas.microsoft.com/office/drawing/2014/main" id="{905BD8AE-E2CA-4A81-9A74-874FD9376186}"/>
              </a:ext>
            </a:extLst>
          </p:cNvPr>
          <p:cNvSpPr/>
          <p:nvPr/>
        </p:nvSpPr>
        <p:spPr>
          <a:xfrm rot="16200000">
            <a:off x="4102641" y="2062675"/>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0" name="矩形 9">
            <a:extLst>
              <a:ext uri="{FF2B5EF4-FFF2-40B4-BE49-F238E27FC236}">
                <a16:creationId xmlns:a16="http://schemas.microsoft.com/office/drawing/2014/main" id="{38DDF42A-153B-4495-A4C7-478DD57D07C3}"/>
              </a:ext>
            </a:extLst>
          </p:cNvPr>
          <p:cNvSpPr/>
          <p:nvPr/>
        </p:nvSpPr>
        <p:spPr>
          <a:xfrm>
            <a:off x="480797" y="1924982"/>
            <a:ext cx="961451" cy="600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tx1"/>
                </a:solidFill>
                <a:highlight>
                  <a:srgbClr val="FFFF00"/>
                </a:highlight>
              </a:rPr>
              <a:t>理论化：</a:t>
            </a:r>
            <a:endParaRPr lang="en-US" altLang="zh-CN" sz="2000" b="1" dirty="0">
              <a:solidFill>
                <a:schemeClr val="tx1"/>
              </a:solidFill>
              <a:highlight>
                <a:srgbClr val="FFFF00"/>
              </a:highlight>
            </a:endParaRPr>
          </a:p>
          <a:p>
            <a:r>
              <a:rPr lang="zh-CN" altLang="en-US" sz="2000" b="1" dirty="0">
                <a:solidFill>
                  <a:schemeClr val="tx1"/>
                </a:solidFill>
                <a:highlight>
                  <a:srgbClr val="FFFF00"/>
                </a:highlight>
              </a:rPr>
              <a:t>一般性</a:t>
            </a:r>
            <a:endParaRPr lang="en-US" altLang="zh-CN" sz="2000" b="1" dirty="0">
              <a:solidFill>
                <a:schemeClr val="tx1"/>
              </a:solidFill>
              <a:highlight>
                <a:srgbClr val="FFFF00"/>
              </a:highlight>
            </a:endParaRPr>
          </a:p>
        </p:txBody>
      </p:sp>
      <p:sp>
        <p:nvSpPr>
          <p:cNvPr id="11" name="矩形 10">
            <a:extLst>
              <a:ext uri="{FF2B5EF4-FFF2-40B4-BE49-F238E27FC236}">
                <a16:creationId xmlns:a16="http://schemas.microsoft.com/office/drawing/2014/main" id="{A2FF7523-DB64-4992-850B-FD33FA850F61}"/>
              </a:ext>
            </a:extLst>
          </p:cNvPr>
          <p:cNvSpPr/>
          <p:nvPr/>
        </p:nvSpPr>
        <p:spPr>
          <a:xfrm>
            <a:off x="4724068" y="1986467"/>
            <a:ext cx="1246909" cy="6139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tx1"/>
                </a:solidFill>
                <a:highlight>
                  <a:srgbClr val="FFFF00"/>
                </a:highlight>
              </a:rPr>
              <a:t>情境化</a:t>
            </a:r>
            <a:r>
              <a:rPr lang="en-US" altLang="zh-CN" sz="2000" b="1" dirty="0">
                <a:solidFill>
                  <a:schemeClr val="tx1"/>
                </a:solidFill>
                <a:highlight>
                  <a:srgbClr val="FFFF00"/>
                </a:highlight>
              </a:rPr>
              <a:t>:</a:t>
            </a:r>
          </a:p>
          <a:p>
            <a:r>
              <a:rPr lang="zh-CN" altLang="en-US" sz="2000" b="1" dirty="0">
                <a:solidFill>
                  <a:schemeClr val="tx1"/>
                </a:solidFill>
                <a:highlight>
                  <a:srgbClr val="FFFF00"/>
                </a:highlight>
              </a:rPr>
              <a:t>具体化</a:t>
            </a:r>
            <a:endParaRPr lang="en-US" altLang="zh-CN" sz="2000" b="1" dirty="0">
              <a:solidFill>
                <a:schemeClr val="tx1"/>
              </a:solidFill>
              <a:highlight>
                <a:srgbClr val="FFFF00"/>
              </a:highlight>
            </a:endParaRPr>
          </a:p>
        </p:txBody>
      </p:sp>
      <p:sp>
        <p:nvSpPr>
          <p:cNvPr id="13" name="矩形 12">
            <a:extLst>
              <a:ext uri="{FF2B5EF4-FFF2-40B4-BE49-F238E27FC236}">
                <a16:creationId xmlns:a16="http://schemas.microsoft.com/office/drawing/2014/main" id="{755FEA29-CFC2-41FC-8086-3251AEF0707A}"/>
              </a:ext>
            </a:extLst>
          </p:cNvPr>
          <p:cNvSpPr/>
          <p:nvPr/>
        </p:nvSpPr>
        <p:spPr>
          <a:xfrm>
            <a:off x="6956635" y="1483612"/>
            <a:ext cx="4502971" cy="1323439"/>
          </a:xfrm>
          <a:prstGeom prst="rect">
            <a:avLst/>
          </a:prstGeom>
        </p:spPr>
        <p:txBody>
          <a:bodyPr wrap="square">
            <a:spAutoFit/>
          </a:bodyPr>
          <a:lstStyle/>
          <a:p>
            <a:r>
              <a:rPr lang="zh-CN" altLang="en-US" sz="2000" b="1" kern="0" dirty="0">
                <a:latin typeface="+mj-ea"/>
                <a:ea typeface="+mj-ea"/>
                <a:cs typeface="Segoe UI" panose="020B0502040204020203" pitchFamily="34" charset="0"/>
              </a:rPr>
              <a:t>三个关键要素</a:t>
            </a:r>
            <a:endParaRPr lang="en-US" altLang="zh-CN" sz="2000" b="1" kern="0" dirty="0">
              <a:latin typeface="+mj-ea"/>
              <a:ea typeface="+mj-ea"/>
              <a:cs typeface="Segoe UI" panose="020B0502040204020203" pitchFamily="34" charset="0"/>
            </a:endParaRPr>
          </a:p>
          <a:p>
            <a:pPr marL="342900" indent="-342900">
              <a:buFont typeface="Arial" panose="020B0604020202020204" pitchFamily="34" charset="0"/>
              <a:buChar char="•"/>
            </a:pPr>
            <a:r>
              <a:rPr lang="zh-CN" altLang="en-US" sz="2000" kern="0" dirty="0">
                <a:latin typeface="+mj-ea"/>
                <a:ea typeface="+mj-ea"/>
                <a:cs typeface="Segoe UI" panose="020B0502040204020203" pitchFamily="34" charset="0"/>
              </a:rPr>
              <a:t>问题</a:t>
            </a:r>
            <a:endParaRPr lang="en-US" altLang="zh-CN" sz="2000" kern="0" dirty="0">
              <a:latin typeface="+mj-ea"/>
              <a:ea typeface="+mj-ea"/>
              <a:cs typeface="Segoe UI" panose="020B0502040204020203" pitchFamily="34" charset="0"/>
            </a:endParaRPr>
          </a:p>
          <a:p>
            <a:pPr marL="342900" indent="-342900">
              <a:buFont typeface="Arial" panose="020B0604020202020204" pitchFamily="34" charset="0"/>
              <a:buChar char="•"/>
            </a:pPr>
            <a:r>
              <a:rPr lang="zh-CN" altLang="en-US" sz="2000" kern="100" dirty="0">
                <a:latin typeface="+mj-ea"/>
                <a:ea typeface="+mj-ea"/>
                <a:cs typeface="Times New Roman" panose="02020603050405020304" pitchFamily="18" charset="0"/>
              </a:rPr>
              <a:t>情境：问题的一般性与特殊性</a:t>
            </a:r>
            <a:endParaRPr lang="en-US" altLang="zh-CN" sz="2000" kern="100" dirty="0">
              <a:latin typeface="+mj-ea"/>
              <a:ea typeface="+mj-ea"/>
              <a:cs typeface="Times New Roman" panose="02020603050405020304" pitchFamily="18" charset="0"/>
            </a:endParaRPr>
          </a:p>
          <a:p>
            <a:pPr marL="342900" indent="-342900">
              <a:buFont typeface="Arial" panose="020B0604020202020204" pitchFamily="34" charset="0"/>
              <a:buChar char="•"/>
            </a:pPr>
            <a:r>
              <a:rPr lang="zh-CN" altLang="en-US" sz="2000" kern="100" dirty="0">
                <a:latin typeface="+mj-ea"/>
                <a:ea typeface="+mj-ea"/>
                <a:cs typeface="Times New Roman" panose="02020603050405020304" pitchFamily="18" charset="0"/>
              </a:rPr>
              <a:t>解决方案</a:t>
            </a:r>
            <a:endParaRPr lang="zh-CN" altLang="zh-CN" sz="2000" kern="100" dirty="0">
              <a:latin typeface="+mj-ea"/>
              <a:ea typeface="+mj-ea"/>
              <a:cs typeface="Times New Roman" panose="02020603050405020304" pitchFamily="18" charset="0"/>
            </a:endParaRPr>
          </a:p>
        </p:txBody>
      </p:sp>
      <p:sp>
        <p:nvSpPr>
          <p:cNvPr id="14" name="标题 1">
            <a:extLst>
              <a:ext uri="{FF2B5EF4-FFF2-40B4-BE49-F238E27FC236}">
                <a16:creationId xmlns:a16="http://schemas.microsoft.com/office/drawing/2014/main" id="{7C69B0B3-2255-49E6-B102-47ACC6D89B7B}"/>
              </a:ext>
            </a:extLst>
          </p:cNvPr>
          <p:cNvSpPr txBox="1">
            <a:spLocks noChangeArrowheads="1"/>
          </p:cNvSpPr>
          <p:nvPr/>
        </p:nvSpPr>
        <p:spPr>
          <a:xfrm>
            <a:off x="1762742" y="426696"/>
            <a:ext cx="8371857" cy="56390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sym typeface="Wingdings" panose="05000000000000000000" pitchFamily="2" charset="2"/>
              </a:rPr>
              <a:t>研究不足的确定</a:t>
            </a:r>
            <a:endParaRPr lang="zh-CN" altLang="en-US" sz="3300" dirty="0">
              <a:latin typeface="+mn-ea"/>
              <a:ea typeface="+mn-ea"/>
            </a:endParaRPr>
          </a:p>
        </p:txBody>
      </p:sp>
    </p:spTree>
    <p:extLst>
      <p:ext uri="{BB962C8B-B14F-4D97-AF65-F5344CB8AC3E}">
        <p14:creationId xmlns:p14="http://schemas.microsoft.com/office/powerpoint/2010/main" val="1094132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82A20E5-F786-4E1B-8FED-1E0EE03D8ABC}"/>
              </a:ext>
            </a:extLst>
          </p:cNvPr>
          <p:cNvSpPr/>
          <p:nvPr/>
        </p:nvSpPr>
        <p:spPr>
          <a:xfrm>
            <a:off x="1676400" y="457200"/>
            <a:ext cx="6781800" cy="600164"/>
          </a:xfrm>
          <a:prstGeom prst="rect">
            <a:avLst/>
          </a:prstGeom>
        </p:spPr>
        <p:txBody>
          <a:bodyPr wrap="square">
            <a:spAutoFit/>
          </a:bodyPr>
          <a:lstStyle/>
          <a:p>
            <a:pPr>
              <a:spcBef>
                <a:spcPct val="0"/>
              </a:spcBef>
            </a:pPr>
            <a:r>
              <a:rPr lang="zh-CN" altLang="en-US" sz="3300" dirty="0">
                <a:latin typeface="等线 Light" panose="02010600030101010101" pitchFamily="2" charset="-122"/>
                <a:ea typeface="等线 Light" panose="02010600030101010101" pitchFamily="2" charset="-122"/>
                <a:cs typeface="+mj-cs"/>
              </a:rPr>
              <a:t>文献综述写作：</a:t>
            </a:r>
            <a:r>
              <a:rPr lang="zh-CN" altLang="zh-CN" sz="3300" dirty="0">
                <a:latin typeface="等线 Light" panose="02010600030101010101" pitchFamily="2" charset="-122"/>
                <a:ea typeface="等线 Light" panose="02010600030101010101" pitchFamily="2" charset="-122"/>
                <a:cs typeface="+mj-cs"/>
              </a:rPr>
              <a:t>研究不足的确定</a:t>
            </a:r>
            <a:endParaRPr lang="zh-CN" altLang="en-US" sz="3300" dirty="0">
              <a:latin typeface="等线 Light" panose="02010600030101010101" pitchFamily="2" charset="-122"/>
              <a:ea typeface="等线 Light" panose="02010600030101010101" pitchFamily="2" charset="-122"/>
              <a:cs typeface="+mj-cs"/>
            </a:endParaRPr>
          </a:p>
        </p:txBody>
      </p:sp>
      <p:sp>
        <p:nvSpPr>
          <p:cNvPr id="3" name="矩形 2">
            <a:extLst>
              <a:ext uri="{FF2B5EF4-FFF2-40B4-BE49-F238E27FC236}">
                <a16:creationId xmlns:a16="http://schemas.microsoft.com/office/drawing/2014/main" id="{9D811E84-D647-460D-9048-4B3EA1A03540}"/>
              </a:ext>
            </a:extLst>
          </p:cNvPr>
          <p:cNvSpPr/>
          <p:nvPr/>
        </p:nvSpPr>
        <p:spPr>
          <a:xfrm>
            <a:off x="457200" y="1621465"/>
            <a:ext cx="1905000" cy="369332"/>
          </a:xfrm>
          <a:prstGeom prst="rect">
            <a:avLst/>
          </a:prstGeom>
        </p:spPr>
        <p:txBody>
          <a:bodyPr wrap="square">
            <a:spAutoFit/>
          </a:bodyPr>
          <a:lstStyle/>
          <a:p>
            <a:pPr algn="ctr"/>
            <a:endParaRPr lang="zh-CN" altLang="en-US" kern="100" dirty="0">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0A25F9FF-23A0-4127-97A9-208C80093F3D}"/>
              </a:ext>
            </a:extLst>
          </p:cNvPr>
          <p:cNvSpPr/>
          <p:nvPr/>
        </p:nvSpPr>
        <p:spPr>
          <a:xfrm>
            <a:off x="2667000" y="1600200"/>
            <a:ext cx="5638800" cy="369332"/>
          </a:xfrm>
          <a:prstGeom prst="rect">
            <a:avLst/>
          </a:prstGeom>
        </p:spPr>
        <p:txBody>
          <a:bodyPr wrap="square">
            <a:spAutoFit/>
          </a:bodyPr>
          <a:lstStyle/>
          <a:p>
            <a:pPr marL="285750" indent="-285750">
              <a:buFont typeface="Arial" panose="020B0604020202020204" pitchFamily="34" charset="0"/>
              <a:buChar char="•"/>
            </a:pPr>
            <a:endParaRPr lang="zh-CN" altLang="en-US" kern="100" dirty="0">
              <a:latin typeface="等线 Light" panose="02010600030101010101" pitchFamily="2" charset="-122"/>
              <a:ea typeface="等线 Light" panose="02010600030101010101" pitchFamily="2" charset="-122"/>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9D97B86C-B99E-4F2D-95B4-A328B71C5096}"/>
              </a:ext>
            </a:extLst>
          </p:cNvPr>
          <p:cNvGraphicFramePr>
            <a:graphicFrameLocks noGrp="1"/>
          </p:cNvGraphicFramePr>
          <p:nvPr/>
        </p:nvGraphicFramePr>
        <p:xfrm>
          <a:off x="228600" y="1143000"/>
          <a:ext cx="11811000" cy="52171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809515119"/>
                    </a:ext>
                  </a:extLst>
                </a:gridCol>
                <a:gridCol w="5715000">
                  <a:extLst>
                    <a:ext uri="{9D8B030D-6E8A-4147-A177-3AD203B41FA5}">
                      <a16:colId xmlns:a16="http://schemas.microsoft.com/office/drawing/2014/main" val="2581171301"/>
                    </a:ext>
                  </a:extLst>
                </a:gridCol>
                <a:gridCol w="3657600">
                  <a:extLst>
                    <a:ext uri="{9D8B030D-6E8A-4147-A177-3AD203B41FA5}">
                      <a16:colId xmlns:a16="http://schemas.microsoft.com/office/drawing/2014/main" val="291808550"/>
                    </a:ext>
                  </a:extLst>
                </a:gridCol>
              </a:tblGrid>
              <a:tr h="370840">
                <a:tc>
                  <a:txBody>
                    <a:bodyPr/>
                    <a:lstStyle/>
                    <a:p>
                      <a:pPr algn="ctr"/>
                      <a:r>
                        <a:rPr lang="zh-CN" altLang="en-US" dirty="0"/>
                        <a:t>研究主题</a:t>
                      </a:r>
                    </a:p>
                  </a:txBody>
                  <a:tcPr/>
                </a:tc>
                <a:tc>
                  <a:txBody>
                    <a:bodyPr/>
                    <a:lstStyle/>
                    <a:p>
                      <a:pPr algn="ctr"/>
                      <a:r>
                        <a:rPr lang="zh-CN" altLang="en-US" dirty="0"/>
                        <a:t>研究不足</a:t>
                      </a:r>
                    </a:p>
                  </a:txBody>
                  <a:tcPr/>
                </a:tc>
                <a:tc>
                  <a:txBody>
                    <a:bodyPr/>
                    <a:lstStyle/>
                    <a:p>
                      <a:pPr algn="ctr"/>
                      <a:r>
                        <a:rPr lang="zh-CN" altLang="en-US" dirty="0"/>
                        <a:t>研究问题</a:t>
                      </a:r>
                    </a:p>
                  </a:txBody>
                  <a:tcPr/>
                </a:tc>
                <a:extLst>
                  <a:ext uri="{0D108BD9-81ED-4DB2-BD59-A6C34878D82A}">
                    <a16:rowId xmlns:a16="http://schemas.microsoft.com/office/drawing/2014/main" val="19234164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kern="100" dirty="0">
                          <a:latin typeface="等线 Light" panose="02010600030101010101" pitchFamily="2" charset="-122"/>
                          <a:ea typeface="等线 Light" panose="02010600030101010101" pitchFamily="2" charset="-122"/>
                          <a:cs typeface="Times New Roman" panose="02020603050405020304" pitchFamily="18" charset="0"/>
                        </a:rPr>
                        <a:t>考虑风险影响的建设项目成本估算方法研究 </a:t>
                      </a:r>
                      <a:endParaRPr lang="zh-CN" altLang="en-US" sz="1400" dirty="0"/>
                    </a:p>
                  </a:txBody>
                  <a:tcPr/>
                </a:tc>
                <a:tc>
                  <a:txBody>
                    <a:bodyPr/>
                    <a:lstStyle/>
                    <a:p>
                      <a:pPr marL="285750" indent="-285750">
                        <a:lnSpc>
                          <a:spcPct val="100000"/>
                        </a:lnSpc>
                        <a:buFont typeface="Arial" panose="020B0604020202020204" pitchFamily="34" charset="0"/>
                        <a:buChar char="•"/>
                      </a:pPr>
                      <a:r>
                        <a:rPr lang="zh-CN" altLang="en-US" sz="1400" kern="100" dirty="0">
                          <a:latin typeface="等线 Light" panose="02010600030101010101" pitchFamily="2" charset="-122"/>
                          <a:ea typeface="等线 Light" panose="02010600030101010101" pitchFamily="2" charset="-122"/>
                          <a:cs typeface="Times New Roman" panose="02020603050405020304" pitchFamily="18" charset="0"/>
                        </a:rPr>
                        <a:t>目前的文献研究更多只单独关注如何预测成本或进行成本风险评估，较少将成本风险考虑到早期成本估算中</a:t>
                      </a:r>
                      <a:endParaRPr lang="en-US" altLang="zh-CN" sz="1400" kern="100" dirty="0">
                        <a:latin typeface="等线 Light" panose="02010600030101010101" pitchFamily="2" charset="-122"/>
                        <a:ea typeface="等线 Light" panose="02010600030101010101" pitchFamily="2" charset="-122"/>
                        <a:cs typeface="Times New Roman" panose="02020603050405020304" pitchFamily="18" charset="0"/>
                      </a:endParaRPr>
                    </a:p>
                    <a:p>
                      <a:pPr marL="285750" indent="-285750">
                        <a:lnSpc>
                          <a:spcPct val="100000"/>
                        </a:lnSpc>
                        <a:buFont typeface="Arial" panose="020B0604020202020204" pitchFamily="34" charset="0"/>
                        <a:buChar char="•"/>
                      </a:pPr>
                      <a:r>
                        <a:rPr lang="zh-CN" altLang="en-US" sz="1400" kern="100" dirty="0">
                          <a:latin typeface="等线 Light" panose="02010600030101010101" pitchFamily="2" charset="-122"/>
                          <a:ea typeface="等线 Light" panose="02010600030101010101" pitchFamily="2" charset="-122"/>
                          <a:cs typeface="Times New Roman" panose="02020603050405020304" pitchFamily="18" charset="0"/>
                        </a:rPr>
                        <a:t>较少有研究同时对建设项目早期信息有限和项目执行过程中的风险分析进行讨论</a:t>
                      </a:r>
                      <a:endParaRPr lang="zh-CN" altLang="en-US" sz="1400" dirty="0"/>
                    </a:p>
                  </a:txBody>
                  <a:tcPr/>
                </a:tc>
                <a:tc>
                  <a:txBody>
                    <a:bodyPr/>
                    <a:lstStyle/>
                    <a:p>
                      <a:pPr>
                        <a:lnSpc>
                          <a:spcPct val="100000"/>
                        </a:lnSpc>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如何在早期信息有限的情形下改进成本估算的准确性？</a:t>
                      </a:r>
                      <a:endParaRPr lang="en-US" altLang="zh-CN"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p>
                      <a:pPr>
                        <a:lnSpc>
                          <a:spcPct val="100000"/>
                        </a:lnSpc>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如何在早期成本估算中考虑风险的影响？</a:t>
                      </a:r>
                    </a:p>
                  </a:txBody>
                  <a:tcPr/>
                </a:tc>
                <a:extLst>
                  <a:ext uri="{0D108BD9-81ED-4DB2-BD59-A6C34878D82A}">
                    <a16:rowId xmlns:a16="http://schemas.microsoft.com/office/drawing/2014/main" val="3188105098"/>
                  </a:ext>
                </a:extLst>
              </a:tr>
              <a:tr h="1676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基于NK模型的工程总承包项目风险相关性研究</a:t>
                      </a:r>
                    </a:p>
                    <a:p>
                      <a:pPr>
                        <a:lnSpc>
                          <a:spcPct val="100000"/>
                        </a:lnSpc>
                      </a:pPr>
                      <a:endPar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现有的方法未能较好地度量以多米诺骨牌效应定义的风险相关性。</a:t>
                      </a:r>
                    </a:p>
                    <a:p>
                      <a:pPr>
                        <a:lnSpc>
                          <a:spcPct val="100000"/>
                        </a:lnSpc>
                      </a:pPr>
                      <a:endPar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txBody>
                  <a:tcPr/>
                </a:tc>
                <a:tc>
                  <a:txBody>
                    <a:bodyPr/>
                    <a:lstStyle/>
                    <a:p>
                      <a:pPr indent="0" fontAlgn="auto">
                        <a:lnSpc>
                          <a:spcPct val="100000"/>
                        </a:lnSpc>
                        <a:spcBef>
                          <a:spcPts val="0"/>
                        </a:spcBef>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sym typeface="+mn-lt"/>
                        </a:rPr>
                        <a:t>如何有效刻画以多米诺骨牌效应定义的风险相关性？</a:t>
                      </a:r>
                    </a:p>
                    <a:p>
                      <a:pPr indent="0" fontAlgn="auto">
                        <a:lnSpc>
                          <a:spcPct val="100000"/>
                        </a:lnSpc>
                        <a:spcBef>
                          <a:spcPts val="0"/>
                        </a:spcBef>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sym typeface="+mn-lt"/>
                        </a:rPr>
                        <a:t>如何根据已识别出的风险，构建风险相关性度量模型？</a:t>
                      </a:r>
                    </a:p>
                  </a:txBody>
                  <a:tcPr/>
                </a:tc>
                <a:extLst>
                  <a:ext uri="{0D108BD9-81ED-4DB2-BD59-A6C34878D82A}">
                    <a16:rowId xmlns:a16="http://schemas.microsoft.com/office/drawing/2014/main" val="27748623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基于动态风险绩效指数的项目完工状态预测</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没有考虑风险绩效指数（风险评估）动态性与关联性</a:t>
                      </a:r>
                      <a:endParaRPr lang="en-US" altLang="zh-CN"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没有考虑三个绩效指数（成本绩效指数、进度绩效指数、风险绩效指数）权重之间的动态关系</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如何在计算项目风险绩效指数时体现动态性与关联性？</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如何依据三个绩效指数重要性计算动态权重改进项目完工预测模型？</a:t>
                      </a:r>
                    </a:p>
                  </a:txBody>
                  <a:tcPr/>
                </a:tc>
                <a:extLst>
                  <a:ext uri="{0D108BD9-81ED-4DB2-BD59-A6C34878D82A}">
                    <a16:rowId xmlns:a16="http://schemas.microsoft.com/office/drawing/2014/main" val="3068441132"/>
                  </a:ext>
                </a:extLst>
              </a:tr>
              <a:tr h="44196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考虑风险应对策略的项目储备费估算</a:t>
                      </a:r>
                    </a:p>
                    <a:p>
                      <a:endParaRPr lang="zh-CN" altLang="en-US"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项目储备费估算中仅考虑风险的特点，忽略了实施风险应对策略后对风险概率及其损失程度的影响</a:t>
                      </a:r>
                      <a:endParaRPr lang="en-US" altLang="zh-CN"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如何考虑风险应对策略构建估算储备费的模型？</a:t>
                      </a:r>
                      <a:endParaRPr lang="en-US" altLang="zh-CN"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txBody>
                  <a:tcPr/>
                </a:tc>
                <a:extLst>
                  <a:ext uri="{0D108BD9-81ED-4DB2-BD59-A6C34878D82A}">
                    <a16:rowId xmlns:a16="http://schemas.microsoft.com/office/drawing/2014/main" val="10136971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带有多禁止时间窗的工程项目工期-成本优化研究</a:t>
                      </a:r>
                    </a:p>
                    <a:p>
                      <a:endParaRPr lang="zh-CN" altLang="en-US"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关于活动时间约束最普遍的是广义优先关系约束，缺乏对多禁止时间窗的研究</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在活动遇到不可执行的时间窗口时，缺少根据目标对该活动是否拆分进行决策的研究</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缺少结合项目实施前的基准调度和实施过程中的反应性调度的研究</a:t>
                      </a:r>
                      <a:endParaRPr lang="zh-CN" altLang="en-US" dirty="0"/>
                    </a:p>
                  </a:txBody>
                  <a:tcPr/>
                </a:tc>
                <a:tc>
                  <a:txBody>
                    <a:bodyPr/>
                    <a:lstStyle/>
                    <a:p>
                      <a:pPr algn="l"/>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如何在调度模型中对多禁止时间窗约束以及特殊活动拆分的决策进行刻画？</a:t>
                      </a:r>
                    </a:p>
                    <a:p>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针对带有多禁止时间窗的项目调度问题如何构建基准调度和反应性调度模型？​ </a:t>
                      </a:r>
                    </a:p>
                    <a:p>
                      <a:endParaRPr lang="zh-CN" altLang="en-US" dirty="0"/>
                    </a:p>
                  </a:txBody>
                  <a:tcPr/>
                </a:tc>
                <a:extLst>
                  <a:ext uri="{0D108BD9-81ED-4DB2-BD59-A6C34878D82A}">
                    <a16:rowId xmlns:a16="http://schemas.microsoft.com/office/drawing/2014/main" val="2241892215"/>
                  </a:ext>
                </a:extLst>
              </a:tr>
            </a:tbl>
          </a:graphicData>
        </a:graphic>
      </p:graphicFrame>
    </p:spTree>
    <p:extLst>
      <p:ext uri="{BB962C8B-B14F-4D97-AF65-F5344CB8AC3E}">
        <p14:creationId xmlns:p14="http://schemas.microsoft.com/office/powerpoint/2010/main" val="14759866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B3B2EC52-32AE-42E7-91C9-4C014FE6FB1F}"/>
              </a:ext>
            </a:extLst>
          </p:cNvPr>
          <p:cNvSpPr txBox="1">
            <a:spLocks noChangeArrowheads="1"/>
          </p:cNvSpPr>
          <p:nvPr/>
        </p:nvSpPr>
        <p:spPr>
          <a:xfrm>
            <a:off x="1762742" y="426696"/>
            <a:ext cx="8371857" cy="56390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sym typeface="Wingdings" panose="05000000000000000000" pitchFamily="2" charset="2"/>
              </a:rPr>
              <a:t>研究不足的确定：以理论贡献类型为牵引</a:t>
            </a:r>
            <a:endParaRPr lang="zh-CN" altLang="en-US" sz="3300" dirty="0">
              <a:latin typeface="+mn-ea"/>
              <a:ea typeface="+mn-ea"/>
            </a:endParaRPr>
          </a:p>
        </p:txBody>
      </p:sp>
      <p:sp>
        <p:nvSpPr>
          <p:cNvPr id="5" name="内容占位符 2">
            <a:extLst>
              <a:ext uri="{FF2B5EF4-FFF2-40B4-BE49-F238E27FC236}">
                <a16:creationId xmlns:a16="http://schemas.microsoft.com/office/drawing/2014/main" id="{36C0DC44-F02F-4D26-9E1D-CDC4B0E67EA8}"/>
              </a:ext>
            </a:extLst>
          </p:cNvPr>
          <p:cNvSpPr txBox="1"/>
          <p:nvPr/>
        </p:nvSpPr>
        <p:spPr>
          <a:xfrm>
            <a:off x="1426116" y="990600"/>
            <a:ext cx="1474037" cy="395277"/>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实践问题</a:t>
            </a:r>
            <a:endParaRPr lang="en-US" altLang="zh-CN" sz="2000" dirty="0">
              <a:latin typeface="+mn-ea"/>
            </a:endParaRPr>
          </a:p>
        </p:txBody>
      </p:sp>
      <p:sp>
        <p:nvSpPr>
          <p:cNvPr id="6" name="内容占位符 2">
            <a:extLst>
              <a:ext uri="{FF2B5EF4-FFF2-40B4-BE49-F238E27FC236}">
                <a16:creationId xmlns:a16="http://schemas.microsoft.com/office/drawing/2014/main" id="{9EB057E9-8329-464F-9250-65F764E6067A}"/>
              </a:ext>
            </a:extLst>
          </p:cNvPr>
          <p:cNvSpPr txBox="1"/>
          <p:nvPr/>
        </p:nvSpPr>
        <p:spPr>
          <a:xfrm>
            <a:off x="1426116" y="1731943"/>
            <a:ext cx="1474037" cy="395277"/>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理论问题</a:t>
            </a:r>
            <a:endParaRPr lang="en-US" altLang="zh-CN" sz="2000" dirty="0">
              <a:latin typeface="+mn-ea"/>
            </a:endParaRPr>
          </a:p>
        </p:txBody>
      </p:sp>
      <p:sp>
        <p:nvSpPr>
          <p:cNvPr id="7" name="虚尾箭头 6">
            <a:extLst>
              <a:ext uri="{FF2B5EF4-FFF2-40B4-BE49-F238E27FC236}">
                <a16:creationId xmlns:a16="http://schemas.microsoft.com/office/drawing/2014/main" id="{64B9B778-CF4F-4EA2-B8B7-BE37CAEFD2EF}"/>
              </a:ext>
            </a:extLst>
          </p:cNvPr>
          <p:cNvSpPr/>
          <p:nvPr/>
        </p:nvSpPr>
        <p:spPr>
          <a:xfrm rot="5400000">
            <a:off x="1989947" y="1405540"/>
            <a:ext cx="331439" cy="313017"/>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8" name="虚尾箭头 6">
            <a:extLst>
              <a:ext uri="{FF2B5EF4-FFF2-40B4-BE49-F238E27FC236}">
                <a16:creationId xmlns:a16="http://schemas.microsoft.com/office/drawing/2014/main" id="{EDEEC27E-B984-4821-809A-336BE787D823}"/>
              </a:ext>
            </a:extLst>
          </p:cNvPr>
          <p:cNvSpPr/>
          <p:nvPr/>
        </p:nvSpPr>
        <p:spPr>
          <a:xfrm rot="5400000">
            <a:off x="2032626" y="2101217"/>
            <a:ext cx="261010" cy="313017"/>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 name="菱形 1">
            <a:extLst>
              <a:ext uri="{FF2B5EF4-FFF2-40B4-BE49-F238E27FC236}">
                <a16:creationId xmlns:a16="http://schemas.microsoft.com/office/drawing/2014/main" id="{B0CB0B4C-41E3-40C4-ACAA-CA1CDF33C3DA}"/>
              </a:ext>
            </a:extLst>
          </p:cNvPr>
          <p:cNvSpPr/>
          <p:nvPr/>
        </p:nvSpPr>
        <p:spPr>
          <a:xfrm>
            <a:off x="1426113" y="2393940"/>
            <a:ext cx="1474037" cy="827314"/>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mn-ea"/>
              </a:rPr>
              <a:t>判断新旧</a:t>
            </a:r>
          </a:p>
        </p:txBody>
      </p:sp>
      <p:sp>
        <p:nvSpPr>
          <p:cNvPr id="9" name="虚尾箭头 6">
            <a:extLst>
              <a:ext uri="{FF2B5EF4-FFF2-40B4-BE49-F238E27FC236}">
                <a16:creationId xmlns:a16="http://schemas.microsoft.com/office/drawing/2014/main" id="{003CD47C-9815-4930-96B7-C002491E0498}"/>
              </a:ext>
            </a:extLst>
          </p:cNvPr>
          <p:cNvSpPr/>
          <p:nvPr/>
        </p:nvSpPr>
        <p:spPr>
          <a:xfrm>
            <a:off x="2900150" y="2719668"/>
            <a:ext cx="975165" cy="313017"/>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0" name="矩形 9">
            <a:extLst>
              <a:ext uri="{FF2B5EF4-FFF2-40B4-BE49-F238E27FC236}">
                <a16:creationId xmlns:a16="http://schemas.microsoft.com/office/drawing/2014/main" id="{F41E5BC9-4738-4CDA-B618-4149D83A993B}"/>
              </a:ext>
            </a:extLst>
          </p:cNvPr>
          <p:cNvSpPr/>
          <p:nvPr/>
        </p:nvSpPr>
        <p:spPr>
          <a:xfrm>
            <a:off x="931464" y="1350317"/>
            <a:ext cx="1246909" cy="3314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rPr>
              <a:t>理论化</a:t>
            </a:r>
            <a:endParaRPr lang="en-US" altLang="zh-CN" sz="2000" dirty="0">
              <a:solidFill>
                <a:schemeClr val="tx1"/>
              </a:solidFill>
            </a:endParaRPr>
          </a:p>
        </p:txBody>
      </p:sp>
      <p:sp>
        <p:nvSpPr>
          <p:cNvPr id="11" name="矩形 10">
            <a:extLst>
              <a:ext uri="{FF2B5EF4-FFF2-40B4-BE49-F238E27FC236}">
                <a16:creationId xmlns:a16="http://schemas.microsoft.com/office/drawing/2014/main" id="{47BFEC7C-F67F-429C-8607-024716DD4965}"/>
              </a:ext>
            </a:extLst>
          </p:cNvPr>
          <p:cNvSpPr/>
          <p:nvPr/>
        </p:nvSpPr>
        <p:spPr>
          <a:xfrm>
            <a:off x="2857203" y="2388230"/>
            <a:ext cx="1246909" cy="3314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rPr>
              <a:t>新问题</a:t>
            </a:r>
            <a:endParaRPr lang="en-US" altLang="zh-CN" sz="2000" dirty="0">
              <a:solidFill>
                <a:schemeClr val="tx1"/>
              </a:solidFill>
            </a:endParaRPr>
          </a:p>
        </p:txBody>
      </p:sp>
      <p:sp>
        <p:nvSpPr>
          <p:cNvPr id="12" name="内容占位符 2">
            <a:extLst>
              <a:ext uri="{FF2B5EF4-FFF2-40B4-BE49-F238E27FC236}">
                <a16:creationId xmlns:a16="http://schemas.microsoft.com/office/drawing/2014/main" id="{1EF926B9-6879-4939-BF73-72E90407192C}"/>
              </a:ext>
            </a:extLst>
          </p:cNvPr>
          <p:cNvSpPr txBox="1"/>
          <p:nvPr/>
        </p:nvSpPr>
        <p:spPr>
          <a:xfrm>
            <a:off x="3904655" y="2678537"/>
            <a:ext cx="1803088" cy="395277"/>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形成研究不足</a:t>
            </a:r>
            <a:endParaRPr lang="en-US" altLang="zh-CN" sz="2000" dirty="0">
              <a:latin typeface="+mn-ea"/>
            </a:endParaRPr>
          </a:p>
        </p:txBody>
      </p:sp>
      <p:sp>
        <p:nvSpPr>
          <p:cNvPr id="13" name="虚尾箭头 6">
            <a:extLst>
              <a:ext uri="{FF2B5EF4-FFF2-40B4-BE49-F238E27FC236}">
                <a16:creationId xmlns:a16="http://schemas.microsoft.com/office/drawing/2014/main" id="{90A38383-0937-4C37-B172-BE1C37C6213B}"/>
              </a:ext>
            </a:extLst>
          </p:cNvPr>
          <p:cNvSpPr/>
          <p:nvPr/>
        </p:nvSpPr>
        <p:spPr>
          <a:xfrm rot="5400000">
            <a:off x="2037327" y="3205792"/>
            <a:ext cx="282093" cy="313017"/>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4" name="菱形 13">
            <a:extLst>
              <a:ext uri="{FF2B5EF4-FFF2-40B4-BE49-F238E27FC236}">
                <a16:creationId xmlns:a16="http://schemas.microsoft.com/office/drawing/2014/main" id="{18FADF1B-4B92-4380-949B-D6C3946805DF}"/>
              </a:ext>
            </a:extLst>
          </p:cNvPr>
          <p:cNvSpPr/>
          <p:nvPr/>
        </p:nvSpPr>
        <p:spPr>
          <a:xfrm>
            <a:off x="1441355" y="3503347"/>
            <a:ext cx="1474037" cy="827314"/>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mn-ea"/>
              </a:rPr>
              <a:t>判断情境</a:t>
            </a:r>
          </a:p>
        </p:txBody>
      </p:sp>
      <p:sp>
        <p:nvSpPr>
          <p:cNvPr id="15" name="矩形 14">
            <a:extLst>
              <a:ext uri="{FF2B5EF4-FFF2-40B4-BE49-F238E27FC236}">
                <a16:creationId xmlns:a16="http://schemas.microsoft.com/office/drawing/2014/main" id="{B69C678A-D0BA-4BF3-976A-A3D65A3762EA}"/>
              </a:ext>
            </a:extLst>
          </p:cNvPr>
          <p:cNvSpPr/>
          <p:nvPr/>
        </p:nvSpPr>
        <p:spPr>
          <a:xfrm>
            <a:off x="817904" y="3118617"/>
            <a:ext cx="1246909" cy="3314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rPr>
              <a:t>传统问题</a:t>
            </a:r>
            <a:endParaRPr lang="en-US" altLang="zh-CN" sz="2000" dirty="0">
              <a:solidFill>
                <a:schemeClr val="tx1"/>
              </a:solidFill>
            </a:endParaRPr>
          </a:p>
        </p:txBody>
      </p:sp>
      <p:sp>
        <p:nvSpPr>
          <p:cNvPr id="16" name="虚尾箭头 6">
            <a:extLst>
              <a:ext uri="{FF2B5EF4-FFF2-40B4-BE49-F238E27FC236}">
                <a16:creationId xmlns:a16="http://schemas.microsoft.com/office/drawing/2014/main" id="{060CC1A6-0053-4300-AC22-4D89CD53C705}"/>
              </a:ext>
            </a:extLst>
          </p:cNvPr>
          <p:cNvSpPr/>
          <p:nvPr/>
        </p:nvSpPr>
        <p:spPr>
          <a:xfrm>
            <a:off x="2962402" y="3770325"/>
            <a:ext cx="975165" cy="313017"/>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7" name="矩形 16">
            <a:extLst>
              <a:ext uri="{FF2B5EF4-FFF2-40B4-BE49-F238E27FC236}">
                <a16:creationId xmlns:a16="http://schemas.microsoft.com/office/drawing/2014/main" id="{0D2EAF92-0202-4478-BA8A-DD96A9E55B40}"/>
              </a:ext>
            </a:extLst>
          </p:cNvPr>
          <p:cNvSpPr/>
          <p:nvPr/>
        </p:nvSpPr>
        <p:spPr>
          <a:xfrm>
            <a:off x="2919455" y="3438887"/>
            <a:ext cx="1246909" cy="3314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rPr>
              <a:t>新情境</a:t>
            </a:r>
            <a:endParaRPr lang="en-US" altLang="zh-CN" sz="2000" dirty="0">
              <a:solidFill>
                <a:schemeClr val="tx1"/>
              </a:solidFill>
            </a:endParaRPr>
          </a:p>
        </p:txBody>
      </p:sp>
      <p:sp>
        <p:nvSpPr>
          <p:cNvPr id="18" name="内容占位符 2">
            <a:extLst>
              <a:ext uri="{FF2B5EF4-FFF2-40B4-BE49-F238E27FC236}">
                <a16:creationId xmlns:a16="http://schemas.microsoft.com/office/drawing/2014/main" id="{C1463F69-3DA0-4AE0-AC9C-D4A090018895}"/>
              </a:ext>
            </a:extLst>
          </p:cNvPr>
          <p:cNvSpPr txBox="1"/>
          <p:nvPr/>
        </p:nvSpPr>
        <p:spPr>
          <a:xfrm>
            <a:off x="3966907" y="3729194"/>
            <a:ext cx="1803088" cy="395277"/>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形成研究不足</a:t>
            </a:r>
            <a:endParaRPr lang="en-US" altLang="zh-CN" sz="2000" dirty="0">
              <a:latin typeface="+mn-ea"/>
            </a:endParaRPr>
          </a:p>
        </p:txBody>
      </p:sp>
      <p:sp>
        <p:nvSpPr>
          <p:cNvPr id="19" name="虚尾箭头 6">
            <a:extLst>
              <a:ext uri="{FF2B5EF4-FFF2-40B4-BE49-F238E27FC236}">
                <a16:creationId xmlns:a16="http://schemas.microsoft.com/office/drawing/2014/main" id="{4CE56862-C95B-4782-84C2-E349E92A86C8}"/>
              </a:ext>
            </a:extLst>
          </p:cNvPr>
          <p:cNvSpPr/>
          <p:nvPr/>
        </p:nvSpPr>
        <p:spPr>
          <a:xfrm rot="5400000">
            <a:off x="2037041" y="4315485"/>
            <a:ext cx="282666" cy="313017"/>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0" name="菱形 19">
            <a:extLst>
              <a:ext uri="{FF2B5EF4-FFF2-40B4-BE49-F238E27FC236}">
                <a16:creationId xmlns:a16="http://schemas.microsoft.com/office/drawing/2014/main" id="{0FC653A0-4944-40B9-A254-548E880690A2}"/>
              </a:ext>
            </a:extLst>
          </p:cNvPr>
          <p:cNvSpPr/>
          <p:nvPr/>
        </p:nvSpPr>
        <p:spPr>
          <a:xfrm>
            <a:off x="1441355" y="4613327"/>
            <a:ext cx="1474037" cy="827314"/>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mn-ea"/>
              </a:rPr>
              <a:t>判断设计假设</a:t>
            </a:r>
          </a:p>
        </p:txBody>
      </p:sp>
      <p:sp>
        <p:nvSpPr>
          <p:cNvPr id="21" name="矩形 20">
            <a:extLst>
              <a:ext uri="{FF2B5EF4-FFF2-40B4-BE49-F238E27FC236}">
                <a16:creationId xmlns:a16="http://schemas.microsoft.com/office/drawing/2014/main" id="{50E8DEEC-F91E-4CEF-9455-4CEA88DB5086}"/>
              </a:ext>
            </a:extLst>
          </p:cNvPr>
          <p:cNvSpPr/>
          <p:nvPr/>
        </p:nvSpPr>
        <p:spPr>
          <a:xfrm>
            <a:off x="817904" y="4228597"/>
            <a:ext cx="1246909" cy="3314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rPr>
              <a:t>传统情境</a:t>
            </a:r>
            <a:endParaRPr lang="en-US" altLang="zh-CN" sz="2000" dirty="0">
              <a:solidFill>
                <a:schemeClr val="tx1"/>
              </a:solidFill>
            </a:endParaRPr>
          </a:p>
        </p:txBody>
      </p:sp>
      <p:sp>
        <p:nvSpPr>
          <p:cNvPr id="22" name="虚尾箭头 6">
            <a:extLst>
              <a:ext uri="{FF2B5EF4-FFF2-40B4-BE49-F238E27FC236}">
                <a16:creationId xmlns:a16="http://schemas.microsoft.com/office/drawing/2014/main" id="{0D3CBFE9-B89F-43EF-AABD-CF2D35B9D747}"/>
              </a:ext>
            </a:extLst>
          </p:cNvPr>
          <p:cNvSpPr/>
          <p:nvPr/>
        </p:nvSpPr>
        <p:spPr>
          <a:xfrm>
            <a:off x="2946753" y="4853346"/>
            <a:ext cx="975165" cy="313017"/>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3" name="矩形 22">
            <a:extLst>
              <a:ext uri="{FF2B5EF4-FFF2-40B4-BE49-F238E27FC236}">
                <a16:creationId xmlns:a16="http://schemas.microsoft.com/office/drawing/2014/main" id="{6D1CEEEB-4CBC-4082-A761-1A1661EACA6B}"/>
              </a:ext>
            </a:extLst>
          </p:cNvPr>
          <p:cNvSpPr/>
          <p:nvPr/>
        </p:nvSpPr>
        <p:spPr>
          <a:xfrm>
            <a:off x="2676680" y="4521908"/>
            <a:ext cx="1474036" cy="313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rPr>
              <a:t>新设计假设</a:t>
            </a:r>
            <a:endParaRPr lang="en-US" altLang="zh-CN" sz="2000" dirty="0">
              <a:solidFill>
                <a:schemeClr val="tx1"/>
              </a:solidFill>
            </a:endParaRPr>
          </a:p>
        </p:txBody>
      </p:sp>
      <p:sp>
        <p:nvSpPr>
          <p:cNvPr id="24" name="内容占位符 2">
            <a:extLst>
              <a:ext uri="{FF2B5EF4-FFF2-40B4-BE49-F238E27FC236}">
                <a16:creationId xmlns:a16="http://schemas.microsoft.com/office/drawing/2014/main" id="{8D95194D-36DA-4940-ADB5-EA99CD70CDBD}"/>
              </a:ext>
            </a:extLst>
          </p:cNvPr>
          <p:cNvSpPr txBox="1"/>
          <p:nvPr/>
        </p:nvSpPr>
        <p:spPr>
          <a:xfrm>
            <a:off x="3951258" y="4812215"/>
            <a:ext cx="1803088" cy="395277"/>
          </a:xfrm>
          <a:prstGeom prst="rect">
            <a:avLst/>
          </a:prstGeom>
          <a:ln w="12700">
            <a:solidFill>
              <a:srgbClr val="31859C"/>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zh-CN" altLang="en-US" sz="2000" dirty="0">
                <a:latin typeface="+mn-ea"/>
              </a:rPr>
              <a:t>形成研究不足</a:t>
            </a:r>
            <a:endParaRPr lang="en-US" altLang="zh-CN" sz="2000" dirty="0">
              <a:latin typeface="+mn-ea"/>
            </a:endParaRPr>
          </a:p>
        </p:txBody>
      </p:sp>
      <p:sp>
        <p:nvSpPr>
          <p:cNvPr id="25" name="虚尾箭头 6">
            <a:extLst>
              <a:ext uri="{FF2B5EF4-FFF2-40B4-BE49-F238E27FC236}">
                <a16:creationId xmlns:a16="http://schemas.microsoft.com/office/drawing/2014/main" id="{DDE93965-1357-4F14-B3F2-B9E0F669DBEF}"/>
              </a:ext>
            </a:extLst>
          </p:cNvPr>
          <p:cNvSpPr/>
          <p:nvPr/>
        </p:nvSpPr>
        <p:spPr>
          <a:xfrm rot="5400000">
            <a:off x="1978400" y="5484847"/>
            <a:ext cx="384730" cy="313017"/>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6" name="菱形 25">
            <a:extLst>
              <a:ext uri="{FF2B5EF4-FFF2-40B4-BE49-F238E27FC236}">
                <a16:creationId xmlns:a16="http://schemas.microsoft.com/office/drawing/2014/main" id="{44220C6D-CE7B-4F53-B6EB-74524DDF2B0E}"/>
              </a:ext>
            </a:extLst>
          </p:cNvPr>
          <p:cNvSpPr/>
          <p:nvPr/>
        </p:nvSpPr>
        <p:spPr>
          <a:xfrm>
            <a:off x="1433746" y="5833721"/>
            <a:ext cx="1474037" cy="827314"/>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mn-ea"/>
              </a:rPr>
              <a:t>重复验证</a:t>
            </a:r>
          </a:p>
        </p:txBody>
      </p:sp>
      <p:sp>
        <p:nvSpPr>
          <p:cNvPr id="27" name="矩形 26">
            <a:extLst>
              <a:ext uri="{FF2B5EF4-FFF2-40B4-BE49-F238E27FC236}">
                <a16:creationId xmlns:a16="http://schemas.microsoft.com/office/drawing/2014/main" id="{C9A55DF5-FE1A-4DFB-A2FA-E20E4341B5FA}"/>
              </a:ext>
            </a:extLst>
          </p:cNvPr>
          <p:cNvSpPr/>
          <p:nvPr/>
        </p:nvSpPr>
        <p:spPr>
          <a:xfrm>
            <a:off x="229689" y="5448991"/>
            <a:ext cx="1827515" cy="3632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rPr>
              <a:t>传统设计假设</a:t>
            </a:r>
            <a:endParaRPr lang="en-US" altLang="zh-CN" sz="2000" dirty="0">
              <a:solidFill>
                <a:schemeClr val="tx1"/>
              </a:solidFill>
            </a:endParaRPr>
          </a:p>
        </p:txBody>
      </p:sp>
      <p:sp>
        <p:nvSpPr>
          <p:cNvPr id="28" name="矩形 27">
            <a:extLst>
              <a:ext uri="{FF2B5EF4-FFF2-40B4-BE49-F238E27FC236}">
                <a16:creationId xmlns:a16="http://schemas.microsoft.com/office/drawing/2014/main" id="{A553A0F4-1A57-49D6-8EB5-4A3BFC869670}"/>
              </a:ext>
            </a:extLst>
          </p:cNvPr>
          <p:cNvSpPr/>
          <p:nvPr/>
        </p:nvSpPr>
        <p:spPr>
          <a:xfrm>
            <a:off x="6096000" y="2607308"/>
            <a:ext cx="1991890" cy="5639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zh-CN" altLang="en-US" sz="2000" b="1" dirty="0">
                <a:solidFill>
                  <a:schemeClr val="tx1"/>
                </a:solidFill>
                <a:highlight>
                  <a:srgbClr val="FFFF00"/>
                </a:highlight>
              </a:rPr>
              <a:t>扩展类型</a:t>
            </a:r>
            <a:endParaRPr lang="en-US" altLang="zh-CN" sz="2000" b="1" dirty="0">
              <a:solidFill>
                <a:schemeClr val="tx1"/>
              </a:solidFill>
              <a:highlight>
                <a:srgbClr val="FFFF00"/>
              </a:highlight>
            </a:endParaRPr>
          </a:p>
          <a:p>
            <a:pPr marL="342900" indent="-342900">
              <a:buFont typeface="Arial" panose="020B0604020202020204" pitchFamily="34" charset="0"/>
              <a:buChar char="•"/>
            </a:pPr>
            <a:r>
              <a:rPr lang="zh-CN" altLang="en-US" sz="2000" b="1" dirty="0">
                <a:solidFill>
                  <a:schemeClr val="tx1"/>
                </a:solidFill>
                <a:highlight>
                  <a:srgbClr val="FFFF00"/>
                </a:highlight>
              </a:rPr>
              <a:t>建构类型</a:t>
            </a:r>
            <a:endParaRPr lang="en-US" altLang="zh-CN" sz="2000" b="1" dirty="0">
              <a:solidFill>
                <a:schemeClr val="tx1"/>
              </a:solidFill>
              <a:highlight>
                <a:srgbClr val="FFFF00"/>
              </a:highlight>
            </a:endParaRPr>
          </a:p>
        </p:txBody>
      </p:sp>
      <p:sp>
        <p:nvSpPr>
          <p:cNvPr id="29" name="矩形 28">
            <a:extLst>
              <a:ext uri="{FF2B5EF4-FFF2-40B4-BE49-F238E27FC236}">
                <a16:creationId xmlns:a16="http://schemas.microsoft.com/office/drawing/2014/main" id="{E418C404-62E8-4AAC-8B86-01AF78759D2F}"/>
              </a:ext>
            </a:extLst>
          </p:cNvPr>
          <p:cNvSpPr/>
          <p:nvPr/>
        </p:nvSpPr>
        <p:spPr>
          <a:xfrm>
            <a:off x="6118567" y="3602274"/>
            <a:ext cx="1991890" cy="479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zh-CN" altLang="en-US" sz="2000" b="1" dirty="0">
                <a:solidFill>
                  <a:schemeClr val="tx1"/>
                </a:solidFill>
                <a:highlight>
                  <a:srgbClr val="FFFF00"/>
                </a:highlight>
              </a:rPr>
              <a:t>扩展类型</a:t>
            </a:r>
            <a:endParaRPr lang="en-US" altLang="zh-CN" sz="2000" b="1" dirty="0">
              <a:solidFill>
                <a:schemeClr val="tx1"/>
              </a:solidFill>
              <a:highlight>
                <a:srgbClr val="FFFF00"/>
              </a:highlight>
            </a:endParaRPr>
          </a:p>
        </p:txBody>
      </p:sp>
      <p:sp>
        <p:nvSpPr>
          <p:cNvPr id="30" name="矩形 29">
            <a:extLst>
              <a:ext uri="{FF2B5EF4-FFF2-40B4-BE49-F238E27FC236}">
                <a16:creationId xmlns:a16="http://schemas.microsoft.com/office/drawing/2014/main" id="{8AE58458-31A2-4EF3-BA20-00B585E409AE}"/>
              </a:ext>
            </a:extLst>
          </p:cNvPr>
          <p:cNvSpPr/>
          <p:nvPr/>
        </p:nvSpPr>
        <p:spPr>
          <a:xfrm>
            <a:off x="6096000" y="4767976"/>
            <a:ext cx="1844560" cy="4795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zh-CN" altLang="en-US" sz="2000" b="1" dirty="0">
                <a:solidFill>
                  <a:schemeClr val="tx1"/>
                </a:solidFill>
                <a:highlight>
                  <a:srgbClr val="FFFF00"/>
                </a:highlight>
              </a:rPr>
              <a:t>改进类型</a:t>
            </a:r>
            <a:endParaRPr lang="en-US" altLang="zh-CN" sz="2000" b="1" dirty="0">
              <a:solidFill>
                <a:schemeClr val="tx1"/>
              </a:solidFill>
              <a:highlight>
                <a:srgbClr val="FFFF00"/>
              </a:highlight>
            </a:endParaRPr>
          </a:p>
        </p:txBody>
      </p:sp>
      <p:sp>
        <p:nvSpPr>
          <p:cNvPr id="31" name="矩形 30">
            <a:extLst>
              <a:ext uri="{FF2B5EF4-FFF2-40B4-BE49-F238E27FC236}">
                <a16:creationId xmlns:a16="http://schemas.microsoft.com/office/drawing/2014/main" id="{68D8CA59-E1A3-45E7-9A97-FB55AD184A03}"/>
              </a:ext>
            </a:extLst>
          </p:cNvPr>
          <p:cNvSpPr/>
          <p:nvPr/>
        </p:nvSpPr>
        <p:spPr>
          <a:xfrm>
            <a:off x="6096000" y="5835520"/>
            <a:ext cx="2133600" cy="479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zh-CN" altLang="en-US" sz="2000" b="1" dirty="0">
                <a:solidFill>
                  <a:schemeClr val="tx1"/>
                </a:solidFill>
                <a:highlight>
                  <a:srgbClr val="FFFF00"/>
                </a:highlight>
              </a:rPr>
              <a:t>验证类型</a:t>
            </a:r>
            <a:endParaRPr lang="en-US" altLang="zh-CN" sz="2000" b="1" dirty="0">
              <a:solidFill>
                <a:schemeClr val="tx1"/>
              </a:solidFill>
              <a:highlight>
                <a:srgbClr val="FFFF00"/>
              </a:highlight>
            </a:endParaRPr>
          </a:p>
        </p:txBody>
      </p:sp>
    </p:spTree>
    <p:extLst>
      <p:ext uri="{BB962C8B-B14F-4D97-AF65-F5344CB8AC3E}">
        <p14:creationId xmlns:p14="http://schemas.microsoft.com/office/powerpoint/2010/main" val="148608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500"/>
                                        <p:tgtEl>
                                          <p:spTgt spid="2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500"/>
                                        <p:tgtEl>
                                          <p:spTgt spid="2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500"/>
                                        <p:tgtEl>
                                          <p:spTgt spid="2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00"/>
                                        <p:tgtEl>
                                          <p:spTgt spid="23"/>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fade">
                                      <p:cBhvr>
                                        <p:cTn id="96" dur="500"/>
                                        <p:tgtEl>
                                          <p:spTgt spid="2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500"/>
                                        <p:tgtEl>
                                          <p:spTgt spid="2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00"/>
                                        <p:tgtEl>
                                          <p:spTgt spid="27"/>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1"/>
                                        </p:tgtEl>
                                        <p:attrNameLst>
                                          <p:attrName>style.visibility</p:attrName>
                                        </p:attrNameLst>
                                      </p:cBhvr>
                                      <p:to>
                                        <p:strVal val="visible"/>
                                      </p:to>
                                    </p:set>
                                    <p:animEffect transition="in" filter="fade">
                                      <p:cBhvr>
                                        <p:cTn id="10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2" grpId="0" animBg="1"/>
      <p:bldP spid="9" grpId="0" animBg="1"/>
      <p:bldP spid="10" grpId="0"/>
      <p:bldP spid="11" grpId="0"/>
      <p:bldP spid="12" grpId="0" animBg="1"/>
      <p:bldP spid="13" grpId="0" animBg="1"/>
      <p:bldP spid="14" grpId="0" animBg="1"/>
      <p:bldP spid="15" grpId="0"/>
      <p:bldP spid="16" grpId="0" animBg="1"/>
      <p:bldP spid="17" grpId="0"/>
      <p:bldP spid="18" grpId="0" animBg="1"/>
      <p:bldP spid="19" grpId="0" animBg="1"/>
      <p:bldP spid="20" grpId="0" animBg="1"/>
      <p:bldP spid="21" grpId="0"/>
      <p:bldP spid="22" grpId="0" animBg="1"/>
      <p:bldP spid="23" grpId="0"/>
      <p:bldP spid="24" grpId="0" animBg="1"/>
      <p:bldP spid="25" grpId="0" animBg="1"/>
      <p:bldP spid="26" grpId="0" animBg="1"/>
      <p:bldP spid="27" grpId="0"/>
      <p:bldP spid="28" grpId="0"/>
      <p:bldP spid="29" grpId="0"/>
      <p:bldP spid="30" grpId="0"/>
      <p:bldP spid="3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7E50E01-7CBD-4E51-BFE1-6743E58492D4}"/>
              </a:ext>
            </a:extLst>
          </p:cNvPr>
          <p:cNvSpPr/>
          <p:nvPr/>
        </p:nvSpPr>
        <p:spPr>
          <a:xfrm>
            <a:off x="295299" y="979778"/>
            <a:ext cx="11613672" cy="4620624"/>
          </a:xfrm>
          <a:prstGeom prst="rect">
            <a:avLst/>
          </a:prstGeom>
        </p:spPr>
        <p:txBody>
          <a:bodyPr wrap="square">
            <a:spAutoFit/>
          </a:bodyPr>
          <a:lstStyle/>
          <a:p>
            <a:pPr marL="457200" indent="-457200" algn="just">
              <a:lnSpc>
                <a:spcPct val="150000"/>
              </a:lnSpc>
              <a:spcAft>
                <a:spcPts val="0"/>
              </a:spcAft>
              <a:buFont typeface="+mj-lt"/>
              <a:buAutoNum type="arabicPeriod"/>
            </a:pPr>
            <a:r>
              <a:rPr lang="zh-CN" altLang="zh-CN" kern="100" dirty="0">
                <a:highlight>
                  <a:srgbClr val="FFFF00"/>
                </a:highlight>
                <a:latin typeface="+mj-ea"/>
                <a:ea typeface="+mj-ea"/>
                <a:cs typeface="Times New Roman" panose="02020603050405020304" pitchFamily="18" charset="0"/>
              </a:rPr>
              <a:t>明确实践问题</a:t>
            </a:r>
            <a:r>
              <a:rPr lang="zh-CN" altLang="zh-CN" kern="100" dirty="0">
                <a:latin typeface="+mj-ea"/>
                <a:ea typeface="+mj-ea"/>
                <a:cs typeface="Times New Roman" panose="02020603050405020304" pitchFamily="18" charset="0"/>
              </a:rPr>
              <a:t>。可从分析症状和需求入手。</a:t>
            </a:r>
          </a:p>
          <a:p>
            <a:pPr marL="457200" indent="-457200" algn="just">
              <a:lnSpc>
                <a:spcPct val="150000"/>
              </a:lnSpc>
              <a:spcAft>
                <a:spcPts val="0"/>
              </a:spcAft>
              <a:buFont typeface="+mj-lt"/>
              <a:buAutoNum type="arabicPeriod"/>
            </a:pPr>
            <a:r>
              <a:rPr lang="zh-CN" altLang="zh-CN" kern="100" dirty="0">
                <a:highlight>
                  <a:srgbClr val="FFFF00"/>
                </a:highlight>
                <a:latin typeface="+mj-ea"/>
                <a:ea typeface="+mj-ea"/>
                <a:cs typeface="Times New Roman" panose="02020603050405020304" pitchFamily="18" charset="0"/>
              </a:rPr>
              <a:t>从症状分析出问题原因</a:t>
            </a:r>
            <a:r>
              <a:rPr lang="zh-CN" altLang="zh-CN" kern="100" dirty="0">
                <a:latin typeface="+mj-ea"/>
                <a:ea typeface="+mj-ea"/>
                <a:cs typeface="Times New Roman" panose="02020603050405020304" pitchFamily="18" charset="0"/>
              </a:rPr>
              <a:t>。从多个原因中做出选择，确定某一个或几个关键原因，作为研究对象。</a:t>
            </a:r>
          </a:p>
          <a:p>
            <a:pPr marL="457200" indent="-457200" algn="just">
              <a:lnSpc>
                <a:spcPct val="150000"/>
              </a:lnSpc>
              <a:spcAft>
                <a:spcPts val="0"/>
              </a:spcAft>
              <a:buFont typeface="+mj-lt"/>
              <a:buAutoNum type="arabicPeriod"/>
            </a:pPr>
            <a:r>
              <a:rPr lang="zh-CN" altLang="zh-CN" kern="100" dirty="0">
                <a:latin typeface="+mj-ea"/>
                <a:ea typeface="+mj-ea"/>
                <a:cs typeface="Times New Roman" panose="02020603050405020304" pitchFamily="18" charset="0"/>
              </a:rPr>
              <a:t>从包含原因的实践问题，</a:t>
            </a:r>
            <a:r>
              <a:rPr lang="zh-CN" altLang="zh-CN" kern="100" dirty="0">
                <a:highlight>
                  <a:srgbClr val="FFFF00"/>
                </a:highlight>
                <a:latin typeface="+mj-ea"/>
                <a:ea typeface="+mj-ea"/>
                <a:cs typeface="Times New Roman" panose="02020603050405020304" pitchFamily="18" charset="0"/>
              </a:rPr>
              <a:t>抽象成一类</a:t>
            </a:r>
            <a:r>
              <a:rPr lang="zh-CN" altLang="en-US" kern="100" dirty="0">
                <a:highlight>
                  <a:srgbClr val="FFFF00"/>
                </a:highlight>
                <a:latin typeface="+mj-ea"/>
                <a:ea typeface="+mj-ea"/>
                <a:cs typeface="Times New Roman" panose="02020603050405020304" pitchFamily="18" charset="0"/>
              </a:rPr>
              <a:t>理论</a:t>
            </a:r>
            <a:r>
              <a:rPr lang="zh-CN" altLang="zh-CN" kern="100" dirty="0">
                <a:highlight>
                  <a:srgbClr val="FFFF00"/>
                </a:highlight>
                <a:latin typeface="+mj-ea"/>
                <a:ea typeface="+mj-ea"/>
                <a:cs typeface="Times New Roman" panose="02020603050405020304" pitchFamily="18" charset="0"/>
              </a:rPr>
              <a:t>问题</a:t>
            </a:r>
            <a:r>
              <a:rPr lang="zh-CN" altLang="zh-CN" kern="100" dirty="0">
                <a:latin typeface="+mj-ea"/>
                <a:ea typeface="+mj-ea"/>
                <a:cs typeface="Times New Roman" panose="02020603050405020304" pitchFamily="18" charset="0"/>
              </a:rPr>
              <a:t>。即从理论视角解读实践问题，形成问题的原因。</a:t>
            </a:r>
          </a:p>
          <a:p>
            <a:pPr marL="457200" indent="-457200" algn="just">
              <a:lnSpc>
                <a:spcPct val="150000"/>
              </a:lnSpc>
              <a:spcAft>
                <a:spcPts val="0"/>
              </a:spcAft>
              <a:buFont typeface="+mj-lt"/>
              <a:buAutoNum type="arabicPeriod"/>
            </a:pPr>
            <a:r>
              <a:rPr lang="zh-CN" altLang="zh-CN" kern="100" dirty="0">
                <a:latin typeface="+mj-ea"/>
                <a:ea typeface="+mj-ea"/>
                <a:cs typeface="Times New Roman" panose="02020603050405020304" pitchFamily="18" charset="0"/>
              </a:rPr>
              <a:t>对这一类研究问题进行综述，进而确定已有</a:t>
            </a:r>
            <a:r>
              <a:rPr lang="zh-CN" altLang="zh-CN" kern="100" dirty="0">
                <a:highlight>
                  <a:srgbClr val="FFFF00"/>
                </a:highlight>
                <a:latin typeface="+mj-ea"/>
                <a:ea typeface="+mj-ea"/>
                <a:cs typeface="Times New Roman" panose="02020603050405020304" pitchFamily="18" charset="0"/>
              </a:rPr>
              <a:t>研究不足</a:t>
            </a:r>
            <a:r>
              <a:rPr lang="zh-CN" altLang="zh-CN" kern="100" dirty="0">
                <a:latin typeface="+mj-ea"/>
                <a:ea typeface="+mj-ea"/>
                <a:cs typeface="Times New Roman" panose="02020603050405020304" pitchFamily="18" charset="0"/>
              </a:rPr>
              <a:t>。根据已有研究现状，审视解决问题的创新点，进而提出研究问题。</a:t>
            </a:r>
          </a:p>
          <a:p>
            <a:pPr marL="457200" indent="-457200" algn="just">
              <a:lnSpc>
                <a:spcPct val="150000"/>
              </a:lnSpc>
              <a:spcAft>
                <a:spcPts val="0"/>
              </a:spcAft>
              <a:buFont typeface="+mj-lt"/>
              <a:buAutoNum type="arabicPeriod"/>
            </a:pPr>
            <a:r>
              <a:rPr lang="zh-CN" altLang="zh-CN" kern="100" dirty="0">
                <a:latin typeface="+mj-ea"/>
                <a:ea typeface="+mj-ea"/>
                <a:cs typeface="Times New Roman" panose="02020603050405020304" pitchFamily="18" charset="0"/>
              </a:rPr>
              <a:t>对该类问题的解决方案进行初步搜索，确定</a:t>
            </a:r>
            <a:r>
              <a:rPr lang="zh-CN" altLang="zh-CN" kern="100" dirty="0">
                <a:highlight>
                  <a:srgbClr val="FFFF00"/>
                </a:highlight>
                <a:latin typeface="+mj-ea"/>
                <a:ea typeface="+mj-ea"/>
                <a:cs typeface="Times New Roman" panose="02020603050405020304" pitchFamily="18" charset="0"/>
              </a:rPr>
              <a:t>可能的设计假设</a:t>
            </a:r>
            <a:r>
              <a:rPr lang="zh-CN" altLang="zh-CN" kern="100" dirty="0">
                <a:latin typeface="+mj-ea"/>
                <a:ea typeface="+mj-ea"/>
                <a:cs typeface="Times New Roman" panose="02020603050405020304" pitchFamily="18" charset="0"/>
              </a:rPr>
              <a:t>；再分析解决问题的可能性，解决方案相比较已有研究的创新。进一步补充和明确研究不足。</a:t>
            </a:r>
          </a:p>
          <a:p>
            <a:pPr marL="457200" indent="-457200" algn="just">
              <a:lnSpc>
                <a:spcPct val="150000"/>
              </a:lnSpc>
              <a:spcAft>
                <a:spcPts val="0"/>
              </a:spcAft>
              <a:buFont typeface="+mj-lt"/>
              <a:buAutoNum type="arabicPeriod"/>
            </a:pPr>
            <a:r>
              <a:rPr lang="zh-CN" altLang="zh-CN" kern="100" dirty="0">
                <a:latin typeface="+mj-ea"/>
                <a:ea typeface="+mj-ea"/>
                <a:cs typeface="Times New Roman" panose="02020603050405020304" pitchFamily="18" charset="0"/>
              </a:rPr>
              <a:t>依据研究不足，提出</a:t>
            </a:r>
            <a:r>
              <a:rPr lang="zh-CN" altLang="zh-CN" kern="100" dirty="0">
                <a:highlight>
                  <a:srgbClr val="FFFF00"/>
                </a:highlight>
                <a:latin typeface="+mj-ea"/>
                <a:ea typeface="+mj-ea"/>
                <a:cs typeface="Times New Roman" panose="02020603050405020304" pitchFamily="18" charset="0"/>
              </a:rPr>
              <a:t>研究问题</a:t>
            </a:r>
            <a:r>
              <a:rPr lang="zh-CN" altLang="en-US" kern="100" dirty="0">
                <a:latin typeface="+mj-ea"/>
                <a:ea typeface="+mj-ea"/>
                <a:cs typeface="Times New Roman" panose="02020603050405020304" pitchFamily="18" charset="0"/>
              </a:rPr>
              <a:t>。</a:t>
            </a:r>
            <a:r>
              <a:rPr lang="zh-CN" altLang="zh-CN" kern="100" dirty="0">
                <a:latin typeface="+mj-ea"/>
                <a:ea typeface="+mj-ea"/>
                <a:cs typeface="Times New Roman" panose="02020603050405020304" pitchFamily="18" charset="0"/>
              </a:rPr>
              <a:t>研究问题的评价可以通过多个维度，其中包括研究问题的新颖和创新性、研究问题的实践价值、研究问题的理论意义、研究问题的可实现性和当前趋势等。</a:t>
            </a:r>
          </a:p>
          <a:p>
            <a:pPr marL="457200" indent="-457200" algn="just">
              <a:lnSpc>
                <a:spcPct val="150000"/>
              </a:lnSpc>
              <a:spcAft>
                <a:spcPts val="0"/>
              </a:spcAft>
              <a:buFont typeface="+mj-lt"/>
              <a:buAutoNum type="arabicPeriod"/>
            </a:pPr>
            <a:r>
              <a:rPr lang="zh-CN" altLang="zh-CN" kern="100" dirty="0">
                <a:latin typeface="+mj-ea"/>
                <a:ea typeface="+mj-ea"/>
                <a:cs typeface="Times New Roman" panose="02020603050405020304" pitchFamily="18" charset="0"/>
              </a:rPr>
              <a:t>分析实施该研究的</a:t>
            </a:r>
            <a:r>
              <a:rPr lang="zh-CN" altLang="zh-CN" kern="100" dirty="0">
                <a:highlight>
                  <a:srgbClr val="FFFF00"/>
                </a:highlight>
                <a:latin typeface="+mj-ea"/>
                <a:ea typeface="+mj-ea"/>
                <a:cs typeface="Times New Roman" panose="02020603050405020304" pitchFamily="18" charset="0"/>
              </a:rPr>
              <a:t>可行性</a:t>
            </a:r>
            <a:r>
              <a:rPr lang="zh-CN" altLang="en-US" kern="100" dirty="0">
                <a:latin typeface="+mj-ea"/>
                <a:ea typeface="+mj-ea"/>
                <a:cs typeface="Times New Roman" panose="02020603050405020304" pitchFamily="18" charset="0"/>
              </a:rPr>
              <a:t>。</a:t>
            </a:r>
            <a:endParaRPr lang="zh-CN" altLang="zh-CN" kern="100" dirty="0">
              <a:latin typeface="+mj-ea"/>
              <a:ea typeface="+mj-ea"/>
              <a:cs typeface="Times New Roman" panose="02020603050405020304" pitchFamily="18" charset="0"/>
            </a:endParaRPr>
          </a:p>
          <a:p>
            <a:pPr marL="457200" indent="-457200" algn="just">
              <a:lnSpc>
                <a:spcPct val="150000"/>
              </a:lnSpc>
              <a:spcAft>
                <a:spcPts val="0"/>
              </a:spcAft>
              <a:buFont typeface="+mj-lt"/>
              <a:buAutoNum type="arabicPeriod"/>
            </a:pPr>
            <a:r>
              <a:rPr lang="zh-CN" altLang="zh-CN" kern="100" dirty="0">
                <a:highlight>
                  <a:srgbClr val="FFFF00"/>
                </a:highlight>
                <a:latin typeface="+mj-ea"/>
                <a:ea typeface="+mj-ea"/>
                <a:cs typeface="Times New Roman" panose="02020603050405020304" pitchFamily="18" charset="0"/>
              </a:rPr>
              <a:t>精炼创新点</a:t>
            </a:r>
            <a:r>
              <a:rPr lang="zh-CN" altLang="zh-CN" kern="100" dirty="0">
                <a:latin typeface="+mj-ea"/>
                <a:ea typeface="+mj-ea"/>
                <a:cs typeface="Times New Roman" panose="02020603050405020304" pitchFamily="18" charset="0"/>
              </a:rPr>
              <a:t>，确定选题和研究问题。</a:t>
            </a:r>
          </a:p>
        </p:txBody>
      </p:sp>
      <p:sp>
        <p:nvSpPr>
          <p:cNvPr id="3" name="标题 1">
            <a:extLst>
              <a:ext uri="{FF2B5EF4-FFF2-40B4-BE49-F238E27FC236}">
                <a16:creationId xmlns:a16="http://schemas.microsoft.com/office/drawing/2014/main" id="{5EB11A1C-1FD6-4876-A154-8659B1F134F3}"/>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研究问题提出的步骤</a:t>
            </a:r>
            <a:endParaRPr lang="zh-CN" altLang="en-US" sz="3300" dirty="0">
              <a:latin typeface="+mn-ea"/>
              <a:ea typeface="+mn-ea"/>
            </a:endParaRPr>
          </a:p>
        </p:txBody>
      </p:sp>
    </p:spTree>
    <p:extLst>
      <p:ext uri="{BB962C8B-B14F-4D97-AF65-F5344CB8AC3E}">
        <p14:creationId xmlns:p14="http://schemas.microsoft.com/office/powerpoint/2010/main" val="313591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4BC4A29-00F9-4479-B0BF-F46D21324CED}"/>
              </a:ext>
            </a:extLst>
          </p:cNvPr>
          <p:cNvSpPr/>
          <p:nvPr/>
        </p:nvSpPr>
        <p:spPr>
          <a:xfrm>
            <a:off x="391886" y="1111983"/>
            <a:ext cx="11146054" cy="2676951"/>
          </a:xfrm>
          <a:prstGeom prst="rect">
            <a:avLst/>
          </a:prstGeom>
        </p:spPr>
        <p:txBody>
          <a:bodyPr wrap="square">
            <a:spAutoFit/>
          </a:bodyPr>
          <a:lstStyle/>
          <a:p>
            <a:pPr algn="just">
              <a:lnSpc>
                <a:spcPct val="150000"/>
              </a:lnSpc>
            </a:pPr>
            <a:r>
              <a:rPr lang="en-US" altLang="zh-CN" sz="2000" b="1" kern="100" dirty="0">
                <a:latin typeface="+mj-ea"/>
                <a:ea typeface="+mj-ea"/>
                <a:cs typeface="Times New Roman" panose="02020603050405020304" pitchFamily="18" charset="0"/>
              </a:rPr>
              <a:t>1</a:t>
            </a:r>
            <a:r>
              <a:rPr lang="zh-CN" altLang="en-US" sz="2000" b="1" kern="100" dirty="0">
                <a:latin typeface="+mj-ea"/>
                <a:ea typeface="+mj-ea"/>
                <a:cs typeface="Times New Roman" panose="02020603050405020304" pitchFamily="18" charset="0"/>
              </a:rPr>
              <a:t>、</a:t>
            </a:r>
            <a:r>
              <a:rPr lang="zh-CN" altLang="zh-CN" sz="2000" b="1" kern="100" dirty="0">
                <a:latin typeface="+mj-ea"/>
                <a:ea typeface="+mj-ea"/>
                <a:cs typeface="Times New Roman" panose="02020603050405020304" pitchFamily="18" charset="0"/>
              </a:rPr>
              <a:t>理论和方法在解决问题方面的可行性。</a:t>
            </a:r>
            <a:endParaRPr lang="en-US" altLang="zh-CN" sz="2000" b="1" kern="100" dirty="0">
              <a:latin typeface="+mj-ea"/>
              <a:ea typeface="+mj-ea"/>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zh-CN" altLang="zh-CN" kern="100" dirty="0">
                <a:latin typeface="+mj-ea"/>
                <a:ea typeface="+mj-ea"/>
                <a:cs typeface="Times New Roman" panose="02020603050405020304" pitchFamily="18" charset="0"/>
              </a:rPr>
              <a:t>针对是否能有效解决抽象的理论化问题，以及解决该研究问题的有效性，理论本身的可行性。</a:t>
            </a:r>
            <a:endParaRPr lang="en-US" altLang="zh-CN" kern="100" dirty="0">
              <a:latin typeface="+mj-ea"/>
              <a:ea typeface="+mj-ea"/>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zh-CN" altLang="zh-CN" kern="100" dirty="0">
                <a:latin typeface="+mj-ea"/>
                <a:ea typeface="+mj-ea"/>
                <a:cs typeface="Times New Roman" panose="02020603050405020304" pitchFamily="18" charset="0"/>
              </a:rPr>
              <a:t>是否能有效地掌握理论和方法，某些方法的门槛较高，对于初学者的挑战较大。</a:t>
            </a:r>
          </a:p>
          <a:p>
            <a:pPr algn="just">
              <a:lnSpc>
                <a:spcPct val="150000"/>
              </a:lnSpc>
              <a:spcAft>
                <a:spcPts val="0"/>
              </a:spcAft>
            </a:pPr>
            <a:r>
              <a:rPr lang="en-US" altLang="zh-CN" sz="2000" b="1" kern="100" dirty="0">
                <a:latin typeface="+mj-ea"/>
                <a:ea typeface="+mj-ea"/>
                <a:cs typeface="Times New Roman" panose="02020603050405020304" pitchFamily="18" charset="0"/>
              </a:rPr>
              <a:t>2</a:t>
            </a:r>
            <a:r>
              <a:rPr lang="zh-CN" altLang="en-US" sz="2000" b="1" kern="100" dirty="0">
                <a:latin typeface="+mj-ea"/>
                <a:ea typeface="+mj-ea"/>
                <a:cs typeface="Times New Roman" panose="02020603050405020304" pitchFamily="18" charset="0"/>
              </a:rPr>
              <a:t>、</a:t>
            </a:r>
            <a:r>
              <a:rPr lang="zh-CN" altLang="zh-CN" sz="2000" b="1" kern="100" dirty="0">
                <a:latin typeface="+mj-ea"/>
                <a:ea typeface="+mj-ea"/>
                <a:cs typeface="Times New Roman" panose="02020603050405020304" pitchFamily="18" charset="0"/>
              </a:rPr>
              <a:t>研究过程时间安排可行性。</a:t>
            </a:r>
            <a:endParaRPr lang="en-US" altLang="zh-CN" sz="2000" b="1" kern="100" dirty="0">
              <a:latin typeface="+mj-ea"/>
              <a:ea typeface="+mj-ea"/>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zh-CN" altLang="zh-CN" kern="100" dirty="0">
                <a:latin typeface="+mj-ea"/>
                <a:ea typeface="+mj-ea"/>
                <a:cs typeface="Times New Roman" panose="02020603050405020304" pitchFamily="18" charset="0"/>
              </a:rPr>
              <a:t>是否能在有限的时间内完成相应的研究。硕士论文研究有明显的时间约束。</a:t>
            </a:r>
          </a:p>
          <a:p>
            <a:pPr algn="just">
              <a:lnSpc>
                <a:spcPct val="150000"/>
              </a:lnSpc>
            </a:pPr>
            <a:r>
              <a:rPr lang="en-US" altLang="zh-CN" sz="2000" b="1" kern="100" dirty="0">
                <a:latin typeface="+mj-ea"/>
                <a:ea typeface="+mj-ea"/>
                <a:cs typeface="Times New Roman" panose="02020603050405020304" pitchFamily="18" charset="0"/>
              </a:rPr>
              <a:t>3</a:t>
            </a:r>
            <a:r>
              <a:rPr lang="zh-CN" altLang="en-US" sz="2000" b="1" kern="100" dirty="0">
                <a:latin typeface="+mj-ea"/>
                <a:ea typeface="+mj-ea"/>
                <a:cs typeface="Times New Roman" panose="02020603050405020304" pitchFamily="18" charset="0"/>
              </a:rPr>
              <a:t>、</a:t>
            </a:r>
            <a:r>
              <a:rPr lang="zh-CN" altLang="zh-CN" sz="2000" b="1" kern="100" dirty="0">
                <a:latin typeface="+mj-ea"/>
                <a:ea typeface="+mj-ea"/>
                <a:cs typeface="Times New Roman" panose="02020603050405020304" pitchFamily="18" charset="0"/>
              </a:rPr>
              <a:t>研究方案与调研数据的可获得性。</a:t>
            </a:r>
          </a:p>
        </p:txBody>
      </p:sp>
      <p:sp>
        <p:nvSpPr>
          <p:cNvPr id="3" name="标题 1">
            <a:extLst>
              <a:ext uri="{FF2B5EF4-FFF2-40B4-BE49-F238E27FC236}">
                <a16:creationId xmlns:a16="http://schemas.microsoft.com/office/drawing/2014/main" id="{515F0833-8CF2-4FA5-909E-5D30B70385F4}"/>
              </a:ext>
            </a:extLst>
          </p:cNvPr>
          <p:cNvSpPr txBox="1">
            <a:spLocks noChangeArrowheads="1"/>
          </p:cNvSpPr>
          <p:nvPr/>
        </p:nvSpPr>
        <p:spPr>
          <a:xfrm>
            <a:off x="1762742" y="426696"/>
            <a:ext cx="8371857" cy="56390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选题的可行性分析</a:t>
            </a:r>
            <a:endParaRPr lang="zh-CN" altLang="en-US" sz="3600" dirty="0"/>
          </a:p>
          <a:p>
            <a:endParaRPr lang="zh-CN" altLang="en-US" sz="3300" dirty="0">
              <a:latin typeface="+mn-ea"/>
              <a:ea typeface="+mn-ea"/>
            </a:endParaRPr>
          </a:p>
        </p:txBody>
      </p:sp>
    </p:spTree>
    <p:extLst>
      <p:ext uri="{BB962C8B-B14F-4D97-AF65-F5344CB8AC3E}">
        <p14:creationId xmlns:p14="http://schemas.microsoft.com/office/powerpoint/2010/main" val="1493049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0183817A-6F73-4EF9-907E-C125CDBB3843}"/>
              </a:ext>
            </a:extLst>
          </p:cNvPr>
          <p:cNvGraphicFramePr>
            <a:graphicFrameLocks noGrp="1"/>
          </p:cNvGraphicFramePr>
          <p:nvPr>
            <p:extLst>
              <p:ext uri="{D42A27DB-BD31-4B8C-83A1-F6EECF244321}">
                <p14:modId xmlns:p14="http://schemas.microsoft.com/office/powerpoint/2010/main" val="3205961388"/>
              </p:ext>
            </p:extLst>
          </p:nvPr>
        </p:nvGraphicFramePr>
        <p:xfrm>
          <a:off x="1050472" y="1166446"/>
          <a:ext cx="9764386" cy="4773930"/>
        </p:xfrm>
        <a:graphic>
          <a:graphicData uri="http://schemas.openxmlformats.org/drawingml/2006/table">
            <a:tbl>
              <a:tblPr firstRow="1" firstCol="1" bandRow="1">
                <a:tableStyleId>{5C22544A-7EE6-4342-B048-85BDC9FD1C3A}</a:tableStyleId>
              </a:tblPr>
              <a:tblGrid>
                <a:gridCol w="1839475">
                  <a:extLst>
                    <a:ext uri="{9D8B030D-6E8A-4147-A177-3AD203B41FA5}">
                      <a16:colId xmlns:a16="http://schemas.microsoft.com/office/drawing/2014/main" val="1150309557"/>
                    </a:ext>
                  </a:extLst>
                </a:gridCol>
                <a:gridCol w="7924911">
                  <a:extLst>
                    <a:ext uri="{9D8B030D-6E8A-4147-A177-3AD203B41FA5}">
                      <a16:colId xmlns:a16="http://schemas.microsoft.com/office/drawing/2014/main" val="923248245"/>
                    </a:ext>
                  </a:extLst>
                </a:gridCol>
              </a:tblGrid>
              <a:tr h="301205">
                <a:tc>
                  <a:txBody>
                    <a:bodyPr/>
                    <a:lstStyle/>
                    <a:p>
                      <a:pPr algn="ctr">
                        <a:lnSpc>
                          <a:spcPct val="125000"/>
                        </a:lnSpc>
                        <a:spcAft>
                          <a:spcPts val="0"/>
                        </a:spcAft>
                      </a:pPr>
                      <a:r>
                        <a:rPr lang="zh-CN" sz="1800" kern="100" dirty="0">
                          <a:effectLst/>
                          <a:latin typeface="+mj-ea"/>
                          <a:ea typeface="+mj-ea"/>
                        </a:rPr>
                        <a:t>要求</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ctr">
                        <a:lnSpc>
                          <a:spcPct val="125000"/>
                        </a:lnSpc>
                        <a:spcAft>
                          <a:spcPts val="0"/>
                        </a:spcAft>
                      </a:pPr>
                      <a:r>
                        <a:rPr lang="zh-CN" sz="1800" kern="100">
                          <a:effectLst/>
                          <a:latin typeface="+mj-ea"/>
                          <a:ea typeface="+mj-ea"/>
                        </a:rPr>
                        <a:t>问题</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75232946"/>
                  </a:ext>
                </a:extLst>
              </a:tr>
              <a:tr h="301205">
                <a:tc rowSpan="5">
                  <a:txBody>
                    <a:bodyPr/>
                    <a:lstStyle/>
                    <a:p>
                      <a:pPr algn="just">
                        <a:lnSpc>
                          <a:spcPct val="125000"/>
                        </a:lnSpc>
                        <a:spcAft>
                          <a:spcPts val="0"/>
                        </a:spcAft>
                      </a:pPr>
                      <a:r>
                        <a:rPr lang="zh-CN" sz="1800" kern="100" dirty="0">
                          <a:effectLst/>
                          <a:latin typeface="+mj-ea"/>
                          <a:ea typeface="+mj-ea"/>
                        </a:rPr>
                        <a:t>理论贡献</a:t>
                      </a:r>
                      <a:endParaRPr lang="zh-CN" sz="1800" kern="100" dirty="0">
                        <a:effectLst/>
                        <a:latin typeface="+mj-ea"/>
                        <a:ea typeface="+mj-ea"/>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800" kern="100">
                          <a:effectLst/>
                          <a:latin typeface="+mj-ea"/>
                          <a:ea typeface="+mj-ea"/>
                        </a:rPr>
                        <a:t>对理论贡献是否清晰</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509936522"/>
                  </a:ext>
                </a:extLst>
              </a:tr>
              <a:tr h="301205">
                <a:tc vMerge="1">
                  <a:txBody>
                    <a:bodyPr/>
                    <a:lstStyle/>
                    <a:p>
                      <a:pPr algn="just">
                        <a:lnSpc>
                          <a:spcPct val="125000"/>
                        </a:lnSpc>
                        <a:spcAft>
                          <a:spcPts val="0"/>
                        </a:spcAft>
                      </a:pP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a:effectLst/>
                          <a:latin typeface="+mj-ea"/>
                          <a:ea typeface="+mj-ea"/>
                        </a:rPr>
                        <a:t>实践问题的理论化程度是否足够</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769751985"/>
                  </a:ext>
                </a:extLst>
              </a:tr>
              <a:tr h="301205">
                <a:tc vMerge="1">
                  <a:txBody>
                    <a:bodyPr/>
                    <a:lstStyle/>
                    <a:p>
                      <a:pPr algn="just">
                        <a:lnSpc>
                          <a:spcPct val="125000"/>
                        </a:lnSpc>
                        <a:spcAft>
                          <a:spcPts val="0"/>
                        </a:spcAft>
                      </a:pP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a:effectLst/>
                          <a:latin typeface="+mj-ea"/>
                          <a:ea typeface="+mj-ea"/>
                        </a:rPr>
                        <a:t>是否充分掌握了需要进行理论贡献的领域</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637253106"/>
                  </a:ext>
                </a:extLst>
              </a:tr>
              <a:tr h="301205">
                <a:tc vMerge="1">
                  <a:txBody>
                    <a:bodyPr/>
                    <a:lstStyle/>
                    <a:p>
                      <a:pPr algn="just">
                        <a:lnSpc>
                          <a:spcPct val="125000"/>
                        </a:lnSpc>
                        <a:spcAft>
                          <a:spcPts val="0"/>
                        </a:spcAft>
                      </a:pP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mj-ea"/>
                          <a:ea typeface="+mj-ea"/>
                        </a:rPr>
                        <a:t>是否明确了当前研究领域的研究不足</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3509323006"/>
                  </a:ext>
                </a:extLst>
              </a:tr>
              <a:tr h="0">
                <a:tc vMerge="1">
                  <a:txBody>
                    <a:bodyPr/>
                    <a:lstStyle/>
                    <a:p>
                      <a:pPr algn="just">
                        <a:lnSpc>
                          <a:spcPct val="125000"/>
                        </a:lnSpc>
                        <a:spcAft>
                          <a:spcPts val="0"/>
                        </a:spcAft>
                      </a:pP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mj-ea"/>
                          <a:ea typeface="+mj-ea"/>
                        </a:rPr>
                        <a:t>是否明晰了选题中关键概念、方法的内涵</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289887639"/>
                  </a:ext>
                </a:extLst>
              </a:tr>
              <a:tr h="301205">
                <a:tc rowSpan="4">
                  <a:txBody>
                    <a:bodyPr/>
                    <a:lstStyle/>
                    <a:p>
                      <a:pPr algn="just">
                        <a:lnSpc>
                          <a:spcPct val="125000"/>
                        </a:lnSpc>
                        <a:spcAft>
                          <a:spcPts val="0"/>
                        </a:spcAft>
                      </a:pPr>
                      <a:r>
                        <a:rPr lang="zh-CN" sz="1800" kern="100" dirty="0">
                          <a:effectLst/>
                          <a:latin typeface="+mj-ea"/>
                          <a:ea typeface="+mj-ea"/>
                        </a:rPr>
                        <a:t>实践贡献</a:t>
                      </a:r>
                      <a:r>
                        <a:rPr lang="en-US" sz="1800" kern="100" dirty="0">
                          <a:effectLst/>
                          <a:latin typeface="+mj-ea"/>
                          <a:ea typeface="+mj-ea"/>
                        </a:rPr>
                        <a:t> </a:t>
                      </a:r>
                      <a:endParaRPr lang="zh-CN" sz="1800" kern="100" dirty="0">
                        <a:effectLst/>
                        <a:latin typeface="+mj-ea"/>
                        <a:ea typeface="+mj-ea"/>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800" kern="100" dirty="0">
                          <a:effectLst/>
                          <a:latin typeface="+mj-ea"/>
                          <a:ea typeface="+mj-ea"/>
                        </a:rPr>
                        <a:t>是否有助于解决一类实践问题</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653140543"/>
                  </a:ext>
                </a:extLst>
              </a:tr>
              <a:tr h="301205">
                <a:tc vMerge="1">
                  <a:txBody>
                    <a:bodyPr/>
                    <a:lstStyle/>
                    <a:p>
                      <a:pPr algn="just">
                        <a:lnSpc>
                          <a:spcPct val="125000"/>
                        </a:lnSpc>
                        <a:spcAft>
                          <a:spcPts val="0"/>
                        </a:spcAft>
                      </a:pP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mj-ea"/>
                          <a:ea typeface="+mj-ea"/>
                        </a:rPr>
                        <a:t>是否能明确在解决一类问题在哪些维度的改进</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4285096335"/>
                  </a:ext>
                </a:extLst>
              </a:tr>
              <a:tr h="301205">
                <a:tc vMerge="1">
                  <a:txBody>
                    <a:bodyPr/>
                    <a:lstStyle/>
                    <a:p>
                      <a:pPr algn="just">
                        <a:lnSpc>
                          <a:spcPct val="125000"/>
                        </a:lnSpc>
                        <a:spcAft>
                          <a:spcPts val="0"/>
                        </a:spcAft>
                      </a:pP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mj-ea"/>
                          <a:ea typeface="+mj-ea"/>
                        </a:rPr>
                        <a:t>是否对情境进行了准确描述</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3331796447"/>
                  </a:ext>
                </a:extLst>
              </a:tr>
              <a:tr h="301205">
                <a:tc vMerge="1">
                  <a:txBody>
                    <a:bodyPr/>
                    <a:lstStyle/>
                    <a:p>
                      <a:pPr algn="just">
                        <a:lnSpc>
                          <a:spcPct val="125000"/>
                        </a:lnSpc>
                        <a:spcAft>
                          <a:spcPts val="0"/>
                        </a:spcAft>
                      </a:pP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mj-ea"/>
                          <a:ea typeface="+mj-ea"/>
                        </a:rPr>
                        <a:t>是否对问题进行了清晰界定</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65638146"/>
                  </a:ext>
                </a:extLst>
              </a:tr>
              <a:tr h="301205">
                <a:tc rowSpan="5">
                  <a:txBody>
                    <a:bodyPr/>
                    <a:lstStyle/>
                    <a:p>
                      <a:pPr algn="just">
                        <a:lnSpc>
                          <a:spcPct val="125000"/>
                        </a:lnSpc>
                        <a:spcAft>
                          <a:spcPts val="0"/>
                        </a:spcAft>
                      </a:pPr>
                      <a:r>
                        <a:rPr lang="zh-CN" sz="1800" kern="100" dirty="0">
                          <a:effectLst/>
                          <a:latin typeface="+mj-ea"/>
                          <a:ea typeface="+mj-ea"/>
                        </a:rPr>
                        <a:t>可行性</a:t>
                      </a:r>
                      <a:endParaRPr lang="zh-CN" sz="1800" kern="100" dirty="0">
                        <a:effectLst/>
                        <a:latin typeface="+mj-ea"/>
                        <a:ea typeface="+mj-ea"/>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800" kern="100" dirty="0">
                          <a:effectLst/>
                          <a:latin typeface="+mj-ea"/>
                          <a:ea typeface="+mj-ea"/>
                        </a:rPr>
                        <a:t>对实践问题充分认识的可行性</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587227443"/>
                  </a:ext>
                </a:extLst>
              </a:tr>
              <a:tr h="301205">
                <a:tc vMerge="1">
                  <a:txBody>
                    <a:bodyPr/>
                    <a:lstStyle/>
                    <a:p>
                      <a:pPr algn="just">
                        <a:lnSpc>
                          <a:spcPct val="125000"/>
                        </a:lnSpc>
                        <a:spcAft>
                          <a:spcPts val="0"/>
                        </a:spcAft>
                      </a:pP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mj-ea"/>
                          <a:ea typeface="+mj-ea"/>
                        </a:rPr>
                        <a:t>理论掌握的可行性</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3473477699"/>
                  </a:ext>
                </a:extLst>
              </a:tr>
              <a:tr h="301205">
                <a:tc vMerge="1">
                  <a:txBody>
                    <a:bodyPr/>
                    <a:lstStyle/>
                    <a:p>
                      <a:pPr algn="just">
                        <a:lnSpc>
                          <a:spcPct val="125000"/>
                        </a:lnSpc>
                        <a:spcAft>
                          <a:spcPts val="0"/>
                        </a:spcAft>
                      </a:pP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mj-ea"/>
                          <a:ea typeface="+mj-ea"/>
                        </a:rPr>
                        <a:t>基于理论设计解决方案的可行性</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744590303"/>
                  </a:ext>
                </a:extLst>
              </a:tr>
              <a:tr h="301205">
                <a:tc vMerge="1">
                  <a:txBody>
                    <a:bodyPr/>
                    <a:lstStyle/>
                    <a:p>
                      <a:pPr algn="just">
                        <a:lnSpc>
                          <a:spcPct val="125000"/>
                        </a:lnSpc>
                        <a:spcAft>
                          <a:spcPts val="0"/>
                        </a:spcAft>
                      </a:pP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mj-ea"/>
                          <a:ea typeface="+mj-ea"/>
                        </a:rPr>
                        <a:t>研究方案的可行性</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522846391"/>
                  </a:ext>
                </a:extLst>
              </a:tr>
              <a:tr h="301205">
                <a:tc vMerge="1">
                  <a:txBody>
                    <a:bodyPr/>
                    <a:lstStyle/>
                    <a:p>
                      <a:pPr algn="just">
                        <a:lnSpc>
                          <a:spcPct val="125000"/>
                        </a:lnSpc>
                        <a:spcAft>
                          <a:spcPts val="0"/>
                        </a:spcAft>
                      </a:pP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mj-ea"/>
                          <a:ea typeface="+mj-ea"/>
                        </a:rPr>
                        <a:t>数据获取的可行性</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154882658"/>
                  </a:ext>
                </a:extLst>
              </a:tr>
            </a:tbl>
          </a:graphicData>
        </a:graphic>
      </p:graphicFrame>
      <p:sp>
        <p:nvSpPr>
          <p:cNvPr id="3" name="标题 1">
            <a:extLst>
              <a:ext uri="{FF2B5EF4-FFF2-40B4-BE49-F238E27FC236}">
                <a16:creationId xmlns:a16="http://schemas.microsoft.com/office/drawing/2014/main" id="{D94F6685-8ADE-489B-8093-37BF320F78D0}"/>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选题的检查清单</a:t>
            </a:r>
            <a:endParaRPr lang="zh-CN" altLang="en-US" sz="3300" dirty="0">
              <a:latin typeface="+mn-ea"/>
              <a:ea typeface="+mn-ea"/>
            </a:endParaRPr>
          </a:p>
        </p:txBody>
      </p:sp>
    </p:spTree>
    <p:extLst>
      <p:ext uri="{BB962C8B-B14F-4D97-AF65-F5344CB8AC3E}">
        <p14:creationId xmlns:p14="http://schemas.microsoft.com/office/powerpoint/2010/main" val="3175136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ACFC48D-A830-4EF4-9532-3B739BD334B1}"/>
              </a:ext>
            </a:extLst>
          </p:cNvPr>
          <p:cNvSpPr/>
          <p:nvPr/>
        </p:nvSpPr>
        <p:spPr>
          <a:xfrm>
            <a:off x="402771" y="1161837"/>
            <a:ext cx="10842172" cy="373358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zh-CN" sz="2000" b="1" dirty="0">
                <a:latin typeface="+mj-ea"/>
                <a:ea typeface="+mj-ea"/>
              </a:rPr>
              <a:t>认知的改变</a:t>
            </a:r>
            <a:r>
              <a:rPr lang="zh-CN" altLang="en-US" sz="2000" b="1" dirty="0">
                <a:latin typeface="+mj-ea"/>
                <a:ea typeface="+mj-ea"/>
              </a:rPr>
              <a:t>：</a:t>
            </a:r>
            <a:r>
              <a:rPr lang="zh-CN" altLang="zh-CN" sz="2000" dirty="0">
                <a:latin typeface="+mj-ea"/>
                <a:ea typeface="+mj-ea"/>
              </a:rPr>
              <a:t>选题不是选定一个题目，而是对拟开展的研究的创新点进行预先设计，以作为研究的初始方向。</a:t>
            </a:r>
          </a:p>
          <a:p>
            <a:pPr marL="285750" indent="-285750">
              <a:lnSpc>
                <a:spcPct val="150000"/>
              </a:lnSpc>
              <a:buFont typeface="Arial" panose="020B0604020202020204" pitchFamily="34" charset="0"/>
              <a:buChar char="•"/>
            </a:pPr>
            <a:r>
              <a:rPr lang="zh-CN" altLang="zh-CN" sz="2000" b="1" dirty="0">
                <a:latin typeface="+mj-ea"/>
                <a:ea typeface="+mj-ea"/>
              </a:rPr>
              <a:t>理论的学习</a:t>
            </a:r>
            <a:endParaRPr lang="zh-CN" altLang="zh-CN" sz="2000" dirty="0">
              <a:latin typeface="+mj-ea"/>
              <a:ea typeface="+mj-ea"/>
            </a:endParaRPr>
          </a:p>
          <a:p>
            <a:pPr marL="285750" indent="-285750">
              <a:lnSpc>
                <a:spcPct val="150000"/>
              </a:lnSpc>
              <a:buFont typeface="Arial" panose="020B0604020202020204" pitchFamily="34" charset="0"/>
              <a:buChar char="•"/>
            </a:pPr>
            <a:r>
              <a:rPr lang="zh-CN" altLang="zh-CN" sz="2000" b="1" dirty="0">
                <a:latin typeface="+mj-ea"/>
                <a:ea typeface="+mj-ea"/>
              </a:rPr>
              <a:t>实践问题的积累</a:t>
            </a:r>
            <a:endParaRPr lang="zh-CN" altLang="zh-CN" sz="2000" dirty="0">
              <a:latin typeface="+mj-ea"/>
              <a:ea typeface="+mj-ea"/>
            </a:endParaRPr>
          </a:p>
          <a:p>
            <a:pPr marL="285750" indent="-285750">
              <a:lnSpc>
                <a:spcPct val="150000"/>
              </a:lnSpc>
              <a:buFont typeface="Arial" panose="020B0604020202020204" pitchFamily="34" charset="0"/>
              <a:buChar char="•"/>
            </a:pPr>
            <a:r>
              <a:rPr lang="zh-CN" altLang="zh-CN" sz="2000" b="1" dirty="0">
                <a:latin typeface="+mj-ea"/>
                <a:ea typeface="+mj-ea"/>
              </a:rPr>
              <a:t>实践问题的理论化</a:t>
            </a:r>
            <a:endParaRPr lang="zh-CN" altLang="zh-CN" sz="2000" dirty="0">
              <a:latin typeface="+mj-ea"/>
              <a:ea typeface="+mj-ea"/>
            </a:endParaRPr>
          </a:p>
          <a:p>
            <a:pPr marL="285750" indent="-285750">
              <a:lnSpc>
                <a:spcPct val="150000"/>
              </a:lnSpc>
              <a:buFont typeface="Arial" panose="020B0604020202020204" pitchFamily="34" charset="0"/>
              <a:buChar char="•"/>
            </a:pPr>
            <a:r>
              <a:rPr lang="zh-CN" altLang="zh-CN" sz="2000" b="1" dirty="0">
                <a:latin typeface="+mj-ea"/>
                <a:ea typeface="+mj-ea"/>
              </a:rPr>
              <a:t>模仿对象的搜索和学习</a:t>
            </a:r>
            <a:endParaRPr lang="zh-CN" altLang="zh-CN" sz="2000" dirty="0">
              <a:latin typeface="+mj-ea"/>
              <a:ea typeface="+mj-ea"/>
            </a:endParaRPr>
          </a:p>
          <a:p>
            <a:pPr marL="285750" indent="-285750">
              <a:lnSpc>
                <a:spcPct val="150000"/>
              </a:lnSpc>
              <a:buFont typeface="Arial" panose="020B0604020202020204" pitchFamily="34" charset="0"/>
              <a:buChar char="•"/>
            </a:pPr>
            <a:r>
              <a:rPr lang="zh-CN" altLang="zh-CN" sz="2000" b="1" dirty="0">
                <a:latin typeface="+mj-ea"/>
                <a:ea typeface="+mj-ea"/>
              </a:rPr>
              <a:t>执念于思考</a:t>
            </a:r>
            <a:endParaRPr lang="zh-CN" altLang="zh-CN" sz="2000" dirty="0">
              <a:latin typeface="+mj-ea"/>
              <a:ea typeface="+mj-ea"/>
            </a:endParaRPr>
          </a:p>
          <a:p>
            <a:pPr marL="285750" indent="-285750">
              <a:lnSpc>
                <a:spcPct val="150000"/>
              </a:lnSpc>
              <a:buFont typeface="Arial" panose="020B0604020202020204" pitchFamily="34" charset="0"/>
              <a:buChar char="•"/>
            </a:pPr>
            <a:r>
              <a:rPr lang="zh-CN" altLang="zh-CN" sz="2000" b="1" dirty="0">
                <a:latin typeface="+mj-ea"/>
                <a:ea typeface="+mj-ea"/>
              </a:rPr>
              <a:t>与导师的交流</a:t>
            </a:r>
            <a:endParaRPr lang="zh-CN" altLang="zh-CN" sz="2000" b="1" kern="100" dirty="0">
              <a:latin typeface="宋体" panose="02010600030101010101" pitchFamily="2" charset="-122"/>
              <a:ea typeface="宋体" panose="02010600030101010101" pitchFamily="2" charset="-122"/>
              <a:cs typeface="Times New Roman" panose="02020603050405020304" pitchFamily="18" charset="0"/>
            </a:endParaRPr>
          </a:p>
        </p:txBody>
      </p:sp>
      <p:sp>
        <p:nvSpPr>
          <p:cNvPr id="3" name="标题 1">
            <a:extLst>
              <a:ext uri="{FF2B5EF4-FFF2-40B4-BE49-F238E27FC236}">
                <a16:creationId xmlns:a16="http://schemas.microsoft.com/office/drawing/2014/main" id="{C84BCC83-F197-4FDF-9436-CE77224AFD43}"/>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选题的操作性建议</a:t>
            </a:r>
            <a:endParaRPr lang="zh-CN" altLang="en-US" sz="3300" dirty="0">
              <a:latin typeface="+mn-ea"/>
              <a:ea typeface="+mn-ea"/>
            </a:endParaRPr>
          </a:p>
        </p:txBody>
      </p:sp>
    </p:spTree>
    <p:extLst>
      <p:ext uri="{BB962C8B-B14F-4D97-AF65-F5344CB8AC3E}">
        <p14:creationId xmlns:p14="http://schemas.microsoft.com/office/powerpoint/2010/main" val="406818403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1416</TotalTime>
  <Words>4013</Words>
  <Application>Microsoft Office PowerPoint</Application>
  <PresentationFormat>宽屏</PresentationFormat>
  <Paragraphs>469</Paragraphs>
  <Slides>34</Slides>
  <Notes>9</Notes>
  <HiddenSlides>2</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34</vt:i4>
      </vt:variant>
    </vt:vector>
  </HeadingPairs>
  <TitlesOfParts>
    <vt:vector size="45" baseType="lpstr">
      <vt:lpstr>等线</vt:lpstr>
      <vt:lpstr>等线 Light</vt:lpstr>
      <vt:lpstr>宋体</vt:lpstr>
      <vt:lpstr>微软雅黑</vt:lpstr>
      <vt:lpstr>Arial</vt:lpstr>
      <vt:lpstr>Calibri</vt:lpstr>
      <vt:lpstr>Segoe UI</vt:lpstr>
      <vt:lpstr>Times New Roman</vt:lpstr>
      <vt:lpstr>Wingdings</vt:lpstr>
      <vt:lpstr>Office 主题​​</vt:lpstr>
      <vt:lpstr>Visio</vt:lpstr>
      <vt:lpstr>选题与研究问题的提出</vt:lpstr>
      <vt:lpstr>PowerPoint 演示文稿</vt:lpstr>
      <vt:lpstr>目 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 Ning</dc:creator>
  <cp:lastModifiedBy>Yan Ning</cp:lastModifiedBy>
  <cp:revision>415</cp:revision>
  <dcterms:created xsi:type="dcterms:W3CDTF">2023-02-21T01:12:16Z</dcterms:created>
  <dcterms:modified xsi:type="dcterms:W3CDTF">2025-02-28T01:53:30Z</dcterms:modified>
</cp:coreProperties>
</file>