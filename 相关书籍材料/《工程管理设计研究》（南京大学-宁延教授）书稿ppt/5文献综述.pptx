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handoutMasterIdLst>
    <p:handoutMasterId r:id="rId34"/>
  </p:handoutMasterIdLst>
  <p:sldIdLst>
    <p:sldId id="641" r:id="rId2"/>
    <p:sldId id="642" r:id="rId3"/>
    <p:sldId id="644" r:id="rId4"/>
    <p:sldId id="620" r:id="rId5"/>
    <p:sldId id="619" r:id="rId6"/>
    <p:sldId id="621" r:id="rId7"/>
    <p:sldId id="622" r:id="rId8"/>
    <p:sldId id="647" r:id="rId9"/>
    <p:sldId id="623" r:id="rId10"/>
    <p:sldId id="624" r:id="rId11"/>
    <p:sldId id="625" r:id="rId12"/>
    <p:sldId id="626" r:id="rId13"/>
    <p:sldId id="645" r:id="rId14"/>
    <p:sldId id="627" r:id="rId15"/>
    <p:sldId id="628" r:id="rId16"/>
    <p:sldId id="629" r:id="rId17"/>
    <p:sldId id="649" r:id="rId18"/>
    <p:sldId id="630" r:id="rId19"/>
    <p:sldId id="631" r:id="rId20"/>
    <p:sldId id="648" r:id="rId21"/>
    <p:sldId id="633" r:id="rId22"/>
    <p:sldId id="643" r:id="rId23"/>
    <p:sldId id="646" r:id="rId24"/>
    <p:sldId id="650" r:id="rId25"/>
    <p:sldId id="634" r:id="rId26"/>
    <p:sldId id="635" r:id="rId27"/>
    <p:sldId id="636" r:id="rId28"/>
    <p:sldId id="637" r:id="rId29"/>
    <p:sldId id="638" r:id="rId30"/>
    <p:sldId id="651" r:id="rId31"/>
    <p:sldId id="639" r:id="rId32"/>
  </p:sldIdLst>
  <p:sldSz cx="12192000" cy="6858000"/>
  <p:notesSz cx="9928225" cy="67976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52" autoAdjust="0"/>
    <p:restoredTop sz="96327" autoAdjust="0"/>
  </p:normalViewPr>
  <p:slideViewPr>
    <p:cSldViewPr>
      <p:cViewPr varScale="1">
        <p:scale>
          <a:sx n="72" d="100"/>
          <a:sy n="72" d="100"/>
        </p:scale>
        <p:origin x="2208" y="65"/>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 " userId="1d39a4fa-c76e-4be0-a329-cd20bca6ab88" providerId="ADAL" clId="{714573E2-7A8F-0E45-B13C-2DF7452DD476}"/>
  </pc:docChgLst>
  <pc:docChgLst>
    <pc:chgData userId="6c5e2e04bbef42de" providerId="LiveId" clId="{C85A8960-A91E-4003-A592-0FBBCF281C6B}"/>
    <pc:docChg chg="undo custSel modSld">
      <pc:chgData name="" userId="6c5e2e04bbef42de" providerId="LiveId" clId="{C85A8960-A91E-4003-A592-0FBBCF281C6B}" dt="2025-02-28T01:53:45.871" v="4" actId="478"/>
      <pc:docMkLst>
        <pc:docMk/>
      </pc:docMkLst>
      <pc:sldChg chg="addSp delSp modSp">
        <pc:chgData name="" userId="6c5e2e04bbef42de" providerId="LiveId" clId="{C85A8960-A91E-4003-A592-0FBBCF281C6B}" dt="2025-02-28T01:53:45.871" v="4" actId="478"/>
        <pc:sldMkLst>
          <pc:docMk/>
          <pc:sldMk cId="0" sldId="641"/>
        </pc:sldMkLst>
        <pc:spChg chg="del">
          <ac:chgData name="" userId="6c5e2e04bbef42de" providerId="LiveId" clId="{C85A8960-A91E-4003-A592-0FBBCF281C6B}" dt="2025-02-28T01:53:45.871" v="4" actId="478"/>
          <ac:spMkLst>
            <pc:docMk/>
            <pc:sldMk cId="0" sldId="641"/>
            <ac:spMk id="3" creationId="{00000000-0000-0000-0000-000000000000}"/>
          </ac:spMkLst>
        </pc:spChg>
        <pc:spChg chg="add mod">
          <ac:chgData name="" userId="6c5e2e04bbef42de" providerId="LiveId" clId="{C85A8960-A91E-4003-A592-0FBBCF281C6B}" dt="2025-02-28T01:53:45.871" v="4" actId="478"/>
          <ac:spMkLst>
            <pc:docMk/>
            <pc:sldMk cId="0" sldId="641"/>
            <ac:spMk id="5" creationId="{D21F06A0-D8D5-41AC-BDD0-8AEC2E1B9579}"/>
          </ac:spMkLst>
        </pc:spChg>
        <pc:spChg chg="add del">
          <ac:chgData name="" userId="6c5e2e04bbef42de" providerId="LiveId" clId="{C85A8960-A91E-4003-A592-0FBBCF281C6B}" dt="2025-02-28T01:53:43.962" v="3" actId="478"/>
          <ac:spMkLst>
            <pc:docMk/>
            <pc:sldMk cId="0" sldId="641"/>
            <ac:spMk id="7" creationId="{00000000-0000-0000-0000-000000000000}"/>
          </ac:spMkLst>
        </pc:spChg>
        <pc:spChg chg="del">
          <ac:chgData name="" userId="6c5e2e04bbef42de" providerId="LiveId" clId="{C85A8960-A91E-4003-A592-0FBBCF281C6B}" dt="2025-02-28T01:53:41.582" v="1" actId="478"/>
          <ac:spMkLst>
            <pc:docMk/>
            <pc:sldMk cId="0" sldId="641"/>
            <ac:spMk id="10" creationId="{00000000-0000-0000-0000-000000000000}"/>
          </ac:spMkLst>
        </pc:spChg>
        <pc:picChg chg="del">
          <ac:chgData name="" userId="6c5e2e04bbef42de" providerId="LiveId" clId="{C85A8960-A91E-4003-A592-0FBBCF281C6B}" dt="2025-02-28T01:53:39.311" v="0" actId="478"/>
          <ac:picMkLst>
            <pc:docMk/>
            <pc:sldMk cId="0" sldId="641"/>
            <ac:picMk id="9" creationId="{00000000-0000-0000-0000-00000000000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02231" cy="339884"/>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sz="quarter" idx="1"/>
          </p:nvPr>
        </p:nvSpPr>
        <p:spPr>
          <a:xfrm>
            <a:off x="5623697" y="0"/>
            <a:ext cx="4302231" cy="339884"/>
          </a:xfrm>
          <a:prstGeom prst="rect">
            <a:avLst/>
          </a:prstGeom>
        </p:spPr>
        <p:txBody>
          <a:bodyPr vert="horz" lIns="91440" tIns="45720" rIns="91440" bIns="45720" rtlCol="0"/>
          <a:lstStyle>
            <a:lvl1pPr algn="r">
              <a:defRPr sz="1200"/>
            </a:lvl1pPr>
          </a:lstStyle>
          <a:p>
            <a:fld id="{7E28C892-0FC4-482F-9F71-6387B55C5AC5}" type="datetimeFigureOut">
              <a:rPr lang="en-SG" smtClean="0"/>
              <a:t>28/2/2025</a:t>
            </a:fld>
            <a:endParaRPr lang="en-SG"/>
          </a:p>
        </p:txBody>
      </p:sp>
      <p:sp>
        <p:nvSpPr>
          <p:cNvPr id="4" name="Footer Placeholder 3"/>
          <p:cNvSpPr>
            <a:spLocks noGrp="1"/>
          </p:cNvSpPr>
          <p:nvPr>
            <p:ph type="ftr" sz="quarter" idx="2"/>
          </p:nvPr>
        </p:nvSpPr>
        <p:spPr>
          <a:xfrm>
            <a:off x="0" y="6456612"/>
            <a:ext cx="4302231" cy="339884"/>
          </a:xfrm>
          <a:prstGeom prst="rect">
            <a:avLst/>
          </a:prstGeom>
        </p:spPr>
        <p:txBody>
          <a:bodyPr vert="horz" lIns="91440" tIns="45720" rIns="91440" bIns="45720" rtlCol="0" anchor="b"/>
          <a:lstStyle>
            <a:lvl1pPr algn="l">
              <a:defRPr sz="1200"/>
            </a:lvl1pPr>
          </a:lstStyle>
          <a:p>
            <a:endParaRPr lang="en-SG"/>
          </a:p>
        </p:txBody>
      </p:sp>
      <p:sp>
        <p:nvSpPr>
          <p:cNvPr id="5" name="Slide Number Placeholder 4"/>
          <p:cNvSpPr>
            <a:spLocks noGrp="1"/>
          </p:cNvSpPr>
          <p:nvPr>
            <p:ph type="sldNum" sz="quarter" idx="3"/>
          </p:nvPr>
        </p:nvSpPr>
        <p:spPr>
          <a:xfrm>
            <a:off x="5623697" y="6456612"/>
            <a:ext cx="4302231" cy="339884"/>
          </a:xfrm>
          <a:prstGeom prst="rect">
            <a:avLst/>
          </a:prstGeom>
        </p:spPr>
        <p:txBody>
          <a:bodyPr vert="horz" lIns="91440" tIns="45720" rIns="91440" bIns="45720" rtlCol="0" anchor="b"/>
          <a:lstStyle>
            <a:lvl1pPr algn="r">
              <a:defRPr sz="1200"/>
            </a:lvl1pPr>
          </a:lstStyle>
          <a:p>
            <a:fld id="{EF5CB028-CC15-4949-9BBB-CA3AABCED9C7}" type="slidenum">
              <a:rPr lang="en-SG" smtClean="0"/>
              <a:t>‹#›</a:t>
            </a:fld>
            <a:endParaRPr lang="en-SG"/>
          </a:p>
        </p:txBody>
      </p:sp>
    </p:spTree>
    <p:extLst>
      <p:ext uri="{BB962C8B-B14F-4D97-AF65-F5344CB8AC3E}">
        <p14:creationId xmlns:p14="http://schemas.microsoft.com/office/powerpoint/2010/main" val="170261443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02231" cy="339884"/>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5623697" y="0"/>
            <a:ext cx="4302231" cy="339884"/>
          </a:xfrm>
          <a:prstGeom prst="rect">
            <a:avLst/>
          </a:prstGeom>
        </p:spPr>
        <p:txBody>
          <a:bodyPr vert="horz" lIns="91440" tIns="45720" rIns="91440" bIns="45720" rtlCol="0"/>
          <a:lstStyle>
            <a:lvl1pPr algn="r">
              <a:defRPr sz="1200"/>
            </a:lvl1pPr>
          </a:lstStyle>
          <a:p>
            <a:fld id="{8558EFAC-E617-4083-8884-78CE7FA78A65}" type="datetimeFigureOut">
              <a:rPr lang="en-SG" smtClean="0"/>
              <a:t>28/2/2025</a:t>
            </a:fld>
            <a:endParaRPr lang="en-SG"/>
          </a:p>
        </p:txBody>
      </p:sp>
      <p:sp>
        <p:nvSpPr>
          <p:cNvPr id="4" name="Slide Image Placeholder 3"/>
          <p:cNvSpPr>
            <a:spLocks noGrp="1" noRot="1" noChangeAspect="1"/>
          </p:cNvSpPr>
          <p:nvPr>
            <p:ph type="sldImg" idx="2"/>
          </p:nvPr>
        </p:nvSpPr>
        <p:spPr>
          <a:xfrm>
            <a:off x="2698750" y="509588"/>
            <a:ext cx="4530725" cy="2549525"/>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992823" y="3228896"/>
            <a:ext cx="7942580" cy="305895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6456612"/>
            <a:ext cx="4302231" cy="339884"/>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5623697" y="6456612"/>
            <a:ext cx="4302231" cy="339884"/>
          </a:xfrm>
          <a:prstGeom prst="rect">
            <a:avLst/>
          </a:prstGeom>
        </p:spPr>
        <p:txBody>
          <a:bodyPr vert="horz" lIns="91440" tIns="45720" rIns="91440" bIns="45720" rtlCol="0" anchor="b"/>
          <a:lstStyle>
            <a:lvl1pPr algn="r">
              <a:defRPr sz="1200"/>
            </a:lvl1pPr>
          </a:lstStyle>
          <a:p>
            <a:fld id="{E3E82AA6-870C-4941-8694-AD6C821636D3}" type="slidenum">
              <a:rPr lang="en-SG" smtClean="0"/>
              <a:t>‹#›</a:t>
            </a:fld>
            <a:endParaRPr lang="en-SG"/>
          </a:p>
        </p:txBody>
      </p:sp>
    </p:spTree>
    <p:extLst>
      <p:ext uri="{BB962C8B-B14F-4D97-AF65-F5344CB8AC3E}">
        <p14:creationId xmlns:p14="http://schemas.microsoft.com/office/powerpoint/2010/main" val="15364559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3E82AA6-870C-4941-8694-AD6C821636D3}" type="slidenum">
              <a:rPr lang="en-SG" smtClean="0"/>
              <a:t>25</a:t>
            </a:fld>
            <a:endParaRPr lang="en-SG"/>
          </a:p>
        </p:txBody>
      </p:sp>
    </p:spTree>
    <p:extLst>
      <p:ext uri="{BB962C8B-B14F-4D97-AF65-F5344CB8AC3E}">
        <p14:creationId xmlns:p14="http://schemas.microsoft.com/office/powerpoint/2010/main" val="2731128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0_自定义版式">
    <p:spTree>
      <p:nvGrpSpPr>
        <p:cNvPr id="1" name=""/>
        <p:cNvGrpSpPr/>
        <p:nvPr/>
      </p:nvGrpSpPr>
      <p:grpSpPr>
        <a:xfrm>
          <a:off x="0" y="0"/>
          <a:ext cx="0" cy="0"/>
          <a:chOff x="0" y="0"/>
          <a:chExt cx="0" cy="0"/>
        </a:xfrm>
      </p:grpSpPr>
      <p:sp>
        <p:nvSpPr>
          <p:cNvPr id="10" name="任意多边形: 形状 9"/>
          <p:cNvSpPr/>
          <p:nvPr userDrawn="1"/>
        </p:nvSpPr>
        <p:spPr>
          <a:xfrm>
            <a:off x="0" y="6774180"/>
            <a:ext cx="12192000" cy="83820"/>
          </a:xfrm>
          <a:custGeom>
            <a:avLst/>
            <a:gdLst>
              <a:gd name="connsiteX0" fmla="*/ 0 w 12192000"/>
              <a:gd name="connsiteY0" fmla="*/ 0 h 133007"/>
              <a:gd name="connsiteX1" fmla="*/ 12058465 w 12192000"/>
              <a:gd name="connsiteY1" fmla="*/ 0 h 133007"/>
              <a:gd name="connsiteX2" fmla="*/ 12087604 w 12192000"/>
              <a:gd name="connsiteY2" fmla="*/ 67096 h 133007"/>
              <a:gd name="connsiteX3" fmla="*/ 12183872 w 12192000"/>
              <a:gd name="connsiteY3" fmla="*/ 129001 h 133007"/>
              <a:gd name="connsiteX4" fmla="*/ 12192000 w 12192000"/>
              <a:gd name="connsiteY4" fmla="*/ 127729 h 133007"/>
              <a:gd name="connsiteX5" fmla="*/ 12192000 w 12192000"/>
              <a:gd name="connsiteY5" fmla="*/ 133007 h 133007"/>
              <a:gd name="connsiteX6" fmla="*/ 0 w 12192000"/>
              <a:gd name="connsiteY6" fmla="*/ 133007 h 133007"/>
              <a:gd name="connsiteX0-1" fmla="*/ 0 w 12192000"/>
              <a:gd name="connsiteY0-2" fmla="*/ 0 h 133007"/>
              <a:gd name="connsiteX1-3" fmla="*/ 12058465 w 12192000"/>
              <a:gd name="connsiteY1-4" fmla="*/ 0 h 133007"/>
              <a:gd name="connsiteX2-5" fmla="*/ 12087604 w 12192000"/>
              <a:gd name="connsiteY2-6" fmla="*/ 67096 h 133007"/>
              <a:gd name="connsiteX3-7" fmla="*/ 12183872 w 12192000"/>
              <a:gd name="connsiteY3-8" fmla="*/ 129001 h 133007"/>
              <a:gd name="connsiteX4-9" fmla="*/ 12192000 w 12192000"/>
              <a:gd name="connsiteY4-10" fmla="*/ 127729 h 133007"/>
              <a:gd name="connsiteX5-11" fmla="*/ 11775440 w 12192000"/>
              <a:gd name="connsiteY5-12" fmla="*/ 126005 h 133007"/>
              <a:gd name="connsiteX6-13" fmla="*/ 0 w 12192000"/>
              <a:gd name="connsiteY6-14" fmla="*/ 133007 h 133007"/>
              <a:gd name="connsiteX7" fmla="*/ 0 w 12192000"/>
              <a:gd name="connsiteY7" fmla="*/ 0 h 13300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 y="connsiteY7"/>
              </a:cxn>
            </a:cxnLst>
            <a:rect l="l" t="t" r="r" b="b"/>
            <a:pathLst>
              <a:path w="12192000" h="133007">
                <a:moveTo>
                  <a:pt x="0" y="0"/>
                </a:moveTo>
                <a:lnTo>
                  <a:pt x="12058465" y="0"/>
                </a:lnTo>
                <a:lnTo>
                  <a:pt x="12087604" y="67096"/>
                </a:lnTo>
                <a:cubicBezTo>
                  <a:pt x="12112241" y="105344"/>
                  <a:pt x="12146277" y="129001"/>
                  <a:pt x="12183872" y="129001"/>
                </a:cubicBezTo>
                <a:lnTo>
                  <a:pt x="12192000" y="127729"/>
                </a:lnTo>
                <a:lnTo>
                  <a:pt x="11775440" y="126005"/>
                </a:lnTo>
                <a:lnTo>
                  <a:pt x="0" y="133007"/>
                </a:lnTo>
                <a:lnTo>
                  <a:pt x="0" y="0"/>
                </a:lnTo>
                <a:close/>
              </a:path>
            </a:pathLst>
          </a:custGeom>
          <a:solidFill>
            <a:srgbClr val="63065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rtlCol="0" anchor="ctr">
            <a:noAutofit/>
          </a:bodyPr>
          <a:lstStyle/>
          <a:p>
            <a:pPr algn="ctr"/>
            <a:endParaRPr lang="zh-CN" altLang="en-US" sz="1200" dirty="0"/>
          </a:p>
        </p:txBody>
      </p:sp>
      <p:pic>
        <p:nvPicPr>
          <p:cNvPr id="3" name="图片 2"/>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12400" t="18187" r="19659" b="49773"/>
          <a:stretch>
            <a:fillRect/>
          </a:stretch>
        </p:blipFill>
        <p:spPr>
          <a:xfrm>
            <a:off x="301112" y="342433"/>
            <a:ext cx="1447301" cy="682507"/>
          </a:xfrm>
          <a:prstGeom prst="rect">
            <a:avLst/>
          </a:prstGeom>
        </p:spPr>
      </p:pic>
      <p:cxnSp>
        <p:nvCxnSpPr>
          <p:cNvPr id="5" name="直接连接符 4">
            <a:extLst>
              <a:ext uri="{FF2B5EF4-FFF2-40B4-BE49-F238E27FC236}">
                <a16:creationId xmlns:a16="http://schemas.microsoft.com/office/drawing/2014/main" id="{449968CE-9441-48AB-B411-308267690CDF}"/>
              </a:ext>
            </a:extLst>
          </p:cNvPr>
          <p:cNvCxnSpPr/>
          <p:nvPr userDrawn="1"/>
        </p:nvCxnSpPr>
        <p:spPr>
          <a:xfrm>
            <a:off x="1748413" y="1024934"/>
            <a:ext cx="9462064" cy="0"/>
          </a:xfrm>
          <a:prstGeom prst="line">
            <a:avLst/>
          </a:prstGeom>
          <a:ln w="28575">
            <a:solidFill>
              <a:srgbClr val="63065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33069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2/28/2025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12.xml"/><Relationship Id="rId1" Type="http://schemas.openxmlformats.org/officeDocument/2006/relationships/tags" Target="../tags/tag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4"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8" y="-1329"/>
            <a:ext cx="12188826" cy="6963204"/>
          </a:xfrm>
          <a:prstGeom prst="rect">
            <a:avLst/>
          </a:prstGeom>
        </p:spPr>
      </p:pic>
      <p:sp>
        <p:nvSpPr>
          <p:cNvPr id="7" name="矩形 6"/>
          <p:cNvSpPr/>
          <p:nvPr/>
        </p:nvSpPr>
        <p:spPr>
          <a:xfrm>
            <a:off x="-1590" y="1155103"/>
            <a:ext cx="12192002" cy="51192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rPr>
              <a:t>   </a:t>
            </a:r>
          </a:p>
        </p:txBody>
      </p:sp>
      <p:sp>
        <p:nvSpPr>
          <p:cNvPr id="2" name="标题 1"/>
          <p:cNvSpPr>
            <a:spLocks noGrp="1"/>
          </p:cNvSpPr>
          <p:nvPr>
            <p:ph type="ctrTitle"/>
          </p:nvPr>
        </p:nvSpPr>
        <p:spPr>
          <a:xfrm>
            <a:off x="1469753" y="1621971"/>
            <a:ext cx="9541048" cy="1395549"/>
          </a:xfrm>
        </p:spPr>
        <p:txBody>
          <a:bodyPr>
            <a:noAutofit/>
          </a:bodyPr>
          <a:lstStyle/>
          <a:p>
            <a:r>
              <a:rPr lang="zh-CN" altLang="en-US" sz="6000" b="1" dirty="0">
                <a:latin typeface="等线 Light" panose="02010600030101010101" pitchFamily="2" charset="-122"/>
                <a:ea typeface="等线 Light" panose="02010600030101010101" pitchFamily="2" charset="-122"/>
              </a:rPr>
              <a:t>学位论文的文献综述</a:t>
            </a:r>
          </a:p>
        </p:txBody>
      </p:sp>
      <p:sp>
        <p:nvSpPr>
          <p:cNvPr id="5" name="副标题 4">
            <a:extLst>
              <a:ext uri="{FF2B5EF4-FFF2-40B4-BE49-F238E27FC236}">
                <a16:creationId xmlns:a16="http://schemas.microsoft.com/office/drawing/2014/main" id="{D21F06A0-D8D5-41AC-BDD0-8AEC2E1B9579}"/>
              </a:ext>
            </a:extLst>
          </p:cNvPr>
          <p:cNvSpPr>
            <a:spLocks noGrp="1"/>
          </p:cNvSpPr>
          <p:nvPr>
            <p:ph type="subTitle" idx="1"/>
          </p:nvPr>
        </p:nvSpPr>
        <p:spPr/>
        <p:txBody>
          <a:bodyPr/>
          <a:lstStyle/>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7DA459-582E-4875-97CA-FFEC227CF6EE}"/>
              </a:ext>
            </a:extLst>
          </p:cNvPr>
          <p:cNvSpPr>
            <a:spLocks noGrp="1"/>
          </p:cNvSpPr>
          <p:nvPr>
            <p:ph type="title"/>
          </p:nvPr>
        </p:nvSpPr>
        <p:spPr>
          <a:xfrm>
            <a:off x="609600" y="503316"/>
            <a:ext cx="10972800" cy="1143000"/>
          </a:xfrm>
        </p:spPr>
        <p:txBody>
          <a:bodyPr/>
          <a:lstStyle/>
          <a:p>
            <a:r>
              <a:rPr lang="zh-CN" altLang="en-US" b="1" dirty="0">
                <a:latin typeface="微软雅黑" panose="020B0503020204020204" pitchFamily="34" charset="-122"/>
                <a:ea typeface="微软雅黑" panose="020B0503020204020204" pitchFamily="34" charset="-122"/>
              </a:rPr>
              <a:t>目 录</a:t>
            </a:r>
          </a:p>
        </p:txBody>
      </p:sp>
      <p:sp>
        <p:nvSpPr>
          <p:cNvPr id="3" name="内容占位符 2">
            <a:extLst>
              <a:ext uri="{FF2B5EF4-FFF2-40B4-BE49-F238E27FC236}">
                <a16:creationId xmlns:a16="http://schemas.microsoft.com/office/drawing/2014/main" id="{7B133B08-690A-47F3-AB13-7CE43E7A7699}"/>
              </a:ext>
            </a:extLst>
          </p:cNvPr>
          <p:cNvSpPr>
            <a:spLocks noGrp="1"/>
          </p:cNvSpPr>
          <p:nvPr>
            <p:ph idx="1"/>
          </p:nvPr>
        </p:nvSpPr>
        <p:spPr>
          <a:xfrm>
            <a:off x="609600" y="1600202"/>
            <a:ext cx="10972800" cy="4495798"/>
          </a:xfrm>
          <a:ln>
            <a:solidFill>
              <a:schemeClr val="accent1"/>
            </a:solidFill>
          </a:ln>
        </p:spPr>
        <p:txBody>
          <a:bodyPr>
            <a:noAutofit/>
          </a:bodyPr>
          <a:lstStyle/>
          <a:p>
            <a:pPr marL="514350" indent="-514350">
              <a:buFont typeface="+mj-lt"/>
              <a:buAutoNum type="arabicPeriod"/>
            </a:pPr>
            <a:r>
              <a:rPr lang="zh-CN" altLang="en-US" b="1" dirty="0">
                <a:solidFill>
                  <a:srgbClr val="7030A0"/>
                </a:solidFill>
                <a:latin typeface="等线 Light" panose="02010600030101010101" pitchFamily="2" charset="-122"/>
                <a:ea typeface="等线 Light" panose="02010600030101010101" pitchFamily="2" charset="-122"/>
              </a:rPr>
              <a:t>文献综述的步骤</a:t>
            </a:r>
          </a:p>
          <a:p>
            <a:pPr marL="857250" lvl="1" indent="-457200">
              <a:buFont typeface="Wingdings" panose="05000000000000000000" pitchFamily="2" charset="2"/>
              <a:buChar char="ü"/>
            </a:pPr>
            <a:r>
              <a:rPr lang="zh-CN" altLang="en-US" sz="2000" dirty="0">
                <a:latin typeface="等线 Light" panose="02010600030101010101" pitchFamily="2" charset="-122"/>
                <a:ea typeface="等线 Light" panose="02010600030101010101" pitchFamily="2" charset="-122"/>
              </a:rPr>
              <a:t>确定目标</a:t>
            </a:r>
            <a:endParaRPr lang="en-US" altLang="zh-CN" sz="2000" dirty="0">
              <a:latin typeface="等线 Light" panose="02010600030101010101" pitchFamily="2" charset="-122"/>
              <a:ea typeface="等线 Light" panose="02010600030101010101" pitchFamily="2" charset="-122"/>
            </a:endParaRPr>
          </a:p>
          <a:p>
            <a:pPr marL="857250" lvl="1" indent="-457200">
              <a:buFont typeface="Wingdings" panose="05000000000000000000" pitchFamily="2" charset="2"/>
              <a:buChar char="ü"/>
            </a:pPr>
            <a:r>
              <a:rPr lang="zh-CN" altLang="en-US" sz="2000" dirty="0">
                <a:latin typeface="等线 Light" panose="02010600030101010101" pitchFamily="2" charset="-122"/>
                <a:ea typeface="等线 Light" panose="02010600030101010101" pitchFamily="2" charset="-122"/>
              </a:rPr>
              <a:t>文献检索</a:t>
            </a:r>
            <a:endParaRPr lang="en-US" altLang="zh-CN" sz="2000" dirty="0">
              <a:latin typeface="等线 Light" panose="02010600030101010101" pitchFamily="2" charset="-122"/>
              <a:ea typeface="等线 Light" panose="02010600030101010101" pitchFamily="2" charset="-122"/>
            </a:endParaRPr>
          </a:p>
          <a:p>
            <a:pPr marL="857250" lvl="1" indent="-457200">
              <a:buFont typeface="Wingdings" panose="05000000000000000000" pitchFamily="2" charset="2"/>
              <a:buChar char="ü"/>
            </a:pPr>
            <a:r>
              <a:rPr lang="zh-CN" altLang="en-US" sz="2000" dirty="0">
                <a:latin typeface="等线 Light" panose="02010600030101010101" pitchFamily="2" charset="-122"/>
                <a:ea typeface="等线 Light" panose="02010600030101010101" pitchFamily="2" charset="-122"/>
              </a:rPr>
              <a:t>文献阅读与整理</a:t>
            </a:r>
            <a:endParaRPr lang="en-US" altLang="zh-CN" sz="2000" dirty="0">
              <a:latin typeface="等线 Light" panose="02010600030101010101" pitchFamily="2" charset="-122"/>
              <a:ea typeface="等线 Light" panose="02010600030101010101" pitchFamily="2" charset="-122"/>
            </a:endParaRPr>
          </a:p>
          <a:p>
            <a:pPr marL="514350" lvl="1" indent="-514350">
              <a:buFont typeface="+mj-lt"/>
              <a:buAutoNum type="arabicPeriod" startAt="2"/>
            </a:pPr>
            <a:r>
              <a:rPr lang="zh-CN" altLang="en-US" b="1" dirty="0">
                <a:solidFill>
                  <a:srgbClr val="7030A0"/>
                </a:solidFill>
                <a:latin typeface="等线 Light" panose="02010600030101010101" pitchFamily="2" charset="-122"/>
                <a:ea typeface="等线 Light" panose="02010600030101010101" pitchFamily="2" charset="-122"/>
              </a:rPr>
              <a:t>文献综述写作</a:t>
            </a:r>
            <a:endParaRPr lang="en-US" altLang="zh-CN" b="1" dirty="0">
              <a:solidFill>
                <a:srgbClr val="7030A0"/>
              </a:solidFill>
              <a:latin typeface="等线 Light" panose="02010600030101010101" pitchFamily="2" charset="-122"/>
              <a:ea typeface="等线 Light" panose="02010600030101010101" pitchFamily="2" charset="-122"/>
            </a:endParaRPr>
          </a:p>
          <a:p>
            <a:pPr marL="857250" lvl="1" indent="-457200">
              <a:buFont typeface="Wingdings" panose="05000000000000000000" pitchFamily="2" charset="2"/>
              <a:buChar char="ü"/>
            </a:pPr>
            <a:r>
              <a:rPr lang="zh-CN" altLang="en-US" sz="2000" dirty="0">
                <a:latin typeface="等线 Light" panose="02010600030101010101" pitchFamily="2" charset="-122"/>
                <a:ea typeface="等线 Light" panose="02010600030101010101" pitchFamily="2" charset="-122"/>
              </a:rPr>
              <a:t>研究不足与解决方案部分的写作</a:t>
            </a:r>
            <a:endParaRPr lang="en-US" altLang="zh-CN" sz="2000" dirty="0">
              <a:latin typeface="等线 Light" panose="02010600030101010101" pitchFamily="2" charset="-122"/>
              <a:ea typeface="等线 Light" panose="02010600030101010101" pitchFamily="2" charset="-122"/>
            </a:endParaRPr>
          </a:p>
          <a:p>
            <a:pPr marL="857250" lvl="1" indent="-457200">
              <a:buFont typeface="Wingdings" panose="05000000000000000000" pitchFamily="2" charset="2"/>
              <a:buChar char="ü"/>
            </a:pPr>
            <a:r>
              <a:rPr lang="zh-CN" altLang="en-US" sz="2000" dirty="0">
                <a:latin typeface="等线 Light" panose="02010600030101010101" pitchFamily="2" charset="-122"/>
                <a:ea typeface="等线 Light" panose="02010600030101010101" pitchFamily="2" charset="-122"/>
              </a:rPr>
              <a:t>总体要求</a:t>
            </a:r>
            <a:endParaRPr lang="en-US" altLang="zh-CN" sz="2000" dirty="0">
              <a:latin typeface="等线 Light" panose="02010600030101010101" pitchFamily="2" charset="-122"/>
              <a:ea typeface="等线 Light" panose="02010600030101010101" pitchFamily="2" charset="-122"/>
            </a:endParaRPr>
          </a:p>
          <a:p>
            <a:pPr marL="857250" lvl="1" indent="-457200">
              <a:buFont typeface="Wingdings" panose="05000000000000000000" pitchFamily="2" charset="2"/>
              <a:buChar char="ü"/>
            </a:pPr>
            <a:r>
              <a:rPr lang="zh-CN" altLang="en-US" sz="2000" dirty="0">
                <a:latin typeface="等线 Light" panose="02010600030101010101" pitchFamily="2" charset="-122"/>
                <a:ea typeface="等线 Light" panose="02010600030101010101" pitchFamily="2" charset="-122"/>
              </a:rPr>
              <a:t>常见问题</a:t>
            </a:r>
            <a:endParaRPr lang="en-US" altLang="zh-CN" sz="2000" dirty="0">
              <a:latin typeface="等线 Light" panose="02010600030101010101" pitchFamily="2" charset="-122"/>
              <a:ea typeface="等线 Light" panose="02010600030101010101" pitchFamily="2" charset="-122"/>
            </a:endParaRPr>
          </a:p>
        </p:txBody>
      </p:sp>
    </p:spTree>
    <p:extLst>
      <p:ext uri="{BB962C8B-B14F-4D97-AF65-F5344CB8AC3E}">
        <p14:creationId xmlns:p14="http://schemas.microsoft.com/office/powerpoint/2010/main" val="23051286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D5A39B15-BF3D-422D-9A1B-B97B7107CA04}"/>
              </a:ext>
            </a:extLst>
          </p:cNvPr>
          <p:cNvSpPr/>
          <p:nvPr/>
        </p:nvSpPr>
        <p:spPr>
          <a:xfrm>
            <a:off x="228600" y="4540339"/>
            <a:ext cx="11658600" cy="1892121"/>
          </a:xfrm>
          <a:prstGeom prst="rect">
            <a:avLst/>
          </a:prstGeom>
          <a:solidFill>
            <a:srgbClr val="70AD47">
              <a:lumMod val="40000"/>
              <a:lumOff val="60000"/>
            </a:srgbClr>
          </a:solidFill>
        </p:spPr>
        <p:txBody>
          <a:bodyPr wrap="square">
            <a:spAutoFit/>
          </a:bodyPr>
          <a:lstStyle/>
          <a:p>
            <a:pPr>
              <a:lnSpc>
                <a:spcPct val="150000"/>
              </a:lnSpc>
            </a:pPr>
            <a:r>
              <a:rPr lang="zh-CN" altLang="en-US" sz="2000" b="1" kern="100" dirty="0">
                <a:highlight>
                  <a:srgbClr val="FFFF00"/>
                </a:highlight>
                <a:latin typeface="等线 Light" panose="02010600030101010101" pitchFamily="2" charset="-122"/>
                <a:ea typeface="等线 Light" panose="02010600030101010101" pitchFamily="2" charset="-122"/>
                <a:cs typeface="Times New Roman" panose="02020603050405020304" pitchFamily="18" charset="0"/>
              </a:rPr>
              <a:t>开题答辩总结：</a:t>
            </a:r>
            <a:r>
              <a:rPr lang="zh-CN" altLang="en-US" sz="2000" i="1" kern="100" dirty="0">
                <a:latin typeface="等线 Light" panose="02010600030101010101" pitchFamily="2" charset="-122"/>
                <a:ea typeface="等线 Light" panose="02010600030101010101" pitchFamily="2" charset="-122"/>
                <a:cs typeface="Times New Roman" panose="02020603050405020304" pitchFamily="18" charset="0"/>
              </a:rPr>
              <a:t>“</a:t>
            </a:r>
            <a:r>
              <a:rPr lang="zh-CN" altLang="zh-CN" sz="2000" i="1" kern="100" dirty="0">
                <a:latin typeface="等线 Light" panose="02010600030101010101" pitchFamily="2" charset="-122"/>
                <a:ea typeface="等线 Light" panose="02010600030101010101" pitchFamily="2" charset="-122"/>
                <a:cs typeface="Times New Roman" panose="02020603050405020304" pitchFamily="18" charset="0"/>
              </a:rPr>
              <a:t>在本次答辩过程中，发现很多同学普遍被答辩专家指出的一个问题是，你的题目或者是你的关键词中的很多关键概念并没有界定清楚，进而使整篇文章的研究的内容无法让人把握，这是答辩专家经常批评的一个点。因此，在之后撰写开题报告的时候，需要对于一些关键的概念，有非常清晰的鉴定，这些鉴定可以来源于大量的文献等。</a:t>
            </a:r>
            <a:r>
              <a:rPr lang="zh-CN" altLang="en-US" sz="2000" i="1" kern="100" dirty="0">
                <a:latin typeface="等线 Light" panose="02010600030101010101" pitchFamily="2" charset="-122"/>
                <a:ea typeface="等线 Light" panose="02010600030101010101" pitchFamily="2" charset="-122"/>
                <a:cs typeface="Times New Roman" panose="02020603050405020304" pitchFamily="18" charset="0"/>
              </a:rPr>
              <a:t>”</a:t>
            </a:r>
          </a:p>
        </p:txBody>
      </p:sp>
      <p:sp>
        <p:nvSpPr>
          <p:cNvPr id="7" name="矩形 6">
            <a:extLst>
              <a:ext uri="{FF2B5EF4-FFF2-40B4-BE49-F238E27FC236}">
                <a16:creationId xmlns:a16="http://schemas.microsoft.com/office/drawing/2014/main" id="{A3078F0C-EEF0-431C-AF82-537A61C3223D}"/>
              </a:ext>
            </a:extLst>
          </p:cNvPr>
          <p:cNvSpPr/>
          <p:nvPr/>
        </p:nvSpPr>
        <p:spPr>
          <a:xfrm>
            <a:off x="228600" y="1066800"/>
            <a:ext cx="11658600" cy="2815451"/>
          </a:xfrm>
          <a:prstGeom prst="rect">
            <a:avLst/>
          </a:prstGeom>
          <a:solidFill>
            <a:srgbClr val="70AD47">
              <a:lumMod val="40000"/>
              <a:lumOff val="60000"/>
            </a:srgbClr>
          </a:solidFill>
        </p:spPr>
        <p:txBody>
          <a:bodyPr wrap="square">
            <a:spAutoFit/>
          </a:bodyPr>
          <a:lstStyle/>
          <a:p>
            <a:pPr>
              <a:lnSpc>
                <a:spcPct val="150000"/>
              </a:lnSpc>
            </a:pPr>
            <a:r>
              <a:rPr lang="zh-CN" altLang="en-US" sz="2000" b="1" kern="100" dirty="0">
                <a:highlight>
                  <a:srgbClr val="FFFF00"/>
                </a:highlight>
                <a:latin typeface="等线 Light" panose="02010600030101010101" pitchFamily="2" charset="-122"/>
                <a:ea typeface="等线 Light" panose="02010600030101010101" pitchFamily="2" charset="-122"/>
                <a:cs typeface="Times New Roman" panose="02020603050405020304" pitchFamily="18" charset="0"/>
              </a:rPr>
              <a:t>开题答辩总结：</a:t>
            </a:r>
            <a:r>
              <a:rPr lang="zh-CN" altLang="en-US" sz="2000" i="1" kern="100" dirty="0">
                <a:latin typeface="等线 Light" panose="02010600030101010101" pitchFamily="2" charset="-122"/>
                <a:ea typeface="等线 Light" panose="02010600030101010101" pitchFamily="2" charset="-122"/>
                <a:cs typeface="Times New Roman" panose="02020603050405020304" pitchFamily="18" charset="0"/>
              </a:rPr>
              <a:t>“</a:t>
            </a:r>
            <a:r>
              <a:rPr lang="zh-CN" altLang="zh-CN" sz="2000" i="1" kern="100" dirty="0">
                <a:latin typeface="等线 Light" panose="02010600030101010101" pitchFamily="2" charset="-122"/>
                <a:ea typeface="等线 Light" panose="02010600030101010101" pitchFamily="2" charset="-122"/>
                <a:cs typeface="Times New Roman" panose="02020603050405020304" pitchFamily="18" charset="0"/>
              </a:rPr>
              <a:t>回顾整个开题，从</a:t>
            </a:r>
            <a:r>
              <a:rPr lang="en-US" altLang="zh-CN" sz="2000" i="1" kern="100" dirty="0">
                <a:latin typeface="等线 Light" panose="02010600030101010101" pitchFamily="2" charset="-122"/>
                <a:ea typeface="等线 Light" panose="02010600030101010101" pitchFamily="2" charset="-122"/>
                <a:cs typeface="Times New Roman" panose="02020603050405020304" pitchFamily="18" charset="0"/>
              </a:rPr>
              <a:t>2</a:t>
            </a:r>
            <a:r>
              <a:rPr lang="zh-CN" altLang="zh-CN" sz="2000" i="1" kern="100" dirty="0">
                <a:latin typeface="等线 Light" panose="02010600030101010101" pitchFamily="2" charset="-122"/>
                <a:ea typeface="等线 Light" panose="02010600030101010101" pitchFamily="2" charset="-122"/>
                <a:cs typeface="Times New Roman" panose="02020603050405020304" pitchFamily="18" charset="0"/>
              </a:rPr>
              <a:t>月末一直持续到</a:t>
            </a:r>
            <a:r>
              <a:rPr lang="en-US" altLang="zh-CN" sz="2000" i="1" kern="100" dirty="0">
                <a:latin typeface="等线 Light" panose="02010600030101010101" pitchFamily="2" charset="-122"/>
                <a:ea typeface="等线 Light" panose="02010600030101010101" pitchFamily="2" charset="-122"/>
                <a:cs typeface="Times New Roman" panose="02020603050405020304" pitchFamily="18" charset="0"/>
              </a:rPr>
              <a:t>11</a:t>
            </a:r>
            <a:r>
              <a:rPr lang="zh-CN" altLang="zh-CN" sz="2000" i="1" kern="100" dirty="0">
                <a:latin typeface="等线 Light" panose="02010600030101010101" pitchFamily="2" charset="-122"/>
                <a:ea typeface="等线 Light" panose="02010600030101010101" pitchFamily="2" charset="-122"/>
                <a:cs typeface="Times New Roman" panose="02020603050405020304" pitchFamily="18" charset="0"/>
              </a:rPr>
              <a:t>月初。整个过程中遇到了许许多多的困难，但也使我逐步地成长。很清晰地记得，在之前由于对研究的了解不足，使得每周都有些处于迷茫的状态，不知道如何去很好地整理文献脉络，并进行系统的分析。在选题的初期困惑了较长的时间。但随着方向的逐渐确定，慢慢摸索到如何去进行工作的下一步推进。另一个印象较深的就是如何去梳理关键概念的定义。在研究中，对于问题清晰的定义是不可或缺的。可由于相关理论知识体系的认知不全以及实践经历的缺乏，无法较好地进行认知。但在和业内人士交流过后，逐步梳理出了一个较为清晰的概念。</a:t>
            </a:r>
            <a:r>
              <a:rPr lang="zh-CN" altLang="en-US" sz="2000" i="1" kern="100" dirty="0">
                <a:latin typeface="等线 Light" panose="02010600030101010101" pitchFamily="2" charset="-122"/>
                <a:ea typeface="等线 Light" panose="02010600030101010101" pitchFamily="2" charset="-122"/>
                <a:cs typeface="Times New Roman" panose="02020603050405020304" pitchFamily="18" charset="0"/>
              </a:rPr>
              <a:t>”</a:t>
            </a:r>
          </a:p>
        </p:txBody>
      </p:sp>
    </p:spTree>
    <p:extLst>
      <p:ext uri="{BB962C8B-B14F-4D97-AF65-F5344CB8AC3E}">
        <p14:creationId xmlns:p14="http://schemas.microsoft.com/office/powerpoint/2010/main" val="39158391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0686D086-CF41-47FE-9A20-0F5CF8EF881F}"/>
              </a:ext>
            </a:extLst>
          </p:cNvPr>
          <p:cNvSpPr/>
          <p:nvPr/>
        </p:nvSpPr>
        <p:spPr>
          <a:xfrm>
            <a:off x="1752600" y="457200"/>
            <a:ext cx="4953000" cy="600164"/>
          </a:xfrm>
          <a:prstGeom prst="rect">
            <a:avLst/>
          </a:prstGeom>
        </p:spPr>
        <p:txBody>
          <a:bodyPr wrap="square">
            <a:spAutoFit/>
          </a:bodyPr>
          <a:lstStyle/>
          <a:p>
            <a:r>
              <a:rPr lang="zh-CN" altLang="zh-CN" sz="3300" dirty="0">
                <a:latin typeface="等线 Light" panose="02010600030101010101" pitchFamily="2" charset="-122"/>
                <a:ea typeface="等线 Light" panose="02010600030101010101" pitchFamily="2" charset="-122"/>
                <a:cs typeface="Times New Roman" panose="02020603050405020304" pitchFamily="18" charset="0"/>
              </a:rPr>
              <a:t>文献综述能力的培养</a:t>
            </a:r>
            <a:endParaRPr lang="zh-CN" altLang="en-US" sz="3300" dirty="0">
              <a:latin typeface="等线 Light" panose="02010600030101010101" pitchFamily="2" charset="-122"/>
              <a:ea typeface="等线 Light" panose="02010600030101010101" pitchFamily="2" charset="-122"/>
            </a:endParaRPr>
          </a:p>
        </p:txBody>
      </p:sp>
      <p:sp>
        <p:nvSpPr>
          <p:cNvPr id="3" name="矩形 2">
            <a:extLst>
              <a:ext uri="{FF2B5EF4-FFF2-40B4-BE49-F238E27FC236}">
                <a16:creationId xmlns:a16="http://schemas.microsoft.com/office/drawing/2014/main" id="{27D6D2F0-ADB3-4259-A96E-2C6035F17C68}"/>
              </a:ext>
            </a:extLst>
          </p:cNvPr>
          <p:cNvSpPr/>
          <p:nvPr/>
        </p:nvSpPr>
        <p:spPr>
          <a:xfrm>
            <a:off x="457200" y="1060908"/>
            <a:ext cx="10668000" cy="2815451"/>
          </a:xfrm>
          <a:prstGeom prst="rect">
            <a:avLst/>
          </a:prstGeom>
        </p:spPr>
        <p:txBody>
          <a:bodyPr wrap="square">
            <a:spAutoFit/>
          </a:bodyPr>
          <a:lstStyle/>
          <a:p>
            <a:pPr algn="just">
              <a:lnSpc>
                <a:spcPct val="150000"/>
              </a:lnSpc>
              <a:spcAft>
                <a:spcPts val="0"/>
              </a:spcAft>
            </a:pPr>
            <a:r>
              <a:rPr lang="en-US" altLang="zh-CN" sz="2000" b="1" kern="100" dirty="0">
                <a:latin typeface="等线 Light" panose="02010600030101010101" pitchFamily="2" charset="-122"/>
                <a:ea typeface="等线 Light" panose="02010600030101010101" pitchFamily="2" charset="-122"/>
                <a:cs typeface="Times New Roman" panose="02020603050405020304" pitchFamily="18" charset="0"/>
              </a:rPr>
              <a:t>1</a:t>
            </a:r>
            <a:r>
              <a:rPr lang="zh-CN" altLang="en-US" sz="2000" b="1" kern="100" dirty="0">
                <a:latin typeface="等线 Light" panose="02010600030101010101" pitchFamily="2" charset="-122"/>
                <a:ea typeface="等线 Light" panose="02010600030101010101" pitchFamily="2" charset="-122"/>
                <a:cs typeface="Times New Roman" panose="02020603050405020304" pitchFamily="18" charset="0"/>
              </a:rPr>
              <a:t>、写作能力。</a:t>
            </a:r>
            <a:r>
              <a:rPr lang="zh-CN" altLang="en-US" sz="2000" kern="100" dirty="0">
                <a:latin typeface="等线 Light" panose="02010600030101010101" pitchFamily="2" charset="-122"/>
                <a:ea typeface="等线 Light" panose="02010600030101010101" pitchFamily="2" charset="-122"/>
                <a:cs typeface="Times New Roman" panose="02020603050405020304" pitchFamily="18" charset="0"/>
              </a:rPr>
              <a:t>规范化的写作</a:t>
            </a:r>
            <a:endParaRPr lang="en-US" altLang="zh-CN" sz="2000" kern="100" dirty="0">
              <a:latin typeface="等线 Light" panose="02010600030101010101" pitchFamily="2" charset="-122"/>
              <a:ea typeface="等线 Light" panose="02010600030101010101" pitchFamily="2" charset="-122"/>
              <a:cs typeface="Times New Roman" panose="02020603050405020304" pitchFamily="18" charset="0"/>
            </a:endParaRPr>
          </a:p>
          <a:p>
            <a:pPr algn="just">
              <a:lnSpc>
                <a:spcPct val="150000"/>
              </a:lnSpc>
              <a:spcAft>
                <a:spcPts val="0"/>
              </a:spcAft>
            </a:pPr>
            <a:r>
              <a:rPr lang="en-US" altLang="zh-CN" sz="2000" b="1" kern="100" dirty="0">
                <a:latin typeface="等线 Light" panose="02010600030101010101" pitchFamily="2" charset="-122"/>
                <a:ea typeface="等线 Light" panose="02010600030101010101" pitchFamily="2" charset="-122"/>
                <a:cs typeface="Times New Roman" panose="02020603050405020304" pitchFamily="18" charset="0"/>
              </a:rPr>
              <a:t>2</a:t>
            </a:r>
            <a:r>
              <a:rPr lang="zh-CN" altLang="en-US" sz="2000" b="1" kern="100" dirty="0">
                <a:latin typeface="等线 Light" panose="02010600030101010101" pitchFamily="2" charset="-122"/>
                <a:ea typeface="等线 Light" panose="02010600030101010101" pitchFamily="2" charset="-122"/>
                <a:cs typeface="Times New Roman" panose="02020603050405020304" pitchFamily="18" charset="0"/>
              </a:rPr>
              <a:t>、吸收和学习能力。</a:t>
            </a:r>
            <a:r>
              <a:rPr lang="zh-CN" altLang="en-US" sz="2000" kern="100" dirty="0">
                <a:latin typeface="等线 Light" panose="02010600030101010101" pitchFamily="2" charset="-122"/>
                <a:ea typeface="等线 Light" panose="02010600030101010101" pitchFamily="2" charset="-122"/>
                <a:cs typeface="Times New Roman" panose="02020603050405020304" pitchFamily="18" charset="0"/>
              </a:rPr>
              <a:t>吸收和学习理论、实践</a:t>
            </a:r>
            <a:endParaRPr lang="en-US" altLang="zh-CN" sz="2000" kern="100" dirty="0">
              <a:latin typeface="等线 Light" panose="02010600030101010101" pitchFamily="2" charset="-122"/>
              <a:ea typeface="等线 Light" panose="02010600030101010101" pitchFamily="2" charset="-122"/>
              <a:cs typeface="Times New Roman" panose="02020603050405020304" pitchFamily="18" charset="0"/>
            </a:endParaRPr>
          </a:p>
          <a:p>
            <a:pPr algn="just">
              <a:lnSpc>
                <a:spcPct val="150000"/>
              </a:lnSpc>
              <a:spcAft>
                <a:spcPts val="0"/>
              </a:spcAft>
            </a:pPr>
            <a:r>
              <a:rPr lang="en-US" altLang="zh-CN" sz="2000" b="1" kern="100" dirty="0">
                <a:latin typeface="等线 Light" panose="02010600030101010101" pitchFamily="2" charset="-122"/>
                <a:ea typeface="等线 Light" panose="02010600030101010101" pitchFamily="2" charset="-122"/>
                <a:cs typeface="Times New Roman" panose="02020603050405020304" pitchFamily="18" charset="0"/>
              </a:rPr>
              <a:t>3</a:t>
            </a:r>
            <a:r>
              <a:rPr lang="zh-CN" altLang="en-US" sz="2000" b="1" kern="100" dirty="0">
                <a:latin typeface="等线 Light" panose="02010600030101010101" pitchFamily="2" charset="-122"/>
                <a:ea typeface="等线 Light" panose="02010600030101010101" pitchFamily="2" charset="-122"/>
                <a:cs typeface="Times New Roman" panose="02020603050405020304" pitchFamily="18" charset="0"/>
              </a:rPr>
              <a:t>、归纳和总结能力。</a:t>
            </a:r>
            <a:r>
              <a:rPr lang="zh-CN" altLang="en-US" sz="2000" kern="100" dirty="0">
                <a:latin typeface="等线 Light" panose="02010600030101010101" pitchFamily="2" charset="-122"/>
                <a:ea typeface="等线 Light" panose="02010600030101010101" pitchFamily="2" charset="-122"/>
                <a:cs typeface="Times New Roman" panose="02020603050405020304" pitchFamily="18" charset="0"/>
              </a:rPr>
              <a:t>通过学习不同的文献，进行归纳、分析和总结</a:t>
            </a:r>
            <a:endParaRPr lang="en-US" altLang="zh-CN" sz="2000" kern="100" dirty="0">
              <a:latin typeface="等线 Light" panose="02010600030101010101" pitchFamily="2" charset="-122"/>
              <a:ea typeface="等线 Light" panose="02010600030101010101" pitchFamily="2" charset="-122"/>
              <a:cs typeface="Times New Roman" panose="02020603050405020304" pitchFamily="18" charset="0"/>
            </a:endParaRPr>
          </a:p>
          <a:p>
            <a:pPr algn="just">
              <a:lnSpc>
                <a:spcPct val="150000"/>
              </a:lnSpc>
            </a:pPr>
            <a:r>
              <a:rPr lang="en-US" altLang="zh-CN" sz="2000" b="1" kern="100" dirty="0">
                <a:latin typeface="等线 Light" panose="02010600030101010101" pitchFamily="2" charset="-122"/>
                <a:ea typeface="等线 Light" panose="02010600030101010101" pitchFamily="2" charset="-122"/>
                <a:cs typeface="Times New Roman" panose="02020603050405020304" pitchFamily="18" charset="0"/>
              </a:rPr>
              <a:t>4</a:t>
            </a:r>
            <a:r>
              <a:rPr lang="zh-CN" altLang="en-US" sz="2000" b="1" kern="100" dirty="0">
                <a:latin typeface="等线 Light" panose="02010600030101010101" pitchFamily="2" charset="-122"/>
                <a:ea typeface="等线 Light" panose="02010600030101010101" pitchFamily="2" charset="-122"/>
                <a:cs typeface="Times New Roman" panose="02020603050405020304" pitchFamily="18" charset="0"/>
              </a:rPr>
              <a:t>、</a:t>
            </a:r>
            <a:r>
              <a:rPr lang="zh-CN" altLang="zh-CN" sz="2000" b="1" kern="100" dirty="0">
                <a:latin typeface="等线 Light" panose="02010600030101010101" pitchFamily="2" charset="-122"/>
                <a:ea typeface="等线 Light" panose="02010600030101010101" pitchFamily="2" charset="-122"/>
                <a:cs typeface="Times New Roman" panose="02020603050405020304" pitchFamily="18" charset="0"/>
              </a:rPr>
              <a:t>反思和批判。</a:t>
            </a:r>
            <a:r>
              <a:rPr lang="zh-CN" altLang="zh-CN" sz="2000" kern="100" dirty="0">
                <a:latin typeface="等线 Light" panose="02010600030101010101" pitchFamily="2" charset="-122"/>
                <a:ea typeface="等线 Light" panose="02010600030101010101" pitchFamily="2" charset="-122"/>
                <a:cs typeface="Times New Roman" panose="02020603050405020304" pitchFamily="18" charset="0"/>
              </a:rPr>
              <a:t>可根据研究成果和实践成果进行思考，并从中提出看法和观点。</a:t>
            </a:r>
          </a:p>
          <a:p>
            <a:pPr algn="just">
              <a:lnSpc>
                <a:spcPct val="150000"/>
              </a:lnSpc>
            </a:pPr>
            <a:r>
              <a:rPr lang="en-US" altLang="zh-CN" sz="2000" b="1" kern="100" dirty="0">
                <a:latin typeface="等线 Light" panose="02010600030101010101" pitchFamily="2" charset="-122"/>
                <a:ea typeface="等线 Light" panose="02010600030101010101" pitchFamily="2" charset="-122"/>
                <a:cs typeface="Times New Roman" panose="02020603050405020304" pitchFamily="18" charset="0"/>
              </a:rPr>
              <a:t>5</a:t>
            </a:r>
            <a:r>
              <a:rPr lang="zh-CN" altLang="en-US" sz="2000" b="1" kern="100" dirty="0">
                <a:latin typeface="等线 Light" panose="02010600030101010101" pitchFamily="2" charset="-122"/>
                <a:ea typeface="等线 Light" panose="02010600030101010101" pitchFamily="2" charset="-122"/>
                <a:cs typeface="Times New Roman" panose="02020603050405020304" pitchFamily="18" charset="0"/>
              </a:rPr>
              <a:t>、</a:t>
            </a:r>
            <a:r>
              <a:rPr lang="zh-CN" altLang="zh-CN" sz="2000" b="1" kern="100" dirty="0">
                <a:latin typeface="等线 Light" panose="02010600030101010101" pitchFamily="2" charset="-122"/>
                <a:ea typeface="等线 Light" panose="02010600030101010101" pitchFamily="2" charset="-122"/>
                <a:cs typeface="Times New Roman" panose="02020603050405020304" pitchFamily="18" charset="0"/>
              </a:rPr>
              <a:t>掌握理论和方法，并能在解决实践和研究问题中进行应用。</a:t>
            </a:r>
          </a:p>
          <a:p>
            <a:pPr marL="342900" indent="-342900" algn="just">
              <a:lnSpc>
                <a:spcPct val="150000"/>
              </a:lnSpc>
              <a:buFont typeface="Arial" panose="020B0604020202020204" pitchFamily="34" charset="0"/>
              <a:buChar char="•"/>
            </a:pPr>
            <a:endParaRPr lang="en-US" altLang="zh-CN" sz="2000" kern="100" dirty="0">
              <a:latin typeface="等线 Light" panose="02010600030101010101" pitchFamily="2" charset="-122"/>
              <a:ea typeface="等线 Light" panose="02010600030101010101" pitchFamily="2" charset="-122"/>
              <a:cs typeface="Times New Roman" panose="02020603050405020304" pitchFamily="18" charset="0"/>
            </a:endParaRPr>
          </a:p>
        </p:txBody>
      </p:sp>
      <p:sp>
        <p:nvSpPr>
          <p:cNvPr id="5" name="矩形 4">
            <a:extLst>
              <a:ext uri="{FF2B5EF4-FFF2-40B4-BE49-F238E27FC236}">
                <a16:creationId xmlns:a16="http://schemas.microsoft.com/office/drawing/2014/main" id="{BDF466A4-25F0-4455-B119-4E443948B873}"/>
              </a:ext>
            </a:extLst>
          </p:cNvPr>
          <p:cNvSpPr/>
          <p:nvPr/>
        </p:nvSpPr>
        <p:spPr>
          <a:xfrm>
            <a:off x="152400" y="4343400"/>
            <a:ext cx="11658600" cy="1712135"/>
          </a:xfrm>
          <a:prstGeom prst="rect">
            <a:avLst/>
          </a:prstGeom>
          <a:solidFill>
            <a:srgbClr val="70AD47">
              <a:lumMod val="40000"/>
              <a:lumOff val="60000"/>
            </a:srgbClr>
          </a:solidFill>
        </p:spPr>
        <p:txBody>
          <a:bodyPr wrap="square">
            <a:spAutoFit/>
          </a:bodyPr>
          <a:lstStyle/>
          <a:p>
            <a:pPr>
              <a:lnSpc>
                <a:spcPct val="150000"/>
              </a:lnSpc>
            </a:pPr>
            <a:r>
              <a:rPr lang="zh-CN" altLang="en-US" b="1" kern="100" dirty="0">
                <a:highlight>
                  <a:srgbClr val="FFFF00"/>
                </a:highlight>
                <a:latin typeface="等线 Light" panose="02010600030101010101" pitchFamily="2" charset="-122"/>
                <a:ea typeface="等线 Light" panose="02010600030101010101" pitchFamily="2" charset="-122"/>
                <a:cs typeface="Times New Roman" panose="02020603050405020304" pitchFamily="18" charset="0"/>
              </a:rPr>
              <a:t>港珠澳大桥招标总结：</a:t>
            </a:r>
            <a:r>
              <a:rPr lang="zh-CN" altLang="en-US" i="1" kern="100" dirty="0">
                <a:latin typeface="等线 Light" panose="02010600030101010101" pitchFamily="2" charset="-122"/>
                <a:ea typeface="等线 Light" panose="02010600030101010101" pitchFamily="2" charset="-122"/>
                <a:cs typeface="Times New Roman" panose="02020603050405020304" pitchFamily="18" charset="0"/>
              </a:rPr>
              <a:t>“</a:t>
            </a:r>
            <a:r>
              <a:rPr lang="zh-CN" altLang="zh-CN" i="1" kern="100" dirty="0">
                <a:latin typeface="等线 Light" panose="02010600030101010101" pitchFamily="2" charset="-122"/>
                <a:ea typeface="等线 Light" panose="02010600030101010101" pitchFamily="2" charset="-122"/>
                <a:cs typeface="Times New Roman" panose="02020603050405020304" pitchFamily="18" charset="0"/>
              </a:rPr>
              <a:t>招标团队是如何致力于通过市场调研和技术交流等手段，来系统地寻找“一国两制”下的复杂工程的解决办法，对国际国内重大工程做如此大范围和深度调研，拥有如此开阔的国际视野，在招标策划中系统策划引入国际合作方。通过笔者在荷兰访学期间对世界范围内重大工程的涉猎和研究，港珠澳大桥的知识学习与知识管理之深、之广、之全寿命周期之覆盖和国际开放程度，确实算得上世界土建工程之最了。</a:t>
            </a:r>
            <a:r>
              <a:rPr lang="zh-CN" altLang="en-US" i="1" kern="100" dirty="0">
                <a:latin typeface="等线 Light" panose="02010600030101010101" pitchFamily="2" charset="-122"/>
                <a:ea typeface="等线 Light" panose="02010600030101010101" pitchFamily="2" charset="-122"/>
                <a:cs typeface="Times New Roman" panose="02020603050405020304" pitchFamily="18" charset="0"/>
              </a:rPr>
              <a:t>”</a:t>
            </a:r>
          </a:p>
        </p:txBody>
      </p:sp>
    </p:spTree>
    <p:extLst>
      <p:ext uri="{BB962C8B-B14F-4D97-AF65-F5344CB8AC3E}">
        <p14:creationId xmlns:p14="http://schemas.microsoft.com/office/powerpoint/2010/main" val="40366472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3EC10380-1D65-43E9-8B8E-C5EDCAA6F271}"/>
              </a:ext>
            </a:extLst>
          </p:cNvPr>
          <p:cNvSpPr/>
          <p:nvPr/>
        </p:nvSpPr>
        <p:spPr>
          <a:xfrm>
            <a:off x="1752600" y="1219200"/>
            <a:ext cx="1447800" cy="838200"/>
          </a:xfrm>
          <a:prstGeom prst="rect">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等线 Light" panose="02010600030101010101" pitchFamily="2" charset="-122"/>
                <a:ea typeface="等线 Light" panose="02010600030101010101" pitchFamily="2" charset="-122"/>
              </a:rPr>
              <a:t>确定综述目的</a:t>
            </a:r>
          </a:p>
        </p:txBody>
      </p:sp>
      <p:sp>
        <p:nvSpPr>
          <p:cNvPr id="8" name="矩形 7">
            <a:extLst>
              <a:ext uri="{FF2B5EF4-FFF2-40B4-BE49-F238E27FC236}">
                <a16:creationId xmlns:a16="http://schemas.microsoft.com/office/drawing/2014/main" id="{478A9118-C64D-4112-900F-1FDE525254D1}"/>
              </a:ext>
            </a:extLst>
          </p:cNvPr>
          <p:cNvSpPr/>
          <p:nvPr/>
        </p:nvSpPr>
        <p:spPr>
          <a:xfrm>
            <a:off x="3810000" y="1219200"/>
            <a:ext cx="1447800" cy="838200"/>
          </a:xfrm>
          <a:prstGeom prst="rect">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等线 Light" panose="02010600030101010101" pitchFamily="2" charset="-122"/>
                <a:ea typeface="等线 Light" panose="02010600030101010101" pitchFamily="2" charset="-122"/>
              </a:rPr>
              <a:t>文献检索</a:t>
            </a:r>
          </a:p>
        </p:txBody>
      </p:sp>
      <p:sp>
        <p:nvSpPr>
          <p:cNvPr id="9" name="矩形 8">
            <a:extLst>
              <a:ext uri="{FF2B5EF4-FFF2-40B4-BE49-F238E27FC236}">
                <a16:creationId xmlns:a16="http://schemas.microsoft.com/office/drawing/2014/main" id="{355B903B-8CE0-498E-827E-970C45F31298}"/>
              </a:ext>
            </a:extLst>
          </p:cNvPr>
          <p:cNvSpPr/>
          <p:nvPr/>
        </p:nvSpPr>
        <p:spPr>
          <a:xfrm>
            <a:off x="6019800" y="1219200"/>
            <a:ext cx="1447800" cy="838200"/>
          </a:xfrm>
          <a:prstGeom prst="rect">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等线 Light" panose="02010600030101010101" pitchFamily="2" charset="-122"/>
                <a:ea typeface="等线 Light" panose="02010600030101010101" pitchFamily="2" charset="-122"/>
              </a:rPr>
              <a:t>文献阅读与整理</a:t>
            </a:r>
          </a:p>
        </p:txBody>
      </p:sp>
      <p:sp>
        <p:nvSpPr>
          <p:cNvPr id="10" name="矩形 9">
            <a:extLst>
              <a:ext uri="{FF2B5EF4-FFF2-40B4-BE49-F238E27FC236}">
                <a16:creationId xmlns:a16="http://schemas.microsoft.com/office/drawing/2014/main" id="{3F2A4654-D04D-4DF2-9A70-CD174FB86FB7}"/>
              </a:ext>
            </a:extLst>
          </p:cNvPr>
          <p:cNvSpPr/>
          <p:nvPr/>
        </p:nvSpPr>
        <p:spPr>
          <a:xfrm>
            <a:off x="8229600" y="1219200"/>
            <a:ext cx="1409699" cy="838200"/>
          </a:xfrm>
          <a:prstGeom prst="rect">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等线 Light" panose="02010600030101010101" pitchFamily="2" charset="-122"/>
                <a:ea typeface="等线 Light" panose="02010600030101010101" pitchFamily="2" charset="-122"/>
              </a:rPr>
              <a:t>综述写作</a:t>
            </a:r>
          </a:p>
        </p:txBody>
      </p:sp>
      <p:cxnSp>
        <p:nvCxnSpPr>
          <p:cNvPr id="12" name="直接连接符 11">
            <a:extLst>
              <a:ext uri="{FF2B5EF4-FFF2-40B4-BE49-F238E27FC236}">
                <a16:creationId xmlns:a16="http://schemas.microsoft.com/office/drawing/2014/main" id="{DD72CD60-6F31-4A64-8B69-66C8E2DBD429}"/>
              </a:ext>
            </a:extLst>
          </p:cNvPr>
          <p:cNvCxnSpPr>
            <a:cxnSpLocks/>
            <a:stCxn id="9" idx="2"/>
          </p:cNvCxnSpPr>
          <p:nvPr/>
        </p:nvCxnSpPr>
        <p:spPr>
          <a:xfrm>
            <a:off x="6743700" y="2057400"/>
            <a:ext cx="0" cy="60960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28160080-5CB8-4159-A294-5FCC51723997}"/>
              </a:ext>
            </a:extLst>
          </p:cNvPr>
          <p:cNvCxnSpPr>
            <a:cxnSpLocks/>
          </p:cNvCxnSpPr>
          <p:nvPr/>
        </p:nvCxnSpPr>
        <p:spPr>
          <a:xfrm flipH="1">
            <a:off x="2398486" y="2667000"/>
            <a:ext cx="4345214"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AA9BAE28-BED1-4DB9-8D64-B9F7AAAF1781}"/>
              </a:ext>
            </a:extLst>
          </p:cNvPr>
          <p:cNvCxnSpPr>
            <a:cxnSpLocks/>
          </p:cNvCxnSpPr>
          <p:nvPr/>
        </p:nvCxnSpPr>
        <p:spPr>
          <a:xfrm>
            <a:off x="4572000" y="2057400"/>
            <a:ext cx="0" cy="609600"/>
          </a:xfrm>
          <a:prstGeom prst="line">
            <a:avLst/>
          </a:prstGeom>
          <a:ln w="25400">
            <a:headEnd type="triangle"/>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426A092F-E5E1-4E75-B6DF-86D809F757D0}"/>
              </a:ext>
            </a:extLst>
          </p:cNvPr>
          <p:cNvCxnSpPr>
            <a:cxnSpLocks/>
          </p:cNvCxnSpPr>
          <p:nvPr/>
        </p:nvCxnSpPr>
        <p:spPr>
          <a:xfrm>
            <a:off x="2398486" y="2057400"/>
            <a:ext cx="0" cy="609600"/>
          </a:xfrm>
          <a:prstGeom prst="line">
            <a:avLst/>
          </a:prstGeom>
          <a:ln w="25400">
            <a:headEnd type="triangle"/>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AB929756-28D4-42F1-BA05-047BA7B359F7}"/>
              </a:ext>
            </a:extLst>
          </p:cNvPr>
          <p:cNvCxnSpPr>
            <a:cxnSpLocks/>
            <a:stCxn id="8" idx="1"/>
            <a:endCxn id="6" idx="3"/>
          </p:cNvCxnSpPr>
          <p:nvPr/>
        </p:nvCxnSpPr>
        <p:spPr>
          <a:xfrm flipH="1">
            <a:off x="3200400" y="1638300"/>
            <a:ext cx="609600" cy="0"/>
          </a:xfrm>
          <a:prstGeom prst="line">
            <a:avLst/>
          </a:prstGeom>
          <a:ln w="25400">
            <a:headEnd type="triangle"/>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55FE5139-0840-489F-B7F8-10832CB68492}"/>
              </a:ext>
            </a:extLst>
          </p:cNvPr>
          <p:cNvCxnSpPr>
            <a:cxnSpLocks/>
            <a:stCxn id="9" idx="1"/>
            <a:endCxn id="8" idx="3"/>
          </p:cNvCxnSpPr>
          <p:nvPr/>
        </p:nvCxnSpPr>
        <p:spPr>
          <a:xfrm flipH="1">
            <a:off x="5257800" y="1638300"/>
            <a:ext cx="762000" cy="0"/>
          </a:xfrm>
          <a:prstGeom prst="line">
            <a:avLst/>
          </a:prstGeom>
          <a:ln w="25400">
            <a:headEnd type="triangle"/>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A0588E4A-20A8-4989-8A6F-4706C8658BE1}"/>
              </a:ext>
            </a:extLst>
          </p:cNvPr>
          <p:cNvCxnSpPr>
            <a:cxnSpLocks/>
          </p:cNvCxnSpPr>
          <p:nvPr/>
        </p:nvCxnSpPr>
        <p:spPr>
          <a:xfrm flipH="1">
            <a:off x="7467600" y="1638300"/>
            <a:ext cx="762000" cy="0"/>
          </a:xfrm>
          <a:prstGeom prst="line">
            <a:avLst/>
          </a:prstGeom>
          <a:ln w="25400">
            <a:headEnd type="triangle"/>
          </a:ln>
        </p:spPr>
        <p:style>
          <a:lnRef idx="1">
            <a:schemeClr val="accent1"/>
          </a:lnRef>
          <a:fillRef idx="0">
            <a:schemeClr val="accent1"/>
          </a:fillRef>
          <a:effectRef idx="0">
            <a:schemeClr val="accent1"/>
          </a:effectRef>
          <a:fontRef idx="minor">
            <a:schemeClr val="tx1"/>
          </a:fontRef>
        </p:style>
      </p:cxnSp>
      <p:sp>
        <p:nvSpPr>
          <p:cNvPr id="31" name="矩形 30">
            <a:extLst>
              <a:ext uri="{FF2B5EF4-FFF2-40B4-BE49-F238E27FC236}">
                <a16:creationId xmlns:a16="http://schemas.microsoft.com/office/drawing/2014/main" id="{783538B4-0CF2-4C67-9D04-7BCF78F12F82}"/>
              </a:ext>
            </a:extLst>
          </p:cNvPr>
          <p:cNvSpPr/>
          <p:nvPr/>
        </p:nvSpPr>
        <p:spPr>
          <a:xfrm>
            <a:off x="5181600" y="2247901"/>
            <a:ext cx="914400" cy="3809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等线 Light" panose="02010600030101010101" pitchFamily="2" charset="-122"/>
                <a:ea typeface="等线 Light" panose="02010600030101010101" pitchFamily="2" charset="-122"/>
              </a:rPr>
              <a:t>调整</a:t>
            </a:r>
          </a:p>
        </p:txBody>
      </p:sp>
      <p:sp>
        <p:nvSpPr>
          <p:cNvPr id="32" name="矩形 31">
            <a:extLst>
              <a:ext uri="{FF2B5EF4-FFF2-40B4-BE49-F238E27FC236}">
                <a16:creationId xmlns:a16="http://schemas.microsoft.com/office/drawing/2014/main" id="{DB8AC394-85C9-4F47-B596-765FD21BAEDF}"/>
              </a:ext>
            </a:extLst>
          </p:cNvPr>
          <p:cNvSpPr/>
          <p:nvPr/>
        </p:nvSpPr>
        <p:spPr>
          <a:xfrm>
            <a:off x="152407" y="2820370"/>
            <a:ext cx="3505191" cy="2127634"/>
          </a:xfrm>
          <a:prstGeom prst="rect">
            <a:avLst/>
          </a:prstGeom>
          <a:ln>
            <a:solidFill>
              <a:schemeClr val="accent1"/>
            </a:solidFill>
          </a:ln>
        </p:spPr>
        <p:txBody>
          <a:bodyPr wrap="square">
            <a:spAutoFit/>
          </a:bodyPr>
          <a:lstStyle/>
          <a:p>
            <a:pPr algn="just">
              <a:lnSpc>
                <a:spcPct val="150000"/>
              </a:lnSpc>
              <a:spcAft>
                <a:spcPts val="0"/>
              </a:spcAft>
            </a:pPr>
            <a:r>
              <a:rPr lang="zh-CN" altLang="en-US" b="1" kern="100" dirty="0">
                <a:latin typeface="等线 Light" panose="02010600030101010101" pitchFamily="2" charset="-122"/>
                <a:ea typeface="等线 Light" panose="02010600030101010101" pitchFamily="2" charset="-122"/>
                <a:cs typeface="Times New Roman" panose="02020603050405020304" pitchFamily="18" charset="0"/>
              </a:rPr>
              <a:t>三个目的：</a:t>
            </a:r>
            <a:endParaRPr lang="en-US" altLang="zh-CN" b="1" kern="100" dirty="0">
              <a:latin typeface="等线 Light" panose="02010600030101010101" pitchFamily="2" charset="-122"/>
              <a:ea typeface="等线 Light" panose="02010600030101010101" pitchFamily="2" charset="-122"/>
              <a:cs typeface="Times New Roman" panose="02020603050405020304" pitchFamily="18" charset="0"/>
            </a:endParaRPr>
          </a:p>
          <a:p>
            <a:pPr marL="342900" indent="-342900" algn="just">
              <a:lnSpc>
                <a:spcPct val="150000"/>
              </a:lnSpc>
              <a:spcAft>
                <a:spcPts val="0"/>
              </a:spcAft>
              <a:buFont typeface="Arial" panose="020B0604020202020204" pitchFamily="34" charset="0"/>
              <a:buChar char="•"/>
            </a:pPr>
            <a:r>
              <a:rPr lang="zh-CN" altLang="zh-CN" kern="100" dirty="0">
                <a:latin typeface="等线 Light" panose="02010600030101010101" pitchFamily="2" charset="-122"/>
                <a:ea typeface="等线 Light" panose="02010600030101010101" pitchFamily="2" charset="-122"/>
                <a:cs typeface="Times New Roman" panose="02020603050405020304" pitchFamily="18" charset="0"/>
              </a:rPr>
              <a:t>熟悉某研究领域</a:t>
            </a:r>
            <a:r>
              <a:rPr lang="zh-CN" altLang="en-US" kern="100" dirty="0">
                <a:latin typeface="等线 Light" panose="02010600030101010101" pitchFamily="2" charset="-122"/>
                <a:ea typeface="等线 Light" panose="02010600030101010101" pitchFamily="2" charset="-122"/>
                <a:cs typeface="Times New Roman" panose="02020603050405020304" pitchFamily="18" charset="0"/>
              </a:rPr>
              <a:t>的</a:t>
            </a:r>
            <a:r>
              <a:rPr lang="zh-CN" altLang="zh-CN" kern="100" dirty="0">
                <a:latin typeface="等线 Light" panose="02010600030101010101" pitchFamily="2" charset="-122"/>
                <a:ea typeface="等线 Light" panose="02010600030101010101" pitchFamily="2" charset="-122"/>
                <a:cs typeface="Times New Roman" panose="02020603050405020304" pitchFamily="18" charset="0"/>
              </a:rPr>
              <a:t>探索性认识</a:t>
            </a:r>
            <a:endParaRPr lang="en-US" altLang="zh-CN" kern="100" dirty="0">
              <a:latin typeface="等线 Light" panose="02010600030101010101" pitchFamily="2" charset="-122"/>
              <a:ea typeface="等线 Light" panose="02010600030101010101" pitchFamily="2" charset="-122"/>
              <a:cs typeface="Times New Roman" panose="02020603050405020304" pitchFamily="18" charset="0"/>
            </a:endParaRPr>
          </a:p>
          <a:p>
            <a:pPr marL="342900" indent="-342900" algn="just">
              <a:lnSpc>
                <a:spcPct val="150000"/>
              </a:lnSpc>
              <a:spcAft>
                <a:spcPts val="0"/>
              </a:spcAft>
              <a:buFont typeface="Arial" panose="020B0604020202020204" pitchFamily="34" charset="0"/>
              <a:buChar char="•"/>
            </a:pPr>
            <a:r>
              <a:rPr lang="zh-CN" altLang="zh-CN" kern="100" dirty="0">
                <a:latin typeface="等线 Light" panose="02010600030101010101" pitchFamily="2" charset="-122"/>
                <a:ea typeface="等线 Light" panose="02010600030101010101" pitchFamily="2" charset="-122"/>
                <a:cs typeface="Times New Roman" panose="02020603050405020304" pitchFamily="18" charset="0"/>
              </a:rPr>
              <a:t>以确定当前研究不足为目的</a:t>
            </a:r>
            <a:endParaRPr lang="en-US" altLang="zh-CN" kern="100" dirty="0">
              <a:latin typeface="等线 Light" panose="02010600030101010101" pitchFamily="2" charset="-122"/>
              <a:ea typeface="等线 Light" panose="02010600030101010101" pitchFamily="2" charset="-122"/>
              <a:cs typeface="Times New Roman" panose="02020603050405020304" pitchFamily="18" charset="0"/>
            </a:endParaRPr>
          </a:p>
          <a:p>
            <a:pPr marL="342900" indent="-342900" algn="just">
              <a:lnSpc>
                <a:spcPct val="150000"/>
              </a:lnSpc>
              <a:spcAft>
                <a:spcPts val="0"/>
              </a:spcAft>
              <a:buFont typeface="Arial" panose="020B0604020202020204" pitchFamily="34" charset="0"/>
              <a:buChar char="•"/>
            </a:pPr>
            <a:r>
              <a:rPr lang="zh-CN" altLang="zh-CN" kern="100" dirty="0">
                <a:latin typeface="等线 Light" panose="02010600030101010101" pitchFamily="2" charset="-122"/>
                <a:ea typeface="等线 Light" panose="02010600030101010101" pitchFamily="2" charset="-122"/>
                <a:cs typeface="Times New Roman" panose="02020603050405020304" pitchFamily="18" charset="0"/>
              </a:rPr>
              <a:t>为问题研究、解决方案的设计与评估提供理论基础</a:t>
            </a:r>
            <a:endParaRPr lang="en-US" altLang="zh-CN" kern="100" dirty="0">
              <a:latin typeface="等线 Light" panose="02010600030101010101" pitchFamily="2" charset="-122"/>
              <a:ea typeface="等线 Light" panose="02010600030101010101" pitchFamily="2" charset="-122"/>
              <a:cs typeface="Times New Roman" panose="02020603050405020304" pitchFamily="18" charset="0"/>
            </a:endParaRPr>
          </a:p>
        </p:txBody>
      </p:sp>
      <p:sp>
        <p:nvSpPr>
          <p:cNvPr id="15" name="矩形 14">
            <a:extLst>
              <a:ext uri="{FF2B5EF4-FFF2-40B4-BE49-F238E27FC236}">
                <a16:creationId xmlns:a16="http://schemas.microsoft.com/office/drawing/2014/main" id="{4EC9733F-03AF-4DA0-BFE6-55D90E79D14C}"/>
              </a:ext>
            </a:extLst>
          </p:cNvPr>
          <p:cNvSpPr/>
          <p:nvPr/>
        </p:nvSpPr>
        <p:spPr>
          <a:xfrm>
            <a:off x="1752600" y="457200"/>
            <a:ext cx="4953000" cy="600164"/>
          </a:xfrm>
          <a:prstGeom prst="rect">
            <a:avLst/>
          </a:prstGeom>
        </p:spPr>
        <p:txBody>
          <a:bodyPr wrap="square">
            <a:spAutoFit/>
          </a:bodyPr>
          <a:lstStyle/>
          <a:p>
            <a:r>
              <a:rPr lang="zh-CN" altLang="zh-CN" sz="3300" dirty="0">
                <a:latin typeface="等线 Light" panose="02010600030101010101" pitchFamily="2" charset="-122"/>
                <a:ea typeface="等线 Light" panose="02010600030101010101" pitchFamily="2" charset="-122"/>
                <a:cs typeface="Times New Roman" panose="02020603050405020304" pitchFamily="18" charset="0"/>
              </a:rPr>
              <a:t>文献综述</a:t>
            </a:r>
            <a:r>
              <a:rPr lang="zh-CN" altLang="en-US" sz="3300" dirty="0">
                <a:latin typeface="等线 Light" panose="02010600030101010101" pitchFamily="2" charset="-122"/>
                <a:ea typeface="等线 Light" panose="02010600030101010101" pitchFamily="2" charset="-122"/>
                <a:cs typeface="Times New Roman" panose="02020603050405020304" pitchFamily="18" charset="0"/>
              </a:rPr>
              <a:t>的步骤</a:t>
            </a:r>
            <a:endParaRPr lang="zh-CN" altLang="en-US" sz="3300" dirty="0">
              <a:latin typeface="等线 Light" panose="02010600030101010101" pitchFamily="2" charset="-122"/>
              <a:ea typeface="等线 Light" panose="02010600030101010101" pitchFamily="2" charset="-122"/>
            </a:endParaRPr>
          </a:p>
        </p:txBody>
      </p:sp>
      <p:sp>
        <p:nvSpPr>
          <p:cNvPr id="2" name="矩形 1">
            <a:extLst>
              <a:ext uri="{FF2B5EF4-FFF2-40B4-BE49-F238E27FC236}">
                <a16:creationId xmlns:a16="http://schemas.microsoft.com/office/drawing/2014/main" id="{34CAD37F-1D37-415E-BCB2-4ECC561FC714}"/>
              </a:ext>
            </a:extLst>
          </p:cNvPr>
          <p:cNvSpPr/>
          <p:nvPr/>
        </p:nvSpPr>
        <p:spPr>
          <a:xfrm>
            <a:off x="3714751" y="2806513"/>
            <a:ext cx="2933698" cy="2122376"/>
          </a:xfrm>
          <a:prstGeom prst="rect">
            <a:avLst/>
          </a:prstGeom>
          <a:ln>
            <a:solidFill>
              <a:schemeClr val="accent1"/>
            </a:solidFill>
          </a:ln>
        </p:spPr>
        <p:txBody>
          <a:bodyPr wrap="square">
            <a:spAutoFit/>
          </a:bodyPr>
          <a:lstStyle/>
          <a:p>
            <a:pPr algn="just">
              <a:lnSpc>
                <a:spcPct val="150000"/>
              </a:lnSpc>
              <a:spcAft>
                <a:spcPts val="0"/>
              </a:spcAft>
            </a:pPr>
            <a:r>
              <a:rPr lang="zh-CN" altLang="en-US" b="1" kern="100" dirty="0">
                <a:latin typeface="等线 Light" panose="02010600030101010101" pitchFamily="2" charset="-122"/>
                <a:ea typeface="等线 Light" panose="02010600030101010101" pitchFamily="2" charset="-122"/>
                <a:cs typeface="Times New Roman" panose="02020603050405020304" pitchFamily="18" charset="0"/>
              </a:rPr>
              <a:t>检索</a:t>
            </a:r>
            <a:endParaRPr lang="zh-CN" altLang="en-US" kern="100" dirty="0">
              <a:latin typeface="等线 Light" panose="02010600030101010101" pitchFamily="2" charset="-122"/>
              <a:ea typeface="等线 Light" panose="02010600030101010101" pitchFamily="2" charset="-122"/>
              <a:cs typeface="Times New Roman" panose="02020603050405020304" pitchFamily="18" charset="0"/>
            </a:endParaRPr>
          </a:p>
          <a:p>
            <a:pPr marL="342900" indent="-342900" algn="just">
              <a:lnSpc>
                <a:spcPct val="150000"/>
              </a:lnSpc>
              <a:spcAft>
                <a:spcPts val="0"/>
              </a:spcAft>
              <a:buFont typeface="Arial" panose="020B0604020202020204" pitchFamily="34" charset="0"/>
              <a:buChar char="•"/>
            </a:pPr>
            <a:r>
              <a:rPr lang="zh-CN" altLang="zh-CN" kern="100" dirty="0">
                <a:latin typeface="等线 Light" panose="02010600030101010101" pitchFamily="2" charset="-122"/>
                <a:ea typeface="等线 Light" panose="02010600030101010101" pitchFamily="2" charset="-122"/>
                <a:cs typeface="Times New Roman" panose="02020603050405020304" pitchFamily="18" charset="0"/>
              </a:rPr>
              <a:t>确定文献搜索的目的</a:t>
            </a:r>
            <a:endParaRPr lang="en-US" altLang="zh-CN" kern="100" dirty="0">
              <a:latin typeface="等线 Light" panose="02010600030101010101" pitchFamily="2" charset="-122"/>
              <a:ea typeface="等线 Light" panose="02010600030101010101" pitchFamily="2" charset="-122"/>
              <a:cs typeface="Times New Roman" panose="02020603050405020304" pitchFamily="18" charset="0"/>
            </a:endParaRPr>
          </a:p>
          <a:p>
            <a:pPr marL="342900" indent="-342900" algn="just">
              <a:lnSpc>
                <a:spcPct val="150000"/>
              </a:lnSpc>
              <a:spcAft>
                <a:spcPts val="0"/>
              </a:spcAft>
              <a:buFont typeface="Arial" panose="020B0604020202020204" pitchFamily="34" charset="0"/>
              <a:buChar char="•"/>
            </a:pPr>
            <a:r>
              <a:rPr lang="zh-CN" altLang="zh-CN" kern="100" dirty="0">
                <a:latin typeface="等线 Light" panose="02010600030101010101" pitchFamily="2" charset="-122"/>
                <a:ea typeface="等线 Light" panose="02010600030101010101" pitchFamily="2" charset="-122"/>
                <a:cs typeface="Times New Roman" panose="02020603050405020304" pitchFamily="18" charset="0"/>
              </a:rPr>
              <a:t>选择合适的数据库</a:t>
            </a:r>
            <a:endParaRPr lang="en-US" altLang="zh-CN" kern="100" dirty="0">
              <a:latin typeface="等线 Light" panose="02010600030101010101" pitchFamily="2" charset="-122"/>
              <a:ea typeface="等线 Light" panose="02010600030101010101" pitchFamily="2" charset="-122"/>
              <a:cs typeface="Times New Roman" panose="02020603050405020304" pitchFamily="18" charset="0"/>
            </a:endParaRPr>
          </a:p>
          <a:p>
            <a:pPr marL="342900" indent="-342900" algn="just">
              <a:lnSpc>
                <a:spcPct val="150000"/>
              </a:lnSpc>
              <a:spcAft>
                <a:spcPts val="0"/>
              </a:spcAft>
              <a:buFont typeface="Arial" panose="020B0604020202020204" pitchFamily="34" charset="0"/>
              <a:buChar char="•"/>
            </a:pPr>
            <a:r>
              <a:rPr lang="zh-CN" altLang="zh-CN" kern="100" dirty="0">
                <a:latin typeface="等线 Light" panose="02010600030101010101" pitchFamily="2" charset="-122"/>
                <a:ea typeface="等线 Light" panose="02010600030101010101" pitchFamily="2" charset="-122"/>
                <a:cs typeface="Times New Roman" panose="02020603050405020304" pitchFamily="18" charset="0"/>
              </a:rPr>
              <a:t>文献搜索</a:t>
            </a:r>
            <a:endParaRPr lang="en-US" altLang="zh-CN" kern="100" dirty="0">
              <a:latin typeface="等线 Light" panose="02010600030101010101" pitchFamily="2" charset="-122"/>
              <a:ea typeface="等线 Light" panose="02010600030101010101" pitchFamily="2" charset="-122"/>
              <a:cs typeface="Times New Roman" panose="02020603050405020304" pitchFamily="18" charset="0"/>
            </a:endParaRPr>
          </a:p>
          <a:p>
            <a:pPr marL="342900" indent="-342900" algn="just">
              <a:lnSpc>
                <a:spcPct val="150000"/>
              </a:lnSpc>
              <a:spcAft>
                <a:spcPts val="0"/>
              </a:spcAft>
              <a:buFont typeface="Arial" panose="020B0604020202020204" pitchFamily="34" charset="0"/>
              <a:buChar char="•"/>
            </a:pPr>
            <a:r>
              <a:rPr lang="zh-CN" altLang="zh-CN" kern="100" dirty="0">
                <a:latin typeface="等线 Light" panose="02010600030101010101" pitchFamily="2" charset="-122"/>
                <a:ea typeface="等线 Light" panose="02010600030101010101" pitchFamily="2" charset="-122"/>
                <a:cs typeface="Times New Roman" panose="02020603050405020304" pitchFamily="18" charset="0"/>
              </a:rPr>
              <a:t>文献筛选</a:t>
            </a:r>
            <a:endParaRPr lang="en-US" altLang="zh-CN" kern="100" dirty="0">
              <a:latin typeface="等线 Light" panose="02010600030101010101" pitchFamily="2" charset="-122"/>
              <a:ea typeface="等线 Light" panose="02010600030101010101" pitchFamily="2" charset="-122"/>
              <a:cs typeface="Times New Roman" panose="02020603050405020304" pitchFamily="18" charset="0"/>
            </a:endParaRPr>
          </a:p>
        </p:txBody>
      </p:sp>
      <p:sp>
        <p:nvSpPr>
          <p:cNvPr id="20" name="矩形 19">
            <a:extLst>
              <a:ext uri="{FF2B5EF4-FFF2-40B4-BE49-F238E27FC236}">
                <a16:creationId xmlns:a16="http://schemas.microsoft.com/office/drawing/2014/main" id="{1E93EB8E-7741-4937-997C-3E9D23BE1A8C}"/>
              </a:ext>
            </a:extLst>
          </p:cNvPr>
          <p:cNvSpPr/>
          <p:nvPr/>
        </p:nvSpPr>
        <p:spPr>
          <a:xfrm>
            <a:off x="6722918" y="2806513"/>
            <a:ext cx="2285995" cy="2127634"/>
          </a:xfrm>
          <a:prstGeom prst="rect">
            <a:avLst/>
          </a:prstGeom>
          <a:ln>
            <a:solidFill>
              <a:schemeClr val="accent1"/>
            </a:solidFill>
          </a:ln>
        </p:spPr>
        <p:txBody>
          <a:bodyPr wrap="square">
            <a:spAutoFit/>
          </a:bodyPr>
          <a:lstStyle/>
          <a:p>
            <a:pPr algn="just">
              <a:lnSpc>
                <a:spcPct val="150000"/>
              </a:lnSpc>
              <a:spcAft>
                <a:spcPts val="0"/>
              </a:spcAft>
            </a:pPr>
            <a:r>
              <a:rPr lang="zh-CN" altLang="en-US" b="1" kern="100" dirty="0">
                <a:latin typeface="等线 Light" panose="02010600030101010101" pitchFamily="2" charset="-122"/>
                <a:ea typeface="等线 Light" panose="02010600030101010101" pitchFamily="2" charset="-122"/>
                <a:cs typeface="Times New Roman" panose="02020603050405020304" pitchFamily="18" charset="0"/>
              </a:rPr>
              <a:t>文献阅读与整理</a:t>
            </a:r>
            <a:endParaRPr lang="en-US" altLang="zh-CN" b="1" kern="100" dirty="0">
              <a:latin typeface="等线 Light" panose="02010600030101010101" pitchFamily="2" charset="-122"/>
              <a:ea typeface="等线 Light" panose="02010600030101010101" pitchFamily="2" charset="-122"/>
              <a:cs typeface="Times New Roman" panose="02020603050405020304" pitchFamily="18" charset="0"/>
            </a:endParaRPr>
          </a:p>
          <a:p>
            <a:pPr marL="342900" indent="-342900" algn="just">
              <a:lnSpc>
                <a:spcPct val="150000"/>
              </a:lnSpc>
              <a:buFont typeface="Arial" panose="020B0604020202020204" pitchFamily="34" charset="0"/>
              <a:buChar char="•"/>
            </a:pPr>
            <a:r>
              <a:rPr lang="zh-CN" altLang="zh-CN" kern="100" dirty="0">
                <a:latin typeface="等线 Light" panose="02010600030101010101" pitchFamily="2" charset="-122"/>
                <a:ea typeface="等线 Light" panose="02010600030101010101" pitchFamily="2" charset="-122"/>
                <a:cs typeface="Times New Roman" panose="02020603050405020304" pitchFamily="18" charset="0"/>
              </a:rPr>
              <a:t>文献整理方法</a:t>
            </a:r>
            <a:endParaRPr lang="en-US" altLang="zh-CN" kern="100" dirty="0">
              <a:latin typeface="等线 Light" panose="02010600030101010101" pitchFamily="2" charset="-122"/>
              <a:ea typeface="等线 Light" panose="02010600030101010101" pitchFamily="2" charset="-122"/>
              <a:cs typeface="Times New Roman" panose="02020603050405020304" pitchFamily="18" charset="0"/>
            </a:endParaRPr>
          </a:p>
          <a:p>
            <a:pPr marL="342900" indent="-342900" algn="just">
              <a:lnSpc>
                <a:spcPct val="150000"/>
              </a:lnSpc>
              <a:buFont typeface="Arial" panose="020B0604020202020204" pitchFamily="34" charset="0"/>
              <a:buChar char="•"/>
            </a:pPr>
            <a:r>
              <a:rPr lang="zh-CN" altLang="zh-CN" kern="100" dirty="0">
                <a:latin typeface="等线 Light" panose="02010600030101010101" pitchFamily="2" charset="-122"/>
                <a:ea typeface="等线 Light" panose="02010600030101010101" pitchFamily="2" charset="-122"/>
                <a:cs typeface="Times New Roman" panose="02020603050405020304" pitchFamily="18" charset="0"/>
              </a:rPr>
              <a:t>文献笔记和思考</a:t>
            </a:r>
            <a:endParaRPr lang="en-US" altLang="zh-CN" kern="100" dirty="0">
              <a:latin typeface="等线 Light" panose="02010600030101010101" pitchFamily="2" charset="-122"/>
              <a:ea typeface="等线 Light" panose="02010600030101010101" pitchFamily="2" charset="-122"/>
              <a:cs typeface="Times New Roman" panose="02020603050405020304" pitchFamily="18" charset="0"/>
            </a:endParaRPr>
          </a:p>
          <a:p>
            <a:pPr marL="342900" indent="-342900" algn="just">
              <a:lnSpc>
                <a:spcPct val="150000"/>
              </a:lnSpc>
              <a:buFont typeface="Arial" panose="020B0604020202020204" pitchFamily="34" charset="0"/>
              <a:buChar char="•"/>
            </a:pPr>
            <a:r>
              <a:rPr lang="zh-CN" altLang="zh-CN" kern="100" dirty="0">
                <a:latin typeface="等线 Light" panose="02010600030101010101" pitchFamily="2" charset="-122"/>
                <a:ea typeface="等线 Light" panose="02010600030101010101" pitchFamily="2" charset="-122"/>
                <a:cs typeface="Times New Roman" panose="02020603050405020304" pitchFamily="18" charset="0"/>
              </a:rPr>
              <a:t>文献梳理</a:t>
            </a:r>
            <a:endParaRPr lang="en-US" altLang="zh-CN" kern="100" dirty="0">
              <a:latin typeface="等线 Light" panose="02010600030101010101" pitchFamily="2" charset="-122"/>
              <a:ea typeface="等线 Light" panose="02010600030101010101" pitchFamily="2" charset="-122"/>
              <a:cs typeface="Times New Roman" panose="02020603050405020304" pitchFamily="18" charset="0"/>
            </a:endParaRPr>
          </a:p>
          <a:p>
            <a:pPr marL="342900" indent="-342900" algn="just">
              <a:lnSpc>
                <a:spcPct val="150000"/>
              </a:lnSpc>
              <a:buFont typeface="Arial" panose="020B0604020202020204" pitchFamily="34" charset="0"/>
              <a:buChar char="•"/>
            </a:pPr>
            <a:endParaRPr lang="en-US" altLang="zh-CN" kern="100" dirty="0">
              <a:latin typeface="等线 Light" panose="02010600030101010101" pitchFamily="2" charset="-122"/>
              <a:ea typeface="等线 Light" panose="02010600030101010101" pitchFamily="2" charset="-122"/>
              <a:cs typeface="Times New Roman" panose="02020603050405020304" pitchFamily="18" charset="0"/>
            </a:endParaRPr>
          </a:p>
        </p:txBody>
      </p:sp>
      <p:sp>
        <p:nvSpPr>
          <p:cNvPr id="22" name="矩形 21">
            <a:extLst>
              <a:ext uri="{FF2B5EF4-FFF2-40B4-BE49-F238E27FC236}">
                <a16:creationId xmlns:a16="http://schemas.microsoft.com/office/drawing/2014/main" id="{5B4E8F6E-1156-49E9-8026-A15C577DDE7D}"/>
              </a:ext>
            </a:extLst>
          </p:cNvPr>
          <p:cNvSpPr/>
          <p:nvPr/>
        </p:nvSpPr>
        <p:spPr>
          <a:xfrm>
            <a:off x="9083382" y="2806513"/>
            <a:ext cx="2499018" cy="2127634"/>
          </a:xfrm>
          <a:prstGeom prst="rect">
            <a:avLst/>
          </a:prstGeom>
          <a:ln>
            <a:solidFill>
              <a:schemeClr val="accent1"/>
            </a:solidFill>
          </a:ln>
        </p:spPr>
        <p:txBody>
          <a:bodyPr wrap="square">
            <a:spAutoFit/>
          </a:bodyPr>
          <a:lstStyle/>
          <a:p>
            <a:pPr algn="just">
              <a:lnSpc>
                <a:spcPct val="150000"/>
              </a:lnSpc>
              <a:spcAft>
                <a:spcPts val="0"/>
              </a:spcAft>
            </a:pPr>
            <a:r>
              <a:rPr lang="zh-CN" altLang="en-US" b="1" kern="100" dirty="0">
                <a:latin typeface="等线 Light" panose="02010600030101010101" pitchFamily="2" charset="-122"/>
                <a:ea typeface="等线 Light" panose="02010600030101010101" pitchFamily="2" charset="-122"/>
                <a:cs typeface="Times New Roman" panose="02020603050405020304" pitchFamily="18" charset="0"/>
              </a:rPr>
              <a:t>综述写作</a:t>
            </a:r>
            <a:endParaRPr lang="en-US" altLang="zh-CN" b="1" kern="100" dirty="0">
              <a:latin typeface="等线 Light" panose="02010600030101010101" pitchFamily="2" charset="-122"/>
              <a:ea typeface="等线 Light" panose="02010600030101010101" pitchFamily="2" charset="-122"/>
              <a:cs typeface="Times New Roman" panose="02020603050405020304" pitchFamily="18" charset="0"/>
            </a:endParaRPr>
          </a:p>
          <a:p>
            <a:pPr marL="342900" indent="-342900" algn="just">
              <a:lnSpc>
                <a:spcPct val="150000"/>
              </a:lnSpc>
              <a:buFont typeface="Arial" panose="020B0604020202020204" pitchFamily="34" charset="0"/>
              <a:buChar char="•"/>
            </a:pPr>
            <a:r>
              <a:rPr lang="zh-CN" altLang="zh-CN" kern="100" dirty="0">
                <a:latin typeface="等线 Light" panose="02010600030101010101" pitchFamily="2" charset="-122"/>
                <a:ea typeface="等线 Light" panose="02010600030101010101" pitchFamily="2" charset="-122"/>
                <a:cs typeface="Times New Roman" panose="02020603050405020304" pitchFamily="18" charset="0"/>
              </a:rPr>
              <a:t>研究不足的确定</a:t>
            </a:r>
            <a:endParaRPr lang="en-US" altLang="zh-CN" kern="100" dirty="0">
              <a:latin typeface="等线 Light" panose="02010600030101010101" pitchFamily="2" charset="-122"/>
              <a:ea typeface="等线 Light" panose="02010600030101010101" pitchFamily="2" charset="-122"/>
              <a:cs typeface="Times New Roman" panose="02020603050405020304" pitchFamily="18" charset="0"/>
            </a:endParaRPr>
          </a:p>
          <a:p>
            <a:pPr marL="342900" indent="-342900" algn="just">
              <a:lnSpc>
                <a:spcPct val="150000"/>
              </a:lnSpc>
              <a:buFont typeface="Arial" panose="020B0604020202020204" pitchFamily="34" charset="0"/>
              <a:buChar char="•"/>
            </a:pPr>
            <a:r>
              <a:rPr lang="zh-CN" altLang="zh-CN" kern="100" dirty="0">
                <a:latin typeface="等线 Light" panose="02010600030101010101" pitchFamily="2" charset="-122"/>
                <a:ea typeface="等线 Light" panose="02010600030101010101" pitchFamily="2" charset="-122"/>
                <a:cs typeface="Times New Roman" panose="02020603050405020304" pitchFamily="18" charset="0"/>
              </a:rPr>
              <a:t>支撑解决方案设计</a:t>
            </a:r>
            <a:endParaRPr lang="en-US" altLang="zh-CN" kern="100" dirty="0">
              <a:latin typeface="等线 Light" panose="02010600030101010101" pitchFamily="2" charset="-122"/>
              <a:ea typeface="等线 Light" panose="02010600030101010101" pitchFamily="2" charset="-122"/>
              <a:cs typeface="Times New Roman" panose="02020603050405020304" pitchFamily="18" charset="0"/>
            </a:endParaRPr>
          </a:p>
          <a:p>
            <a:pPr marL="342900" indent="-342900" algn="just">
              <a:lnSpc>
                <a:spcPct val="150000"/>
              </a:lnSpc>
              <a:buFont typeface="Arial" panose="020B0604020202020204" pitchFamily="34" charset="0"/>
              <a:buChar char="•"/>
            </a:pPr>
            <a:endParaRPr lang="en-US" altLang="zh-CN" kern="100" dirty="0">
              <a:latin typeface="等线 Light" panose="02010600030101010101" pitchFamily="2" charset="-122"/>
              <a:ea typeface="等线 Light" panose="02010600030101010101" pitchFamily="2" charset="-122"/>
              <a:cs typeface="Times New Roman" panose="02020603050405020304" pitchFamily="18" charset="0"/>
            </a:endParaRPr>
          </a:p>
          <a:p>
            <a:pPr marL="342900" indent="-342900" algn="just">
              <a:lnSpc>
                <a:spcPct val="150000"/>
              </a:lnSpc>
              <a:buFont typeface="Arial" panose="020B0604020202020204" pitchFamily="34" charset="0"/>
              <a:buChar char="•"/>
            </a:pPr>
            <a:endParaRPr lang="en-US" altLang="zh-CN" kern="100" dirty="0">
              <a:latin typeface="等线 Light" panose="02010600030101010101" pitchFamily="2" charset="-122"/>
              <a:ea typeface="等线 Light"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9921802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752600" y="364218"/>
            <a:ext cx="5791200" cy="639762"/>
          </a:xfrm>
        </p:spPr>
        <p:txBody>
          <a:bodyPr>
            <a:noAutofit/>
          </a:bodyPr>
          <a:lstStyle/>
          <a:p>
            <a:r>
              <a:rPr lang="zh-CN" altLang="en-US" sz="3300" dirty="0">
                <a:latin typeface="等线 Light" panose="02010600030101010101" pitchFamily="2" charset="-122"/>
                <a:ea typeface="等线 Light" panose="02010600030101010101" pitchFamily="2" charset="-122"/>
              </a:rPr>
              <a:t>步骤一：明确</a:t>
            </a:r>
            <a:r>
              <a:rPr lang="zh-CN" altLang="zh-CN" sz="3300" dirty="0">
                <a:latin typeface="等线 Light" panose="02010600030101010101" pitchFamily="2" charset="-122"/>
                <a:ea typeface="等线 Light" panose="02010600030101010101" pitchFamily="2" charset="-122"/>
              </a:rPr>
              <a:t>文献综述的目的</a:t>
            </a:r>
            <a:endParaRPr lang="zh-HK" altLang="en-US" sz="3300" dirty="0">
              <a:latin typeface="等线 Light" panose="02010600030101010101" pitchFamily="2" charset="-122"/>
              <a:ea typeface="等线 Light" panose="02010600030101010101" pitchFamily="2" charset="-122"/>
            </a:endParaRPr>
          </a:p>
        </p:txBody>
      </p:sp>
      <p:sp>
        <p:nvSpPr>
          <p:cNvPr id="3" name="Content Placeholder 2"/>
          <p:cNvSpPr>
            <a:spLocks noGrp="1"/>
          </p:cNvSpPr>
          <p:nvPr>
            <p:ph idx="4294967295"/>
          </p:nvPr>
        </p:nvSpPr>
        <p:spPr>
          <a:xfrm>
            <a:off x="381000" y="1166018"/>
            <a:ext cx="10820400" cy="4525963"/>
          </a:xfrm>
        </p:spPr>
        <p:txBody>
          <a:bodyPr>
            <a:noAutofit/>
          </a:bodyPr>
          <a:lstStyle/>
          <a:p>
            <a:pPr marL="0" indent="0">
              <a:lnSpc>
                <a:spcPct val="120000"/>
              </a:lnSpc>
              <a:buNone/>
            </a:pPr>
            <a:r>
              <a:rPr lang="en-US" altLang="zh-CN" sz="2000" b="1" dirty="0">
                <a:latin typeface="等线 Light" panose="02010600030101010101" pitchFamily="2" charset="-122"/>
                <a:ea typeface="等线 Light" panose="02010600030101010101" pitchFamily="2" charset="-122"/>
              </a:rPr>
              <a:t>1</a:t>
            </a:r>
            <a:r>
              <a:rPr lang="zh-CN" altLang="en-US" sz="2000" b="1" dirty="0">
                <a:latin typeface="等线 Light" panose="02010600030101010101" pitchFamily="2" charset="-122"/>
                <a:ea typeface="等线 Light" panose="02010600030101010101" pitchFamily="2" charset="-122"/>
              </a:rPr>
              <a:t>、</a:t>
            </a:r>
            <a:r>
              <a:rPr lang="zh-CN" altLang="zh-CN" sz="2000" b="1" dirty="0">
                <a:latin typeface="等线 Light" panose="02010600030101010101" pitchFamily="2" charset="-122"/>
                <a:ea typeface="等线 Light" panose="02010600030101010101" pitchFamily="2" charset="-122"/>
              </a:rPr>
              <a:t>熟悉某研究领域，促进探索性的认识</a:t>
            </a:r>
            <a:endParaRPr lang="en-US" altLang="zh-CN" sz="2000" b="1" dirty="0">
              <a:latin typeface="等线 Light" panose="02010600030101010101" pitchFamily="2" charset="-122"/>
              <a:ea typeface="等线 Light" panose="02010600030101010101" pitchFamily="2" charset="-122"/>
            </a:endParaRPr>
          </a:p>
          <a:p>
            <a:pPr lvl="1">
              <a:lnSpc>
                <a:spcPct val="120000"/>
              </a:lnSpc>
            </a:pPr>
            <a:r>
              <a:rPr lang="zh-CN" altLang="zh-CN" sz="2000" dirty="0">
                <a:latin typeface="等线 Light" panose="02010600030101010101" pitchFamily="2" charset="-122"/>
                <a:ea typeface="等线 Light" panose="02010600030101010101" pitchFamily="2" charset="-122"/>
              </a:rPr>
              <a:t>学位论文</a:t>
            </a:r>
            <a:r>
              <a:rPr lang="zh-CN" altLang="en-US" sz="2000" dirty="0">
                <a:latin typeface="等线 Light" panose="02010600030101010101" pitchFamily="2" charset="-122"/>
                <a:ea typeface="等线 Light" panose="02010600030101010101" pitchFamily="2" charset="-122"/>
              </a:rPr>
              <a:t>研究</a:t>
            </a:r>
            <a:r>
              <a:rPr lang="zh-CN" altLang="zh-CN" sz="2000" dirty="0">
                <a:latin typeface="等线 Light" panose="02010600030101010101" pitchFamily="2" charset="-122"/>
                <a:ea typeface="等线 Light" panose="02010600030101010101" pitchFamily="2" charset="-122"/>
              </a:rPr>
              <a:t>开展的早期以熟悉某领域为主，需要快速阅读，对该领域形成较为全局性的认识。</a:t>
            </a:r>
          </a:p>
          <a:p>
            <a:pPr marL="0" indent="0">
              <a:lnSpc>
                <a:spcPct val="120000"/>
              </a:lnSpc>
              <a:buNone/>
            </a:pPr>
            <a:r>
              <a:rPr lang="en-US" altLang="zh-CN" sz="2000" b="1" dirty="0">
                <a:latin typeface="等线 Light" panose="02010600030101010101" pitchFamily="2" charset="-122"/>
                <a:ea typeface="等线 Light" panose="02010600030101010101" pitchFamily="2" charset="-122"/>
              </a:rPr>
              <a:t>2</a:t>
            </a:r>
            <a:r>
              <a:rPr lang="zh-CN" altLang="en-US" sz="2000" b="1" dirty="0">
                <a:latin typeface="等线 Light" panose="02010600030101010101" pitchFamily="2" charset="-122"/>
                <a:ea typeface="等线 Light" panose="02010600030101010101" pitchFamily="2" charset="-122"/>
              </a:rPr>
              <a:t>、</a:t>
            </a:r>
            <a:r>
              <a:rPr lang="zh-CN" altLang="zh-CN" sz="2000" b="1" dirty="0">
                <a:latin typeface="等线 Light" panose="02010600030101010101" pitchFamily="2" charset="-122"/>
                <a:ea typeface="等线 Light" panose="02010600030101010101" pitchFamily="2" charset="-122"/>
              </a:rPr>
              <a:t>以确定当前研究不足为目的</a:t>
            </a:r>
            <a:r>
              <a:rPr lang="zh-CN" altLang="en-US" sz="2000" b="1" dirty="0">
                <a:latin typeface="等线 Light" panose="02010600030101010101" pitchFamily="2" charset="-122"/>
                <a:ea typeface="等线 Light" panose="02010600030101010101" pitchFamily="2" charset="-122"/>
              </a:rPr>
              <a:t>：</a:t>
            </a:r>
            <a:r>
              <a:rPr lang="zh-CN" altLang="zh-CN" sz="2000" b="1" dirty="0">
                <a:latin typeface="等线 Light" panose="02010600030101010101" pitchFamily="2" charset="-122"/>
                <a:ea typeface="等线 Light" panose="02010600030101010101" pitchFamily="2" charset="-122"/>
              </a:rPr>
              <a:t>研究问题形成和创新点提炼阶段</a:t>
            </a:r>
            <a:endParaRPr lang="en-US" altLang="zh-CN" sz="2000" b="1" dirty="0">
              <a:latin typeface="等线 Light" panose="02010600030101010101" pitchFamily="2" charset="-122"/>
              <a:ea typeface="等线 Light" panose="02010600030101010101" pitchFamily="2" charset="-122"/>
            </a:endParaRPr>
          </a:p>
          <a:p>
            <a:pPr lvl="1">
              <a:lnSpc>
                <a:spcPct val="120000"/>
              </a:lnSpc>
            </a:pPr>
            <a:r>
              <a:rPr lang="zh-CN" altLang="zh-CN" sz="2000" dirty="0">
                <a:latin typeface="等线 Light" panose="02010600030101010101" pitchFamily="2" charset="-122"/>
                <a:ea typeface="等线 Light" panose="02010600030101010101" pitchFamily="2" charset="-122"/>
              </a:rPr>
              <a:t>针对性查找该领域研究的不足，该部分以批判性为主，以创新点的提出为出发点。</a:t>
            </a:r>
            <a:endParaRPr lang="en-US" altLang="zh-CN" sz="2000" dirty="0">
              <a:latin typeface="等线 Light" panose="02010600030101010101" pitchFamily="2" charset="-122"/>
              <a:ea typeface="等线 Light" panose="02010600030101010101" pitchFamily="2" charset="-122"/>
            </a:endParaRPr>
          </a:p>
          <a:p>
            <a:pPr lvl="1">
              <a:lnSpc>
                <a:spcPct val="120000"/>
              </a:lnSpc>
            </a:pPr>
            <a:r>
              <a:rPr lang="zh-CN" altLang="zh-CN" sz="2000" dirty="0">
                <a:latin typeface="等线 Light" panose="02010600030101010101" pitchFamily="2" charset="-122"/>
                <a:ea typeface="等线 Light" panose="02010600030101010101" pitchFamily="2" charset="-122"/>
              </a:rPr>
              <a:t>凸显本研究的重要性，以及本研究将弥补的理论不足，主要通过批判性综述来分析已有解决方案和效果。</a:t>
            </a:r>
          </a:p>
          <a:p>
            <a:pPr marL="0" indent="0">
              <a:lnSpc>
                <a:spcPct val="120000"/>
              </a:lnSpc>
              <a:buNone/>
            </a:pPr>
            <a:r>
              <a:rPr lang="en-US" altLang="zh-CN" sz="2000" b="1" dirty="0">
                <a:latin typeface="等线 Light" panose="02010600030101010101" pitchFamily="2" charset="-122"/>
                <a:ea typeface="等线 Light" panose="02010600030101010101" pitchFamily="2" charset="-122"/>
              </a:rPr>
              <a:t>3</a:t>
            </a:r>
            <a:r>
              <a:rPr lang="zh-CN" altLang="en-US" sz="2000" b="1" dirty="0">
                <a:latin typeface="等线 Light" panose="02010600030101010101" pitchFamily="2" charset="-122"/>
                <a:ea typeface="等线 Light" panose="02010600030101010101" pitchFamily="2" charset="-122"/>
              </a:rPr>
              <a:t>、以提供理论</a:t>
            </a:r>
            <a:r>
              <a:rPr lang="zh-CN" altLang="en-US" sz="2000" b="1">
                <a:latin typeface="等线 Light" panose="02010600030101010101" pitchFamily="2" charset="-122"/>
                <a:ea typeface="等线 Light" panose="02010600030101010101" pitchFamily="2" charset="-122"/>
              </a:rPr>
              <a:t>基础为目的：</a:t>
            </a:r>
            <a:r>
              <a:rPr lang="zh-CN" altLang="zh-CN" sz="2000" b="1">
                <a:latin typeface="等线 Light" panose="02010600030101010101" pitchFamily="2" charset="-122"/>
                <a:ea typeface="等线 Light" panose="02010600030101010101" pitchFamily="2" charset="-122"/>
              </a:rPr>
              <a:t>为</a:t>
            </a:r>
            <a:r>
              <a:rPr lang="zh-CN" altLang="zh-CN" sz="2000" b="1" dirty="0">
                <a:latin typeface="等线 Light" panose="02010600030101010101" pitchFamily="2" charset="-122"/>
                <a:ea typeface="等线 Light" panose="02010600030101010101" pitchFamily="2" charset="-122"/>
              </a:rPr>
              <a:t>本研究的问题研究、解决方案的设计与评估提供理论基础</a:t>
            </a:r>
            <a:endParaRPr lang="en-US" altLang="zh-CN" sz="2000" b="1" dirty="0">
              <a:latin typeface="等线 Light" panose="02010600030101010101" pitchFamily="2" charset="-122"/>
              <a:ea typeface="等线 Light" panose="02010600030101010101" pitchFamily="2" charset="-122"/>
            </a:endParaRPr>
          </a:p>
          <a:p>
            <a:pPr lvl="1">
              <a:lnSpc>
                <a:spcPct val="120000"/>
              </a:lnSpc>
            </a:pPr>
            <a:r>
              <a:rPr lang="zh-CN" altLang="en-US" sz="2000" dirty="0">
                <a:latin typeface="等线 Light" panose="02010600030101010101" pitchFamily="2" charset="-122"/>
                <a:ea typeface="等线 Light" panose="02010600030101010101" pitchFamily="2" charset="-122"/>
              </a:rPr>
              <a:t>问题研究、解决方案设计与评估都需要理论指导</a:t>
            </a:r>
            <a:r>
              <a:rPr lang="zh-CN" altLang="zh-CN" sz="2000" dirty="0">
                <a:latin typeface="等线 Light" panose="02010600030101010101" pitchFamily="2" charset="-122"/>
                <a:ea typeface="等线 Light" panose="02010600030101010101" pitchFamily="2" charset="-122"/>
              </a:rPr>
              <a:t>。</a:t>
            </a:r>
          </a:p>
        </p:txBody>
      </p:sp>
    </p:spTree>
    <p:extLst>
      <p:ext uri="{BB962C8B-B14F-4D97-AF65-F5344CB8AC3E}">
        <p14:creationId xmlns:p14="http://schemas.microsoft.com/office/powerpoint/2010/main" val="10536122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a:extLst>
              <a:ext uri="{FF2B5EF4-FFF2-40B4-BE49-F238E27FC236}">
                <a16:creationId xmlns:a16="http://schemas.microsoft.com/office/drawing/2014/main" id="{31C22760-255E-4AF3-A25C-F79269BF7D4D}"/>
              </a:ext>
            </a:extLst>
          </p:cNvPr>
          <p:cNvGraphicFramePr>
            <a:graphicFrameLocks noGrp="1"/>
          </p:cNvGraphicFramePr>
          <p:nvPr>
            <p:extLst>
              <p:ext uri="{D42A27DB-BD31-4B8C-83A1-F6EECF244321}">
                <p14:modId xmlns:p14="http://schemas.microsoft.com/office/powerpoint/2010/main" val="1670298058"/>
              </p:ext>
            </p:extLst>
          </p:nvPr>
        </p:nvGraphicFramePr>
        <p:xfrm>
          <a:off x="419100" y="1447800"/>
          <a:ext cx="11315698" cy="3983369"/>
        </p:xfrm>
        <a:graphic>
          <a:graphicData uri="http://schemas.openxmlformats.org/drawingml/2006/table">
            <a:tbl>
              <a:tblPr firstRow="1" firstCol="1" bandRow="1">
                <a:tableStyleId>{5C22544A-7EE6-4342-B048-85BDC9FD1C3A}</a:tableStyleId>
              </a:tblPr>
              <a:tblGrid>
                <a:gridCol w="1333500">
                  <a:extLst>
                    <a:ext uri="{9D8B030D-6E8A-4147-A177-3AD203B41FA5}">
                      <a16:colId xmlns:a16="http://schemas.microsoft.com/office/drawing/2014/main" val="1607532670"/>
                    </a:ext>
                  </a:extLst>
                </a:gridCol>
                <a:gridCol w="2819400">
                  <a:extLst>
                    <a:ext uri="{9D8B030D-6E8A-4147-A177-3AD203B41FA5}">
                      <a16:colId xmlns:a16="http://schemas.microsoft.com/office/drawing/2014/main" val="555731362"/>
                    </a:ext>
                  </a:extLst>
                </a:gridCol>
                <a:gridCol w="3429000">
                  <a:extLst>
                    <a:ext uri="{9D8B030D-6E8A-4147-A177-3AD203B41FA5}">
                      <a16:colId xmlns:a16="http://schemas.microsoft.com/office/drawing/2014/main" val="1879748355"/>
                    </a:ext>
                  </a:extLst>
                </a:gridCol>
                <a:gridCol w="3733798">
                  <a:extLst>
                    <a:ext uri="{9D8B030D-6E8A-4147-A177-3AD203B41FA5}">
                      <a16:colId xmlns:a16="http://schemas.microsoft.com/office/drawing/2014/main" val="476744059"/>
                    </a:ext>
                  </a:extLst>
                </a:gridCol>
              </a:tblGrid>
              <a:tr h="355996">
                <a:tc>
                  <a:txBody>
                    <a:bodyPr/>
                    <a:lstStyle/>
                    <a:p>
                      <a:pPr algn="ctr">
                        <a:spcAft>
                          <a:spcPts val="0"/>
                        </a:spcAft>
                      </a:pPr>
                      <a:r>
                        <a:rPr lang="en-US" sz="2000" kern="100" dirty="0">
                          <a:effectLst/>
                          <a:latin typeface="等线 Light" panose="02010600030101010101" pitchFamily="2" charset="-122"/>
                          <a:ea typeface="等线 Light" panose="02010600030101010101" pitchFamily="2" charset="-122"/>
                        </a:rPr>
                        <a:t> </a:t>
                      </a:r>
                      <a:endParaRPr lang="zh-CN" sz="20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2000" kern="100" dirty="0">
                          <a:effectLst/>
                          <a:latin typeface="等线 Light" panose="02010600030101010101" pitchFamily="2" charset="-122"/>
                          <a:ea typeface="等线 Light" panose="02010600030101010101" pitchFamily="2" charset="-122"/>
                        </a:rPr>
                        <a:t>目的</a:t>
                      </a:r>
                      <a:endParaRPr lang="zh-CN" sz="20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2000" kern="100">
                          <a:effectLst/>
                          <a:latin typeface="等线 Light" panose="02010600030101010101" pitchFamily="2" charset="-122"/>
                          <a:ea typeface="等线 Light" panose="02010600030101010101" pitchFamily="2" charset="-122"/>
                        </a:rPr>
                        <a:t>检索方式</a:t>
                      </a:r>
                      <a:endParaRPr lang="zh-CN" sz="2000" kern="10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2000" kern="100">
                          <a:effectLst/>
                          <a:latin typeface="等线 Light" panose="02010600030101010101" pitchFamily="2" charset="-122"/>
                          <a:ea typeface="等线 Light" panose="02010600030101010101" pitchFamily="2" charset="-122"/>
                        </a:rPr>
                        <a:t>整理侧重点</a:t>
                      </a:r>
                      <a:endParaRPr lang="zh-CN" sz="2000" kern="10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938759726"/>
                  </a:ext>
                </a:extLst>
              </a:tr>
              <a:tr h="1091804">
                <a:tc>
                  <a:txBody>
                    <a:bodyPr/>
                    <a:lstStyle/>
                    <a:p>
                      <a:pPr algn="just">
                        <a:spcAft>
                          <a:spcPts val="0"/>
                        </a:spcAft>
                      </a:pPr>
                      <a:r>
                        <a:rPr lang="zh-CN" sz="2000" kern="100">
                          <a:effectLst/>
                          <a:latin typeface="等线 Light" panose="02010600030101010101" pitchFamily="2" charset="-122"/>
                          <a:ea typeface="等线 Light" panose="02010600030101010101" pitchFamily="2" charset="-122"/>
                        </a:rPr>
                        <a:t>选题准备阶段</a:t>
                      </a:r>
                      <a:endParaRPr lang="zh-CN" sz="2000" kern="10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2000" kern="100" dirty="0">
                          <a:effectLst/>
                          <a:latin typeface="等线 Light" panose="02010600030101010101" pitchFamily="2" charset="-122"/>
                          <a:ea typeface="等线 Light" panose="02010600030101010101" pitchFamily="2" charset="-122"/>
                        </a:rPr>
                        <a:t>了解和熟悉某研究领域</a:t>
                      </a:r>
                      <a:endParaRPr lang="zh-CN" sz="20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2000" kern="100" dirty="0">
                          <a:effectLst/>
                          <a:latin typeface="等线 Light" panose="02010600030101010101" pitchFamily="2" charset="-122"/>
                          <a:ea typeface="等线 Light" panose="02010600030101010101" pitchFamily="2" charset="-122"/>
                        </a:rPr>
                        <a:t>查找到可快速读懂的文献和资料，如网络资料、学位论文等</a:t>
                      </a:r>
                      <a:endParaRPr lang="zh-CN" sz="20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2000" kern="100" dirty="0">
                          <a:effectLst/>
                          <a:latin typeface="等线 Light" panose="02010600030101010101" pitchFamily="2" charset="-122"/>
                          <a:ea typeface="等线 Light" panose="02010600030101010101" pitchFamily="2" charset="-122"/>
                        </a:rPr>
                        <a:t>了解关键概念（如关注研究中的文献综述部分），对选题的可行性进行判断</a:t>
                      </a:r>
                      <a:endParaRPr lang="zh-CN" sz="20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31931074"/>
                  </a:ext>
                </a:extLst>
              </a:tr>
              <a:tr h="1011569">
                <a:tc>
                  <a:txBody>
                    <a:bodyPr/>
                    <a:lstStyle/>
                    <a:p>
                      <a:pPr algn="just">
                        <a:spcAft>
                          <a:spcPts val="0"/>
                        </a:spcAft>
                      </a:pPr>
                      <a:r>
                        <a:rPr lang="zh-CN" altLang="en-US" sz="2000" kern="100" dirty="0">
                          <a:effectLst/>
                          <a:latin typeface="等线 Light" panose="02010600030101010101" pitchFamily="2" charset="-122"/>
                          <a:ea typeface="等线 Light" panose="02010600030101010101" pitchFamily="2" charset="-122"/>
                        </a:rPr>
                        <a:t>研究不足的确定</a:t>
                      </a:r>
                      <a:endParaRPr lang="zh-CN" sz="20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2000" kern="100" dirty="0">
                          <a:effectLst/>
                          <a:latin typeface="等线 Light" panose="02010600030101010101" pitchFamily="2" charset="-122"/>
                          <a:ea typeface="等线 Light" panose="02010600030101010101" pitchFamily="2" charset="-122"/>
                        </a:rPr>
                        <a:t>确定当前研究存在的不足，以及提出初步的研究问题</a:t>
                      </a:r>
                      <a:endParaRPr lang="zh-CN" sz="20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2000" kern="100" dirty="0">
                          <a:effectLst/>
                          <a:latin typeface="等线 Light" panose="02010600030101010101" pitchFamily="2" charset="-122"/>
                          <a:ea typeface="等线 Light" panose="02010600030101010101" pitchFamily="2" charset="-122"/>
                        </a:rPr>
                        <a:t>查找到本研究要弥补的关键性文献</a:t>
                      </a:r>
                      <a:endParaRPr lang="zh-CN" sz="20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2000" kern="100" dirty="0">
                          <a:effectLst/>
                          <a:latin typeface="等线 Light" panose="02010600030101010101" pitchFamily="2" charset="-122"/>
                          <a:ea typeface="等线 Light" panose="02010600030101010101" pitchFamily="2" charset="-122"/>
                        </a:rPr>
                        <a:t>确定当前研究的不足，提出可能的研究议题</a:t>
                      </a:r>
                      <a:endParaRPr lang="zh-CN" sz="20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050295574"/>
                  </a:ext>
                </a:extLst>
              </a:tr>
              <a:tr h="788745">
                <a:tc>
                  <a:txBody>
                    <a:bodyPr/>
                    <a:lstStyle/>
                    <a:p>
                      <a:pPr algn="just">
                        <a:spcAft>
                          <a:spcPts val="0"/>
                        </a:spcAft>
                      </a:pPr>
                      <a:r>
                        <a:rPr lang="zh-CN" altLang="zh-CN" sz="2000" b="1" dirty="0">
                          <a:latin typeface="等线 Light" panose="02010600030101010101" pitchFamily="2" charset="-122"/>
                          <a:ea typeface="等线 Light" panose="02010600030101010101" pitchFamily="2" charset="-122"/>
                        </a:rPr>
                        <a:t>问题研究、解决方案的设计与评估提供理论基础</a:t>
                      </a:r>
                      <a:endParaRPr lang="zh-CN" sz="20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altLang="en-US" sz="2000" kern="100" dirty="0">
                          <a:effectLst/>
                          <a:latin typeface="等线 Light" panose="02010600030101010101" pitchFamily="2" charset="-122"/>
                          <a:ea typeface="等线 Light" panose="02010600030101010101" pitchFamily="2" charset="-122"/>
                          <a:cs typeface="Times New Roman" panose="02020603050405020304" pitchFamily="18" charset="0"/>
                        </a:rPr>
                        <a:t>支撑问题研究、解决方案设计、解决方案评估</a:t>
                      </a:r>
                      <a:endParaRPr lang="zh-CN" sz="20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2000" kern="100" dirty="0">
                          <a:effectLst/>
                          <a:latin typeface="等线 Light" panose="02010600030101010101" pitchFamily="2" charset="-122"/>
                          <a:ea typeface="等线 Light" panose="02010600030101010101" pitchFamily="2" charset="-122"/>
                        </a:rPr>
                        <a:t>查找到合适的</a:t>
                      </a:r>
                      <a:r>
                        <a:rPr lang="zh-CN" altLang="en-US" sz="2000" kern="100" dirty="0">
                          <a:effectLst/>
                          <a:latin typeface="等线 Light" panose="02010600030101010101" pitchFamily="2" charset="-122"/>
                          <a:ea typeface="等线 Light" panose="02010600030101010101" pitchFamily="2" charset="-122"/>
                        </a:rPr>
                        <a:t>理论基础</a:t>
                      </a:r>
                      <a:endParaRPr lang="zh-CN" sz="20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altLang="en-US" sz="2000" kern="100" dirty="0">
                          <a:effectLst/>
                          <a:latin typeface="等线 Light" panose="02010600030101010101" pitchFamily="2" charset="-122"/>
                          <a:ea typeface="等线 Light" panose="02010600030101010101" pitchFamily="2" charset="-122"/>
                        </a:rPr>
                        <a:t>依据</a:t>
                      </a:r>
                      <a:r>
                        <a:rPr lang="zh-CN" altLang="zh-CN" sz="2000" kern="100" dirty="0">
                          <a:solidFill>
                            <a:schemeClr val="dk1"/>
                          </a:solidFill>
                          <a:effectLst/>
                          <a:latin typeface="等线 Light" panose="02010600030101010101" pitchFamily="2" charset="-122"/>
                          <a:ea typeface="等线 Light" panose="02010600030101010101" pitchFamily="2" charset="-122"/>
                          <a:cs typeface="+mn-cs"/>
                        </a:rPr>
                        <a:t>问题研究、解决方案的设计与评估</a:t>
                      </a:r>
                      <a:r>
                        <a:rPr lang="zh-CN" altLang="en-US" sz="2000" kern="100" dirty="0">
                          <a:solidFill>
                            <a:schemeClr val="dk1"/>
                          </a:solidFill>
                          <a:effectLst/>
                          <a:latin typeface="等线 Light" panose="02010600030101010101" pitchFamily="2" charset="-122"/>
                          <a:ea typeface="等线 Light" panose="02010600030101010101" pitchFamily="2" charset="-122"/>
                          <a:cs typeface="+mn-cs"/>
                        </a:rPr>
                        <a:t>的步骤进行组织</a:t>
                      </a:r>
                    </a:p>
                  </a:txBody>
                  <a:tcPr marL="68580" marR="68580" marT="0" marB="0"/>
                </a:tc>
                <a:extLst>
                  <a:ext uri="{0D108BD9-81ED-4DB2-BD59-A6C34878D82A}">
                    <a16:rowId xmlns:a16="http://schemas.microsoft.com/office/drawing/2014/main" val="3029417049"/>
                  </a:ext>
                </a:extLst>
              </a:tr>
            </a:tbl>
          </a:graphicData>
        </a:graphic>
      </p:graphicFrame>
      <p:sp>
        <p:nvSpPr>
          <p:cNvPr id="4" name="Title 1">
            <a:extLst>
              <a:ext uri="{FF2B5EF4-FFF2-40B4-BE49-F238E27FC236}">
                <a16:creationId xmlns:a16="http://schemas.microsoft.com/office/drawing/2014/main" id="{7500FCC4-31F5-4E9D-B5A4-7438D605B83A}"/>
              </a:ext>
            </a:extLst>
          </p:cNvPr>
          <p:cNvSpPr txBox="1">
            <a:spLocks/>
          </p:cNvSpPr>
          <p:nvPr/>
        </p:nvSpPr>
        <p:spPr>
          <a:xfrm>
            <a:off x="1752600" y="364218"/>
            <a:ext cx="5791200" cy="639762"/>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3300" dirty="0">
                <a:latin typeface="等线 Light" panose="02010600030101010101" pitchFamily="2" charset="-122"/>
                <a:ea typeface="等线 Light" panose="02010600030101010101" pitchFamily="2" charset="-122"/>
              </a:rPr>
              <a:t>步骤一：明确</a:t>
            </a:r>
            <a:r>
              <a:rPr lang="zh-CN" altLang="zh-CN" sz="3300" dirty="0">
                <a:latin typeface="等线 Light" panose="02010600030101010101" pitchFamily="2" charset="-122"/>
                <a:ea typeface="等线 Light" panose="02010600030101010101" pitchFamily="2" charset="-122"/>
              </a:rPr>
              <a:t>文献综述的目的</a:t>
            </a:r>
            <a:endParaRPr lang="zh-HK" altLang="en-US" sz="3300" dirty="0">
              <a:latin typeface="等线 Light" panose="02010600030101010101" pitchFamily="2" charset="-122"/>
              <a:ea typeface="等线 Light" panose="02010600030101010101" pitchFamily="2" charset="-122"/>
            </a:endParaRPr>
          </a:p>
        </p:txBody>
      </p:sp>
    </p:spTree>
    <p:extLst>
      <p:ext uri="{BB962C8B-B14F-4D97-AF65-F5344CB8AC3E}">
        <p14:creationId xmlns:p14="http://schemas.microsoft.com/office/powerpoint/2010/main" val="33988996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C3A0D-F398-4E98-BDC0-37AABD6CAEDF}"/>
              </a:ext>
            </a:extLst>
          </p:cNvPr>
          <p:cNvSpPr txBox="1">
            <a:spLocks/>
          </p:cNvSpPr>
          <p:nvPr/>
        </p:nvSpPr>
        <p:spPr>
          <a:xfrm>
            <a:off x="1752600" y="364218"/>
            <a:ext cx="5791200" cy="639762"/>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3300" dirty="0">
                <a:latin typeface="等线 Light" panose="02010600030101010101" pitchFamily="2" charset="-122"/>
                <a:ea typeface="等线 Light" panose="02010600030101010101" pitchFamily="2" charset="-122"/>
              </a:rPr>
              <a:t>步骤一：明确</a:t>
            </a:r>
            <a:r>
              <a:rPr lang="zh-CN" altLang="zh-CN" sz="3300" dirty="0">
                <a:latin typeface="等线 Light" panose="02010600030101010101" pitchFamily="2" charset="-122"/>
                <a:ea typeface="等线 Light" panose="02010600030101010101" pitchFamily="2" charset="-122"/>
              </a:rPr>
              <a:t>文献综述的目的</a:t>
            </a:r>
            <a:endParaRPr lang="zh-HK" altLang="en-US" sz="3300" dirty="0">
              <a:latin typeface="等线 Light" panose="02010600030101010101" pitchFamily="2" charset="-122"/>
              <a:ea typeface="等线 Light" panose="02010600030101010101" pitchFamily="2" charset="-122"/>
            </a:endParaRPr>
          </a:p>
        </p:txBody>
      </p:sp>
      <p:sp>
        <p:nvSpPr>
          <p:cNvPr id="3" name="矩形 2">
            <a:extLst>
              <a:ext uri="{FF2B5EF4-FFF2-40B4-BE49-F238E27FC236}">
                <a16:creationId xmlns:a16="http://schemas.microsoft.com/office/drawing/2014/main" id="{C0A24619-2E34-4CA3-9DB3-8941B655FE1F}"/>
              </a:ext>
            </a:extLst>
          </p:cNvPr>
          <p:cNvSpPr/>
          <p:nvPr/>
        </p:nvSpPr>
        <p:spPr>
          <a:xfrm>
            <a:off x="762000" y="2057400"/>
            <a:ext cx="8801100" cy="2173800"/>
          </a:xfrm>
          <a:prstGeom prst="rect">
            <a:avLst/>
          </a:prstGeom>
          <a:solidFill>
            <a:schemeClr val="accent6">
              <a:lumMod val="60000"/>
              <a:lumOff val="40000"/>
            </a:schemeClr>
          </a:solidFill>
        </p:spPr>
        <p:txBody>
          <a:bodyPr wrap="square">
            <a:spAutoFit/>
          </a:bodyPr>
          <a:lstStyle/>
          <a:p>
            <a:pPr>
              <a:lnSpc>
                <a:spcPct val="150000"/>
              </a:lnSpc>
            </a:pPr>
            <a:r>
              <a:rPr lang="zh-CN" altLang="en-US" sz="2000" b="1" kern="100" dirty="0">
                <a:highlight>
                  <a:srgbClr val="FFFF00"/>
                </a:highlight>
                <a:latin typeface="等线 Light" panose="02010600030101010101" pitchFamily="2" charset="-122"/>
                <a:ea typeface="等线 Light" panose="02010600030101010101" pitchFamily="2" charset="-122"/>
                <a:cs typeface="Times New Roman" panose="02020603050405020304" pitchFamily="18" charset="0"/>
              </a:rPr>
              <a:t>讨论：</a:t>
            </a:r>
            <a:endParaRPr lang="en-US" altLang="zh-CN" sz="2000" b="1" kern="100" dirty="0">
              <a:highlight>
                <a:srgbClr val="FFFF00"/>
              </a:highlight>
              <a:latin typeface="等线 Light" panose="02010600030101010101" pitchFamily="2" charset="-122"/>
              <a:ea typeface="等线 Light" panose="02010600030101010101" pitchFamily="2" charset="-122"/>
              <a:cs typeface="Times New Roman" panose="02020603050405020304" pitchFamily="18" charset="0"/>
            </a:endParaRPr>
          </a:p>
          <a:p>
            <a:pPr marL="285750" indent="-285750">
              <a:lnSpc>
                <a:spcPct val="150000"/>
              </a:lnSpc>
              <a:buFont typeface="Arial" panose="020B0604020202020204" pitchFamily="34" charset="0"/>
              <a:buChar char="•"/>
            </a:pPr>
            <a:r>
              <a:rPr lang="zh-CN" altLang="en-US" kern="100" dirty="0">
                <a:latin typeface="等线 Light" panose="02010600030101010101" pitchFamily="2" charset="-122"/>
                <a:ea typeface="等线 Light" panose="02010600030101010101" pitchFamily="2" charset="-122"/>
                <a:cs typeface="Times New Roman" panose="02020603050405020304" pitchFamily="18" charset="0"/>
              </a:rPr>
              <a:t>综述是不是一定要有批判性？</a:t>
            </a:r>
            <a:endParaRPr lang="en-US" altLang="zh-CN" kern="100" dirty="0">
              <a:latin typeface="等线 Light" panose="02010600030101010101" pitchFamily="2" charset="-122"/>
              <a:ea typeface="等线 Light" panose="02010600030101010101" pitchFamily="2" charset="-122"/>
              <a:cs typeface="Times New Roman" panose="02020603050405020304" pitchFamily="18" charset="0"/>
            </a:endParaRPr>
          </a:p>
          <a:p>
            <a:pPr marL="285750" indent="-285750">
              <a:lnSpc>
                <a:spcPct val="150000"/>
              </a:lnSpc>
              <a:buFont typeface="Arial" panose="020B0604020202020204" pitchFamily="34" charset="0"/>
              <a:buChar char="•"/>
            </a:pPr>
            <a:r>
              <a:rPr lang="zh-CN" altLang="zh-CN" kern="100" dirty="0">
                <a:latin typeface="等线 Light" panose="02010600030101010101" pitchFamily="2" charset="-122"/>
                <a:ea typeface="等线 Light" panose="02010600030101010101" pitchFamily="2" charset="-122"/>
                <a:cs typeface="Times New Roman" panose="02020603050405020304" pitchFamily="18" charset="0"/>
              </a:rPr>
              <a:t>综述的论文数量是不是越多越好？</a:t>
            </a:r>
          </a:p>
          <a:p>
            <a:pPr marL="285750" indent="-285750">
              <a:lnSpc>
                <a:spcPct val="150000"/>
              </a:lnSpc>
              <a:buFont typeface="Arial" panose="020B0604020202020204" pitchFamily="34" charset="0"/>
              <a:buChar char="•"/>
            </a:pPr>
            <a:r>
              <a:rPr lang="zh-CN" altLang="zh-CN" kern="100" dirty="0">
                <a:latin typeface="等线 Light" panose="02010600030101010101" pitchFamily="2" charset="-122"/>
                <a:ea typeface="等线 Light" panose="02010600030101010101" pitchFamily="2" charset="-122"/>
                <a:cs typeface="Times New Roman" panose="02020603050405020304" pitchFamily="18" charset="0"/>
              </a:rPr>
              <a:t>是不是要综述过往所有的相关研究？</a:t>
            </a:r>
          </a:p>
          <a:p>
            <a:pPr marL="285750" indent="-285750">
              <a:lnSpc>
                <a:spcPct val="150000"/>
              </a:lnSpc>
              <a:buFont typeface="Arial" panose="020B0604020202020204" pitchFamily="34" charset="0"/>
              <a:buChar char="•"/>
            </a:pPr>
            <a:r>
              <a:rPr lang="zh-CN" altLang="zh-CN" kern="100" dirty="0">
                <a:latin typeface="等线 Light" panose="02010600030101010101" pitchFamily="2" charset="-122"/>
                <a:ea typeface="等线 Light" panose="02010600030101010101" pitchFamily="2" charset="-122"/>
                <a:cs typeface="Times New Roman" panose="02020603050405020304" pitchFamily="18" charset="0"/>
              </a:rPr>
              <a:t>是不是要最近年份的研究成果？</a:t>
            </a:r>
            <a:endParaRPr lang="zh-CN" altLang="en-US" kern="100" dirty="0">
              <a:latin typeface="等线 Light" panose="02010600030101010101" pitchFamily="2" charset="-122"/>
              <a:ea typeface="等线 Light"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2406251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02E6D-9AC0-4C95-B5C1-D772F5315E45}"/>
              </a:ext>
            </a:extLst>
          </p:cNvPr>
          <p:cNvSpPr txBox="1">
            <a:spLocks/>
          </p:cNvSpPr>
          <p:nvPr/>
        </p:nvSpPr>
        <p:spPr>
          <a:xfrm>
            <a:off x="1752600" y="364218"/>
            <a:ext cx="3657600" cy="639762"/>
          </a:xfrm>
          <a:prstGeom prst="rect">
            <a:avLst/>
          </a:prstGeom>
        </p:spPr>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3300" dirty="0">
                <a:latin typeface="等线 Light" panose="02010600030101010101" pitchFamily="2" charset="-122"/>
                <a:ea typeface="等线 Light" panose="02010600030101010101" pitchFamily="2" charset="-122"/>
              </a:rPr>
              <a:t>步骤二：</a:t>
            </a:r>
            <a:r>
              <a:rPr lang="zh-CN" altLang="zh-CN" sz="3300" dirty="0">
                <a:latin typeface="等线 Light" panose="02010600030101010101" pitchFamily="2" charset="-122"/>
                <a:ea typeface="等线 Light" panose="02010600030101010101" pitchFamily="2" charset="-122"/>
              </a:rPr>
              <a:t>文献</a:t>
            </a:r>
            <a:r>
              <a:rPr lang="zh-CN" altLang="en-US" sz="3300" dirty="0">
                <a:latin typeface="等线 Light" panose="02010600030101010101" pitchFamily="2" charset="-122"/>
                <a:ea typeface="等线 Light" panose="02010600030101010101" pitchFamily="2" charset="-122"/>
              </a:rPr>
              <a:t>检索</a:t>
            </a:r>
            <a:endParaRPr lang="zh-HK" altLang="en-US" sz="3300" dirty="0">
              <a:latin typeface="等线 Light" panose="02010600030101010101" pitchFamily="2" charset="-122"/>
              <a:ea typeface="等线 Light" panose="02010600030101010101" pitchFamily="2" charset="-122"/>
            </a:endParaRPr>
          </a:p>
        </p:txBody>
      </p:sp>
      <p:sp>
        <p:nvSpPr>
          <p:cNvPr id="3" name="矩形 2">
            <a:extLst>
              <a:ext uri="{FF2B5EF4-FFF2-40B4-BE49-F238E27FC236}">
                <a16:creationId xmlns:a16="http://schemas.microsoft.com/office/drawing/2014/main" id="{32252FB1-D1E5-4257-B186-033DB67874D2}"/>
              </a:ext>
            </a:extLst>
          </p:cNvPr>
          <p:cNvSpPr/>
          <p:nvPr/>
        </p:nvSpPr>
        <p:spPr>
          <a:xfrm>
            <a:off x="381000" y="1143000"/>
            <a:ext cx="9677400" cy="2353786"/>
          </a:xfrm>
          <a:prstGeom prst="rect">
            <a:avLst/>
          </a:prstGeom>
        </p:spPr>
        <p:txBody>
          <a:bodyPr wrap="square">
            <a:spAutoFit/>
          </a:bodyPr>
          <a:lstStyle/>
          <a:p>
            <a:pPr algn="just">
              <a:lnSpc>
                <a:spcPct val="150000"/>
              </a:lnSpc>
              <a:spcAft>
                <a:spcPts val="0"/>
              </a:spcAft>
            </a:pPr>
            <a:r>
              <a:rPr lang="en-US" altLang="zh-CN" sz="2000" kern="100" dirty="0">
                <a:latin typeface="等线 Light" panose="02010600030101010101" pitchFamily="2" charset="-122"/>
                <a:ea typeface="等线 Light" panose="02010600030101010101" pitchFamily="2" charset="-122"/>
                <a:cs typeface="Times New Roman" panose="02020603050405020304" pitchFamily="18" charset="0"/>
              </a:rPr>
              <a:t>1</a:t>
            </a:r>
            <a:r>
              <a:rPr lang="zh-CN" altLang="en-US" sz="2000" kern="100" dirty="0">
                <a:latin typeface="等线 Light" panose="02010600030101010101" pitchFamily="2" charset="-122"/>
                <a:ea typeface="等线 Light" panose="02010600030101010101" pitchFamily="2" charset="-122"/>
                <a:cs typeface="Times New Roman" panose="02020603050405020304" pitchFamily="18" charset="0"/>
              </a:rPr>
              <a:t>、</a:t>
            </a:r>
            <a:r>
              <a:rPr lang="zh-CN" altLang="zh-CN" sz="2000" kern="100" dirty="0">
                <a:latin typeface="等线 Light" panose="02010600030101010101" pitchFamily="2" charset="-122"/>
                <a:ea typeface="等线 Light" panose="02010600030101010101" pitchFamily="2" charset="-122"/>
                <a:cs typeface="Times New Roman" panose="02020603050405020304" pitchFamily="18" charset="0"/>
              </a:rPr>
              <a:t>确定文献搜索的目的</a:t>
            </a:r>
          </a:p>
          <a:p>
            <a:pPr algn="just">
              <a:lnSpc>
                <a:spcPct val="150000"/>
              </a:lnSpc>
              <a:spcAft>
                <a:spcPts val="0"/>
              </a:spcAft>
            </a:pPr>
            <a:r>
              <a:rPr lang="en-US" altLang="zh-CN" sz="2000" kern="100" dirty="0">
                <a:latin typeface="等线 Light" panose="02010600030101010101" pitchFamily="2" charset="-122"/>
                <a:ea typeface="等线 Light" panose="02010600030101010101" pitchFamily="2" charset="-122"/>
                <a:cs typeface="Times New Roman" panose="02020603050405020304" pitchFamily="18" charset="0"/>
              </a:rPr>
              <a:t>2</a:t>
            </a:r>
            <a:r>
              <a:rPr lang="zh-CN" altLang="en-US" sz="2000" kern="100" dirty="0">
                <a:latin typeface="等线 Light" panose="02010600030101010101" pitchFamily="2" charset="-122"/>
                <a:ea typeface="等线 Light" panose="02010600030101010101" pitchFamily="2" charset="-122"/>
                <a:cs typeface="Times New Roman" panose="02020603050405020304" pitchFamily="18" charset="0"/>
              </a:rPr>
              <a:t>、</a:t>
            </a:r>
            <a:r>
              <a:rPr lang="zh-CN" altLang="zh-CN" sz="2000" kern="100" dirty="0">
                <a:latin typeface="等线 Light" panose="02010600030101010101" pitchFamily="2" charset="-122"/>
                <a:ea typeface="等线 Light" panose="02010600030101010101" pitchFamily="2" charset="-122"/>
                <a:cs typeface="Times New Roman" panose="02020603050405020304" pitchFamily="18" charset="0"/>
              </a:rPr>
              <a:t>选择合适的数据库</a:t>
            </a:r>
          </a:p>
          <a:p>
            <a:pPr algn="just">
              <a:lnSpc>
                <a:spcPct val="150000"/>
              </a:lnSpc>
            </a:pPr>
            <a:r>
              <a:rPr lang="en-US" altLang="zh-CN" sz="2000" dirty="0">
                <a:latin typeface="等线 Light" panose="02010600030101010101" pitchFamily="2" charset="-122"/>
                <a:ea typeface="等线 Light" panose="02010600030101010101" pitchFamily="2" charset="-122"/>
              </a:rPr>
              <a:t>3</a:t>
            </a:r>
            <a:r>
              <a:rPr lang="zh-CN" altLang="en-US" sz="2000" dirty="0">
                <a:latin typeface="等线 Light" panose="02010600030101010101" pitchFamily="2" charset="-122"/>
                <a:ea typeface="等线 Light" panose="02010600030101010101" pitchFamily="2" charset="-122"/>
              </a:rPr>
              <a:t>、</a:t>
            </a:r>
            <a:r>
              <a:rPr lang="zh-CN" altLang="zh-CN" sz="2000" dirty="0">
                <a:latin typeface="等线 Light" panose="02010600030101010101" pitchFamily="2" charset="-122"/>
                <a:ea typeface="等线 Light" panose="02010600030101010101" pitchFamily="2" charset="-122"/>
              </a:rPr>
              <a:t>文献搜索</a:t>
            </a:r>
          </a:p>
          <a:p>
            <a:pPr algn="just">
              <a:lnSpc>
                <a:spcPct val="150000"/>
              </a:lnSpc>
            </a:pPr>
            <a:r>
              <a:rPr lang="en-US" altLang="zh-CN" sz="2000" dirty="0">
                <a:latin typeface="等线 Light" panose="02010600030101010101" pitchFamily="2" charset="-122"/>
                <a:ea typeface="等线 Light" panose="02010600030101010101" pitchFamily="2" charset="-122"/>
              </a:rPr>
              <a:t>4</a:t>
            </a:r>
            <a:r>
              <a:rPr lang="zh-CN" altLang="en-US" sz="2000" dirty="0">
                <a:latin typeface="等线 Light" panose="02010600030101010101" pitchFamily="2" charset="-122"/>
                <a:ea typeface="等线 Light" panose="02010600030101010101" pitchFamily="2" charset="-122"/>
              </a:rPr>
              <a:t>、</a:t>
            </a:r>
            <a:r>
              <a:rPr lang="zh-CN" altLang="zh-CN" sz="2000" dirty="0">
                <a:latin typeface="等线 Light" panose="02010600030101010101" pitchFamily="2" charset="-122"/>
                <a:ea typeface="等线 Light" panose="02010600030101010101" pitchFamily="2" charset="-122"/>
              </a:rPr>
              <a:t>文献筛选</a:t>
            </a:r>
          </a:p>
          <a:p>
            <a:pPr algn="just">
              <a:lnSpc>
                <a:spcPct val="150000"/>
              </a:lnSpc>
            </a:pPr>
            <a:r>
              <a:rPr lang="en-US" altLang="zh-CN" sz="2000" dirty="0">
                <a:latin typeface="等线 Light" panose="02010600030101010101" pitchFamily="2" charset="-122"/>
                <a:ea typeface="等线 Light" panose="02010600030101010101" pitchFamily="2" charset="-122"/>
              </a:rPr>
              <a:t>5</a:t>
            </a:r>
            <a:r>
              <a:rPr lang="zh-CN" altLang="en-US" sz="2000" dirty="0">
                <a:latin typeface="等线 Light" panose="02010600030101010101" pitchFamily="2" charset="-122"/>
                <a:ea typeface="等线 Light" panose="02010600030101010101" pitchFamily="2" charset="-122"/>
              </a:rPr>
              <a:t>、</a:t>
            </a:r>
            <a:r>
              <a:rPr lang="zh-CN" altLang="zh-CN" sz="2000" dirty="0">
                <a:latin typeface="等线 Light" panose="02010600030101010101" pitchFamily="2" charset="-122"/>
                <a:ea typeface="等线 Light" panose="02010600030101010101" pitchFamily="2" charset="-122"/>
              </a:rPr>
              <a:t>论文</a:t>
            </a:r>
            <a:r>
              <a:rPr lang="zh-CN" altLang="en-US" sz="2000" dirty="0">
                <a:latin typeface="等线 Light" panose="02010600030101010101" pitchFamily="2" charset="-122"/>
                <a:ea typeface="等线 Light" panose="02010600030101010101" pitchFamily="2" charset="-122"/>
              </a:rPr>
              <a:t>阅读与整理：</a:t>
            </a:r>
            <a:r>
              <a:rPr lang="zh-CN" altLang="zh-CN" sz="2000" dirty="0">
                <a:latin typeface="等线 Light" panose="02010600030101010101" pitchFamily="2" charset="-122"/>
                <a:ea typeface="等线 Light" panose="02010600030101010101" pitchFamily="2" charset="-122"/>
              </a:rPr>
              <a:t>进一步精炼或调整目的、关键词，再重复上述步骤</a:t>
            </a:r>
            <a:endParaRPr lang="zh-CN" altLang="zh-CN" sz="2000" kern="100" dirty="0">
              <a:latin typeface="等线 Light" panose="02010600030101010101" pitchFamily="2" charset="-122"/>
              <a:ea typeface="等线 Light"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5716398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17F88EB1-2AF5-4311-BD4E-7087A741F15A}"/>
              </a:ext>
            </a:extLst>
          </p:cNvPr>
          <p:cNvSpPr/>
          <p:nvPr/>
        </p:nvSpPr>
        <p:spPr>
          <a:xfrm>
            <a:off x="533400" y="1219200"/>
            <a:ext cx="10591800" cy="963597"/>
          </a:xfrm>
          <a:prstGeom prst="rect">
            <a:avLst/>
          </a:prstGeom>
        </p:spPr>
        <p:txBody>
          <a:bodyPr wrap="square">
            <a:spAutoFit/>
          </a:bodyPr>
          <a:lstStyle/>
          <a:p>
            <a:pPr marL="342900" indent="-342900" algn="just">
              <a:lnSpc>
                <a:spcPct val="150000"/>
              </a:lnSpc>
              <a:spcAft>
                <a:spcPts val="0"/>
              </a:spcAft>
              <a:buFont typeface="Arial" panose="020B0604020202020204" pitchFamily="34" charset="0"/>
              <a:buChar char="•"/>
            </a:pPr>
            <a:r>
              <a:rPr lang="zh-CN" altLang="zh-CN" sz="2000" kern="100" dirty="0">
                <a:latin typeface="等线 Light" panose="02010600030101010101" pitchFamily="2" charset="-122"/>
                <a:ea typeface="等线 Light" panose="02010600030101010101" pitchFamily="2" charset="-122"/>
                <a:cs typeface="Times New Roman" panose="02020603050405020304" pitchFamily="18" charset="0"/>
              </a:rPr>
              <a:t>数据库包括中文、英文、纸质、专利等。</a:t>
            </a:r>
            <a:endParaRPr lang="en-US" altLang="zh-CN" sz="2000" kern="100" dirty="0">
              <a:latin typeface="等线 Light" panose="02010600030101010101" pitchFamily="2" charset="-122"/>
              <a:ea typeface="等线 Light" panose="02010600030101010101" pitchFamily="2" charset="-122"/>
              <a:cs typeface="Times New Roman" panose="02020603050405020304" pitchFamily="18" charset="0"/>
            </a:endParaRPr>
          </a:p>
          <a:p>
            <a:pPr marL="342900" indent="-342900" algn="just">
              <a:lnSpc>
                <a:spcPct val="150000"/>
              </a:lnSpc>
              <a:spcAft>
                <a:spcPts val="0"/>
              </a:spcAft>
              <a:buFont typeface="Arial" panose="020B0604020202020204" pitchFamily="34" charset="0"/>
              <a:buChar char="•"/>
            </a:pPr>
            <a:r>
              <a:rPr lang="zh-CN" altLang="zh-CN" sz="2000" kern="100" dirty="0">
                <a:latin typeface="等线 Light" panose="02010600030101010101" pitchFamily="2" charset="-122"/>
                <a:ea typeface="等线 Light" panose="02010600030101010101" pitchFamily="2" charset="-122"/>
                <a:cs typeface="Times New Roman" panose="02020603050405020304" pitchFamily="18" charset="0"/>
              </a:rPr>
              <a:t>网络资料来源，如小红书、知乎、</a:t>
            </a:r>
            <a:r>
              <a:rPr lang="en-US" altLang="zh-CN" sz="2000" kern="100" dirty="0">
                <a:latin typeface="等线 Light" panose="02010600030101010101" pitchFamily="2" charset="-122"/>
                <a:ea typeface="等线 Light" panose="02010600030101010101" pitchFamily="2" charset="-122"/>
                <a:cs typeface="Times New Roman" panose="02020603050405020304" pitchFamily="18" charset="0"/>
              </a:rPr>
              <a:t>B</a:t>
            </a:r>
            <a:r>
              <a:rPr lang="zh-CN" altLang="zh-CN" sz="2000" kern="100" dirty="0">
                <a:latin typeface="等线 Light" panose="02010600030101010101" pitchFamily="2" charset="-122"/>
                <a:ea typeface="等线 Light" panose="02010600030101010101" pitchFamily="2" charset="-122"/>
                <a:cs typeface="Times New Roman" panose="02020603050405020304" pitchFamily="18" charset="0"/>
              </a:rPr>
              <a:t>站等。</a:t>
            </a:r>
          </a:p>
        </p:txBody>
      </p:sp>
      <p:graphicFrame>
        <p:nvGraphicFramePr>
          <p:cNvPr id="5" name="表格 4">
            <a:extLst>
              <a:ext uri="{FF2B5EF4-FFF2-40B4-BE49-F238E27FC236}">
                <a16:creationId xmlns:a16="http://schemas.microsoft.com/office/drawing/2014/main" id="{C81CF7CB-2C3B-4539-8983-BED4004901CE}"/>
              </a:ext>
            </a:extLst>
          </p:cNvPr>
          <p:cNvGraphicFramePr>
            <a:graphicFrameLocks noGrp="1"/>
          </p:cNvGraphicFramePr>
          <p:nvPr>
            <p:extLst>
              <p:ext uri="{D42A27DB-BD31-4B8C-83A1-F6EECF244321}">
                <p14:modId xmlns:p14="http://schemas.microsoft.com/office/powerpoint/2010/main" val="130217946"/>
              </p:ext>
            </p:extLst>
          </p:nvPr>
        </p:nvGraphicFramePr>
        <p:xfrm>
          <a:off x="685800" y="2590800"/>
          <a:ext cx="9867900" cy="2490856"/>
        </p:xfrm>
        <a:graphic>
          <a:graphicData uri="http://schemas.openxmlformats.org/drawingml/2006/table">
            <a:tbl>
              <a:tblPr firstRow="1" firstCol="1" bandRow="1">
                <a:tableStyleId>{5C22544A-7EE6-4342-B048-85BDC9FD1C3A}</a:tableStyleId>
              </a:tblPr>
              <a:tblGrid>
                <a:gridCol w="3123652">
                  <a:extLst>
                    <a:ext uri="{9D8B030D-6E8A-4147-A177-3AD203B41FA5}">
                      <a16:colId xmlns:a16="http://schemas.microsoft.com/office/drawing/2014/main" val="3848545280"/>
                    </a:ext>
                  </a:extLst>
                </a:gridCol>
                <a:gridCol w="6744248">
                  <a:extLst>
                    <a:ext uri="{9D8B030D-6E8A-4147-A177-3AD203B41FA5}">
                      <a16:colId xmlns:a16="http://schemas.microsoft.com/office/drawing/2014/main" val="2841759069"/>
                    </a:ext>
                  </a:extLst>
                </a:gridCol>
              </a:tblGrid>
              <a:tr h="0">
                <a:tc>
                  <a:txBody>
                    <a:bodyPr/>
                    <a:lstStyle/>
                    <a:p>
                      <a:pPr algn="ctr">
                        <a:spcAft>
                          <a:spcPts val="0"/>
                        </a:spcAft>
                      </a:pPr>
                      <a:r>
                        <a:rPr lang="zh-CN" sz="2000" kern="100" dirty="0">
                          <a:effectLst/>
                          <a:latin typeface="等线 Light" panose="02010600030101010101" pitchFamily="2" charset="-122"/>
                          <a:ea typeface="等线 Light" panose="02010600030101010101" pitchFamily="2" charset="-122"/>
                        </a:rPr>
                        <a:t>类别</a:t>
                      </a:r>
                      <a:endParaRPr lang="zh-CN" sz="20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2000" kern="100">
                          <a:effectLst/>
                          <a:latin typeface="等线 Light" panose="02010600030101010101" pitchFamily="2" charset="-122"/>
                          <a:ea typeface="等线 Light" panose="02010600030101010101" pitchFamily="2" charset="-122"/>
                        </a:rPr>
                        <a:t>描述</a:t>
                      </a:r>
                      <a:endParaRPr lang="zh-CN" sz="2000" kern="10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490426888"/>
                  </a:ext>
                </a:extLst>
              </a:tr>
              <a:tr h="393998">
                <a:tc>
                  <a:txBody>
                    <a:bodyPr/>
                    <a:lstStyle/>
                    <a:p>
                      <a:pPr algn="just">
                        <a:spcAft>
                          <a:spcPts val="0"/>
                        </a:spcAft>
                      </a:pPr>
                      <a:r>
                        <a:rPr lang="zh-CN" sz="1800" kern="100" dirty="0">
                          <a:effectLst/>
                          <a:latin typeface="等线 Light" panose="02010600030101010101" pitchFamily="2" charset="-122"/>
                          <a:ea typeface="等线 Light" panose="02010600030101010101" pitchFamily="2" charset="-122"/>
                        </a:rPr>
                        <a:t>中文电子</a:t>
                      </a:r>
                      <a:endParaRPr lang="zh-CN" sz="18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1800" kern="100">
                          <a:effectLst/>
                          <a:latin typeface="等线 Light" panose="02010600030101010101" pitchFamily="2" charset="-122"/>
                          <a:ea typeface="等线 Light" panose="02010600030101010101" pitchFamily="2" charset="-122"/>
                        </a:rPr>
                        <a:t>知网、读秀、万方、超星等。</a:t>
                      </a:r>
                      <a:endParaRPr lang="zh-CN" sz="1800" kern="10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637639958"/>
                  </a:ext>
                </a:extLst>
              </a:tr>
              <a:tr h="393998">
                <a:tc>
                  <a:txBody>
                    <a:bodyPr/>
                    <a:lstStyle/>
                    <a:p>
                      <a:pPr algn="just">
                        <a:spcAft>
                          <a:spcPts val="0"/>
                        </a:spcAft>
                      </a:pPr>
                      <a:r>
                        <a:rPr lang="zh-CN" sz="1800" kern="100" dirty="0">
                          <a:effectLst/>
                          <a:latin typeface="等线 Light" panose="02010600030101010101" pitchFamily="2" charset="-122"/>
                          <a:ea typeface="等线 Light" panose="02010600030101010101" pitchFamily="2" charset="-122"/>
                        </a:rPr>
                        <a:t>英文电子</a:t>
                      </a:r>
                      <a:endParaRPr lang="zh-CN" sz="18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dirty="0">
                          <a:effectLst/>
                          <a:latin typeface="等线 Light" panose="02010600030101010101" pitchFamily="2" charset="-122"/>
                          <a:ea typeface="等线 Light" panose="02010600030101010101" pitchFamily="2" charset="-122"/>
                        </a:rPr>
                        <a:t>web of science</a:t>
                      </a:r>
                      <a:r>
                        <a:rPr lang="zh-CN" sz="1800" kern="100" dirty="0">
                          <a:effectLst/>
                          <a:latin typeface="等线 Light" panose="02010600030101010101" pitchFamily="2" charset="-122"/>
                          <a:ea typeface="等线 Light" panose="02010600030101010101" pitchFamily="2" charset="-122"/>
                        </a:rPr>
                        <a:t>，</a:t>
                      </a:r>
                      <a:r>
                        <a:rPr lang="en-US" sz="1800" kern="100" dirty="0">
                          <a:effectLst/>
                          <a:latin typeface="等线 Light" panose="02010600030101010101" pitchFamily="2" charset="-122"/>
                          <a:ea typeface="等线 Light" panose="02010600030101010101" pitchFamily="2" charset="-122"/>
                        </a:rPr>
                        <a:t>ScienceDirect</a:t>
                      </a:r>
                      <a:r>
                        <a:rPr lang="zh-CN" sz="1800" kern="100" dirty="0">
                          <a:effectLst/>
                          <a:latin typeface="等线 Light" panose="02010600030101010101" pitchFamily="2" charset="-122"/>
                          <a:ea typeface="等线 Light" panose="02010600030101010101" pitchFamily="2" charset="-122"/>
                        </a:rPr>
                        <a:t>，</a:t>
                      </a:r>
                      <a:r>
                        <a:rPr lang="en-US" sz="1800" kern="100" dirty="0">
                          <a:effectLst/>
                          <a:latin typeface="等线 Light" panose="02010600030101010101" pitchFamily="2" charset="-122"/>
                          <a:ea typeface="等线 Light" panose="02010600030101010101" pitchFamily="2" charset="-122"/>
                        </a:rPr>
                        <a:t>Google Scholar</a:t>
                      </a:r>
                      <a:r>
                        <a:rPr lang="zh-CN" sz="1800" kern="100" dirty="0">
                          <a:effectLst/>
                          <a:latin typeface="等线 Light" panose="02010600030101010101" pitchFamily="2" charset="-122"/>
                          <a:ea typeface="等线 Light" panose="02010600030101010101" pitchFamily="2" charset="-122"/>
                        </a:rPr>
                        <a:t>等。</a:t>
                      </a:r>
                      <a:endParaRPr lang="zh-CN" sz="18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565777051"/>
                  </a:ext>
                </a:extLst>
              </a:tr>
              <a:tr h="393998">
                <a:tc>
                  <a:txBody>
                    <a:bodyPr/>
                    <a:lstStyle/>
                    <a:p>
                      <a:pPr algn="just">
                        <a:spcAft>
                          <a:spcPts val="0"/>
                        </a:spcAft>
                      </a:pPr>
                      <a:r>
                        <a:rPr lang="zh-CN" sz="1800" kern="100" dirty="0">
                          <a:effectLst/>
                          <a:latin typeface="等线 Light" panose="02010600030101010101" pitchFamily="2" charset="-122"/>
                          <a:ea typeface="等线 Light" panose="02010600030101010101" pitchFamily="2" charset="-122"/>
                        </a:rPr>
                        <a:t>纸质书籍与期刊</a:t>
                      </a:r>
                      <a:endParaRPr lang="zh-CN" sz="18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1800" kern="100" dirty="0">
                          <a:effectLst/>
                          <a:latin typeface="等线 Light" panose="02010600030101010101" pitchFamily="2" charset="-122"/>
                          <a:ea typeface="等线 Light" panose="02010600030101010101" pitchFamily="2" charset="-122"/>
                        </a:rPr>
                        <a:t>图书馆借阅、馆际借阅。</a:t>
                      </a:r>
                      <a:endParaRPr lang="zh-CN" sz="18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044693395"/>
                  </a:ext>
                </a:extLst>
              </a:tr>
              <a:tr h="942861">
                <a:tc>
                  <a:txBody>
                    <a:bodyPr/>
                    <a:lstStyle/>
                    <a:p>
                      <a:pPr algn="just">
                        <a:spcAft>
                          <a:spcPts val="0"/>
                        </a:spcAft>
                      </a:pPr>
                      <a:r>
                        <a:rPr lang="zh-CN" sz="1800" kern="100">
                          <a:effectLst/>
                          <a:latin typeface="等线 Light" panose="02010600030101010101" pitchFamily="2" charset="-122"/>
                          <a:ea typeface="等线 Light" panose="02010600030101010101" pitchFamily="2" charset="-122"/>
                        </a:rPr>
                        <a:t>专利、科技成果、标准等</a:t>
                      </a:r>
                      <a:endParaRPr lang="zh-CN" sz="1800" kern="10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tc>
                  <a:txBody>
                    <a:bodyPr/>
                    <a:lstStyle/>
                    <a:p>
                      <a:pPr algn="just">
                        <a:lnSpc>
                          <a:spcPct val="125000"/>
                        </a:lnSpc>
                        <a:spcAft>
                          <a:spcPts val="0"/>
                        </a:spcAft>
                      </a:pPr>
                      <a:r>
                        <a:rPr lang="zh-CN" sz="1800" kern="100" dirty="0">
                          <a:effectLst/>
                          <a:latin typeface="等线 Light" panose="02010600030101010101" pitchFamily="2" charset="-122"/>
                          <a:ea typeface="等线 Light" panose="02010600030101010101" pitchFamily="2" charset="-122"/>
                        </a:rPr>
                        <a:t>中国专利全文数据库（知网版）、海外专利数据库（知网版）、中国科技项目创新成果鉴定意见数据库（知网版）、标准数据总库（知网版）、万方中外专利技术数据库。</a:t>
                      </a:r>
                      <a:endParaRPr lang="zh-CN" sz="18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867139457"/>
                  </a:ext>
                </a:extLst>
              </a:tr>
            </a:tbl>
          </a:graphicData>
        </a:graphic>
      </p:graphicFrame>
      <p:sp>
        <p:nvSpPr>
          <p:cNvPr id="6" name="Title 1">
            <a:extLst>
              <a:ext uri="{FF2B5EF4-FFF2-40B4-BE49-F238E27FC236}">
                <a16:creationId xmlns:a16="http://schemas.microsoft.com/office/drawing/2014/main" id="{9E01372F-1F86-45C8-AA07-786F29A2CD29}"/>
              </a:ext>
            </a:extLst>
          </p:cNvPr>
          <p:cNvSpPr txBox="1">
            <a:spLocks/>
          </p:cNvSpPr>
          <p:nvPr/>
        </p:nvSpPr>
        <p:spPr>
          <a:xfrm>
            <a:off x="1752600" y="364218"/>
            <a:ext cx="3581400" cy="639762"/>
          </a:xfrm>
          <a:prstGeom prst="rect">
            <a:avLst/>
          </a:prstGeom>
        </p:spPr>
        <p:txBody>
          <a:bodyPr vert="horz" lIns="91440" tIns="45720" rIns="91440" bIns="45720" rtlCol="0" anchor="ctr">
            <a:normAutofit fontScale="9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300" dirty="0">
                <a:latin typeface="等线 Light" panose="02010600030101010101" pitchFamily="2" charset="-122"/>
                <a:ea typeface="等线 Light" panose="02010600030101010101" pitchFamily="2" charset="-122"/>
              </a:rPr>
              <a:t>1</a:t>
            </a:r>
            <a:r>
              <a:rPr lang="zh-CN" altLang="en-US" sz="3300" dirty="0">
                <a:latin typeface="等线 Light" panose="02010600030101010101" pitchFamily="2" charset="-122"/>
                <a:ea typeface="等线 Light" panose="02010600030101010101" pitchFamily="2" charset="-122"/>
              </a:rPr>
              <a:t>、确定检索数据库</a:t>
            </a:r>
            <a:endParaRPr lang="zh-HK" altLang="en-US" sz="3300" dirty="0">
              <a:latin typeface="等线 Light" panose="02010600030101010101" pitchFamily="2" charset="-122"/>
              <a:ea typeface="等线 Light" panose="02010600030101010101" pitchFamily="2" charset="-122"/>
            </a:endParaRPr>
          </a:p>
        </p:txBody>
      </p:sp>
    </p:spTree>
    <p:extLst>
      <p:ext uri="{BB962C8B-B14F-4D97-AF65-F5344CB8AC3E}">
        <p14:creationId xmlns:p14="http://schemas.microsoft.com/office/powerpoint/2010/main" val="24514078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4BD62CEF-F5E4-40FE-96C0-33797900FD5A}"/>
              </a:ext>
            </a:extLst>
          </p:cNvPr>
          <p:cNvSpPr/>
          <p:nvPr/>
        </p:nvSpPr>
        <p:spPr>
          <a:xfrm>
            <a:off x="1752601" y="457200"/>
            <a:ext cx="2743200" cy="600164"/>
          </a:xfrm>
          <a:prstGeom prst="rect">
            <a:avLst/>
          </a:prstGeom>
        </p:spPr>
        <p:txBody>
          <a:bodyPr wrap="square">
            <a:spAutoFit/>
          </a:bodyPr>
          <a:lstStyle/>
          <a:p>
            <a:pPr algn="ctr">
              <a:spcBef>
                <a:spcPct val="0"/>
              </a:spcBef>
            </a:pPr>
            <a:r>
              <a:rPr lang="en-US" altLang="zh-CN" sz="3300" dirty="0">
                <a:latin typeface="等线 Light" panose="02010600030101010101" pitchFamily="2" charset="-122"/>
                <a:ea typeface="等线 Light" panose="02010600030101010101" pitchFamily="2" charset="-122"/>
                <a:cs typeface="+mj-cs"/>
              </a:rPr>
              <a:t>2</a:t>
            </a:r>
            <a:r>
              <a:rPr lang="zh-CN" altLang="en-US" sz="3300" dirty="0">
                <a:latin typeface="等线 Light" panose="02010600030101010101" pitchFamily="2" charset="-122"/>
                <a:ea typeface="等线 Light" panose="02010600030101010101" pitchFamily="2" charset="-122"/>
                <a:cs typeface="+mj-cs"/>
              </a:rPr>
              <a:t>、</a:t>
            </a:r>
            <a:r>
              <a:rPr lang="zh-CN" altLang="zh-CN" sz="3300" dirty="0">
                <a:latin typeface="等线 Light" panose="02010600030101010101" pitchFamily="2" charset="-122"/>
                <a:ea typeface="等线 Light" panose="02010600030101010101" pitchFamily="2" charset="-122"/>
                <a:cs typeface="+mj-cs"/>
              </a:rPr>
              <a:t>文献搜索</a:t>
            </a:r>
            <a:endParaRPr lang="zh-CN" altLang="en-US" sz="3300" dirty="0">
              <a:latin typeface="等线 Light" panose="02010600030101010101" pitchFamily="2" charset="-122"/>
              <a:ea typeface="等线 Light" panose="02010600030101010101" pitchFamily="2" charset="-122"/>
              <a:cs typeface="+mj-cs"/>
            </a:endParaRPr>
          </a:p>
        </p:txBody>
      </p:sp>
      <p:sp>
        <p:nvSpPr>
          <p:cNvPr id="3" name="矩形 2">
            <a:extLst>
              <a:ext uri="{FF2B5EF4-FFF2-40B4-BE49-F238E27FC236}">
                <a16:creationId xmlns:a16="http://schemas.microsoft.com/office/drawing/2014/main" id="{0D3AEA5C-F17C-4D2E-840A-8DEEBE1541D3}"/>
              </a:ext>
            </a:extLst>
          </p:cNvPr>
          <p:cNvSpPr/>
          <p:nvPr/>
        </p:nvSpPr>
        <p:spPr>
          <a:xfrm>
            <a:off x="304800" y="1143000"/>
            <a:ext cx="10896600" cy="1892121"/>
          </a:xfrm>
          <a:prstGeom prst="rect">
            <a:avLst/>
          </a:prstGeom>
        </p:spPr>
        <p:txBody>
          <a:bodyPr wrap="square">
            <a:spAutoFit/>
          </a:bodyPr>
          <a:lstStyle/>
          <a:p>
            <a:pPr>
              <a:lnSpc>
                <a:spcPct val="150000"/>
              </a:lnSpc>
            </a:pPr>
            <a:r>
              <a:rPr lang="en-US" altLang="zh-CN" sz="2000" dirty="0">
                <a:latin typeface="等线 Light" panose="02010600030101010101" pitchFamily="2" charset="-122"/>
                <a:ea typeface="等线 Light" panose="02010600030101010101" pitchFamily="2" charset="-122"/>
                <a:cs typeface="Times New Roman" panose="02020603050405020304" pitchFamily="18" charset="0"/>
              </a:rPr>
              <a:t>1</a:t>
            </a:r>
            <a:r>
              <a:rPr lang="zh-CN" altLang="en-US" sz="2000" dirty="0">
                <a:latin typeface="等线 Light" panose="02010600030101010101" pitchFamily="2" charset="-122"/>
                <a:ea typeface="等线 Light" panose="02010600030101010101" pitchFamily="2" charset="-122"/>
                <a:cs typeface="Times New Roman" panose="02020603050405020304" pitchFamily="18" charset="0"/>
              </a:rPr>
              <a:t>、</a:t>
            </a:r>
            <a:r>
              <a:rPr lang="zh-CN" altLang="zh-CN" sz="2000" dirty="0">
                <a:latin typeface="等线 Light" panose="02010600030101010101" pitchFamily="2" charset="-122"/>
                <a:ea typeface="等线 Light" panose="02010600030101010101" pitchFamily="2" charset="-122"/>
                <a:cs typeface="Times New Roman" panose="02020603050405020304" pitchFamily="18" charset="0"/>
              </a:rPr>
              <a:t>使用关键词进行搜索。</a:t>
            </a:r>
            <a:endParaRPr lang="en-US" altLang="zh-CN" sz="2000" dirty="0">
              <a:latin typeface="等线 Light" panose="02010600030101010101" pitchFamily="2" charset="-122"/>
              <a:ea typeface="等线 Light" panose="02010600030101010101" pitchFamily="2" charset="-122"/>
              <a:cs typeface="Times New Roman" panose="02020603050405020304" pitchFamily="18" charset="0"/>
            </a:endParaRPr>
          </a:p>
          <a:p>
            <a:pPr>
              <a:lnSpc>
                <a:spcPct val="150000"/>
              </a:lnSpc>
            </a:pPr>
            <a:r>
              <a:rPr lang="en-US" altLang="zh-CN" sz="2000" dirty="0">
                <a:latin typeface="等线 Light" panose="02010600030101010101" pitchFamily="2" charset="-122"/>
                <a:ea typeface="等线 Light" panose="02010600030101010101" pitchFamily="2" charset="-122"/>
              </a:rPr>
              <a:t>2</a:t>
            </a:r>
            <a:r>
              <a:rPr lang="zh-CN" altLang="en-US" sz="2000" dirty="0">
                <a:latin typeface="等线 Light" panose="02010600030101010101" pitchFamily="2" charset="-122"/>
                <a:ea typeface="等线 Light" panose="02010600030101010101" pitchFamily="2" charset="-122"/>
              </a:rPr>
              <a:t>、</a:t>
            </a:r>
            <a:r>
              <a:rPr lang="zh-CN" altLang="zh-CN" sz="2000" dirty="0">
                <a:latin typeface="等线 Light" panose="02010600030101010101" pitchFamily="2" charset="-122"/>
                <a:ea typeface="等线 Light" panose="02010600030101010101" pitchFamily="2" charset="-122"/>
              </a:rPr>
              <a:t>关键期刊的浏览</a:t>
            </a:r>
            <a:r>
              <a:rPr lang="zh-CN" altLang="en-US" sz="2000" dirty="0">
                <a:latin typeface="等线 Light" panose="02010600030101010101" pitchFamily="2" charset="-122"/>
                <a:ea typeface="等线 Light" panose="02010600030101010101" pitchFamily="2" charset="-122"/>
              </a:rPr>
              <a:t>。</a:t>
            </a:r>
            <a:endParaRPr lang="en-US" altLang="zh-CN" sz="2000" dirty="0">
              <a:latin typeface="等线 Light" panose="02010600030101010101" pitchFamily="2" charset="-122"/>
              <a:ea typeface="等线 Light" panose="02010600030101010101" pitchFamily="2" charset="-122"/>
            </a:endParaRPr>
          </a:p>
          <a:p>
            <a:pPr>
              <a:lnSpc>
                <a:spcPct val="150000"/>
              </a:lnSpc>
            </a:pPr>
            <a:r>
              <a:rPr lang="en-US" altLang="zh-CN" sz="2000" dirty="0">
                <a:latin typeface="等线 Light" panose="02010600030101010101" pitchFamily="2" charset="-122"/>
                <a:ea typeface="等线 Light" panose="02010600030101010101" pitchFamily="2" charset="-122"/>
              </a:rPr>
              <a:t>3</a:t>
            </a:r>
            <a:r>
              <a:rPr lang="zh-CN" altLang="en-US" sz="2000" dirty="0">
                <a:latin typeface="等线 Light" panose="02010600030101010101" pitchFamily="2" charset="-122"/>
                <a:ea typeface="等线 Light" panose="02010600030101010101" pitchFamily="2" charset="-122"/>
              </a:rPr>
              <a:t>、</a:t>
            </a:r>
            <a:r>
              <a:rPr lang="zh-CN" altLang="zh-CN" sz="2000" dirty="0">
                <a:latin typeface="等线 Light" panose="02010600030101010101" pitchFamily="2" charset="-122"/>
                <a:ea typeface="等线 Light" panose="02010600030101010101" pitchFamily="2" charset="-122"/>
              </a:rPr>
              <a:t>关键研究者的确定</a:t>
            </a:r>
            <a:r>
              <a:rPr lang="zh-CN" altLang="en-US" sz="2000" dirty="0">
                <a:latin typeface="等线 Light" panose="02010600030101010101" pitchFamily="2" charset="-122"/>
                <a:ea typeface="等线 Light" panose="02010600030101010101" pitchFamily="2" charset="-122"/>
              </a:rPr>
              <a:t>。</a:t>
            </a:r>
            <a:endParaRPr lang="en-US" altLang="zh-CN" sz="2000" dirty="0">
              <a:latin typeface="等线 Light" panose="02010600030101010101" pitchFamily="2" charset="-122"/>
              <a:ea typeface="等线 Light" panose="02010600030101010101" pitchFamily="2" charset="-122"/>
            </a:endParaRPr>
          </a:p>
          <a:p>
            <a:pPr>
              <a:lnSpc>
                <a:spcPct val="150000"/>
              </a:lnSpc>
            </a:pPr>
            <a:r>
              <a:rPr lang="en-US" altLang="zh-CN" sz="2000" dirty="0">
                <a:latin typeface="等线 Light" panose="02010600030101010101" pitchFamily="2" charset="-122"/>
                <a:ea typeface="等线 Light" panose="02010600030101010101" pitchFamily="2" charset="-122"/>
              </a:rPr>
              <a:t>4</a:t>
            </a:r>
            <a:r>
              <a:rPr lang="zh-CN" altLang="en-US" sz="2000" dirty="0">
                <a:latin typeface="等线 Light" panose="02010600030101010101" pitchFamily="2" charset="-122"/>
                <a:ea typeface="等线 Light" panose="02010600030101010101" pitchFamily="2" charset="-122"/>
              </a:rPr>
              <a:t>、</a:t>
            </a:r>
            <a:r>
              <a:rPr lang="zh-CN" altLang="zh-CN" sz="2000" dirty="0">
                <a:latin typeface="等线 Light" panose="02010600030101010101" pitchFamily="2" charset="-122"/>
                <a:ea typeface="等线 Light" panose="02010600030101010101" pitchFamily="2" charset="-122"/>
              </a:rPr>
              <a:t>关键论文的参考文献和被引</a:t>
            </a:r>
            <a:r>
              <a:rPr lang="zh-CN" altLang="en-US" sz="2000" dirty="0">
                <a:latin typeface="等线 Light" panose="02010600030101010101" pitchFamily="2" charset="-122"/>
                <a:ea typeface="等线 Light" panose="02010600030101010101" pitchFamily="2" charset="-122"/>
              </a:rPr>
              <a:t>。</a:t>
            </a:r>
          </a:p>
        </p:txBody>
      </p:sp>
    </p:spTree>
    <p:extLst>
      <p:ext uri="{BB962C8B-B14F-4D97-AF65-F5344CB8AC3E}">
        <p14:creationId xmlns:p14="http://schemas.microsoft.com/office/powerpoint/2010/main" val="20905488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1E028697-B967-40DF-9937-130212093400}"/>
              </a:ext>
            </a:extLst>
          </p:cNvPr>
          <p:cNvSpPr/>
          <p:nvPr/>
        </p:nvSpPr>
        <p:spPr>
          <a:xfrm>
            <a:off x="1447800" y="457191"/>
            <a:ext cx="3063799" cy="600164"/>
          </a:xfrm>
          <a:prstGeom prst="rect">
            <a:avLst/>
          </a:prstGeom>
        </p:spPr>
        <p:txBody>
          <a:bodyPr wrap="square">
            <a:spAutoFit/>
          </a:bodyPr>
          <a:lstStyle/>
          <a:p>
            <a:pPr algn="ctr">
              <a:spcBef>
                <a:spcPct val="0"/>
              </a:spcBef>
            </a:pPr>
            <a:r>
              <a:rPr lang="en-US" altLang="zh-CN" sz="3300" dirty="0">
                <a:latin typeface="等线 Light" panose="02010600030101010101" pitchFamily="2" charset="-122"/>
                <a:ea typeface="等线 Light" panose="02010600030101010101" pitchFamily="2" charset="-122"/>
                <a:cs typeface="+mj-cs"/>
              </a:rPr>
              <a:t>3</a:t>
            </a:r>
            <a:r>
              <a:rPr lang="zh-CN" altLang="en-US" sz="3300" dirty="0">
                <a:latin typeface="等线 Light" panose="02010600030101010101" pitchFamily="2" charset="-122"/>
                <a:ea typeface="等线 Light" panose="02010600030101010101" pitchFamily="2" charset="-122"/>
                <a:cs typeface="+mj-cs"/>
              </a:rPr>
              <a:t>、</a:t>
            </a:r>
            <a:r>
              <a:rPr lang="zh-CN" altLang="zh-CN" sz="3300" dirty="0">
                <a:latin typeface="等线 Light" panose="02010600030101010101" pitchFamily="2" charset="-122"/>
                <a:ea typeface="等线 Light" panose="02010600030101010101" pitchFamily="2" charset="-122"/>
                <a:cs typeface="+mj-cs"/>
              </a:rPr>
              <a:t>文献筛选</a:t>
            </a:r>
            <a:endParaRPr lang="zh-CN" altLang="en-US" sz="3300" dirty="0">
              <a:latin typeface="等线 Light" panose="02010600030101010101" pitchFamily="2" charset="-122"/>
              <a:ea typeface="等线 Light" panose="02010600030101010101" pitchFamily="2" charset="-122"/>
              <a:cs typeface="+mj-cs"/>
            </a:endParaRPr>
          </a:p>
        </p:txBody>
      </p:sp>
      <p:sp>
        <p:nvSpPr>
          <p:cNvPr id="3" name="矩形 2">
            <a:extLst>
              <a:ext uri="{FF2B5EF4-FFF2-40B4-BE49-F238E27FC236}">
                <a16:creationId xmlns:a16="http://schemas.microsoft.com/office/drawing/2014/main" id="{BFA5B047-F233-4729-8136-F558620AFF76}"/>
              </a:ext>
            </a:extLst>
          </p:cNvPr>
          <p:cNvSpPr/>
          <p:nvPr/>
        </p:nvSpPr>
        <p:spPr>
          <a:xfrm>
            <a:off x="381000" y="1057355"/>
            <a:ext cx="11201400" cy="3881960"/>
          </a:xfrm>
          <a:prstGeom prst="rect">
            <a:avLst/>
          </a:prstGeom>
        </p:spPr>
        <p:txBody>
          <a:bodyPr wrap="square">
            <a:spAutoFit/>
          </a:bodyPr>
          <a:lstStyle/>
          <a:p>
            <a:pPr algn="just">
              <a:lnSpc>
                <a:spcPct val="150000"/>
              </a:lnSpc>
              <a:spcAft>
                <a:spcPts val="0"/>
              </a:spcAft>
            </a:pPr>
            <a:r>
              <a:rPr lang="en-US" altLang="zh-CN" sz="2000" b="1" kern="100" dirty="0">
                <a:latin typeface="等线 Light" panose="02010600030101010101" pitchFamily="2" charset="-122"/>
                <a:ea typeface="等线 Light" panose="02010600030101010101" pitchFamily="2" charset="-122"/>
                <a:cs typeface="Times New Roman" panose="02020603050405020304" pitchFamily="18" charset="0"/>
              </a:rPr>
              <a:t>1</a:t>
            </a:r>
            <a:r>
              <a:rPr lang="zh-CN" altLang="en-US" sz="2000" b="1" kern="100" dirty="0">
                <a:latin typeface="等线 Light" panose="02010600030101010101" pitchFamily="2" charset="-122"/>
                <a:ea typeface="等线 Light" panose="02010600030101010101" pitchFamily="2" charset="-122"/>
                <a:cs typeface="Times New Roman" panose="02020603050405020304" pitchFamily="18" charset="0"/>
              </a:rPr>
              <a:t>、学术论文：</a:t>
            </a:r>
            <a:endParaRPr lang="en-US" altLang="zh-CN" sz="2000" b="1" kern="100" dirty="0">
              <a:latin typeface="等线 Light" panose="02010600030101010101" pitchFamily="2" charset="-122"/>
              <a:ea typeface="等线 Light" panose="02010600030101010101" pitchFamily="2" charset="-122"/>
              <a:cs typeface="Times New Roman" panose="02020603050405020304" pitchFamily="18" charset="0"/>
            </a:endParaRPr>
          </a:p>
          <a:p>
            <a:pPr marL="342900" indent="-342900" algn="just">
              <a:lnSpc>
                <a:spcPct val="150000"/>
              </a:lnSpc>
              <a:spcAft>
                <a:spcPts val="0"/>
              </a:spcAft>
              <a:buFont typeface="Arial" panose="020B0604020202020204" pitchFamily="34" charset="0"/>
              <a:buChar char="•"/>
            </a:pPr>
            <a:r>
              <a:rPr lang="zh-CN" altLang="zh-CN" kern="100" dirty="0">
                <a:latin typeface="等线 Light" panose="02010600030101010101" pitchFamily="2" charset="-122"/>
                <a:ea typeface="等线 Light" panose="02010600030101010101" pitchFamily="2" charset="-122"/>
                <a:cs typeface="Times New Roman" panose="02020603050405020304" pitchFamily="18" charset="0"/>
              </a:rPr>
              <a:t>高质量的期刊和经典的教材。特别是一些关键概念和理论的理解和引用。</a:t>
            </a:r>
          </a:p>
          <a:p>
            <a:pPr marL="342900" indent="-342900" algn="just">
              <a:lnSpc>
                <a:spcPct val="150000"/>
              </a:lnSpc>
              <a:spcAft>
                <a:spcPts val="0"/>
              </a:spcAft>
              <a:buFont typeface="Arial" panose="020B0604020202020204" pitchFamily="34" charset="0"/>
              <a:buChar char="•"/>
            </a:pPr>
            <a:r>
              <a:rPr lang="zh-CN" altLang="zh-CN" kern="100" dirty="0">
                <a:latin typeface="等线 Light" panose="02010600030101010101" pitchFamily="2" charset="-122"/>
                <a:ea typeface="等线 Light" panose="02010600030101010101" pitchFamily="2" charset="-122"/>
                <a:cs typeface="Times New Roman" panose="02020603050405020304" pitchFamily="18" charset="0"/>
              </a:rPr>
              <a:t>知名教授或在某领域知名研究者。</a:t>
            </a:r>
          </a:p>
          <a:p>
            <a:pPr marL="342900" indent="-342900" algn="just">
              <a:lnSpc>
                <a:spcPct val="150000"/>
              </a:lnSpc>
              <a:spcAft>
                <a:spcPts val="0"/>
              </a:spcAft>
              <a:buFont typeface="Arial" panose="020B0604020202020204" pitchFamily="34" charset="0"/>
              <a:buChar char="•"/>
            </a:pPr>
            <a:r>
              <a:rPr lang="zh-CN" altLang="zh-CN" kern="100" dirty="0">
                <a:latin typeface="等线 Light" panose="02010600030101010101" pitchFamily="2" charset="-122"/>
                <a:ea typeface="等线 Light" panose="02010600030101010101" pitchFamily="2" charset="-122"/>
                <a:cs typeface="Times New Roman" panose="02020603050405020304" pitchFamily="18" charset="0"/>
              </a:rPr>
              <a:t>来自最好的研究机构的研究者。。</a:t>
            </a:r>
          </a:p>
          <a:p>
            <a:pPr algn="just">
              <a:lnSpc>
                <a:spcPct val="150000"/>
              </a:lnSpc>
              <a:spcAft>
                <a:spcPts val="0"/>
              </a:spcAft>
            </a:pPr>
            <a:r>
              <a:rPr lang="zh-CN" altLang="zh-CN" kern="100" dirty="0">
                <a:latin typeface="等线 Light" panose="02010600030101010101" pitchFamily="2" charset="-122"/>
                <a:ea typeface="等线 Light" panose="02010600030101010101" pitchFamily="2" charset="-122"/>
                <a:cs typeface="Times New Roman" panose="02020603050405020304" pitchFamily="18" charset="0"/>
              </a:rPr>
              <a:t>在数据库中，可针对搜索结果进行筛选。例如，根据研究主题选择语言、出版日期、文献类型、作者等来缩小搜索结果的范围。</a:t>
            </a:r>
            <a:endParaRPr lang="en-US" altLang="zh-CN" kern="100" dirty="0">
              <a:latin typeface="等线 Light" panose="02010600030101010101" pitchFamily="2" charset="-122"/>
              <a:ea typeface="等线 Light" panose="02010600030101010101" pitchFamily="2" charset="-122"/>
              <a:cs typeface="Times New Roman" panose="02020603050405020304" pitchFamily="18" charset="0"/>
            </a:endParaRPr>
          </a:p>
          <a:p>
            <a:pPr algn="just">
              <a:lnSpc>
                <a:spcPct val="150000"/>
              </a:lnSpc>
            </a:pPr>
            <a:r>
              <a:rPr lang="en-US" altLang="zh-CN" sz="2000" b="1" kern="100" dirty="0">
                <a:latin typeface="等线 Light" panose="02010600030101010101" pitchFamily="2" charset="-122"/>
                <a:ea typeface="等线 Light" panose="02010600030101010101" pitchFamily="2" charset="-122"/>
                <a:cs typeface="Times New Roman" panose="02020603050405020304" pitchFamily="18" charset="0"/>
              </a:rPr>
              <a:t>2</a:t>
            </a:r>
            <a:r>
              <a:rPr lang="zh-CN" altLang="en-US" sz="2000" b="1" kern="100" dirty="0">
                <a:latin typeface="等线 Light" panose="02010600030101010101" pitchFamily="2" charset="-122"/>
                <a:ea typeface="等线 Light" panose="02010600030101010101" pitchFamily="2" charset="-122"/>
                <a:cs typeface="Times New Roman" panose="02020603050405020304" pitchFamily="18" charset="0"/>
              </a:rPr>
              <a:t>、实践观察</a:t>
            </a:r>
            <a:endParaRPr lang="en-US" altLang="zh-CN" sz="2000" b="1" kern="100" dirty="0">
              <a:latin typeface="等线 Light" panose="02010600030101010101" pitchFamily="2" charset="-122"/>
              <a:ea typeface="等线 Light" panose="02010600030101010101" pitchFamily="2" charset="-122"/>
              <a:cs typeface="Times New Roman" panose="02020603050405020304" pitchFamily="18" charset="0"/>
            </a:endParaRPr>
          </a:p>
          <a:p>
            <a:pPr marL="342900" indent="-342900" algn="just">
              <a:lnSpc>
                <a:spcPct val="150000"/>
              </a:lnSpc>
              <a:spcAft>
                <a:spcPts val="0"/>
              </a:spcAft>
              <a:buFont typeface="Arial" panose="020B0604020202020204" pitchFamily="34" charset="0"/>
              <a:buChar char="•"/>
            </a:pPr>
            <a:r>
              <a:rPr lang="zh-CN" altLang="zh-CN" kern="100" dirty="0">
                <a:latin typeface="等线 Light" panose="02010600030101010101" pitchFamily="2" charset="-122"/>
                <a:ea typeface="等线 Light" panose="02010600030101010101" pitchFamily="2" charset="-122"/>
                <a:cs typeface="Times New Roman" panose="02020603050405020304" pitchFamily="18" charset="0"/>
              </a:rPr>
              <a:t>实践观察也非常的重要</a:t>
            </a:r>
            <a:r>
              <a:rPr lang="zh-CN" altLang="en-US" kern="100" dirty="0">
                <a:latin typeface="等线 Light" panose="02010600030101010101" pitchFamily="2" charset="-122"/>
                <a:ea typeface="等线 Light" panose="02010600030101010101" pitchFamily="2" charset="-122"/>
                <a:cs typeface="Times New Roman" panose="02020603050405020304" pitchFamily="18" charset="0"/>
              </a:rPr>
              <a:t>。</a:t>
            </a:r>
            <a:r>
              <a:rPr lang="zh-CN" altLang="zh-CN" kern="100" dirty="0">
                <a:latin typeface="等线 Light" panose="02010600030101010101" pitchFamily="2" charset="-122"/>
                <a:ea typeface="等线 Light" panose="02010600030101010101" pitchFamily="2" charset="-122"/>
                <a:cs typeface="Times New Roman" panose="02020603050405020304" pitchFamily="18" charset="0"/>
              </a:rPr>
              <a:t>如针对实践问题、网络、报纸、电视报道方面等，可用在研究背景中，并且重要的是构建认知的过程。</a:t>
            </a:r>
          </a:p>
        </p:txBody>
      </p:sp>
      <p:sp>
        <p:nvSpPr>
          <p:cNvPr id="5" name="矩形 4">
            <a:extLst>
              <a:ext uri="{FF2B5EF4-FFF2-40B4-BE49-F238E27FC236}">
                <a16:creationId xmlns:a16="http://schemas.microsoft.com/office/drawing/2014/main" id="{8BFA24B4-76B9-4855-9DD6-8268787F43F0}"/>
              </a:ext>
            </a:extLst>
          </p:cNvPr>
          <p:cNvSpPr/>
          <p:nvPr/>
        </p:nvSpPr>
        <p:spPr>
          <a:xfrm>
            <a:off x="190500" y="5181600"/>
            <a:ext cx="12001500" cy="1430456"/>
          </a:xfrm>
          <a:prstGeom prst="rect">
            <a:avLst/>
          </a:prstGeom>
          <a:solidFill>
            <a:srgbClr val="70AD47">
              <a:lumMod val="40000"/>
              <a:lumOff val="60000"/>
            </a:srgbClr>
          </a:solidFill>
        </p:spPr>
        <p:txBody>
          <a:bodyPr wrap="square">
            <a:spAutoFit/>
          </a:bodyPr>
          <a:lstStyle/>
          <a:p>
            <a:pPr>
              <a:lnSpc>
                <a:spcPct val="150000"/>
              </a:lnSpc>
            </a:pPr>
            <a:r>
              <a:rPr lang="zh-CN" altLang="en-US" sz="2000" b="1" kern="100" dirty="0">
                <a:highlight>
                  <a:srgbClr val="FFFF00"/>
                </a:highlight>
                <a:latin typeface="等线 Light" panose="02010600030101010101" pitchFamily="2" charset="-122"/>
                <a:ea typeface="等线 Light" panose="02010600030101010101" pitchFamily="2" charset="-122"/>
                <a:cs typeface="Times New Roman" panose="02020603050405020304" pitchFamily="18" charset="0"/>
              </a:rPr>
              <a:t>开题答辩总结：</a:t>
            </a:r>
            <a:r>
              <a:rPr lang="zh-CN" altLang="en-US" sz="2000" i="1" dirty="0">
                <a:latin typeface="等线 Light" panose="02010600030101010101" pitchFamily="2" charset="-122"/>
                <a:ea typeface="等线 Light" panose="02010600030101010101" pitchFamily="2" charset="-122"/>
                <a:cs typeface="Times New Roman" panose="02020603050405020304" pitchFamily="18" charset="0"/>
              </a:rPr>
              <a:t>“</a:t>
            </a:r>
            <a:r>
              <a:rPr lang="zh-CN" altLang="zh-CN" sz="2000" i="1" dirty="0">
                <a:latin typeface="等线 Light" panose="02010600030101010101" pitchFamily="2" charset="-122"/>
                <a:ea typeface="等线 Light" panose="02010600030101010101" pitchFamily="2" charset="-122"/>
                <a:cs typeface="Times New Roman" panose="02020603050405020304" pitchFamily="18" charset="0"/>
              </a:rPr>
              <a:t>和</a:t>
            </a:r>
            <a:r>
              <a:rPr lang="en-US" altLang="zh-CN" sz="2000" i="1" dirty="0">
                <a:latin typeface="等线 Light" panose="02010600030101010101" pitchFamily="2" charset="-122"/>
                <a:ea typeface="等线 Light" panose="02010600030101010101" pitchFamily="2" charset="-122"/>
                <a:cs typeface="Times New Roman" panose="02020603050405020304" pitchFamily="18" charset="0"/>
              </a:rPr>
              <a:t>XX</a:t>
            </a:r>
            <a:r>
              <a:rPr lang="zh-CN" altLang="en-US" sz="2000" i="1" dirty="0">
                <a:latin typeface="等线 Light" panose="02010600030101010101" pitchFamily="2" charset="-122"/>
                <a:ea typeface="等线 Light" panose="02010600030101010101" pitchFamily="2" charset="-122"/>
                <a:cs typeface="Times New Roman" panose="02020603050405020304" pitchFamily="18" charset="0"/>
              </a:rPr>
              <a:t>公司的</a:t>
            </a:r>
            <a:r>
              <a:rPr lang="zh-CN" altLang="zh-CN" sz="2000" i="1" dirty="0">
                <a:latin typeface="等线 Light" panose="02010600030101010101" pitchFamily="2" charset="-122"/>
                <a:ea typeface="等线 Light" panose="02010600030101010101" pitchFamily="2" charset="-122"/>
                <a:cs typeface="Times New Roman" panose="02020603050405020304" pitchFamily="18" charset="0"/>
              </a:rPr>
              <a:t>领导就造价的相关现状进行了交流，收获颇丰。又新得到了两个有启发的方向：一是可以做成本的分部预测，即总造价是由材料、人力等分部分求和得到的，最好可以同时得到总成本和材料成本等分部分；二是造价可以由价格和工程量相乘得到，可以分开对价格和工程量进行预测。</a:t>
            </a:r>
            <a:r>
              <a:rPr lang="zh-CN" altLang="en-US" sz="2000" i="1" dirty="0">
                <a:latin typeface="等线 Light" panose="02010600030101010101" pitchFamily="2" charset="-122"/>
                <a:ea typeface="等线 Light" panose="02010600030101010101" pitchFamily="2" charset="-122"/>
                <a:cs typeface="Times New Roman" panose="02020603050405020304" pitchFamily="18" charset="0"/>
              </a:rPr>
              <a:t>”</a:t>
            </a:r>
            <a:endParaRPr lang="zh-CN" altLang="en-US" sz="2000" i="1" dirty="0">
              <a:latin typeface="等线 Light" panose="02010600030101010101" pitchFamily="2" charset="-122"/>
              <a:ea typeface="等线 Light" panose="02010600030101010101" pitchFamily="2" charset="-122"/>
            </a:endParaRPr>
          </a:p>
        </p:txBody>
      </p:sp>
    </p:spTree>
    <p:extLst>
      <p:ext uri="{BB962C8B-B14F-4D97-AF65-F5344CB8AC3E}">
        <p14:creationId xmlns:p14="http://schemas.microsoft.com/office/powerpoint/2010/main" val="27804444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BFA5B047-F233-4729-8136-F558620AFF76}"/>
              </a:ext>
            </a:extLst>
          </p:cNvPr>
          <p:cNvSpPr/>
          <p:nvPr/>
        </p:nvSpPr>
        <p:spPr>
          <a:xfrm>
            <a:off x="381000" y="1057355"/>
            <a:ext cx="11201400" cy="927305"/>
          </a:xfrm>
          <a:prstGeom prst="rect">
            <a:avLst/>
          </a:prstGeom>
        </p:spPr>
        <p:txBody>
          <a:bodyPr wrap="square">
            <a:spAutoFit/>
          </a:bodyPr>
          <a:lstStyle/>
          <a:p>
            <a:pPr algn="just">
              <a:lnSpc>
                <a:spcPct val="150000"/>
              </a:lnSpc>
              <a:spcAft>
                <a:spcPts val="0"/>
              </a:spcAft>
            </a:pPr>
            <a:r>
              <a:rPr lang="en-US" altLang="zh-CN" sz="2000" b="1" kern="100" dirty="0">
                <a:latin typeface="等线 Light" panose="02010600030101010101" pitchFamily="2" charset="-122"/>
                <a:ea typeface="等线 Light" panose="02010600030101010101" pitchFamily="2" charset="-122"/>
                <a:cs typeface="Times New Roman" panose="02020603050405020304" pitchFamily="18" charset="0"/>
              </a:rPr>
              <a:t>3</a:t>
            </a:r>
            <a:r>
              <a:rPr lang="zh-CN" altLang="en-US" sz="2000" b="1" kern="100" dirty="0">
                <a:latin typeface="等线 Light" panose="02010600030101010101" pitchFamily="2" charset="-122"/>
                <a:ea typeface="等线 Light" panose="02010600030101010101" pitchFamily="2" charset="-122"/>
                <a:cs typeface="Times New Roman" panose="02020603050405020304" pitchFamily="18" charset="0"/>
              </a:rPr>
              <a:t>、关键性文献</a:t>
            </a:r>
            <a:endParaRPr lang="en-US" altLang="zh-CN" sz="2000" b="1" kern="100" dirty="0">
              <a:latin typeface="等线 Light" panose="02010600030101010101" pitchFamily="2" charset="-122"/>
              <a:ea typeface="等线 Light" panose="02010600030101010101" pitchFamily="2" charset="-122"/>
              <a:cs typeface="Times New Roman" panose="02020603050405020304" pitchFamily="18" charset="0"/>
            </a:endParaRPr>
          </a:p>
          <a:p>
            <a:pPr marL="342900" indent="-342900" algn="just">
              <a:lnSpc>
                <a:spcPct val="150000"/>
              </a:lnSpc>
              <a:buFont typeface="Arial" panose="020B0604020202020204" pitchFamily="34" charset="0"/>
              <a:buChar char="•"/>
            </a:pPr>
            <a:r>
              <a:rPr lang="zh-CN" altLang="en-US" kern="100" dirty="0">
                <a:latin typeface="等线 Light" panose="02010600030101010101" pitchFamily="2" charset="-122"/>
                <a:ea typeface="等线 Light" panose="02010600030101010101" pitchFamily="2" charset="-122"/>
                <a:cs typeface="Times New Roman" panose="02020603050405020304" pitchFamily="18" charset="0"/>
              </a:rPr>
              <a:t>在综述过程中，最直接相关和进行呼应的文献。</a:t>
            </a:r>
            <a:endParaRPr lang="en-US" altLang="zh-CN" kern="100" dirty="0">
              <a:latin typeface="等线 Light" panose="02010600030101010101" pitchFamily="2" charset="-122"/>
              <a:ea typeface="等线 Light" panose="02010600030101010101" pitchFamily="2" charset="-122"/>
              <a:cs typeface="Times New Roman" panose="02020603050405020304" pitchFamily="18" charset="0"/>
            </a:endParaRPr>
          </a:p>
        </p:txBody>
      </p:sp>
      <p:sp>
        <p:nvSpPr>
          <p:cNvPr id="6" name="矩形 5">
            <a:extLst>
              <a:ext uri="{FF2B5EF4-FFF2-40B4-BE49-F238E27FC236}">
                <a16:creationId xmlns:a16="http://schemas.microsoft.com/office/drawing/2014/main" id="{E350A977-DD77-4908-BC2B-F2AC5F2F184E}"/>
              </a:ext>
            </a:extLst>
          </p:cNvPr>
          <p:cNvSpPr/>
          <p:nvPr/>
        </p:nvSpPr>
        <p:spPr>
          <a:xfrm>
            <a:off x="381000" y="2525002"/>
            <a:ext cx="11229109" cy="1342803"/>
          </a:xfrm>
          <a:prstGeom prst="rect">
            <a:avLst/>
          </a:prstGeom>
          <a:solidFill>
            <a:srgbClr val="70AD47">
              <a:lumMod val="40000"/>
              <a:lumOff val="60000"/>
            </a:srgbClr>
          </a:solidFill>
        </p:spPr>
        <p:txBody>
          <a:bodyPr wrap="square">
            <a:spAutoFit/>
          </a:bodyPr>
          <a:lstStyle/>
          <a:p>
            <a:pPr>
              <a:lnSpc>
                <a:spcPct val="150000"/>
              </a:lnSpc>
            </a:pPr>
            <a:r>
              <a:rPr lang="zh-CN" altLang="en-US" b="1" kern="100" dirty="0">
                <a:highlight>
                  <a:srgbClr val="FFFF00"/>
                </a:highlight>
                <a:latin typeface="等线 Light" panose="02010600030101010101" pitchFamily="2" charset="-122"/>
                <a:ea typeface="等线 Light" panose="02010600030101010101" pitchFamily="2" charset="-122"/>
                <a:cs typeface="Times New Roman" panose="02020603050405020304" pitchFamily="18" charset="0"/>
              </a:rPr>
              <a:t>开题答辩总结：</a:t>
            </a:r>
            <a:r>
              <a:rPr lang="zh-CN" altLang="en-US" kern="100" dirty="0">
                <a:latin typeface="等线 Light" panose="02010600030101010101" pitchFamily="2" charset="-122"/>
                <a:ea typeface="等线 Light" panose="02010600030101010101" pitchFamily="2" charset="-122"/>
                <a:cs typeface="Times New Roman" panose="02020603050405020304" pitchFamily="18" charset="0"/>
              </a:rPr>
              <a:t>“</a:t>
            </a:r>
            <a:r>
              <a:rPr lang="zh-CN" altLang="zh-CN" i="1" kern="100" dirty="0">
                <a:latin typeface="等线 Light" panose="02010600030101010101" pitchFamily="2" charset="-122"/>
                <a:ea typeface="等线 Light" panose="02010600030101010101" pitchFamily="2" charset="-122"/>
                <a:cs typeface="Times New Roman" panose="02020603050405020304" pitchFamily="18" charset="0"/>
              </a:rPr>
              <a:t>发现了发表在</a:t>
            </a:r>
            <a:r>
              <a:rPr lang="en-US" altLang="zh-CN" i="1" kern="100" dirty="0">
                <a:latin typeface="等线 Light" panose="02010600030101010101" pitchFamily="2" charset="-122"/>
                <a:ea typeface="等线 Light" panose="02010600030101010101" pitchFamily="2" charset="-122"/>
                <a:cs typeface="Times New Roman" panose="02020603050405020304" pitchFamily="18" charset="0"/>
              </a:rPr>
              <a:t>Journal of Construction Engineering and Management</a:t>
            </a:r>
            <a:r>
              <a:rPr lang="zh-CN" altLang="zh-CN" i="1" kern="100" dirty="0">
                <a:latin typeface="等线 Light" panose="02010600030101010101" pitchFamily="2" charset="-122"/>
                <a:ea typeface="等线 Light" panose="02010600030101010101" pitchFamily="2" charset="-122"/>
                <a:cs typeface="Times New Roman" panose="02020603050405020304" pitchFamily="18" charset="0"/>
              </a:rPr>
              <a:t>（工程管理领域的高质量期刊）上的综述文章</a:t>
            </a:r>
            <a:r>
              <a:rPr lang="en-US" altLang="zh-CN" i="1" kern="100" dirty="0">
                <a:latin typeface="等线 Light" panose="02010600030101010101" pitchFamily="2" charset="-122"/>
                <a:ea typeface="等线 Light" panose="02010600030101010101" pitchFamily="2" charset="-122"/>
                <a:cs typeface="Times New Roman" panose="02020603050405020304" pitchFamily="18" charset="0"/>
              </a:rPr>
              <a:t>Artificial Intelligence and Parametric Construction Cost Estimate Modeling: State-of-the-Art Review</a:t>
            </a:r>
            <a:r>
              <a:rPr lang="zh-CN" altLang="zh-CN" i="1" kern="100" dirty="0">
                <a:latin typeface="等线 Light" panose="02010600030101010101" pitchFamily="2" charset="-122"/>
                <a:ea typeface="等线 Light" panose="02010600030101010101" pitchFamily="2" charset="-122"/>
                <a:cs typeface="Times New Roman" panose="02020603050405020304" pitchFamily="18" charset="0"/>
              </a:rPr>
              <a:t>，这篇文章对人工智能技术在成本估算中的应用进行了详尽的整理，非常珍贵</a:t>
            </a:r>
            <a:r>
              <a:rPr lang="zh-CN" altLang="en-US" kern="100" dirty="0">
                <a:latin typeface="等线 Light" panose="02010600030101010101" pitchFamily="2" charset="-122"/>
                <a:ea typeface="等线 Light" panose="02010600030101010101" pitchFamily="2" charset="-122"/>
                <a:cs typeface="Times New Roman" panose="02020603050405020304" pitchFamily="18" charset="0"/>
              </a:rPr>
              <a:t>”</a:t>
            </a:r>
          </a:p>
        </p:txBody>
      </p:sp>
      <p:sp>
        <p:nvSpPr>
          <p:cNvPr id="8" name="矩形 7">
            <a:extLst>
              <a:ext uri="{FF2B5EF4-FFF2-40B4-BE49-F238E27FC236}">
                <a16:creationId xmlns:a16="http://schemas.microsoft.com/office/drawing/2014/main" id="{385E5418-442C-4B6D-91CD-372124076702}"/>
              </a:ext>
            </a:extLst>
          </p:cNvPr>
          <p:cNvSpPr/>
          <p:nvPr/>
        </p:nvSpPr>
        <p:spPr>
          <a:xfrm>
            <a:off x="381001" y="4114800"/>
            <a:ext cx="11201399" cy="1712135"/>
          </a:xfrm>
          <a:prstGeom prst="rect">
            <a:avLst/>
          </a:prstGeom>
          <a:solidFill>
            <a:srgbClr val="70AD47">
              <a:lumMod val="40000"/>
              <a:lumOff val="60000"/>
            </a:srgbClr>
          </a:solidFill>
        </p:spPr>
        <p:txBody>
          <a:bodyPr wrap="square">
            <a:spAutoFit/>
          </a:bodyPr>
          <a:lstStyle/>
          <a:p>
            <a:pPr>
              <a:lnSpc>
                <a:spcPct val="150000"/>
              </a:lnSpc>
            </a:pPr>
            <a:r>
              <a:rPr lang="zh-CN" altLang="en-US" b="1" kern="100" dirty="0">
                <a:highlight>
                  <a:srgbClr val="FFFF00"/>
                </a:highlight>
                <a:latin typeface="等线 Light" panose="02010600030101010101" pitchFamily="2" charset="-122"/>
                <a:ea typeface="等线 Light" panose="02010600030101010101" pitchFamily="2" charset="-122"/>
                <a:cs typeface="Times New Roman" panose="02020603050405020304" pitchFamily="18" charset="0"/>
              </a:rPr>
              <a:t>开题答辩总结：</a:t>
            </a:r>
            <a:r>
              <a:rPr lang="zh-CN" altLang="en-US" kern="100" dirty="0">
                <a:latin typeface="等线 Light" panose="02010600030101010101" pitchFamily="2" charset="-122"/>
                <a:ea typeface="等线 Light" panose="02010600030101010101" pitchFamily="2" charset="-122"/>
                <a:cs typeface="Times New Roman" panose="02020603050405020304" pitchFamily="18" charset="0"/>
              </a:rPr>
              <a:t>“</a:t>
            </a:r>
            <a:r>
              <a:rPr lang="zh-CN" altLang="zh-CN" i="1" kern="100" dirty="0">
                <a:latin typeface="等线 Light" panose="02010600030101010101" pitchFamily="2" charset="-122"/>
                <a:ea typeface="等线 Light" panose="02010600030101010101" pitchFamily="2" charset="-122"/>
                <a:cs typeface="Times New Roman" panose="02020603050405020304" pitchFamily="18" charset="0"/>
              </a:rPr>
              <a:t>在重新阅读了综述文章</a:t>
            </a:r>
            <a:r>
              <a:rPr lang="en-US" altLang="zh-CN" i="1" kern="100" dirty="0">
                <a:latin typeface="等线 Light" panose="02010600030101010101" pitchFamily="2" charset="-122"/>
                <a:ea typeface="等线 Light" panose="02010600030101010101" pitchFamily="2" charset="-122"/>
                <a:cs typeface="Times New Roman" panose="02020603050405020304" pitchFamily="18" charset="0"/>
              </a:rPr>
              <a:t>Artificial Intelligence and Parametric Construction Cost Estimate Modeling: State-of-the-Art Review</a:t>
            </a:r>
            <a:r>
              <a:rPr lang="zh-CN" altLang="zh-CN" i="1" kern="100" dirty="0">
                <a:latin typeface="等线 Light" panose="02010600030101010101" pitchFamily="2" charset="-122"/>
                <a:ea typeface="等线 Light" panose="02010600030101010101" pitchFamily="2" charset="-122"/>
                <a:cs typeface="Times New Roman" panose="02020603050405020304" pitchFamily="18" charset="0"/>
              </a:rPr>
              <a:t>后，我发现这篇文章中提到：“早期成本估算面临巨大障碍，面临的障碍主要是项目早期初步信息有限和工程解决方案带来的不确定性。”这句话使我大受振奋。成本估算不准是我要解决的问题，项目早期初步信息有限和工程解决方案带来的不确定性是导致这一问题的原因，我需要做的是对症下药</a:t>
            </a:r>
            <a:r>
              <a:rPr lang="zh-CN" altLang="en-US" i="1" kern="100" dirty="0">
                <a:latin typeface="等线 Light" panose="02010600030101010101" pitchFamily="2" charset="-122"/>
                <a:ea typeface="等线 Light" panose="02010600030101010101" pitchFamily="2" charset="-122"/>
                <a:cs typeface="Times New Roman" panose="02020603050405020304" pitchFamily="18" charset="0"/>
              </a:rPr>
              <a:t>。</a:t>
            </a:r>
            <a:r>
              <a:rPr lang="zh-CN" altLang="en-US" kern="100" dirty="0">
                <a:latin typeface="等线 Light" panose="02010600030101010101" pitchFamily="2" charset="-122"/>
                <a:ea typeface="等线 Light" panose="02010600030101010101" pitchFamily="2" charset="-122"/>
                <a:cs typeface="Times New Roman" panose="02020603050405020304" pitchFamily="18" charset="0"/>
              </a:rPr>
              <a:t>”</a:t>
            </a:r>
          </a:p>
        </p:txBody>
      </p:sp>
      <p:sp>
        <p:nvSpPr>
          <p:cNvPr id="7" name="矩形 6">
            <a:extLst>
              <a:ext uri="{FF2B5EF4-FFF2-40B4-BE49-F238E27FC236}">
                <a16:creationId xmlns:a16="http://schemas.microsoft.com/office/drawing/2014/main" id="{B18831F2-D4FF-47E2-86FD-F685877332B5}"/>
              </a:ext>
            </a:extLst>
          </p:cNvPr>
          <p:cNvSpPr/>
          <p:nvPr/>
        </p:nvSpPr>
        <p:spPr>
          <a:xfrm>
            <a:off x="1447800" y="457191"/>
            <a:ext cx="3063799" cy="600164"/>
          </a:xfrm>
          <a:prstGeom prst="rect">
            <a:avLst/>
          </a:prstGeom>
        </p:spPr>
        <p:txBody>
          <a:bodyPr wrap="square">
            <a:spAutoFit/>
          </a:bodyPr>
          <a:lstStyle/>
          <a:p>
            <a:pPr algn="ctr">
              <a:spcBef>
                <a:spcPct val="0"/>
              </a:spcBef>
            </a:pPr>
            <a:r>
              <a:rPr lang="en-US" altLang="zh-CN" sz="3300" dirty="0">
                <a:latin typeface="等线 Light" panose="02010600030101010101" pitchFamily="2" charset="-122"/>
                <a:ea typeface="等线 Light" panose="02010600030101010101" pitchFamily="2" charset="-122"/>
                <a:cs typeface="+mj-cs"/>
              </a:rPr>
              <a:t>3</a:t>
            </a:r>
            <a:r>
              <a:rPr lang="zh-CN" altLang="en-US" sz="3300" dirty="0">
                <a:latin typeface="等线 Light" panose="02010600030101010101" pitchFamily="2" charset="-122"/>
                <a:ea typeface="等线 Light" panose="02010600030101010101" pitchFamily="2" charset="-122"/>
                <a:cs typeface="+mj-cs"/>
              </a:rPr>
              <a:t>、</a:t>
            </a:r>
            <a:r>
              <a:rPr lang="zh-CN" altLang="zh-CN" sz="3300" dirty="0">
                <a:latin typeface="等线 Light" panose="02010600030101010101" pitchFamily="2" charset="-122"/>
                <a:ea typeface="等线 Light" panose="02010600030101010101" pitchFamily="2" charset="-122"/>
                <a:cs typeface="+mj-cs"/>
              </a:rPr>
              <a:t>文献筛选</a:t>
            </a:r>
            <a:endParaRPr lang="zh-CN" altLang="en-US" sz="3300" dirty="0">
              <a:latin typeface="等线 Light" panose="02010600030101010101" pitchFamily="2" charset="-122"/>
              <a:ea typeface="等线 Light" panose="02010600030101010101" pitchFamily="2" charset="-122"/>
              <a:cs typeface="+mj-cs"/>
            </a:endParaRPr>
          </a:p>
        </p:txBody>
      </p:sp>
    </p:spTree>
    <p:extLst>
      <p:ext uri="{BB962C8B-B14F-4D97-AF65-F5344CB8AC3E}">
        <p14:creationId xmlns:p14="http://schemas.microsoft.com/office/powerpoint/2010/main" val="23401391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9F229D73-4331-4BC7-9B9E-342405B06CEB}"/>
              </a:ext>
            </a:extLst>
          </p:cNvPr>
          <p:cNvSpPr/>
          <p:nvPr/>
        </p:nvSpPr>
        <p:spPr>
          <a:xfrm>
            <a:off x="1676400" y="457200"/>
            <a:ext cx="10363200" cy="600164"/>
          </a:xfrm>
          <a:prstGeom prst="rect">
            <a:avLst/>
          </a:prstGeom>
        </p:spPr>
        <p:txBody>
          <a:bodyPr wrap="square">
            <a:spAutoFit/>
          </a:bodyPr>
          <a:lstStyle/>
          <a:p>
            <a:pPr>
              <a:spcBef>
                <a:spcPct val="0"/>
              </a:spcBef>
            </a:pPr>
            <a:r>
              <a:rPr lang="zh-CN" altLang="en-US" sz="3300" dirty="0">
                <a:latin typeface="等线 Light" panose="02010600030101010101" pitchFamily="2" charset="-122"/>
                <a:ea typeface="等线 Light" panose="02010600030101010101" pitchFamily="2" charset="-122"/>
              </a:rPr>
              <a:t>步骤三：</a:t>
            </a:r>
            <a:r>
              <a:rPr lang="zh-CN" altLang="en-US" sz="3300" dirty="0">
                <a:latin typeface="等线 Light" panose="02010600030101010101" pitchFamily="2" charset="-122"/>
                <a:ea typeface="等线 Light" panose="02010600030101010101" pitchFamily="2" charset="-122"/>
                <a:cs typeface="+mj-cs"/>
              </a:rPr>
              <a:t>文献阅读与整理</a:t>
            </a:r>
          </a:p>
        </p:txBody>
      </p:sp>
      <p:sp>
        <p:nvSpPr>
          <p:cNvPr id="3" name="矩形 2">
            <a:extLst>
              <a:ext uri="{FF2B5EF4-FFF2-40B4-BE49-F238E27FC236}">
                <a16:creationId xmlns:a16="http://schemas.microsoft.com/office/drawing/2014/main" id="{34E18D78-5356-40E3-AD18-961A2781550D}"/>
              </a:ext>
            </a:extLst>
          </p:cNvPr>
          <p:cNvSpPr/>
          <p:nvPr/>
        </p:nvSpPr>
        <p:spPr>
          <a:xfrm>
            <a:off x="381000" y="1057364"/>
            <a:ext cx="11125200" cy="4297458"/>
          </a:xfrm>
          <a:prstGeom prst="rect">
            <a:avLst/>
          </a:prstGeom>
        </p:spPr>
        <p:txBody>
          <a:bodyPr wrap="square">
            <a:spAutoFit/>
          </a:bodyPr>
          <a:lstStyle/>
          <a:p>
            <a:pPr algn="just">
              <a:lnSpc>
                <a:spcPct val="150000"/>
              </a:lnSpc>
              <a:spcAft>
                <a:spcPts val="0"/>
              </a:spcAft>
            </a:pPr>
            <a:r>
              <a:rPr lang="en-US" altLang="zh-CN" sz="2000" b="1" kern="100" dirty="0">
                <a:latin typeface="等线 Light" panose="02010600030101010101" pitchFamily="2" charset="-122"/>
                <a:ea typeface="等线 Light" panose="02010600030101010101" pitchFamily="2" charset="-122"/>
                <a:cs typeface="Times New Roman" panose="02020603050405020304" pitchFamily="18" charset="0"/>
              </a:rPr>
              <a:t>1</a:t>
            </a:r>
            <a:r>
              <a:rPr lang="zh-CN" altLang="en-US" sz="2000" b="1" kern="100" dirty="0">
                <a:latin typeface="等线 Light" panose="02010600030101010101" pitchFamily="2" charset="-122"/>
                <a:ea typeface="等线 Light" panose="02010600030101010101" pitchFamily="2" charset="-122"/>
                <a:cs typeface="Times New Roman" panose="02020603050405020304" pitchFamily="18" charset="0"/>
              </a:rPr>
              <a:t>、文献管理</a:t>
            </a:r>
            <a:endParaRPr lang="en-US" altLang="zh-CN" sz="2000" b="1" kern="100" dirty="0">
              <a:latin typeface="等线 Light" panose="02010600030101010101" pitchFamily="2" charset="-122"/>
              <a:ea typeface="等线 Light" panose="02010600030101010101" pitchFamily="2" charset="-122"/>
              <a:cs typeface="Times New Roman" panose="02020603050405020304" pitchFamily="18" charset="0"/>
            </a:endParaRPr>
          </a:p>
          <a:p>
            <a:pPr marL="342900" indent="-342900" algn="just">
              <a:lnSpc>
                <a:spcPct val="150000"/>
              </a:lnSpc>
              <a:spcAft>
                <a:spcPts val="0"/>
              </a:spcAft>
              <a:buFont typeface="Arial" panose="020B0604020202020204" pitchFamily="34" charset="0"/>
              <a:buChar char="•"/>
            </a:pPr>
            <a:r>
              <a:rPr lang="zh-CN" altLang="zh-CN" kern="100" dirty="0">
                <a:latin typeface="等线 Light" panose="02010600030101010101" pitchFamily="2" charset="-122"/>
                <a:ea typeface="等线 Light" panose="02010600030101010101" pitchFamily="2" charset="-122"/>
                <a:cs typeface="Times New Roman" panose="02020603050405020304" pitchFamily="18" charset="0"/>
              </a:rPr>
              <a:t>选择与研究主题相关的文献，可以将文献下载下来，以备后续使用。</a:t>
            </a:r>
            <a:endParaRPr lang="en-US" altLang="zh-CN" kern="100" dirty="0">
              <a:latin typeface="等线 Light" panose="02010600030101010101" pitchFamily="2" charset="-122"/>
              <a:ea typeface="等线 Light" panose="02010600030101010101" pitchFamily="2" charset="-122"/>
              <a:cs typeface="Times New Roman" panose="02020603050405020304" pitchFamily="18" charset="0"/>
            </a:endParaRPr>
          </a:p>
          <a:p>
            <a:pPr marL="342900" indent="-342900" algn="just">
              <a:lnSpc>
                <a:spcPct val="150000"/>
              </a:lnSpc>
              <a:spcAft>
                <a:spcPts val="0"/>
              </a:spcAft>
              <a:buFont typeface="Arial" panose="020B0604020202020204" pitchFamily="34" charset="0"/>
              <a:buChar char="•"/>
            </a:pPr>
            <a:r>
              <a:rPr lang="zh-CN" altLang="zh-CN" kern="100" dirty="0">
                <a:latin typeface="等线 Light" panose="02010600030101010101" pitchFamily="2" charset="-122"/>
                <a:ea typeface="等线 Light" panose="02010600030101010101" pitchFamily="2" charset="-122"/>
                <a:cs typeface="Times New Roman" panose="02020603050405020304" pitchFamily="18" charset="0"/>
              </a:rPr>
              <a:t>可以文献管理软件进行管理。常见的文件管理软件有</a:t>
            </a:r>
            <a:r>
              <a:rPr lang="en-US" altLang="zh-CN" kern="100" dirty="0">
                <a:latin typeface="等线 Light" panose="02010600030101010101" pitchFamily="2" charset="-122"/>
                <a:ea typeface="等线 Light" panose="02010600030101010101" pitchFamily="2" charset="-122"/>
                <a:cs typeface="Times New Roman" panose="02020603050405020304" pitchFamily="18" charset="0"/>
              </a:rPr>
              <a:t>Endnote</a:t>
            </a:r>
            <a:r>
              <a:rPr lang="zh-CN" altLang="zh-CN" kern="100" dirty="0">
                <a:latin typeface="等线 Light" panose="02010600030101010101" pitchFamily="2" charset="-122"/>
                <a:ea typeface="等线 Light" panose="02010600030101010101" pitchFamily="2" charset="-122"/>
                <a:cs typeface="Times New Roman" panose="02020603050405020304" pitchFamily="18" charset="0"/>
              </a:rPr>
              <a:t>、</a:t>
            </a:r>
            <a:r>
              <a:rPr lang="en-US" altLang="zh-CN" kern="100" dirty="0">
                <a:latin typeface="等线 Light" panose="02010600030101010101" pitchFamily="2" charset="-122"/>
                <a:ea typeface="等线 Light" panose="02010600030101010101" pitchFamily="2" charset="-122"/>
                <a:cs typeface="Times New Roman" panose="02020603050405020304" pitchFamily="18" charset="0"/>
              </a:rPr>
              <a:t>Mendeley</a:t>
            </a:r>
            <a:r>
              <a:rPr lang="zh-CN" altLang="zh-CN" kern="100" dirty="0">
                <a:latin typeface="等线 Light" panose="02010600030101010101" pitchFamily="2" charset="-122"/>
                <a:ea typeface="等线 Light" panose="02010600030101010101" pitchFamily="2" charset="-122"/>
                <a:cs typeface="Times New Roman" panose="02020603050405020304" pitchFamily="18" charset="0"/>
              </a:rPr>
              <a:t>等。</a:t>
            </a:r>
            <a:endParaRPr lang="en-US" altLang="zh-CN" kern="100" dirty="0">
              <a:latin typeface="等线 Light" panose="02010600030101010101" pitchFamily="2" charset="-122"/>
              <a:ea typeface="等线 Light" panose="02010600030101010101" pitchFamily="2" charset="-122"/>
              <a:cs typeface="Times New Roman" panose="02020603050405020304" pitchFamily="18" charset="0"/>
            </a:endParaRPr>
          </a:p>
          <a:p>
            <a:pPr marL="342900" indent="-342900" algn="just">
              <a:lnSpc>
                <a:spcPct val="150000"/>
              </a:lnSpc>
              <a:spcAft>
                <a:spcPts val="0"/>
              </a:spcAft>
              <a:buFont typeface="Arial" panose="020B0604020202020204" pitchFamily="34" charset="0"/>
              <a:buChar char="•"/>
            </a:pPr>
            <a:r>
              <a:rPr lang="zh-CN" altLang="zh-CN" kern="100" dirty="0">
                <a:latin typeface="等线 Light" panose="02010600030101010101" pitchFamily="2" charset="-122"/>
                <a:ea typeface="等线 Light" panose="02010600030101010101" pitchFamily="2" charset="-122"/>
                <a:cs typeface="Times New Roman" panose="02020603050405020304" pitchFamily="18" charset="0"/>
              </a:rPr>
              <a:t>在文献检索和下载过程中，严谨使用软件或工具批量下载电子资源，也不允许将下载的文献用于分发、再销售等。</a:t>
            </a:r>
          </a:p>
          <a:p>
            <a:pPr algn="just">
              <a:lnSpc>
                <a:spcPct val="150000"/>
              </a:lnSpc>
              <a:spcAft>
                <a:spcPts val="0"/>
              </a:spcAft>
            </a:pPr>
            <a:r>
              <a:rPr lang="en-US" altLang="zh-CN" sz="2000" b="1" kern="100" dirty="0">
                <a:latin typeface="等线 Light" panose="02010600030101010101" pitchFamily="2" charset="-122"/>
                <a:ea typeface="等线 Light" panose="02010600030101010101" pitchFamily="2" charset="-122"/>
                <a:cs typeface="Times New Roman" panose="02020603050405020304" pitchFamily="18" charset="0"/>
              </a:rPr>
              <a:t>2</a:t>
            </a:r>
            <a:r>
              <a:rPr lang="zh-CN" altLang="en-US" sz="2000" b="1" kern="100" dirty="0">
                <a:latin typeface="等线 Light" panose="02010600030101010101" pitchFamily="2" charset="-122"/>
                <a:ea typeface="等线 Light" panose="02010600030101010101" pitchFamily="2" charset="-122"/>
                <a:cs typeface="Times New Roman" panose="02020603050405020304" pitchFamily="18" charset="0"/>
              </a:rPr>
              <a:t>、文献阅读和迭代</a:t>
            </a:r>
            <a:endParaRPr lang="en-US" altLang="zh-CN" sz="2000" b="1" kern="100" dirty="0">
              <a:latin typeface="等线 Light" panose="02010600030101010101" pitchFamily="2" charset="-122"/>
              <a:ea typeface="等线 Light" panose="02010600030101010101" pitchFamily="2" charset="-122"/>
              <a:cs typeface="Times New Roman" panose="02020603050405020304" pitchFamily="18" charset="0"/>
            </a:endParaRPr>
          </a:p>
          <a:p>
            <a:pPr marL="342900" indent="-342900" algn="just">
              <a:lnSpc>
                <a:spcPct val="150000"/>
              </a:lnSpc>
              <a:spcAft>
                <a:spcPts val="0"/>
              </a:spcAft>
              <a:buFont typeface="Arial" panose="020B0604020202020204" pitchFamily="34" charset="0"/>
              <a:buChar char="•"/>
            </a:pPr>
            <a:r>
              <a:rPr lang="zh-CN" altLang="zh-CN" kern="100" dirty="0">
                <a:latin typeface="等线 Light" panose="02010600030101010101" pitchFamily="2" charset="-122"/>
                <a:ea typeface="等线 Light" panose="02010600030101010101" pitchFamily="2" charset="-122"/>
                <a:cs typeface="Times New Roman" panose="02020603050405020304" pitchFamily="18" charset="0"/>
              </a:rPr>
              <a:t>阅读论文过程中，可以考虑优先阅读关联性最为紧密的论文。优先选择高质量的论文，典型如引用次数较高、高质量期刊、知名教授等。对这部分论文进行优先阅读。阅读文献中的参考文献以及被引，确定直接相关的参考文献，再展开搜索和阅读。</a:t>
            </a:r>
          </a:p>
          <a:p>
            <a:pPr marL="342900" indent="-342900" algn="just">
              <a:lnSpc>
                <a:spcPct val="150000"/>
              </a:lnSpc>
              <a:spcAft>
                <a:spcPts val="0"/>
              </a:spcAft>
              <a:buFont typeface="Arial" panose="020B0604020202020204" pitchFamily="34" charset="0"/>
              <a:buChar char="•"/>
            </a:pPr>
            <a:r>
              <a:rPr lang="zh-CN" altLang="zh-CN" kern="100" dirty="0">
                <a:latin typeface="等线 Light" panose="02010600030101010101" pitchFamily="2" charset="-122"/>
                <a:ea typeface="等线 Light" panose="02010600030101010101" pitchFamily="2" charset="-122"/>
                <a:cs typeface="Times New Roman" panose="02020603050405020304" pitchFamily="18" charset="0"/>
              </a:rPr>
              <a:t>根据初步阅读情况，进行主题、关键词、数据库等方面的调整，以实现文献综述目的作为终点。</a:t>
            </a:r>
          </a:p>
        </p:txBody>
      </p:sp>
      <p:sp>
        <p:nvSpPr>
          <p:cNvPr id="4" name="矩形 3">
            <a:extLst>
              <a:ext uri="{FF2B5EF4-FFF2-40B4-BE49-F238E27FC236}">
                <a16:creationId xmlns:a16="http://schemas.microsoft.com/office/drawing/2014/main" id="{7F163CF2-D2B8-410A-82DE-D6DAD7ECC68D}"/>
              </a:ext>
            </a:extLst>
          </p:cNvPr>
          <p:cNvSpPr/>
          <p:nvPr/>
        </p:nvSpPr>
        <p:spPr>
          <a:xfrm>
            <a:off x="304801" y="5354822"/>
            <a:ext cx="11429999" cy="1342803"/>
          </a:xfrm>
          <a:prstGeom prst="rect">
            <a:avLst/>
          </a:prstGeom>
          <a:solidFill>
            <a:srgbClr val="70AD47">
              <a:lumMod val="40000"/>
              <a:lumOff val="60000"/>
            </a:srgbClr>
          </a:solidFill>
        </p:spPr>
        <p:txBody>
          <a:bodyPr wrap="square">
            <a:spAutoFit/>
          </a:bodyPr>
          <a:lstStyle/>
          <a:p>
            <a:pPr>
              <a:lnSpc>
                <a:spcPct val="150000"/>
              </a:lnSpc>
            </a:pPr>
            <a:r>
              <a:rPr lang="zh-CN" altLang="en-US" b="1" kern="100" dirty="0">
                <a:highlight>
                  <a:srgbClr val="FFFF00"/>
                </a:highlight>
                <a:latin typeface="等线 Light" panose="02010600030101010101" pitchFamily="2" charset="-122"/>
                <a:ea typeface="等线 Light" panose="02010600030101010101" pitchFamily="2" charset="-122"/>
                <a:cs typeface="Times New Roman" panose="02020603050405020304" pitchFamily="18" charset="0"/>
              </a:rPr>
              <a:t>开题答辩总结：</a:t>
            </a:r>
            <a:r>
              <a:rPr lang="zh-CN" altLang="en-US" i="1" kern="100" dirty="0">
                <a:latin typeface="等线 Light" panose="02010600030101010101" pitchFamily="2" charset="-122"/>
                <a:ea typeface="等线 Light" panose="02010600030101010101" pitchFamily="2" charset="-122"/>
                <a:cs typeface="Times New Roman" panose="02020603050405020304" pitchFamily="18" charset="0"/>
              </a:rPr>
              <a:t>“</a:t>
            </a:r>
            <a:r>
              <a:rPr lang="zh-CN" altLang="zh-CN" i="1" kern="100" dirty="0">
                <a:latin typeface="等线 Light" panose="02010600030101010101" pitchFamily="2" charset="-122"/>
                <a:ea typeface="等线 Light" panose="02010600030101010101" pitchFamily="2" charset="-122"/>
                <a:cs typeface="Times New Roman" panose="02020603050405020304" pitchFamily="18" charset="0"/>
              </a:rPr>
              <a:t>前期探索时对阅读过的文献的整理工作做得不好，没有系统整理成已阅读文献库和对所有阅读过的文献有详细的阅读记录，这导致后期在完成开题报告时，查找一些关键话语的出处时很麻烦。后面一定要注意做好文献的整理工作。</a:t>
            </a:r>
            <a:r>
              <a:rPr lang="zh-CN" altLang="en-US" i="1" kern="100" dirty="0">
                <a:latin typeface="等线 Light" panose="02010600030101010101" pitchFamily="2" charset="-122"/>
                <a:ea typeface="等线 Light" panose="02010600030101010101" pitchFamily="2" charset="-122"/>
                <a:cs typeface="Times New Roman" panose="02020603050405020304" pitchFamily="18" charset="0"/>
              </a:rPr>
              <a:t>”</a:t>
            </a:r>
          </a:p>
        </p:txBody>
      </p:sp>
    </p:spTree>
    <p:extLst>
      <p:ext uri="{BB962C8B-B14F-4D97-AF65-F5344CB8AC3E}">
        <p14:creationId xmlns:p14="http://schemas.microsoft.com/office/powerpoint/2010/main" val="32991220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B8F2B5D-E7C0-4C5D-AE56-386FF77F5C59}"/>
              </a:ext>
            </a:extLst>
          </p:cNvPr>
          <p:cNvSpPr/>
          <p:nvPr/>
        </p:nvSpPr>
        <p:spPr>
          <a:xfrm>
            <a:off x="381000" y="1219200"/>
            <a:ext cx="2236510" cy="400110"/>
          </a:xfrm>
          <a:prstGeom prst="rect">
            <a:avLst/>
          </a:prstGeom>
        </p:spPr>
        <p:txBody>
          <a:bodyPr wrap="none">
            <a:spAutoFit/>
          </a:bodyPr>
          <a:lstStyle/>
          <a:p>
            <a:r>
              <a:rPr lang="zh-CN" altLang="zh-CN" sz="2000" dirty="0">
                <a:latin typeface="等线 Light" panose="02010600030101010101" pitchFamily="2" charset="-122"/>
                <a:ea typeface="等线 Light" panose="02010600030101010101" pitchFamily="2" charset="-122"/>
                <a:cs typeface="Times New Roman" panose="02020603050405020304" pitchFamily="18" charset="0"/>
              </a:rPr>
              <a:t>以概念为分类条件</a:t>
            </a:r>
            <a:endParaRPr lang="zh-CN" altLang="en-US" sz="2000" dirty="0">
              <a:latin typeface="等线 Light" panose="02010600030101010101" pitchFamily="2" charset="-122"/>
              <a:ea typeface="等线 Light" panose="02010600030101010101" pitchFamily="2" charset="-122"/>
            </a:endParaRPr>
          </a:p>
        </p:txBody>
      </p:sp>
      <p:sp>
        <p:nvSpPr>
          <p:cNvPr id="3" name="矩形 2">
            <a:extLst>
              <a:ext uri="{FF2B5EF4-FFF2-40B4-BE49-F238E27FC236}">
                <a16:creationId xmlns:a16="http://schemas.microsoft.com/office/drawing/2014/main" id="{880FD38F-2F3A-4B83-A9A2-95F6912B3EA3}"/>
              </a:ext>
            </a:extLst>
          </p:cNvPr>
          <p:cNvSpPr/>
          <p:nvPr/>
        </p:nvSpPr>
        <p:spPr>
          <a:xfrm>
            <a:off x="1752600" y="476191"/>
            <a:ext cx="7173760" cy="600164"/>
          </a:xfrm>
          <a:prstGeom prst="rect">
            <a:avLst/>
          </a:prstGeom>
        </p:spPr>
        <p:txBody>
          <a:bodyPr wrap="none">
            <a:spAutoFit/>
          </a:bodyPr>
          <a:lstStyle/>
          <a:p>
            <a:pPr algn="ctr">
              <a:spcBef>
                <a:spcPct val="0"/>
              </a:spcBef>
            </a:pPr>
            <a:r>
              <a:rPr lang="en-US" altLang="zh-CN" sz="3300" dirty="0">
                <a:latin typeface="等线 Light" panose="02010600030101010101" pitchFamily="2" charset="-122"/>
                <a:ea typeface="等线 Light" panose="02010600030101010101" pitchFamily="2" charset="-122"/>
                <a:cs typeface="+mj-cs"/>
              </a:rPr>
              <a:t>1</a:t>
            </a:r>
            <a:r>
              <a:rPr lang="zh-CN" altLang="en-US" sz="3300" dirty="0">
                <a:latin typeface="等线 Light" panose="02010600030101010101" pitchFamily="2" charset="-122"/>
                <a:ea typeface="等线 Light" panose="02010600030101010101" pitchFamily="2" charset="-122"/>
                <a:cs typeface="+mj-cs"/>
              </a:rPr>
              <a:t>、</a:t>
            </a:r>
            <a:r>
              <a:rPr lang="zh-CN" altLang="zh-CN" sz="3300" dirty="0">
                <a:latin typeface="等线 Light" panose="02010600030101010101" pitchFamily="2" charset="-122"/>
                <a:ea typeface="等线 Light" panose="02010600030101010101" pitchFamily="2" charset="-122"/>
                <a:cs typeface="+mj-cs"/>
              </a:rPr>
              <a:t>文献整理方法</a:t>
            </a:r>
            <a:r>
              <a:rPr lang="zh-CN" altLang="en-US" sz="3300" dirty="0">
                <a:latin typeface="等线 Light" panose="02010600030101010101" pitchFamily="2" charset="-122"/>
                <a:ea typeface="等线 Light" panose="02010600030101010101" pitchFamily="2" charset="-122"/>
                <a:cs typeface="+mj-cs"/>
              </a:rPr>
              <a:t>：以概念为分类条件</a:t>
            </a:r>
          </a:p>
        </p:txBody>
      </p:sp>
      <p:graphicFrame>
        <p:nvGraphicFramePr>
          <p:cNvPr id="4" name="表格 3">
            <a:extLst>
              <a:ext uri="{FF2B5EF4-FFF2-40B4-BE49-F238E27FC236}">
                <a16:creationId xmlns:a16="http://schemas.microsoft.com/office/drawing/2014/main" id="{9CFD46F7-F0A1-49E9-8660-B081A0BEB80E}"/>
              </a:ext>
            </a:extLst>
          </p:cNvPr>
          <p:cNvGraphicFramePr>
            <a:graphicFrameLocks noGrp="1"/>
          </p:cNvGraphicFramePr>
          <p:nvPr>
            <p:extLst>
              <p:ext uri="{D42A27DB-BD31-4B8C-83A1-F6EECF244321}">
                <p14:modId xmlns:p14="http://schemas.microsoft.com/office/powerpoint/2010/main" val="2417026436"/>
              </p:ext>
            </p:extLst>
          </p:nvPr>
        </p:nvGraphicFramePr>
        <p:xfrm>
          <a:off x="990600" y="1905000"/>
          <a:ext cx="6629400" cy="4422289"/>
        </p:xfrm>
        <a:graphic>
          <a:graphicData uri="http://schemas.openxmlformats.org/drawingml/2006/table">
            <a:tbl>
              <a:tblPr firstRow="1" firstCol="1" bandRow="1">
                <a:tableStyleId>{5C22544A-7EE6-4342-B048-85BDC9FD1C3A}</a:tableStyleId>
              </a:tblPr>
              <a:tblGrid>
                <a:gridCol w="2209800">
                  <a:extLst>
                    <a:ext uri="{9D8B030D-6E8A-4147-A177-3AD203B41FA5}">
                      <a16:colId xmlns:a16="http://schemas.microsoft.com/office/drawing/2014/main" val="1518025937"/>
                    </a:ext>
                  </a:extLst>
                </a:gridCol>
                <a:gridCol w="2841171">
                  <a:extLst>
                    <a:ext uri="{9D8B030D-6E8A-4147-A177-3AD203B41FA5}">
                      <a16:colId xmlns:a16="http://schemas.microsoft.com/office/drawing/2014/main" val="583471672"/>
                    </a:ext>
                  </a:extLst>
                </a:gridCol>
                <a:gridCol w="1578429">
                  <a:extLst>
                    <a:ext uri="{9D8B030D-6E8A-4147-A177-3AD203B41FA5}">
                      <a16:colId xmlns:a16="http://schemas.microsoft.com/office/drawing/2014/main" val="2668985045"/>
                    </a:ext>
                  </a:extLst>
                </a:gridCol>
              </a:tblGrid>
              <a:tr h="190779">
                <a:tc>
                  <a:txBody>
                    <a:bodyPr/>
                    <a:lstStyle/>
                    <a:p>
                      <a:pPr algn="ctr">
                        <a:spcAft>
                          <a:spcPts val="0"/>
                        </a:spcAft>
                      </a:pPr>
                      <a:r>
                        <a:rPr lang="zh-CN" altLang="en-US" sz="1600" kern="1200" dirty="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应对问题</a:t>
                      </a:r>
                    </a:p>
                  </a:txBody>
                  <a:tcPr marL="68580" marR="68580" marT="0" marB="0" anchor="ctr"/>
                </a:tc>
                <a:tc>
                  <a:txBody>
                    <a:bodyPr/>
                    <a:lstStyle/>
                    <a:p>
                      <a:pPr algn="ctr">
                        <a:spcAft>
                          <a:spcPts val="0"/>
                        </a:spcAft>
                      </a:pPr>
                      <a:r>
                        <a:rPr lang="zh-CN" altLang="en-US" sz="1600" kern="120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改进思路</a:t>
                      </a:r>
                    </a:p>
                  </a:txBody>
                  <a:tcPr marL="68580" marR="68580" marT="0" marB="0" anchor="ctr"/>
                </a:tc>
                <a:tc>
                  <a:txBody>
                    <a:bodyPr/>
                    <a:lstStyle/>
                    <a:p>
                      <a:pPr algn="ctr">
                        <a:spcAft>
                          <a:spcPts val="0"/>
                        </a:spcAft>
                      </a:pPr>
                      <a:r>
                        <a:rPr lang="zh-CN" altLang="en-US" sz="1600" kern="120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参考文献</a:t>
                      </a:r>
                    </a:p>
                  </a:txBody>
                  <a:tcPr marL="68580" marR="68580" marT="0" marB="0" anchor="ctr"/>
                </a:tc>
                <a:extLst>
                  <a:ext uri="{0D108BD9-81ED-4DB2-BD59-A6C34878D82A}">
                    <a16:rowId xmlns:a16="http://schemas.microsoft.com/office/drawing/2014/main" val="3568934075"/>
                  </a:ext>
                </a:extLst>
              </a:tr>
              <a:tr h="190779">
                <a:tc rowSpan="3">
                  <a:txBody>
                    <a:bodyPr/>
                    <a:lstStyle/>
                    <a:p>
                      <a:pPr algn="just">
                        <a:spcAft>
                          <a:spcPts val="0"/>
                        </a:spcAft>
                      </a:pPr>
                      <a:r>
                        <a:rPr lang="zh-CN" altLang="en-US" sz="1600" kern="1200" dirty="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成本绩效指数的变化</a:t>
                      </a:r>
                    </a:p>
                  </a:txBody>
                  <a:tcPr marL="68580" marR="68580" marT="0" marB="0" anchor="ctr"/>
                </a:tc>
                <a:tc>
                  <a:txBody>
                    <a:bodyPr/>
                    <a:lstStyle/>
                    <a:p>
                      <a:pPr algn="just">
                        <a:spcAft>
                          <a:spcPts val="0"/>
                        </a:spcAft>
                      </a:pPr>
                      <a:r>
                        <a:rPr lang="zh-CN" altLang="en-US" sz="1600" kern="120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累计统计</a:t>
                      </a:r>
                      <a:r>
                        <a:rPr lang="en-US" sz="1600" kern="120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CPI</a:t>
                      </a:r>
                      <a:endParaRPr lang="zh-CN" altLang="en-US" sz="1600" kern="1200">
                        <a:solidFill>
                          <a:schemeClr val="tx1"/>
                        </a:solidFill>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nchor="ctr"/>
                </a:tc>
                <a:tc>
                  <a:txBody>
                    <a:bodyPr/>
                    <a:lstStyle/>
                    <a:p>
                      <a:pPr algn="just">
                        <a:spcAft>
                          <a:spcPts val="0"/>
                        </a:spcAft>
                      </a:pPr>
                      <a:r>
                        <a:rPr lang="zh-CN" altLang="en-US" sz="1600" kern="120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文献</a:t>
                      </a:r>
                      <a:r>
                        <a:rPr lang="en-US" sz="1600" kern="120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1</a:t>
                      </a:r>
                      <a:endParaRPr lang="zh-CN" altLang="en-US" sz="1600" kern="1200">
                        <a:solidFill>
                          <a:schemeClr val="tx1"/>
                        </a:solidFill>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777791840"/>
                  </a:ext>
                </a:extLst>
              </a:tr>
              <a:tr h="190779">
                <a:tc vMerge="1">
                  <a:txBody>
                    <a:bodyPr/>
                    <a:lstStyle/>
                    <a:p>
                      <a:endParaRPr lang="zh-CN" altLang="en-US"/>
                    </a:p>
                  </a:txBody>
                  <a:tcPr/>
                </a:tc>
                <a:tc>
                  <a:txBody>
                    <a:bodyPr/>
                    <a:lstStyle/>
                    <a:p>
                      <a:pPr algn="just">
                        <a:spcAft>
                          <a:spcPts val="0"/>
                        </a:spcAft>
                      </a:pPr>
                      <a:r>
                        <a:rPr lang="zh-CN" altLang="en-US" sz="1600" kern="1200" dirty="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概率估计</a:t>
                      </a:r>
                      <a:r>
                        <a:rPr lang="en-US" sz="1600" kern="1200" dirty="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CPI</a:t>
                      </a:r>
                      <a:endParaRPr lang="zh-CN" altLang="en-US" sz="1600" kern="1200" dirty="0">
                        <a:solidFill>
                          <a:schemeClr val="tx1"/>
                        </a:solidFill>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nchor="ctr"/>
                </a:tc>
                <a:tc>
                  <a:txBody>
                    <a:bodyPr/>
                    <a:lstStyle/>
                    <a:p>
                      <a:pPr algn="just">
                        <a:spcAft>
                          <a:spcPts val="0"/>
                        </a:spcAft>
                      </a:pPr>
                      <a:r>
                        <a:rPr lang="zh-CN" altLang="en-US" sz="1600" kern="1200" dirty="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文献</a:t>
                      </a:r>
                      <a:r>
                        <a:rPr lang="en-US" sz="1600" kern="1200" dirty="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2</a:t>
                      </a:r>
                      <a:endParaRPr lang="zh-CN" altLang="en-US" sz="1600" kern="1200" dirty="0">
                        <a:solidFill>
                          <a:schemeClr val="tx1"/>
                        </a:solidFill>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424104457"/>
                  </a:ext>
                </a:extLst>
              </a:tr>
              <a:tr h="281571">
                <a:tc vMerge="1">
                  <a:txBody>
                    <a:bodyPr/>
                    <a:lstStyle/>
                    <a:p>
                      <a:endParaRPr lang="zh-CN" altLang="en-US"/>
                    </a:p>
                  </a:txBody>
                  <a:tcPr/>
                </a:tc>
                <a:tc>
                  <a:txBody>
                    <a:bodyPr/>
                    <a:lstStyle/>
                    <a:p>
                      <a:pPr algn="just">
                        <a:spcAft>
                          <a:spcPts val="0"/>
                        </a:spcAft>
                      </a:pPr>
                      <a:r>
                        <a:rPr lang="en-US" sz="1600" kern="1200" dirty="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CPI</a:t>
                      </a:r>
                      <a:r>
                        <a:rPr lang="zh-CN" altLang="en-US" sz="1600" kern="1200" dirty="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的乐观与悲观估计</a:t>
                      </a:r>
                    </a:p>
                  </a:txBody>
                  <a:tcPr marL="68580" marR="68580" marT="0" marB="0" anchor="ctr"/>
                </a:tc>
                <a:tc>
                  <a:txBody>
                    <a:bodyPr/>
                    <a:lstStyle/>
                    <a:p>
                      <a:pPr algn="just">
                        <a:spcAft>
                          <a:spcPts val="0"/>
                        </a:spcAft>
                      </a:pPr>
                      <a:r>
                        <a:rPr lang="zh-CN" altLang="en-US" sz="1600" kern="120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文献</a:t>
                      </a:r>
                      <a:r>
                        <a:rPr lang="en-US" sz="1600" kern="120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3</a:t>
                      </a:r>
                      <a:endParaRPr lang="zh-CN" altLang="en-US" sz="1600" kern="1200">
                        <a:solidFill>
                          <a:schemeClr val="tx1"/>
                        </a:solidFill>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784945089"/>
                  </a:ext>
                </a:extLst>
              </a:tr>
              <a:tr h="281571">
                <a:tc rowSpan="4">
                  <a:txBody>
                    <a:bodyPr/>
                    <a:lstStyle/>
                    <a:p>
                      <a:pPr algn="just">
                        <a:spcAft>
                          <a:spcPts val="0"/>
                        </a:spcAft>
                      </a:pPr>
                      <a:r>
                        <a:rPr lang="zh-CN" altLang="en-US" sz="1600" kern="1200" dirty="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早期数据少预测难，对过去信息依赖严重</a:t>
                      </a:r>
                    </a:p>
                  </a:txBody>
                  <a:tcPr marL="68580" marR="68580" marT="0" marB="0" anchor="ctr"/>
                </a:tc>
                <a:tc>
                  <a:txBody>
                    <a:bodyPr/>
                    <a:lstStyle/>
                    <a:p>
                      <a:pPr algn="just">
                        <a:spcAft>
                          <a:spcPts val="0"/>
                        </a:spcAft>
                      </a:pPr>
                      <a:r>
                        <a:rPr lang="zh-CN" altLang="en-US" sz="1600" kern="1200" dirty="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结合多个增长模型</a:t>
                      </a:r>
                    </a:p>
                  </a:txBody>
                  <a:tcPr marL="68580" marR="68580" marT="0" marB="0" anchor="ctr"/>
                </a:tc>
                <a:tc>
                  <a:txBody>
                    <a:bodyPr/>
                    <a:lstStyle/>
                    <a:p>
                      <a:pPr algn="just">
                        <a:spcAft>
                          <a:spcPts val="0"/>
                        </a:spcAft>
                      </a:pPr>
                      <a:r>
                        <a:rPr lang="zh-CN" altLang="en-US" sz="1600" kern="120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文献</a:t>
                      </a:r>
                      <a:r>
                        <a:rPr lang="en-US" sz="1600" kern="120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4</a:t>
                      </a:r>
                      <a:endParaRPr lang="zh-CN" altLang="en-US" sz="1600" kern="1200">
                        <a:solidFill>
                          <a:schemeClr val="tx1"/>
                        </a:solidFill>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755326773"/>
                  </a:ext>
                </a:extLst>
              </a:tr>
              <a:tr h="190779">
                <a:tc vMerge="1">
                  <a:txBody>
                    <a:bodyPr/>
                    <a:lstStyle/>
                    <a:p>
                      <a:endParaRPr lang="zh-CN" altLang="en-US"/>
                    </a:p>
                  </a:txBody>
                  <a:tcPr/>
                </a:tc>
                <a:tc>
                  <a:txBody>
                    <a:bodyPr/>
                    <a:lstStyle/>
                    <a:p>
                      <a:pPr algn="just">
                        <a:spcAft>
                          <a:spcPts val="0"/>
                        </a:spcAft>
                      </a:pPr>
                      <a:r>
                        <a:rPr lang="zh-CN" altLang="en-US" sz="1600" kern="1200" dirty="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结合</a:t>
                      </a:r>
                      <a:r>
                        <a:rPr lang="en-US" sz="1600" kern="1200" dirty="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GGM</a:t>
                      </a:r>
                      <a:r>
                        <a:rPr lang="zh-CN" altLang="en-US" sz="1600" kern="1200" dirty="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增长模型</a:t>
                      </a:r>
                    </a:p>
                  </a:txBody>
                  <a:tcPr marL="68580" marR="68580" marT="0" marB="0" anchor="ctr"/>
                </a:tc>
                <a:tc>
                  <a:txBody>
                    <a:bodyPr/>
                    <a:lstStyle/>
                    <a:p>
                      <a:pPr algn="just">
                        <a:spcAft>
                          <a:spcPts val="0"/>
                        </a:spcAft>
                      </a:pPr>
                      <a:r>
                        <a:rPr lang="zh-CN" altLang="en-US" sz="1600" kern="120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文献</a:t>
                      </a:r>
                      <a:r>
                        <a:rPr lang="en-US" sz="1600" kern="120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5</a:t>
                      </a:r>
                      <a:endParaRPr lang="zh-CN" altLang="en-US" sz="1600" kern="1200">
                        <a:solidFill>
                          <a:schemeClr val="tx1"/>
                        </a:solidFill>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018008568"/>
                  </a:ext>
                </a:extLst>
              </a:tr>
              <a:tr h="281571">
                <a:tc vMerge="1">
                  <a:txBody>
                    <a:bodyPr/>
                    <a:lstStyle/>
                    <a:p>
                      <a:endParaRPr lang="zh-CN" altLang="en-US"/>
                    </a:p>
                  </a:txBody>
                  <a:tcPr/>
                </a:tc>
                <a:tc>
                  <a:txBody>
                    <a:bodyPr/>
                    <a:lstStyle/>
                    <a:p>
                      <a:pPr algn="just">
                        <a:spcAft>
                          <a:spcPts val="0"/>
                        </a:spcAft>
                      </a:pPr>
                      <a:r>
                        <a:rPr lang="zh-CN" altLang="en-US" sz="1600" kern="1200" dirty="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结合逻辑增长模型</a:t>
                      </a:r>
                    </a:p>
                  </a:txBody>
                  <a:tcPr marL="68580" marR="68580" marT="0" marB="0" anchor="ctr"/>
                </a:tc>
                <a:tc>
                  <a:txBody>
                    <a:bodyPr/>
                    <a:lstStyle/>
                    <a:p>
                      <a:pPr algn="just">
                        <a:spcAft>
                          <a:spcPts val="0"/>
                        </a:spcAft>
                      </a:pPr>
                      <a:r>
                        <a:rPr lang="zh-CN" altLang="en-US" sz="1600" kern="120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文献</a:t>
                      </a:r>
                      <a:r>
                        <a:rPr lang="en-US" sz="1600" kern="120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6</a:t>
                      </a:r>
                      <a:endParaRPr lang="zh-CN" altLang="en-US" sz="1600" kern="1200">
                        <a:solidFill>
                          <a:schemeClr val="tx1"/>
                        </a:solidFill>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922531501"/>
                  </a:ext>
                </a:extLst>
              </a:tr>
              <a:tr h="281571">
                <a:tc vMerge="1">
                  <a:txBody>
                    <a:bodyPr/>
                    <a:lstStyle/>
                    <a:p>
                      <a:endParaRPr lang="zh-CN" altLang="en-US"/>
                    </a:p>
                  </a:txBody>
                  <a:tcPr/>
                </a:tc>
                <a:tc>
                  <a:txBody>
                    <a:bodyPr/>
                    <a:lstStyle/>
                    <a:p>
                      <a:pPr algn="just">
                        <a:spcAft>
                          <a:spcPts val="0"/>
                        </a:spcAft>
                      </a:pPr>
                      <a:r>
                        <a:rPr lang="zh-CN" altLang="en-US" sz="1600" kern="1200" dirty="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结合</a:t>
                      </a:r>
                      <a:r>
                        <a:rPr lang="en-US" sz="1600" kern="1200" dirty="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GGM</a:t>
                      </a:r>
                      <a:r>
                        <a:rPr lang="zh-CN" altLang="en-US" sz="1600" kern="1200" dirty="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增长模型</a:t>
                      </a:r>
                    </a:p>
                  </a:txBody>
                  <a:tcPr marL="68580" marR="68580" marT="0" marB="0" anchor="ctr"/>
                </a:tc>
                <a:tc>
                  <a:txBody>
                    <a:bodyPr/>
                    <a:lstStyle/>
                    <a:p>
                      <a:pPr algn="just">
                        <a:spcAft>
                          <a:spcPts val="0"/>
                        </a:spcAft>
                      </a:pPr>
                      <a:r>
                        <a:rPr lang="zh-CN" altLang="en-US" sz="1600" kern="120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文献</a:t>
                      </a:r>
                      <a:r>
                        <a:rPr lang="en-US" sz="1600" kern="120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7</a:t>
                      </a:r>
                      <a:endParaRPr lang="zh-CN" altLang="en-US" sz="1600" kern="1200">
                        <a:solidFill>
                          <a:schemeClr val="tx1"/>
                        </a:solidFill>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693269293"/>
                  </a:ext>
                </a:extLst>
              </a:tr>
              <a:tr h="281571">
                <a:tc rowSpan="3">
                  <a:txBody>
                    <a:bodyPr/>
                    <a:lstStyle/>
                    <a:p>
                      <a:pPr algn="just">
                        <a:spcAft>
                          <a:spcPts val="0"/>
                        </a:spcAft>
                      </a:pPr>
                      <a:r>
                        <a:rPr lang="zh-CN" altLang="en-US" sz="1600" kern="120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过往绩效指数同等权重不合理</a:t>
                      </a:r>
                    </a:p>
                  </a:txBody>
                  <a:tcPr marL="68580" marR="68580" marT="0" marB="0" anchor="ctr"/>
                </a:tc>
                <a:tc>
                  <a:txBody>
                    <a:bodyPr/>
                    <a:lstStyle/>
                    <a:p>
                      <a:pPr algn="just">
                        <a:spcAft>
                          <a:spcPts val="0"/>
                        </a:spcAft>
                      </a:pPr>
                      <a:r>
                        <a:rPr lang="zh-CN" altLang="en-US" sz="1600" kern="1200" dirty="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结合指数平滑技术修改</a:t>
                      </a:r>
                      <a:r>
                        <a:rPr lang="en-US" sz="1600" kern="1200" dirty="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EDI</a:t>
                      </a:r>
                      <a:endParaRPr lang="zh-CN" altLang="en-US" sz="1600" kern="1200" dirty="0">
                        <a:solidFill>
                          <a:schemeClr val="tx1"/>
                        </a:solidFill>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nchor="ctr"/>
                </a:tc>
                <a:tc>
                  <a:txBody>
                    <a:bodyPr/>
                    <a:lstStyle/>
                    <a:p>
                      <a:pPr algn="just">
                        <a:spcAft>
                          <a:spcPts val="0"/>
                        </a:spcAft>
                      </a:pPr>
                      <a:r>
                        <a:rPr lang="zh-CN" altLang="en-US" sz="1600" kern="1200" dirty="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文献</a:t>
                      </a:r>
                      <a:r>
                        <a:rPr lang="en-US" sz="1600" kern="1200" dirty="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8</a:t>
                      </a:r>
                      <a:endParaRPr lang="zh-CN" altLang="en-US" sz="1600" kern="1200" dirty="0">
                        <a:solidFill>
                          <a:schemeClr val="tx1"/>
                        </a:solidFill>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92924009"/>
                  </a:ext>
                </a:extLst>
              </a:tr>
              <a:tr h="281571">
                <a:tc vMerge="1">
                  <a:txBody>
                    <a:bodyPr/>
                    <a:lstStyle/>
                    <a:p>
                      <a:endParaRPr lang="zh-CN" altLang="en-US"/>
                    </a:p>
                  </a:txBody>
                  <a:tcPr/>
                </a:tc>
                <a:tc>
                  <a:txBody>
                    <a:bodyPr/>
                    <a:lstStyle/>
                    <a:p>
                      <a:pPr algn="just">
                        <a:spcAft>
                          <a:spcPts val="0"/>
                        </a:spcAft>
                      </a:pPr>
                      <a:r>
                        <a:rPr lang="zh-CN" altLang="en-US" sz="1600" kern="1200" dirty="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结合指数平滑技术修改</a:t>
                      </a:r>
                      <a:r>
                        <a:rPr lang="en-US" sz="1600" kern="1200" dirty="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CPI</a:t>
                      </a:r>
                      <a:endParaRPr lang="zh-CN" altLang="en-US" sz="1600" kern="1200" dirty="0">
                        <a:solidFill>
                          <a:schemeClr val="tx1"/>
                        </a:solidFill>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nchor="ctr"/>
                </a:tc>
                <a:tc>
                  <a:txBody>
                    <a:bodyPr/>
                    <a:lstStyle/>
                    <a:p>
                      <a:pPr algn="just">
                        <a:spcAft>
                          <a:spcPts val="0"/>
                        </a:spcAft>
                      </a:pPr>
                      <a:r>
                        <a:rPr lang="zh-CN" altLang="en-US" sz="1600" kern="1200" dirty="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文献</a:t>
                      </a:r>
                      <a:r>
                        <a:rPr lang="en-US" sz="1600" kern="1200" dirty="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9</a:t>
                      </a:r>
                      <a:endParaRPr lang="zh-CN" altLang="en-US" sz="1600" kern="1200" dirty="0">
                        <a:solidFill>
                          <a:schemeClr val="tx1"/>
                        </a:solidFill>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464286939"/>
                  </a:ext>
                </a:extLst>
              </a:tr>
              <a:tr h="281571">
                <a:tc vMerge="1">
                  <a:txBody>
                    <a:bodyPr/>
                    <a:lstStyle/>
                    <a:p>
                      <a:endParaRPr lang="zh-CN" altLang="en-US"/>
                    </a:p>
                  </a:txBody>
                  <a:tcPr/>
                </a:tc>
                <a:tc>
                  <a:txBody>
                    <a:bodyPr/>
                    <a:lstStyle/>
                    <a:p>
                      <a:pPr algn="just">
                        <a:spcAft>
                          <a:spcPts val="0"/>
                        </a:spcAft>
                      </a:pPr>
                      <a:r>
                        <a:rPr lang="zh-CN" altLang="en-US" sz="1600" kern="1200" dirty="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结合指数平滑技术修改</a:t>
                      </a:r>
                      <a:r>
                        <a:rPr lang="en-US" sz="1600" kern="1200" dirty="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DPI</a:t>
                      </a:r>
                      <a:endParaRPr lang="zh-CN" altLang="en-US" sz="1600" kern="1200" dirty="0">
                        <a:solidFill>
                          <a:schemeClr val="tx1"/>
                        </a:solidFill>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nchor="ctr"/>
                </a:tc>
                <a:tc>
                  <a:txBody>
                    <a:bodyPr/>
                    <a:lstStyle/>
                    <a:p>
                      <a:pPr algn="just">
                        <a:spcAft>
                          <a:spcPts val="0"/>
                        </a:spcAft>
                      </a:pPr>
                      <a:r>
                        <a:rPr lang="zh-CN" altLang="en-US" sz="1600" kern="1200" dirty="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文献</a:t>
                      </a:r>
                      <a:r>
                        <a:rPr lang="en-US" sz="1600" kern="1200" dirty="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10</a:t>
                      </a:r>
                      <a:endParaRPr lang="zh-CN" altLang="en-US" sz="1600" kern="1200" dirty="0">
                        <a:solidFill>
                          <a:schemeClr val="tx1"/>
                        </a:solidFill>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088523323"/>
                  </a:ext>
                </a:extLst>
              </a:tr>
              <a:tr h="500572">
                <a:tc>
                  <a:txBody>
                    <a:bodyPr/>
                    <a:lstStyle/>
                    <a:p>
                      <a:pPr algn="just">
                        <a:spcAft>
                          <a:spcPts val="0"/>
                        </a:spcAft>
                      </a:pPr>
                      <a:r>
                        <a:rPr lang="zh-CN" altLang="en-US" sz="1600" kern="120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考虑关键线路与关键活动的影响</a:t>
                      </a:r>
                    </a:p>
                  </a:txBody>
                  <a:tcPr marL="68580" marR="68580" marT="0" marB="0" anchor="ctr"/>
                </a:tc>
                <a:tc>
                  <a:txBody>
                    <a:bodyPr/>
                    <a:lstStyle/>
                    <a:p>
                      <a:pPr algn="just">
                        <a:spcAft>
                          <a:spcPts val="0"/>
                        </a:spcAft>
                      </a:pPr>
                      <a:r>
                        <a:rPr lang="zh-CN" altLang="en-US" sz="1600" kern="1200" dirty="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引进权重，修改</a:t>
                      </a:r>
                      <a:r>
                        <a:rPr lang="en-US" sz="1600" kern="1200" dirty="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EV</a:t>
                      </a:r>
                      <a:r>
                        <a:rPr lang="zh-CN" altLang="en-US" sz="1600" kern="1200" dirty="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a:t>
                      </a:r>
                      <a:r>
                        <a:rPr lang="en-US" sz="1600" kern="1200" dirty="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PV</a:t>
                      </a:r>
                      <a:endParaRPr lang="zh-CN" altLang="en-US" sz="1600" kern="1200" dirty="0">
                        <a:solidFill>
                          <a:schemeClr val="tx1"/>
                        </a:solidFill>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nchor="ctr"/>
                </a:tc>
                <a:tc>
                  <a:txBody>
                    <a:bodyPr/>
                    <a:lstStyle/>
                    <a:p>
                      <a:pPr algn="just">
                        <a:spcAft>
                          <a:spcPts val="0"/>
                        </a:spcAft>
                      </a:pPr>
                      <a:r>
                        <a:rPr lang="zh-CN" altLang="en-US" sz="1600" kern="1200" dirty="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文献</a:t>
                      </a:r>
                      <a:r>
                        <a:rPr lang="en-US" sz="1600" kern="1200" dirty="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11</a:t>
                      </a:r>
                      <a:endParaRPr lang="zh-CN" altLang="en-US" sz="1600" kern="1200" dirty="0">
                        <a:solidFill>
                          <a:schemeClr val="tx1"/>
                        </a:solidFill>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764276306"/>
                  </a:ext>
                </a:extLst>
              </a:tr>
              <a:tr h="41915">
                <a:tc rowSpan="3">
                  <a:txBody>
                    <a:bodyPr/>
                    <a:lstStyle/>
                    <a:p>
                      <a:pPr algn="just">
                        <a:spcAft>
                          <a:spcPts val="0"/>
                        </a:spcAft>
                      </a:pPr>
                      <a:r>
                        <a:rPr lang="zh-CN" altLang="en-US" sz="1600" kern="120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指标测量不准确性</a:t>
                      </a:r>
                    </a:p>
                  </a:txBody>
                  <a:tcPr marL="68580" marR="68580" marT="0" marB="0" anchor="ctr"/>
                </a:tc>
                <a:tc>
                  <a:txBody>
                    <a:bodyPr/>
                    <a:lstStyle/>
                    <a:p>
                      <a:pPr algn="just">
                        <a:spcAft>
                          <a:spcPts val="0"/>
                        </a:spcAft>
                      </a:pPr>
                      <a:r>
                        <a:rPr lang="zh-CN" altLang="en-US" sz="1600" kern="1200" dirty="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结合模糊理论</a:t>
                      </a:r>
                    </a:p>
                  </a:txBody>
                  <a:tcPr marL="68580" marR="68580" marT="0" marB="0" anchor="ctr"/>
                </a:tc>
                <a:tc>
                  <a:txBody>
                    <a:bodyPr/>
                    <a:lstStyle/>
                    <a:p>
                      <a:pPr algn="just">
                        <a:spcAft>
                          <a:spcPts val="0"/>
                        </a:spcAft>
                      </a:pPr>
                      <a:r>
                        <a:rPr lang="zh-CN" altLang="en-US" sz="1600" kern="1200" dirty="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文献</a:t>
                      </a:r>
                      <a:r>
                        <a:rPr lang="en-US" sz="1600" kern="1200" dirty="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12</a:t>
                      </a:r>
                      <a:endParaRPr lang="zh-CN" altLang="en-US" sz="1600" kern="1200" dirty="0">
                        <a:solidFill>
                          <a:schemeClr val="tx1"/>
                        </a:solidFill>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936928986"/>
                  </a:ext>
                </a:extLst>
              </a:tr>
              <a:tr h="0">
                <a:tc vMerge="1">
                  <a:txBody>
                    <a:bodyPr/>
                    <a:lstStyle/>
                    <a:p>
                      <a:endParaRPr lang="zh-CN" altLang="en-US"/>
                    </a:p>
                  </a:txBody>
                  <a:tcPr/>
                </a:tc>
                <a:tc>
                  <a:txBody>
                    <a:bodyPr/>
                    <a:lstStyle/>
                    <a:p>
                      <a:pPr algn="just">
                        <a:spcAft>
                          <a:spcPts val="0"/>
                        </a:spcAft>
                      </a:pPr>
                      <a:r>
                        <a:rPr lang="zh-CN" altLang="en-US" sz="1600" kern="1200" dirty="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结合模糊理论，考虑承包商付款因素影响</a:t>
                      </a:r>
                      <a:r>
                        <a:rPr lang="en-US" sz="1600" kern="1200" dirty="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 </a:t>
                      </a:r>
                      <a:endParaRPr lang="zh-CN" altLang="en-US" sz="1600" kern="1200" dirty="0">
                        <a:solidFill>
                          <a:schemeClr val="tx1"/>
                        </a:solidFill>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nchor="ctr"/>
                </a:tc>
                <a:tc>
                  <a:txBody>
                    <a:bodyPr/>
                    <a:lstStyle/>
                    <a:p>
                      <a:pPr algn="just">
                        <a:spcAft>
                          <a:spcPts val="0"/>
                        </a:spcAft>
                      </a:pPr>
                      <a:r>
                        <a:rPr lang="zh-CN" altLang="en-US" sz="1600" kern="1200" dirty="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文献</a:t>
                      </a:r>
                      <a:r>
                        <a:rPr lang="en-US" sz="1600" kern="1200" dirty="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13</a:t>
                      </a:r>
                      <a:endParaRPr lang="zh-CN" altLang="en-US" sz="1600" kern="1200" dirty="0">
                        <a:solidFill>
                          <a:schemeClr val="tx1"/>
                        </a:solidFill>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432131007"/>
                  </a:ext>
                </a:extLst>
              </a:tr>
              <a:tr h="190779">
                <a:tc vMerge="1">
                  <a:txBody>
                    <a:bodyPr/>
                    <a:lstStyle/>
                    <a:p>
                      <a:endParaRPr lang="zh-CN" altLang="en-US"/>
                    </a:p>
                  </a:txBody>
                  <a:tcPr/>
                </a:tc>
                <a:tc>
                  <a:txBody>
                    <a:bodyPr/>
                    <a:lstStyle/>
                    <a:p>
                      <a:pPr algn="just">
                        <a:spcAft>
                          <a:spcPts val="0"/>
                        </a:spcAft>
                      </a:pPr>
                      <a:r>
                        <a:rPr lang="zh-CN" altLang="en-US" sz="1600" kern="120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应用灰色理论</a:t>
                      </a:r>
                    </a:p>
                  </a:txBody>
                  <a:tcPr marL="68580" marR="68580" marT="0" marB="0" anchor="ctr"/>
                </a:tc>
                <a:tc>
                  <a:txBody>
                    <a:bodyPr/>
                    <a:lstStyle/>
                    <a:p>
                      <a:pPr algn="just">
                        <a:spcAft>
                          <a:spcPts val="0"/>
                        </a:spcAft>
                      </a:pPr>
                      <a:r>
                        <a:rPr lang="zh-CN" altLang="en-US" sz="1600" kern="1200" dirty="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文献</a:t>
                      </a:r>
                      <a:r>
                        <a:rPr lang="en-US" sz="1600" kern="1200" dirty="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14</a:t>
                      </a:r>
                      <a:endParaRPr lang="zh-CN" altLang="en-US" sz="1600" kern="1200" dirty="0">
                        <a:solidFill>
                          <a:schemeClr val="tx1"/>
                        </a:solidFill>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574661949"/>
                  </a:ext>
                </a:extLst>
              </a:tr>
            </a:tbl>
          </a:graphicData>
        </a:graphic>
      </p:graphicFrame>
    </p:spTree>
    <p:extLst>
      <p:ext uri="{BB962C8B-B14F-4D97-AF65-F5344CB8AC3E}">
        <p14:creationId xmlns:p14="http://schemas.microsoft.com/office/powerpoint/2010/main" val="15582570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39ACF1F-B04A-4904-8FCC-D8C1B39469D0}"/>
              </a:ext>
            </a:extLst>
          </p:cNvPr>
          <p:cNvSpPr/>
          <p:nvPr/>
        </p:nvSpPr>
        <p:spPr>
          <a:xfrm>
            <a:off x="1689764" y="457200"/>
            <a:ext cx="7073236" cy="600164"/>
          </a:xfrm>
          <a:prstGeom prst="rect">
            <a:avLst/>
          </a:prstGeom>
        </p:spPr>
        <p:txBody>
          <a:bodyPr wrap="square">
            <a:spAutoFit/>
          </a:bodyPr>
          <a:lstStyle/>
          <a:p>
            <a:pPr algn="ctr">
              <a:spcBef>
                <a:spcPct val="0"/>
              </a:spcBef>
            </a:pPr>
            <a:r>
              <a:rPr lang="en-US" altLang="zh-CN" sz="3300" dirty="0">
                <a:latin typeface="等线 Light" panose="02010600030101010101" pitchFamily="2" charset="-122"/>
                <a:ea typeface="等线 Light" panose="02010600030101010101" pitchFamily="2" charset="-122"/>
              </a:rPr>
              <a:t>1</a:t>
            </a:r>
            <a:r>
              <a:rPr lang="zh-CN" altLang="en-US" sz="3300" dirty="0">
                <a:latin typeface="等线 Light" panose="02010600030101010101" pitchFamily="2" charset="-122"/>
                <a:ea typeface="等线 Light" panose="02010600030101010101" pitchFamily="2" charset="-122"/>
              </a:rPr>
              <a:t>、</a:t>
            </a:r>
            <a:r>
              <a:rPr lang="zh-CN" altLang="zh-CN" sz="3300" dirty="0">
                <a:latin typeface="等线 Light" panose="02010600030101010101" pitchFamily="2" charset="-122"/>
                <a:ea typeface="等线 Light" panose="02010600030101010101" pitchFamily="2" charset="-122"/>
              </a:rPr>
              <a:t>文献整理方法</a:t>
            </a:r>
            <a:r>
              <a:rPr lang="zh-CN" altLang="en-US" sz="3300" dirty="0">
                <a:latin typeface="等线 Light" panose="02010600030101010101" pitchFamily="2" charset="-122"/>
                <a:ea typeface="等线 Light" panose="02010600030101010101" pitchFamily="2" charset="-122"/>
              </a:rPr>
              <a:t>：</a:t>
            </a:r>
            <a:r>
              <a:rPr lang="zh-CN" altLang="zh-CN" sz="3300" dirty="0">
                <a:latin typeface="等线 Light" panose="02010600030101010101" pitchFamily="2" charset="-122"/>
                <a:ea typeface="等线 Light" panose="02010600030101010101" pitchFamily="2" charset="-122"/>
                <a:cs typeface="+mj-cs"/>
              </a:rPr>
              <a:t>以</a:t>
            </a:r>
            <a:r>
              <a:rPr lang="zh-CN" altLang="en-US" sz="3300" dirty="0">
                <a:latin typeface="等线 Light" panose="02010600030101010101" pitchFamily="2" charset="-122"/>
                <a:ea typeface="等线 Light" panose="02010600030101010101" pitchFamily="2" charset="-122"/>
                <a:cs typeface="+mj-cs"/>
              </a:rPr>
              <a:t>论文</a:t>
            </a:r>
            <a:r>
              <a:rPr lang="zh-CN" altLang="zh-CN" sz="3300" dirty="0">
                <a:latin typeface="等线 Light" panose="02010600030101010101" pitchFamily="2" charset="-122"/>
                <a:ea typeface="等线 Light" panose="02010600030101010101" pitchFamily="2" charset="-122"/>
                <a:cs typeface="+mj-cs"/>
              </a:rPr>
              <a:t>要素整理</a:t>
            </a:r>
            <a:endParaRPr lang="zh-CN" altLang="en-US" sz="3300" dirty="0">
              <a:latin typeface="等线 Light" panose="02010600030101010101" pitchFamily="2" charset="-122"/>
              <a:ea typeface="等线 Light" panose="02010600030101010101" pitchFamily="2" charset="-122"/>
              <a:cs typeface="+mj-cs"/>
            </a:endParaRPr>
          </a:p>
        </p:txBody>
      </p:sp>
      <p:sp>
        <p:nvSpPr>
          <p:cNvPr id="3" name="矩形 2">
            <a:extLst>
              <a:ext uri="{FF2B5EF4-FFF2-40B4-BE49-F238E27FC236}">
                <a16:creationId xmlns:a16="http://schemas.microsoft.com/office/drawing/2014/main" id="{166CA74C-71BA-4627-981F-309E23D88B8B}"/>
              </a:ext>
            </a:extLst>
          </p:cNvPr>
          <p:cNvSpPr/>
          <p:nvPr/>
        </p:nvSpPr>
        <p:spPr>
          <a:xfrm>
            <a:off x="304800" y="1143000"/>
            <a:ext cx="6096000" cy="3733586"/>
          </a:xfrm>
          <a:prstGeom prst="rect">
            <a:avLst/>
          </a:prstGeom>
        </p:spPr>
        <p:txBody>
          <a:bodyPr>
            <a:spAutoFit/>
          </a:bodyPr>
          <a:lstStyle/>
          <a:p>
            <a:pPr algn="just">
              <a:lnSpc>
                <a:spcPct val="150000"/>
              </a:lnSpc>
              <a:spcAft>
                <a:spcPts val="0"/>
              </a:spcAft>
            </a:pPr>
            <a:r>
              <a:rPr lang="en-US" altLang="zh-CN" sz="2000" kern="100" dirty="0">
                <a:latin typeface="等线 Light" panose="02010600030101010101" pitchFamily="2" charset="-122"/>
                <a:ea typeface="等线 Light" panose="02010600030101010101" pitchFamily="2" charset="-122"/>
                <a:cs typeface="Times New Roman" panose="02020603050405020304" pitchFamily="18" charset="0"/>
              </a:rPr>
              <a:t>1</a:t>
            </a:r>
            <a:r>
              <a:rPr lang="zh-CN" altLang="en-US" sz="2000" kern="100" dirty="0">
                <a:latin typeface="等线 Light" panose="02010600030101010101" pitchFamily="2" charset="-122"/>
                <a:ea typeface="等线 Light" panose="02010600030101010101" pitchFamily="2" charset="-122"/>
                <a:cs typeface="Times New Roman" panose="02020603050405020304" pitchFamily="18" charset="0"/>
              </a:rPr>
              <a:t>、</a:t>
            </a:r>
            <a:r>
              <a:rPr lang="zh-CN" altLang="zh-CN" sz="2000" kern="100" dirty="0">
                <a:latin typeface="等线 Light" panose="02010600030101010101" pitchFamily="2" charset="-122"/>
                <a:ea typeface="等线 Light" panose="02010600030101010101" pitchFamily="2" charset="-122"/>
                <a:cs typeface="Times New Roman" panose="02020603050405020304" pitchFamily="18" charset="0"/>
              </a:rPr>
              <a:t>情境</a:t>
            </a:r>
            <a:r>
              <a:rPr lang="en-US" altLang="zh-CN" sz="2000" kern="100" dirty="0">
                <a:latin typeface="等线 Light" panose="02010600030101010101" pitchFamily="2" charset="-122"/>
                <a:ea typeface="等线 Light" panose="02010600030101010101" pitchFamily="2" charset="-122"/>
                <a:cs typeface="Times New Roman" panose="02020603050405020304" pitchFamily="18" charset="0"/>
              </a:rPr>
              <a:t>/</a:t>
            </a:r>
            <a:r>
              <a:rPr lang="zh-CN" altLang="en-US" sz="2000" kern="100" dirty="0">
                <a:latin typeface="等线 Light" panose="02010600030101010101" pitchFamily="2" charset="-122"/>
                <a:ea typeface="等线 Light" panose="02010600030101010101" pitchFamily="2" charset="-122"/>
                <a:cs typeface="Times New Roman" panose="02020603050405020304" pitchFamily="18" charset="0"/>
              </a:rPr>
              <a:t>实践问题</a:t>
            </a:r>
            <a:r>
              <a:rPr lang="en-US" altLang="zh-CN" sz="2000" kern="100" dirty="0">
                <a:latin typeface="等线 Light" panose="02010600030101010101" pitchFamily="2" charset="-122"/>
                <a:ea typeface="等线 Light" panose="02010600030101010101" pitchFamily="2" charset="-122"/>
                <a:cs typeface="Times New Roman" panose="02020603050405020304" pitchFamily="18" charset="0"/>
              </a:rPr>
              <a:t>/</a:t>
            </a:r>
            <a:r>
              <a:rPr lang="zh-CN" altLang="en-US" sz="2000" kern="100" dirty="0">
                <a:latin typeface="等线 Light" panose="02010600030101010101" pitchFamily="2" charset="-122"/>
                <a:ea typeface="等线 Light" panose="02010600030101010101" pitchFamily="2" charset="-122"/>
                <a:cs typeface="Times New Roman" panose="02020603050405020304" pitchFamily="18" charset="0"/>
              </a:rPr>
              <a:t>研究问题</a:t>
            </a:r>
            <a:endParaRPr lang="zh-CN" altLang="zh-CN" sz="2000" kern="100" dirty="0">
              <a:latin typeface="等线 Light" panose="02010600030101010101" pitchFamily="2" charset="-122"/>
              <a:ea typeface="等线 Light" panose="02010600030101010101" pitchFamily="2" charset="-122"/>
              <a:cs typeface="Times New Roman" panose="02020603050405020304" pitchFamily="18" charset="0"/>
            </a:endParaRPr>
          </a:p>
          <a:p>
            <a:pPr algn="just">
              <a:lnSpc>
                <a:spcPct val="150000"/>
              </a:lnSpc>
              <a:spcAft>
                <a:spcPts val="0"/>
              </a:spcAft>
            </a:pPr>
            <a:r>
              <a:rPr lang="en-US" altLang="zh-CN" sz="2000" kern="100" dirty="0">
                <a:latin typeface="等线 Light" panose="02010600030101010101" pitchFamily="2" charset="-122"/>
                <a:ea typeface="等线 Light" panose="02010600030101010101" pitchFamily="2" charset="-122"/>
                <a:cs typeface="Times New Roman" panose="02020603050405020304" pitchFamily="18" charset="0"/>
              </a:rPr>
              <a:t>2</a:t>
            </a:r>
            <a:r>
              <a:rPr lang="zh-CN" altLang="en-US" sz="2000" kern="100" dirty="0">
                <a:latin typeface="等线 Light" panose="02010600030101010101" pitchFamily="2" charset="-122"/>
                <a:ea typeface="等线 Light" panose="02010600030101010101" pitchFamily="2" charset="-122"/>
                <a:cs typeface="Times New Roman" panose="02020603050405020304" pitchFamily="18" charset="0"/>
              </a:rPr>
              <a:t>、</a:t>
            </a:r>
            <a:r>
              <a:rPr lang="zh-CN" altLang="zh-CN" sz="2000" kern="100" dirty="0">
                <a:latin typeface="等线 Light" panose="02010600030101010101" pitchFamily="2" charset="-122"/>
                <a:ea typeface="等线 Light" panose="02010600030101010101" pitchFamily="2" charset="-122"/>
                <a:cs typeface="Times New Roman" panose="02020603050405020304" pitchFamily="18" charset="0"/>
              </a:rPr>
              <a:t>文献综述：已有解决方案的构成及不足。</a:t>
            </a:r>
          </a:p>
          <a:p>
            <a:pPr algn="just">
              <a:lnSpc>
                <a:spcPct val="150000"/>
              </a:lnSpc>
              <a:spcAft>
                <a:spcPts val="0"/>
              </a:spcAft>
            </a:pPr>
            <a:r>
              <a:rPr lang="en-US" altLang="zh-CN" sz="2000" kern="100" dirty="0">
                <a:latin typeface="等线 Light" panose="02010600030101010101" pitchFamily="2" charset="-122"/>
                <a:ea typeface="等线 Light" panose="02010600030101010101" pitchFamily="2" charset="-122"/>
                <a:cs typeface="Times New Roman" panose="02020603050405020304" pitchFamily="18" charset="0"/>
              </a:rPr>
              <a:t>3</a:t>
            </a:r>
            <a:r>
              <a:rPr lang="zh-CN" altLang="en-US" sz="2000" kern="100" dirty="0">
                <a:latin typeface="等线 Light" panose="02010600030101010101" pitchFamily="2" charset="-122"/>
                <a:ea typeface="等线 Light" panose="02010600030101010101" pitchFamily="2" charset="-122"/>
                <a:cs typeface="Times New Roman" panose="02020603050405020304" pitchFamily="18" charset="0"/>
              </a:rPr>
              <a:t>、</a:t>
            </a:r>
            <a:r>
              <a:rPr lang="zh-CN" altLang="zh-CN" sz="2000" kern="100" dirty="0">
                <a:latin typeface="等线 Light" panose="02010600030101010101" pitchFamily="2" charset="-122"/>
                <a:ea typeface="等线 Light" panose="02010600030101010101" pitchFamily="2" charset="-122"/>
                <a:cs typeface="Times New Roman" panose="02020603050405020304" pitchFamily="18" charset="0"/>
              </a:rPr>
              <a:t>解决方案的理论基础。</a:t>
            </a:r>
          </a:p>
          <a:p>
            <a:pPr algn="just">
              <a:lnSpc>
                <a:spcPct val="150000"/>
              </a:lnSpc>
              <a:spcAft>
                <a:spcPts val="0"/>
              </a:spcAft>
            </a:pPr>
            <a:r>
              <a:rPr lang="en-US" altLang="zh-CN" sz="2000" kern="100" dirty="0">
                <a:latin typeface="等线 Light" panose="02010600030101010101" pitchFamily="2" charset="-122"/>
                <a:ea typeface="等线 Light" panose="02010600030101010101" pitchFamily="2" charset="-122"/>
                <a:cs typeface="Times New Roman" panose="02020603050405020304" pitchFamily="18" charset="0"/>
              </a:rPr>
              <a:t>4</a:t>
            </a:r>
            <a:r>
              <a:rPr lang="zh-CN" altLang="en-US" sz="2000" kern="100" dirty="0">
                <a:latin typeface="等线 Light" panose="02010600030101010101" pitchFamily="2" charset="-122"/>
                <a:ea typeface="等线 Light" panose="02010600030101010101" pitchFamily="2" charset="-122"/>
                <a:cs typeface="Times New Roman" panose="02020603050405020304" pitchFamily="18" charset="0"/>
              </a:rPr>
              <a:t>、</a:t>
            </a:r>
            <a:r>
              <a:rPr lang="zh-CN" altLang="zh-CN" sz="2000" kern="100" dirty="0">
                <a:latin typeface="等线 Light" panose="02010600030101010101" pitchFamily="2" charset="-122"/>
                <a:ea typeface="等线 Light" panose="02010600030101010101" pitchFamily="2" charset="-122"/>
                <a:cs typeface="Times New Roman" panose="02020603050405020304" pitchFamily="18" charset="0"/>
              </a:rPr>
              <a:t>研究方案：研究方案的构成。</a:t>
            </a:r>
          </a:p>
          <a:p>
            <a:pPr algn="just">
              <a:lnSpc>
                <a:spcPct val="150000"/>
              </a:lnSpc>
              <a:spcAft>
                <a:spcPts val="0"/>
              </a:spcAft>
            </a:pPr>
            <a:r>
              <a:rPr lang="en-US" altLang="zh-CN" sz="2000" kern="100" dirty="0">
                <a:latin typeface="等线 Light" panose="02010600030101010101" pitchFamily="2" charset="-122"/>
                <a:ea typeface="等线 Light" panose="02010600030101010101" pitchFamily="2" charset="-122"/>
                <a:cs typeface="Times New Roman" panose="02020603050405020304" pitchFamily="18" charset="0"/>
              </a:rPr>
              <a:t>5</a:t>
            </a:r>
            <a:r>
              <a:rPr lang="zh-CN" altLang="en-US" sz="2000" kern="100" dirty="0">
                <a:latin typeface="等线 Light" panose="02010600030101010101" pitchFamily="2" charset="-122"/>
                <a:ea typeface="等线 Light" panose="02010600030101010101" pitchFamily="2" charset="-122"/>
                <a:cs typeface="Times New Roman" panose="02020603050405020304" pitchFamily="18" charset="0"/>
              </a:rPr>
              <a:t>、</a:t>
            </a:r>
            <a:r>
              <a:rPr lang="zh-CN" altLang="zh-CN" sz="2000" kern="100" dirty="0">
                <a:latin typeface="等线 Light" panose="02010600030101010101" pitchFamily="2" charset="-122"/>
                <a:ea typeface="等线 Light" panose="02010600030101010101" pitchFamily="2" charset="-122"/>
                <a:cs typeface="Times New Roman" panose="02020603050405020304" pitchFamily="18" charset="0"/>
              </a:rPr>
              <a:t>解决方案的设计：解决方案的构成。</a:t>
            </a:r>
          </a:p>
          <a:p>
            <a:pPr algn="just">
              <a:lnSpc>
                <a:spcPct val="150000"/>
              </a:lnSpc>
              <a:spcAft>
                <a:spcPts val="0"/>
              </a:spcAft>
            </a:pPr>
            <a:r>
              <a:rPr lang="en-US" altLang="zh-CN" sz="2000" kern="100" dirty="0">
                <a:latin typeface="等线 Light" panose="02010600030101010101" pitchFamily="2" charset="-122"/>
                <a:ea typeface="等线 Light" panose="02010600030101010101" pitchFamily="2" charset="-122"/>
                <a:cs typeface="Times New Roman" panose="02020603050405020304" pitchFamily="18" charset="0"/>
              </a:rPr>
              <a:t>6</a:t>
            </a:r>
            <a:r>
              <a:rPr lang="zh-CN" altLang="en-US" sz="2000" kern="100" dirty="0">
                <a:latin typeface="等线 Light" panose="02010600030101010101" pitchFamily="2" charset="-122"/>
                <a:ea typeface="等线 Light" panose="02010600030101010101" pitchFamily="2" charset="-122"/>
                <a:cs typeface="Times New Roman" panose="02020603050405020304" pitchFamily="18" charset="0"/>
              </a:rPr>
              <a:t>、</a:t>
            </a:r>
            <a:r>
              <a:rPr lang="zh-CN" altLang="zh-CN" sz="2000" kern="100" dirty="0">
                <a:latin typeface="等线 Light" panose="02010600030101010101" pitchFamily="2" charset="-122"/>
                <a:ea typeface="等线 Light" panose="02010600030101010101" pitchFamily="2" charset="-122"/>
                <a:cs typeface="Times New Roman" panose="02020603050405020304" pitchFamily="18" charset="0"/>
              </a:rPr>
              <a:t>解决方案的评估：评估结果。</a:t>
            </a:r>
          </a:p>
          <a:p>
            <a:pPr algn="just">
              <a:lnSpc>
                <a:spcPct val="150000"/>
              </a:lnSpc>
              <a:spcAft>
                <a:spcPts val="0"/>
              </a:spcAft>
            </a:pPr>
            <a:r>
              <a:rPr lang="en-US" altLang="zh-CN" sz="2000" kern="100" dirty="0">
                <a:latin typeface="等线 Light" panose="02010600030101010101" pitchFamily="2" charset="-122"/>
                <a:ea typeface="等线 Light" panose="02010600030101010101" pitchFamily="2" charset="-122"/>
                <a:cs typeface="Times New Roman" panose="02020603050405020304" pitchFamily="18" charset="0"/>
              </a:rPr>
              <a:t>7</a:t>
            </a:r>
            <a:r>
              <a:rPr lang="zh-CN" altLang="en-US" sz="2000" kern="100" dirty="0">
                <a:latin typeface="等线 Light" panose="02010600030101010101" pitchFamily="2" charset="-122"/>
                <a:ea typeface="等线 Light" panose="02010600030101010101" pitchFamily="2" charset="-122"/>
                <a:cs typeface="Times New Roman" panose="02020603050405020304" pitchFamily="18" charset="0"/>
              </a:rPr>
              <a:t>、</a:t>
            </a:r>
            <a:r>
              <a:rPr lang="zh-CN" altLang="zh-CN" sz="2000" kern="100" dirty="0">
                <a:latin typeface="等线 Light" panose="02010600030101010101" pitchFamily="2" charset="-122"/>
                <a:ea typeface="等线 Light" panose="02010600030101010101" pitchFamily="2" charset="-122"/>
                <a:cs typeface="Times New Roman" panose="02020603050405020304" pitchFamily="18" charset="0"/>
              </a:rPr>
              <a:t>结论及对理论与实践的启示。</a:t>
            </a:r>
          </a:p>
          <a:p>
            <a:pPr algn="just">
              <a:lnSpc>
                <a:spcPct val="150000"/>
              </a:lnSpc>
              <a:spcAft>
                <a:spcPts val="0"/>
              </a:spcAft>
            </a:pPr>
            <a:r>
              <a:rPr lang="en-US" altLang="zh-CN" sz="2000" kern="100" dirty="0">
                <a:latin typeface="等线 Light" panose="02010600030101010101" pitchFamily="2" charset="-122"/>
                <a:ea typeface="等线 Light" panose="02010600030101010101" pitchFamily="2" charset="-122"/>
                <a:cs typeface="Times New Roman" panose="02020603050405020304" pitchFamily="18" charset="0"/>
              </a:rPr>
              <a:t>8</a:t>
            </a:r>
            <a:r>
              <a:rPr lang="zh-CN" altLang="en-US" sz="2000" kern="100" dirty="0">
                <a:latin typeface="等线 Light" panose="02010600030101010101" pitchFamily="2" charset="-122"/>
                <a:ea typeface="等线 Light" panose="02010600030101010101" pitchFamily="2" charset="-122"/>
                <a:cs typeface="Times New Roman" panose="02020603050405020304" pitchFamily="18" charset="0"/>
              </a:rPr>
              <a:t>、</a:t>
            </a:r>
            <a:r>
              <a:rPr lang="zh-CN" altLang="zh-CN" sz="2000" kern="100" dirty="0">
                <a:latin typeface="等线 Light" panose="02010600030101010101" pitchFamily="2" charset="-122"/>
                <a:ea typeface="等线 Light" panose="02010600030101010101" pitchFamily="2" charset="-122"/>
                <a:cs typeface="Times New Roman" panose="02020603050405020304" pitchFamily="18" charset="0"/>
              </a:rPr>
              <a:t>研究不足及展望。</a:t>
            </a:r>
          </a:p>
        </p:txBody>
      </p:sp>
    </p:spTree>
    <p:extLst>
      <p:ext uri="{BB962C8B-B14F-4D97-AF65-F5344CB8AC3E}">
        <p14:creationId xmlns:p14="http://schemas.microsoft.com/office/powerpoint/2010/main" val="33670939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39ACF1F-B04A-4904-8FCC-D8C1B39469D0}"/>
              </a:ext>
            </a:extLst>
          </p:cNvPr>
          <p:cNvSpPr/>
          <p:nvPr/>
        </p:nvSpPr>
        <p:spPr>
          <a:xfrm>
            <a:off x="1689764" y="457200"/>
            <a:ext cx="7073236" cy="600164"/>
          </a:xfrm>
          <a:prstGeom prst="rect">
            <a:avLst/>
          </a:prstGeom>
        </p:spPr>
        <p:txBody>
          <a:bodyPr wrap="square">
            <a:spAutoFit/>
          </a:bodyPr>
          <a:lstStyle/>
          <a:p>
            <a:pPr algn="ctr">
              <a:spcBef>
                <a:spcPct val="0"/>
              </a:spcBef>
            </a:pPr>
            <a:r>
              <a:rPr lang="en-US" altLang="zh-CN" sz="3300" dirty="0">
                <a:latin typeface="等线 Light" panose="02010600030101010101" pitchFamily="2" charset="-122"/>
                <a:ea typeface="等线 Light" panose="02010600030101010101" pitchFamily="2" charset="-122"/>
              </a:rPr>
              <a:t>1</a:t>
            </a:r>
            <a:r>
              <a:rPr lang="zh-CN" altLang="en-US" sz="3300" dirty="0">
                <a:latin typeface="等线 Light" panose="02010600030101010101" pitchFamily="2" charset="-122"/>
                <a:ea typeface="等线 Light" panose="02010600030101010101" pitchFamily="2" charset="-122"/>
              </a:rPr>
              <a:t>、</a:t>
            </a:r>
            <a:r>
              <a:rPr lang="zh-CN" altLang="zh-CN" sz="3300" dirty="0">
                <a:latin typeface="等线 Light" panose="02010600030101010101" pitchFamily="2" charset="-122"/>
                <a:ea typeface="等线 Light" panose="02010600030101010101" pitchFamily="2" charset="-122"/>
              </a:rPr>
              <a:t>文献整理方法</a:t>
            </a:r>
            <a:r>
              <a:rPr lang="zh-CN" altLang="en-US" sz="3300" dirty="0">
                <a:latin typeface="等线 Light" panose="02010600030101010101" pitchFamily="2" charset="-122"/>
                <a:ea typeface="等线 Light" panose="02010600030101010101" pitchFamily="2" charset="-122"/>
              </a:rPr>
              <a:t>：</a:t>
            </a:r>
            <a:r>
              <a:rPr lang="zh-CN" altLang="zh-CN" sz="3300" dirty="0">
                <a:latin typeface="等线 Light" panose="02010600030101010101" pitchFamily="2" charset="-122"/>
                <a:ea typeface="等线 Light" panose="02010600030101010101" pitchFamily="2" charset="-122"/>
                <a:cs typeface="+mj-cs"/>
              </a:rPr>
              <a:t>以</a:t>
            </a:r>
            <a:r>
              <a:rPr lang="zh-CN" altLang="en-US" sz="3300" dirty="0">
                <a:latin typeface="等线 Light" panose="02010600030101010101" pitchFamily="2" charset="-122"/>
                <a:ea typeface="等线 Light" panose="02010600030101010101" pitchFamily="2" charset="-122"/>
                <a:cs typeface="+mj-cs"/>
              </a:rPr>
              <a:t>论文</a:t>
            </a:r>
            <a:r>
              <a:rPr lang="zh-CN" altLang="zh-CN" sz="3300" dirty="0">
                <a:latin typeface="等线 Light" panose="02010600030101010101" pitchFamily="2" charset="-122"/>
                <a:ea typeface="等线 Light" panose="02010600030101010101" pitchFamily="2" charset="-122"/>
                <a:cs typeface="+mj-cs"/>
              </a:rPr>
              <a:t>要素整理</a:t>
            </a:r>
            <a:endParaRPr lang="zh-CN" altLang="en-US" sz="3300" dirty="0">
              <a:latin typeface="等线 Light" panose="02010600030101010101" pitchFamily="2" charset="-122"/>
              <a:ea typeface="等线 Light" panose="02010600030101010101" pitchFamily="2" charset="-122"/>
              <a:cs typeface="+mj-cs"/>
            </a:endParaRPr>
          </a:p>
        </p:txBody>
      </p:sp>
      <p:pic>
        <p:nvPicPr>
          <p:cNvPr id="4" name="图片 3">
            <a:extLst>
              <a:ext uri="{FF2B5EF4-FFF2-40B4-BE49-F238E27FC236}">
                <a16:creationId xmlns:a16="http://schemas.microsoft.com/office/drawing/2014/main" id="{E075EBF3-8447-44FB-90A4-B60722C9C4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371600"/>
            <a:ext cx="11239500" cy="4439983"/>
          </a:xfrm>
          <a:prstGeom prst="rect">
            <a:avLst/>
          </a:prstGeom>
        </p:spPr>
      </p:pic>
    </p:spTree>
    <p:extLst>
      <p:ext uri="{BB962C8B-B14F-4D97-AF65-F5344CB8AC3E}">
        <p14:creationId xmlns:p14="http://schemas.microsoft.com/office/powerpoint/2010/main" val="9339457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id="{E12EC1BF-BACF-4149-8D92-F9DBF807619B}"/>
              </a:ext>
            </a:extLst>
          </p:cNvPr>
          <p:cNvGraphicFramePr>
            <a:graphicFrameLocks noGrp="1"/>
          </p:cNvGraphicFramePr>
          <p:nvPr>
            <p:extLst>
              <p:ext uri="{D42A27DB-BD31-4B8C-83A1-F6EECF244321}">
                <p14:modId xmlns:p14="http://schemas.microsoft.com/office/powerpoint/2010/main" val="1423196836"/>
              </p:ext>
            </p:extLst>
          </p:nvPr>
        </p:nvGraphicFramePr>
        <p:xfrm>
          <a:off x="381000" y="1371600"/>
          <a:ext cx="10896601" cy="2400300"/>
        </p:xfrm>
        <a:graphic>
          <a:graphicData uri="http://schemas.openxmlformats.org/drawingml/2006/table">
            <a:tbl>
              <a:tblPr firstRow="1" firstCol="1" bandRow="1">
                <a:tableStyleId>{5C22544A-7EE6-4342-B048-85BDC9FD1C3A}</a:tableStyleId>
              </a:tblPr>
              <a:tblGrid>
                <a:gridCol w="1474728">
                  <a:extLst>
                    <a:ext uri="{9D8B030D-6E8A-4147-A177-3AD203B41FA5}">
                      <a16:colId xmlns:a16="http://schemas.microsoft.com/office/drawing/2014/main" val="3811886125"/>
                    </a:ext>
                  </a:extLst>
                </a:gridCol>
                <a:gridCol w="5002272">
                  <a:extLst>
                    <a:ext uri="{9D8B030D-6E8A-4147-A177-3AD203B41FA5}">
                      <a16:colId xmlns:a16="http://schemas.microsoft.com/office/drawing/2014/main" val="16181630"/>
                    </a:ext>
                  </a:extLst>
                </a:gridCol>
                <a:gridCol w="4419601">
                  <a:extLst>
                    <a:ext uri="{9D8B030D-6E8A-4147-A177-3AD203B41FA5}">
                      <a16:colId xmlns:a16="http://schemas.microsoft.com/office/drawing/2014/main" val="2912363592"/>
                    </a:ext>
                  </a:extLst>
                </a:gridCol>
              </a:tblGrid>
              <a:tr h="495300">
                <a:tc>
                  <a:txBody>
                    <a:bodyPr/>
                    <a:lstStyle/>
                    <a:p>
                      <a:pPr algn="ctr">
                        <a:spcAft>
                          <a:spcPts val="0"/>
                        </a:spcAft>
                      </a:pPr>
                      <a:r>
                        <a:rPr lang="en-US" sz="2000" kern="100" dirty="0">
                          <a:effectLst/>
                          <a:latin typeface="等线 Light" panose="02010600030101010101" pitchFamily="2" charset="-122"/>
                          <a:ea typeface="等线 Light" panose="02010600030101010101" pitchFamily="2" charset="-122"/>
                        </a:rPr>
                        <a:t> </a:t>
                      </a:r>
                      <a:endParaRPr lang="zh-CN" sz="28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2000" kern="100" dirty="0">
                          <a:effectLst/>
                          <a:latin typeface="等线 Light" panose="02010600030101010101" pitchFamily="2" charset="-122"/>
                          <a:ea typeface="等线 Light" panose="02010600030101010101" pitchFamily="2" charset="-122"/>
                        </a:rPr>
                        <a:t>以概念为分类条件</a:t>
                      </a:r>
                      <a:endParaRPr lang="zh-CN" sz="28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2000" kern="100" dirty="0">
                          <a:effectLst/>
                          <a:latin typeface="等线 Light" panose="02010600030101010101" pitchFamily="2" charset="-122"/>
                          <a:ea typeface="等线 Light" panose="02010600030101010101" pitchFamily="2" charset="-122"/>
                        </a:rPr>
                        <a:t>以</a:t>
                      </a:r>
                      <a:r>
                        <a:rPr lang="zh-CN" altLang="en-US" sz="2000" kern="100" dirty="0">
                          <a:effectLst/>
                          <a:latin typeface="等线 Light" panose="02010600030101010101" pitchFamily="2" charset="-122"/>
                          <a:ea typeface="等线 Light" panose="02010600030101010101" pitchFamily="2" charset="-122"/>
                        </a:rPr>
                        <a:t>论文要素</a:t>
                      </a:r>
                      <a:r>
                        <a:rPr lang="zh-CN" sz="2000" kern="100" dirty="0">
                          <a:effectLst/>
                          <a:latin typeface="等线 Light" panose="02010600030101010101" pitchFamily="2" charset="-122"/>
                          <a:ea typeface="等线 Light" panose="02010600030101010101" pitchFamily="2" charset="-122"/>
                        </a:rPr>
                        <a:t>为分类条件</a:t>
                      </a:r>
                      <a:endParaRPr lang="zh-CN" sz="28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241993845"/>
                  </a:ext>
                </a:extLst>
              </a:tr>
              <a:tr h="419100">
                <a:tc>
                  <a:txBody>
                    <a:bodyPr/>
                    <a:lstStyle/>
                    <a:p>
                      <a:pPr algn="ctr">
                        <a:spcAft>
                          <a:spcPts val="0"/>
                        </a:spcAft>
                      </a:pPr>
                      <a:r>
                        <a:rPr lang="zh-CN" sz="2000" kern="100" dirty="0">
                          <a:effectLst/>
                          <a:latin typeface="等线 Light" panose="02010600030101010101" pitchFamily="2" charset="-122"/>
                          <a:ea typeface="等线 Light" panose="02010600030101010101" pitchFamily="2" charset="-122"/>
                        </a:rPr>
                        <a:t>内涵</a:t>
                      </a:r>
                      <a:endParaRPr lang="zh-CN" sz="28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zh-CN" sz="2000" kern="100" dirty="0">
                          <a:effectLst/>
                          <a:latin typeface="等线 Light" panose="02010600030101010101" pitchFamily="2" charset="-122"/>
                          <a:ea typeface="等线 Light" panose="02010600030101010101" pitchFamily="2" charset="-122"/>
                        </a:rPr>
                        <a:t>摘取论文中的概念，进行比较分析</a:t>
                      </a:r>
                      <a:endParaRPr lang="zh-CN" sz="28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zh-CN" sz="2000" kern="100" dirty="0">
                          <a:effectLst/>
                          <a:latin typeface="等线 Light" panose="02010600030101010101" pitchFamily="2" charset="-122"/>
                          <a:ea typeface="等线 Light" panose="02010600030101010101" pitchFamily="2" charset="-122"/>
                        </a:rPr>
                        <a:t>摘取论文</a:t>
                      </a:r>
                      <a:r>
                        <a:rPr lang="zh-CN" altLang="en-US" sz="2000" kern="100" dirty="0">
                          <a:effectLst/>
                          <a:latin typeface="等线 Light" panose="02010600030101010101" pitchFamily="2" charset="-122"/>
                          <a:ea typeface="等线 Light" panose="02010600030101010101" pitchFamily="2" charset="-122"/>
                        </a:rPr>
                        <a:t>的要素</a:t>
                      </a:r>
                      <a:endParaRPr lang="zh-CN" sz="28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742163079"/>
                  </a:ext>
                </a:extLst>
              </a:tr>
              <a:tr h="709378">
                <a:tc>
                  <a:txBody>
                    <a:bodyPr/>
                    <a:lstStyle/>
                    <a:p>
                      <a:pPr algn="ctr">
                        <a:spcAft>
                          <a:spcPts val="0"/>
                        </a:spcAft>
                      </a:pPr>
                      <a:r>
                        <a:rPr lang="zh-CN" sz="2000" kern="100">
                          <a:effectLst/>
                          <a:latin typeface="等线 Light" panose="02010600030101010101" pitchFamily="2" charset="-122"/>
                          <a:ea typeface="等线 Light" panose="02010600030101010101" pitchFamily="2" charset="-122"/>
                        </a:rPr>
                        <a:t>优势</a:t>
                      </a:r>
                      <a:endParaRPr lang="zh-CN" sz="2800" kern="10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zh-CN" sz="2000" kern="100" dirty="0">
                          <a:effectLst/>
                          <a:latin typeface="等线 Light" panose="02010600030101010101" pitchFamily="2" charset="-122"/>
                          <a:ea typeface="等线 Light" panose="02010600030101010101" pitchFamily="2" charset="-122"/>
                        </a:rPr>
                        <a:t>对概念可进行系统性的梳理；整理的结果可直接用于论文正文</a:t>
                      </a:r>
                      <a:endParaRPr lang="zh-CN" sz="28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zh-CN" sz="2000" kern="100" dirty="0">
                          <a:effectLst/>
                          <a:latin typeface="等线 Light" panose="02010600030101010101" pitchFamily="2" charset="-122"/>
                          <a:ea typeface="等线 Light" panose="02010600030101010101" pitchFamily="2" charset="-122"/>
                        </a:rPr>
                        <a:t>对单篇文章的要素梳理较为完整；对内容的溯源性较好</a:t>
                      </a:r>
                      <a:endParaRPr lang="zh-CN" sz="28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3082341"/>
                  </a:ext>
                </a:extLst>
              </a:tr>
              <a:tr h="776522">
                <a:tc>
                  <a:txBody>
                    <a:bodyPr/>
                    <a:lstStyle/>
                    <a:p>
                      <a:pPr algn="ctr">
                        <a:spcAft>
                          <a:spcPts val="0"/>
                        </a:spcAft>
                      </a:pPr>
                      <a:r>
                        <a:rPr lang="zh-CN" sz="2000" kern="100">
                          <a:effectLst/>
                          <a:latin typeface="等线 Light" panose="02010600030101010101" pitchFamily="2" charset="-122"/>
                          <a:ea typeface="等线 Light" panose="02010600030101010101" pitchFamily="2" charset="-122"/>
                        </a:rPr>
                        <a:t>劣势</a:t>
                      </a:r>
                      <a:endParaRPr lang="zh-CN" sz="2800" kern="10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zh-CN" sz="2000" kern="100" dirty="0">
                          <a:effectLst/>
                          <a:latin typeface="等线 Light" panose="02010600030101010101" pitchFamily="2" charset="-122"/>
                          <a:ea typeface="等线 Light" panose="02010600030101010101" pitchFamily="2" charset="-122"/>
                        </a:rPr>
                        <a:t>单篇文章的完整</a:t>
                      </a:r>
                      <a:r>
                        <a:rPr lang="zh-CN" altLang="en-US" sz="2000" kern="100" dirty="0">
                          <a:effectLst/>
                          <a:latin typeface="等线 Light" panose="02010600030101010101" pitchFamily="2" charset="-122"/>
                          <a:ea typeface="等线 Light" panose="02010600030101010101" pitchFamily="2" charset="-122"/>
                        </a:rPr>
                        <a:t>性的缺失</a:t>
                      </a:r>
                      <a:endParaRPr lang="zh-CN" sz="28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2000" kern="100" dirty="0">
                          <a:effectLst/>
                          <a:latin typeface="等线 Light" panose="02010600030101010101" pitchFamily="2" charset="-122"/>
                          <a:ea typeface="等线 Light" panose="02010600030101010101" pitchFamily="2" charset="-122"/>
                        </a:rPr>
                        <a:t> </a:t>
                      </a:r>
                      <a:r>
                        <a:rPr lang="zh-CN" altLang="en-US" sz="2000" kern="100" dirty="0">
                          <a:effectLst/>
                          <a:latin typeface="等线 Light" panose="02010600030101010101" pitchFamily="2" charset="-122"/>
                          <a:ea typeface="等线 Light" panose="02010600030101010101" pitchFamily="2" charset="-122"/>
                        </a:rPr>
                        <a:t>需要二次加工整理</a:t>
                      </a:r>
                      <a:endParaRPr lang="zh-CN" sz="28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648274233"/>
                  </a:ext>
                </a:extLst>
              </a:tr>
            </a:tbl>
          </a:graphicData>
        </a:graphic>
      </p:graphicFrame>
      <p:sp>
        <p:nvSpPr>
          <p:cNvPr id="3" name="矩形 2">
            <a:extLst>
              <a:ext uri="{FF2B5EF4-FFF2-40B4-BE49-F238E27FC236}">
                <a16:creationId xmlns:a16="http://schemas.microsoft.com/office/drawing/2014/main" id="{AF799921-1FA4-40D9-A17F-DC5D772D6F17}"/>
              </a:ext>
            </a:extLst>
          </p:cNvPr>
          <p:cNvSpPr/>
          <p:nvPr/>
        </p:nvSpPr>
        <p:spPr>
          <a:xfrm>
            <a:off x="1676400" y="457200"/>
            <a:ext cx="3365025" cy="600164"/>
          </a:xfrm>
          <a:prstGeom prst="rect">
            <a:avLst/>
          </a:prstGeom>
        </p:spPr>
        <p:txBody>
          <a:bodyPr wrap="none">
            <a:spAutoFit/>
          </a:bodyPr>
          <a:lstStyle/>
          <a:p>
            <a:pPr algn="ctr">
              <a:spcBef>
                <a:spcPct val="0"/>
              </a:spcBef>
            </a:pPr>
            <a:r>
              <a:rPr lang="en-US" altLang="zh-CN" sz="3300" dirty="0">
                <a:latin typeface="等线 Light" panose="02010600030101010101" pitchFamily="2" charset="-122"/>
                <a:ea typeface="等线 Light" panose="02010600030101010101" pitchFamily="2" charset="-122"/>
              </a:rPr>
              <a:t>1</a:t>
            </a:r>
            <a:r>
              <a:rPr lang="zh-CN" altLang="en-US" sz="3300" dirty="0">
                <a:latin typeface="等线 Light" panose="02010600030101010101" pitchFamily="2" charset="-122"/>
                <a:ea typeface="等线 Light" panose="02010600030101010101" pitchFamily="2" charset="-122"/>
              </a:rPr>
              <a:t>、</a:t>
            </a:r>
            <a:r>
              <a:rPr lang="zh-CN" altLang="zh-CN" sz="3300" dirty="0">
                <a:latin typeface="等线 Light" panose="02010600030101010101" pitchFamily="2" charset="-122"/>
                <a:ea typeface="等线 Light" panose="02010600030101010101" pitchFamily="2" charset="-122"/>
              </a:rPr>
              <a:t>文献整理方法</a:t>
            </a:r>
            <a:endParaRPr lang="zh-CN" altLang="en-US" sz="3300" dirty="0">
              <a:latin typeface="等线 Light" panose="02010600030101010101" pitchFamily="2" charset="-122"/>
              <a:ea typeface="等线 Light" panose="02010600030101010101" pitchFamily="2" charset="-122"/>
              <a:cs typeface="+mj-cs"/>
            </a:endParaRPr>
          </a:p>
        </p:txBody>
      </p:sp>
    </p:spTree>
    <p:extLst>
      <p:ext uri="{BB962C8B-B14F-4D97-AF65-F5344CB8AC3E}">
        <p14:creationId xmlns:p14="http://schemas.microsoft.com/office/powerpoint/2010/main" val="8526889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FDB1772D-5D44-4F66-983C-96BD5272D17A}"/>
              </a:ext>
            </a:extLst>
          </p:cNvPr>
          <p:cNvSpPr/>
          <p:nvPr/>
        </p:nvSpPr>
        <p:spPr>
          <a:xfrm>
            <a:off x="304800" y="1143000"/>
            <a:ext cx="11582400" cy="5128455"/>
          </a:xfrm>
          <a:prstGeom prst="rect">
            <a:avLst/>
          </a:prstGeom>
        </p:spPr>
        <p:txBody>
          <a:bodyPr wrap="square">
            <a:spAutoFit/>
          </a:bodyPr>
          <a:lstStyle/>
          <a:p>
            <a:pPr>
              <a:lnSpc>
                <a:spcPct val="150000"/>
              </a:lnSpc>
            </a:pPr>
            <a:r>
              <a:rPr lang="en-US" altLang="zh-CN" sz="2000" b="1" dirty="0">
                <a:latin typeface="等线 Light" panose="02010600030101010101" pitchFamily="2" charset="-122"/>
                <a:ea typeface="等线 Light" panose="02010600030101010101" pitchFamily="2" charset="-122"/>
                <a:cs typeface="Times New Roman" panose="02020603050405020304" pitchFamily="18" charset="0"/>
              </a:rPr>
              <a:t>1</a:t>
            </a:r>
            <a:r>
              <a:rPr lang="zh-CN" altLang="en-US" sz="2000" b="1" dirty="0">
                <a:latin typeface="等线 Light" panose="02010600030101010101" pitchFamily="2" charset="-122"/>
                <a:ea typeface="等线 Light" panose="02010600030101010101" pitchFamily="2" charset="-122"/>
                <a:cs typeface="Times New Roman" panose="02020603050405020304" pitchFamily="18" charset="0"/>
              </a:rPr>
              <a:t>、</a:t>
            </a:r>
            <a:r>
              <a:rPr lang="zh-CN" altLang="zh-CN" sz="2000" b="1" dirty="0">
                <a:latin typeface="等线 Light" panose="02010600030101010101" pitchFamily="2" charset="-122"/>
                <a:ea typeface="等线 Light" panose="02010600030101010101" pitchFamily="2" charset="-122"/>
                <a:cs typeface="Times New Roman" panose="02020603050405020304" pitchFamily="18" charset="0"/>
              </a:rPr>
              <a:t>文献笔记</a:t>
            </a:r>
            <a:endParaRPr lang="en-US" altLang="zh-CN" sz="2000" b="1" dirty="0">
              <a:latin typeface="等线 Light" panose="02010600030101010101" pitchFamily="2" charset="-122"/>
              <a:ea typeface="等线 Light" panose="02010600030101010101" pitchFamily="2" charset="-122"/>
              <a:cs typeface="Times New Roman" panose="02020603050405020304" pitchFamily="18" charset="0"/>
            </a:endParaRPr>
          </a:p>
          <a:p>
            <a:pPr marL="285750" indent="-285750">
              <a:lnSpc>
                <a:spcPct val="150000"/>
              </a:lnSpc>
              <a:buFont typeface="Arial" panose="020B0604020202020204" pitchFamily="34" charset="0"/>
              <a:buChar char="•"/>
            </a:pPr>
            <a:r>
              <a:rPr lang="zh-CN" altLang="zh-CN" b="1" dirty="0">
                <a:latin typeface="等线 Light" panose="02010600030101010101" pitchFamily="2" charset="-122"/>
                <a:ea typeface="等线 Light" panose="02010600030101010101" pitchFamily="2" charset="-122"/>
              </a:rPr>
              <a:t>分类</a:t>
            </a:r>
            <a:r>
              <a:rPr lang="zh-CN" altLang="en-US" dirty="0">
                <a:latin typeface="等线 Light" panose="02010600030101010101" pitchFamily="2" charset="-122"/>
                <a:ea typeface="等线 Light" panose="02010600030101010101" pitchFamily="2" charset="-122"/>
              </a:rPr>
              <a:t>：</a:t>
            </a:r>
            <a:r>
              <a:rPr lang="zh-CN" altLang="zh-CN" dirty="0">
                <a:latin typeface="等线 Light" panose="02010600030101010101" pitchFamily="2" charset="-122"/>
                <a:ea typeface="等线 Light" panose="02010600030101010101" pitchFamily="2" charset="-122"/>
              </a:rPr>
              <a:t>依据理论和方法的某些维度进行分类。例如，依据时间维度、观点异同、概念进行分类。分类过程要善用图表来进行展示。</a:t>
            </a:r>
            <a:endParaRPr lang="en-US" altLang="zh-CN" dirty="0">
              <a:latin typeface="等线 Light" panose="02010600030101010101" pitchFamily="2" charset="-122"/>
              <a:ea typeface="等线 Light" panose="02010600030101010101" pitchFamily="2" charset="-122"/>
            </a:endParaRPr>
          </a:p>
          <a:p>
            <a:pPr marL="285750" indent="-285750">
              <a:lnSpc>
                <a:spcPct val="150000"/>
              </a:lnSpc>
              <a:buFont typeface="Arial" panose="020B0604020202020204" pitchFamily="34" charset="0"/>
              <a:buChar char="•"/>
            </a:pPr>
            <a:r>
              <a:rPr lang="zh-CN" altLang="zh-CN" b="1" dirty="0">
                <a:latin typeface="等线 Light" panose="02010600030101010101" pitchFamily="2" charset="-122"/>
                <a:ea typeface="等线 Light" panose="02010600030101010101" pitchFamily="2" charset="-122"/>
              </a:rPr>
              <a:t>比较</a:t>
            </a:r>
            <a:r>
              <a:rPr lang="zh-CN" altLang="en-US" dirty="0">
                <a:latin typeface="等线 Light" panose="02010600030101010101" pitchFamily="2" charset="-122"/>
                <a:ea typeface="等线 Light" panose="02010600030101010101" pitchFamily="2" charset="-122"/>
              </a:rPr>
              <a:t>：</a:t>
            </a:r>
            <a:r>
              <a:rPr lang="zh-CN" altLang="zh-CN" dirty="0">
                <a:latin typeface="等线 Light" panose="02010600030101010101" pitchFamily="2" charset="-122"/>
                <a:ea typeface="等线 Light" panose="02010600030101010101" pitchFamily="2" charset="-122"/>
              </a:rPr>
              <a:t>比较可以是研究与研究的比较、研究与实践的比较、实践与实践的比较。对不同类别进行比较，找出异同，通过比较形成深入认识。</a:t>
            </a:r>
            <a:endParaRPr lang="en-US" altLang="zh-CN" dirty="0">
              <a:latin typeface="等线 Light" panose="02010600030101010101" pitchFamily="2" charset="-122"/>
              <a:ea typeface="等线 Light" panose="02010600030101010101" pitchFamily="2" charset="-122"/>
            </a:endParaRPr>
          </a:p>
          <a:p>
            <a:pPr marL="285750" indent="-285750">
              <a:lnSpc>
                <a:spcPct val="150000"/>
              </a:lnSpc>
              <a:buFont typeface="Arial" panose="020B0604020202020204" pitchFamily="34" charset="0"/>
              <a:buChar char="•"/>
            </a:pPr>
            <a:r>
              <a:rPr lang="zh-CN" altLang="zh-CN" b="1" dirty="0">
                <a:latin typeface="等线 Light" panose="02010600030101010101" pitchFamily="2" charset="-122"/>
                <a:ea typeface="等线 Light" panose="02010600030101010101" pitchFamily="2" charset="-122"/>
              </a:rPr>
              <a:t>评价说明</a:t>
            </a:r>
            <a:r>
              <a:rPr lang="zh-CN" altLang="en-US" dirty="0">
                <a:latin typeface="等线 Light" panose="02010600030101010101" pitchFamily="2" charset="-122"/>
                <a:ea typeface="等线 Light" panose="02010600030101010101" pitchFamily="2" charset="-122"/>
              </a:rPr>
              <a:t>：</a:t>
            </a:r>
            <a:r>
              <a:rPr lang="zh-CN" altLang="zh-CN" dirty="0">
                <a:latin typeface="等线 Light" panose="02010600030101010101" pitchFamily="2" charset="-122"/>
                <a:ea typeface="等线 Light" panose="02010600030101010101" pitchFamily="2" charset="-122"/>
              </a:rPr>
              <a:t>评价说明是分析文献中哪些内容可以作为后续借鉴使用，哪些内容存在可改进的可能。</a:t>
            </a:r>
          </a:p>
          <a:p>
            <a:pPr>
              <a:lnSpc>
                <a:spcPct val="150000"/>
              </a:lnSpc>
            </a:pPr>
            <a:r>
              <a:rPr lang="en-US" altLang="zh-CN" sz="2000" b="1" dirty="0">
                <a:latin typeface="等线 Light" panose="02010600030101010101" pitchFamily="2" charset="-122"/>
                <a:ea typeface="等线 Light" panose="02010600030101010101" pitchFamily="2" charset="-122"/>
              </a:rPr>
              <a:t>2</a:t>
            </a:r>
            <a:r>
              <a:rPr lang="zh-CN" altLang="en-US" sz="2000" b="1" dirty="0">
                <a:latin typeface="等线 Light" panose="02010600030101010101" pitchFamily="2" charset="-122"/>
                <a:ea typeface="等线 Light" panose="02010600030101010101" pitchFamily="2" charset="-122"/>
              </a:rPr>
              <a:t>、</a:t>
            </a:r>
            <a:r>
              <a:rPr lang="zh-CN" altLang="zh-CN" sz="2000" b="1" dirty="0">
                <a:latin typeface="等线 Light" panose="02010600030101010101" pitchFamily="2" charset="-122"/>
                <a:ea typeface="等线 Light" panose="02010600030101010101" pitchFamily="2" charset="-122"/>
              </a:rPr>
              <a:t>对文献的思考</a:t>
            </a:r>
            <a:endParaRPr lang="en-US" altLang="zh-CN" sz="2000" b="1" dirty="0">
              <a:latin typeface="等线 Light" panose="02010600030101010101" pitchFamily="2" charset="-122"/>
              <a:ea typeface="等线 Light" panose="02010600030101010101" pitchFamily="2" charset="-122"/>
            </a:endParaRPr>
          </a:p>
          <a:p>
            <a:pPr marL="285750" indent="-285750">
              <a:lnSpc>
                <a:spcPct val="150000"/>
              </a:lnSpc>
              <a:buFont typeface="Arial" panose="020B0604020202020204" pitchFamily="34" charset="0"/>
              <a:buChar char="•"/>
            </a:pPr>
            <a:r>
              <a:rPr lang="zh-CN" altLang="zh-CN" dirty="0">
                <a:latin typeface="等线 Light" panose="02010600030101010101" pitchFamily="2" charset="-122"/>
                <a:ea typeface="等线 Light" panose="02010600030101010101" pitchFamily="2" charset="-122"/>
              </a:rPr>
              <a:t>思考文献内容与实践的对应性</a:t>
            </a:r>
            <a:endParaRPr lang="en-US" altLang="zh-CN" dirty="0">
              <a:latin typeface="等线 Light" panose="02010600030101010101" pitchFamily="2" charset="-122"/>
              <a:ea typeface="等线 Light" panose="02010600030101010101" pitchFamily="2" charset="-122"/>
            </a:endParaRPr>
          </a:p>
          <a:p>
            <a:pPr marL="285750" indent="-285750">
              <a:lnSpc>
                <a:spcPct val="150000"/>
              </a:lnSpc>
              <a:buFont typeface="Arial" panose="020B0604020202020204" pitchFamily="34" charset="0"/>
              <a:buChar char="•"/>
            </a:pPr>
            <a:r>
              <a:rPr lang="zh-CN" altLang="zh-CN" dirty="0">
                <a:latin typeface="等线 Light" panose="02010600030101010101" pitchFamily="2" charset="-122"/>
                <a:ea typeface="等线 Light" panose="02010600030101010101" pitchFamily="2" charset="-122"/>
              </a:rPr>
              <a:t>思考下一步文献阅读的方向。例如，思考是否要对文献检索的目的进行调整，是否要对关键词进行调整</a:t>
            </a:r>
            <a:endParaRPr lang="en-US" altLang="zh-CN" dirty="0">
              <a:latin typeface="等线 Light" panose="02010600030101010101" pitchFamily="2" charset="-122"/>
              <a:ea typeface="等线 Light" panose="02010600030101010101" pitchFamily="2" charset="-122"/>
            </a:endParaRPr>
          </a:p>
          <a:p>
            <a:pPr marL="285750" indent="-285750">
              <a:lnSpc>
                <a:spcPct val="150000"/>
              </a:lnSpc>
              <a:buFont typeface="Arial" panose="020B0604020202020204" pitchFamily="34" charset="0"/>
              <a:buChar char="•"/>
            </a:pPr>
            <a:r>
              <a:rPr lang="zh-CN" altLang="zh-CN" dirty="0">
                <a:latin typeface="等线 Light" panose="02010600030101010101" pitchFamily="2" charset="-122"/>
                <a:ea typeface="等线 Light" panose="02010600030101010101" pitchFamily="2" charset="-122"/>
              </a:rPr>
              <a:t>思考当前文献是否解答了疑问，是否能实现文献综述的目的</a:t>
            </a:r>
            <a:endParaRPr lang="en-US" altLang="zh-CN" dirty="0">
              <a:latin typeface="等线 Light" panose="02010600030101010101" pitchFamily="2" charset="-122"/>
              <a:ea typeface="等线 Light" panose="02010600030101010101" pitchFamily="2" charset="-122"/>
            </a:endParaRPr>
          </a:p>
          <a:p>
            <a:pPr marL="285750" indent="-285750">
              <a:lnSpc>
                <a:spcPct val="150000"/>
              </a:lnSpc>
              <a:buFont typeface="Arial" panose="020B0604020202020204" pitchFamily="34" charset="0"/>
              <a:buChar char="•"/>
            </a:pPr>
            <a:r>
              <a:rPr lang="zh-CN" altLang="zh-CN" dirty="0">
                <a:latin typeface="等线 Light" panose="02010600030101010101" pitchFamily="2" charset="-122"/>
                <a:ea typeface="等线 Light" panose="02010600030101010101" pitchFamily="2" charset="-122"/>
              </a:rPr>
              <a:t>思考目前搜索和阅读的文献是否是最合适的文献资料</a:t>
            </a:r>
            <a:endParaRPr lang="en-US" altLang="zh-CN" dirty="0">
              <a:latin typeface="等线 Light" panose="02010600030101010101" pitchFamily="2" charset="-122"/>
              <a:ea typeface="等线 Light" panose="02010600030101010101" pitchFamily="2" charset="-122"/>
            </a:endParaRPr>
          </a:p>
          <a:p>
            <a:pPr marL="285750" indent="-285750">
              <a:lnSpc>
                <a:spcPct val="150000"/>
              </a:lnSpc>
              <a:buFont typeface="Arial" panose="020B0604020202020204" pitchFamily="34" charset="0"/>
              <a:buChar char="•"/>
            </a:pPr>
            <a:r>
              <a:rPr lang="zh-CN" altLang="zh-CN" dirty="0">
                <a:latin typeface="等线 Light" panose="02010600030101010101" pitchFamily="2" charset="-122"/>
                <a:ea typeface="等线 Light" panose="02010600030101010101" pitchFamily="2" charset="-122"/>
              </a:rPr>
              <a:t>思考文献中的结论是否可做改进，是否存在问题</a:t>
            </a:r>
            <a:endParaRPr lang="zh-CN" altLang="en-US" dirty="0">
              <a:latin typeface="等线 Light" panose="02010600030101010101" pitchFamily="2" charset="-122"/>
              <a:ea typeface="等线 Light" panose="02010600030101010101" pitchFamily="2" charset="-122"/>
            </a:endParaRPr>
          </a:p>
        </p:txBody>
      </p:sp>
      <p:sp>
        <p:nvSpPr>
          <p:cNvPr id="3" name="矩形 2">
            <a:extLst>
              <a:ext uri="{FF2B5EF4-FFF2-40B4-BE49-F238E27FC236}">
                <a16:creationId xmlns:a16="http://schemas.microsoft.com/office/drawing/2014/main" id="{4BCAB6BD-F181-4CED-8371-2A0F9563918E}"/>
              </a:ext>
            </a:extLst>
          </p:cNvPr>
          <p:cNvSpPr/>
          <p:nvPr/>
        </p:nvSpPr>
        <p:spPr>
          <a:xfrm>
            <a:off x="1828800" y="457200"/>
            <a:ext cx="3788217" cy="600164"/>
          </a:xfrm>
          <a:prstGeom prst="rect">
            <a:avLst/>
          </a:prstGeom>
        </p:spPr>
        <p:txBody>
          <a:bodyPr wrap="none">
            <a:spAutoFit/>
          </a:bodyPr>
          <a:lstStyle/>
          <a:p>
            <a:pPr algn="ctr">
              <a:spcBef>
                <a:spcPct val="0"/>
              </a:spcBef>
            </a:pPr>
            <a:r>
              <a:rPr lang="en-US" altLang="zh-CN" sz="3300" dirty="0">
                <a:latin typeface="等线 Light" panose="02010600030101010101" pitchFamily="2" charset="-122"/>
                <a:ea typeface="等线 Light" panose="02010600030101010101" pitchFamily="2" charset="-122"/>
              </a:rPr>
              <a:t>2</a:t>
            </a:r>
            <a:r>
              <a:rPr lang="zh-CN" altLang="en-US" sz="3300" dirty="0">
                <a:latin typeface="等线 Light" panose="02010600030101010101" pitchFamily="2" charset="-122"/>
                <a:ea typeface="等线 Light" panose="02010600030101010101" pitchFamily="2" charset="-122"/>
              </a:rPr>
              <a:t>、</a:t>
            </a:r>
            <a:r>
              <a:rPr lang="zh-CN" altLang="zh-CN" sz="3300" dirty="0">
                <a:latin typeface="等线 Light" panose="02010600030101010101" pitchFamily="2" charset="-122"/>
                <a:ea typeface="等线 Light" panose="02010600030101010101" pitchFamily="2" charset="-122"/>
              </a:rPr>
              <a:t>文献</a:t>
            </a:r>
            <a:r>
              <a:rPr lang="zh-CN" altLang="en-US" sz="3300" dirty="0">
                <a:latin typeface="等线 Light" panose="02010600030101010101" pitchFamily="2" charset="-122"/>
                <a:ea typeface="等线 Light" panose="02010600030101010101" pitchFamily="2" charset="-122"/>
              </a:rPr>
              <a:t>笔记与思考</a:t>
            </a:r>
            <a:endParaRPr lang="zh-CN" altLang="en-US" sz="3300" dirty="0">
              <a:latin typeface="等线 Light" panose="02010600030101010101" pitchFamily="2" charset="-122"/>
              <a:ea typeface="等线 Light" panose="02010600030101010101" pitchFamily="2" charset="-122"/>
              <a:cs typeface="+mj-cs"/>
            </a:endParaRPr>
          </a:p>
        </p:txBody>
      </p:sp>
    </p:spTree>
    <p:extLst>
      <p:ext uri="{BB962C8B-B14F-4D97-AF65-F5344CB8AC3E}">
        <p14:creationId xmlns:p14="http://schemas.microsoft.com/office/powerpoint/2010/main" val="24314728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FDB1772D-5D44-4F66-983C-96BD5272D17A}"/>
              </a:ext>
            </a:extLst>
          </p:cNvPr>
          <p:cNvSpPr/>
          <p:nvPr/>
        </p:nvSpPr>
        <p:spPr>
          <a:xfrm>
            <a:off x="304800" y="1143000"/>
            <a:ext cx="11353800" cy="2353786"/>
          </a:xfrm>
          <a:prstGeom prst="rect">
            <a:avLst/>
          </a:prstGeom>
        </p:spPr>
        <p:txBody>
          <a:bodyPr wrap="square">
            <a:spAutoFit/>
          </a:bodyPr>
          <a:lstStyle/>
          <a:p>
            <a:pPr>
              <a:lnSpc>
                <a:spcPct val="150000"/>
              </a:lnSpc>
            </a:pPr>
            <a:r>
              <a:rPr lang="zh-CN" altLang="zh-CN" sz="2000" dirty="0">
                <a:latin typeface="等线 Light" panose="02010600030101010101" pitchFamily="2" charset="-122"/>
                <a:ea typeface="等线 Light" panose="02010600030101010101" pitchFamily="2" charset="-122"/>
              </a:rPr>
              <a:t>文献梳理是认知层面对文献进行整理，做到“胸有成竹”，为文献综述写作做准备。文献梳理可采用</a:t>
            </a:r>
            <a:r>
              <a:rPr lang="en-US" altLang="zh-CN" sz="2000" dirty="0">
                <a:latin typeface="等线 Light" panose="02010600030101010101" pitchFamily="2" charset="-122"/>
                <a:ea typeface="等线 Light" panose="02010600030101010101" pitchFamily="2" charset="-122"/>
              </a:rPr>
              <a:t>Word</a:t>
            </a:r>
            <a:r>
              <a:rPr lang="zh-CN" altLang="zh-CN" sz="2000" dirty="0">
                <a:latin typeface="等线 Light" panose="02010600030101010101" pitchFamily="2" charset="-122"/>
                <a:ea typeface="等线 Light" panose="02010600030101010101" pitchFamily="2" charset="-122"/>
              </a:rPr>
              <a:t>文档、草图等形式。</a:t>
            </a:r>
            <a:endParaRPr lang="en-US" altLang="zh-CN" sz="2000" dirty="0">
              <a:latin typeface="等线 Light" panose="02010600030101010101" pitchFamily="2" charset="-122"/>
              <a:ea typeface="等线 Light" panose="02010600030101010101" pitchFamily="2" charset="-122"/>
            </a:endParaRPr>
          </a:p>
          <a:p>
            <a:pPr marL="285750" indent="-285750">
              <a:lnSpc>
                <a:spcPct val="150000"/>
              </a:lnSpc>
              <a:buFont typeface="Arial" panose="020B0604020202020204" pitchFamily="34" charset="0"/>
              <a:buChar char="•"/>
            </a:pPr>
            <a:r>
              <a:rPr lang="zh-CN" altLang="zh-CN" sz="2000" dirty="0">
                <a:latin typeface="等线 Light" panose="02010600030101010101" pitchFamily="2" charset="-122"/>
                <a:ea typeface="等线 Light" panose="02010600030101010101" pitchFamily="2" charset="-122"/>
              </a:rPr>
              <a:t>以确定研究不足为目的时，需要进行系统性文献梳理。</a:t>
            </a:r>
            <a:endParaRPr lang="en-US" altLang="zh-CN" sz="2000" dirty="0">
              <a:latin typeface="等线 Light" panose="02010600030101010101" pitchFamily="2" charset="-122"/>
              <a:ea typeface="等线 Light" panose="02010600030101010101" pitchFamily="2" charset="-122"/>
            </a:endParaRPr>
          </a:p>
          <a:p>
            <a:pPr marL="285750" indent="-285750">
              <a:lnSpc>
                <a:spcPct val="150000"/>
              </a:lnSpc>
              <a:buFont typeface="Arial" panose="020B0604020202020204" pitchFamily="34" charset="0"/>
              <a:buChar char="•"/>
            </a:pPr>
            <a:r>
              <a:rPr lang="zh-CN" altLang="zh-CN" sz="2000" dirty="0">
                <a:latin typeface="等线 Light" panose="02010600030101010101" pitchFamily="2" charset="-122"/>
                <a:ea typeface="等线 Light" panose="02010600030101010101" pitchFamily="2" charset="-122"/>
              </a:rPr>
              <a:t>确定解决方案设计的理论基础时，只需进行针对性文献梳理。</a:t>
            </a:r>
            <a:endParaRPr lang="en-US" altLang="zh-CN" sz="2000" dirty="0">
              <a:latin typeface="等线 Light" panose="02010600030101010101" pitchFamily="2" charset="-122"/>
              <a:ea typeface="等线 Light" panose="02010600030101010101" pitchFamily="2" charset="-122"/>
            </a:endParaRPr>
          </a:p>
          <a:p>
            <a:pPr marL="285750" indent="-285750">
              <a:lnSpc>
                <a:spcPct val="150000"/>
              </a:lnSpc>
              <a:buFont typeface="Arial" panose="020B0604020202020204" pitchFamily="34" charset="0"/>
              <a:buChar char="•"/>
            </a:pPr>
            <a:r>
              <a:rPr lang="zh-CN" altLang="zh-CN" sz="2000" dirty="0">
                <a:latin typeface="等线 Light" panose="02010600030101010101" pitchFamily="2" charset="-122"/>
                <a:ea typeface="等线 Light" panose="02010600030101010101" pitchFamily="2" charset="-122"/>
              </a:rPr>
              <a:t>确定关键性文献。</a:t>
            </a:r>
            <a:endParaRPr lang="en-US" altLang="zh-CN" sz="2000" dirty="0">
              <a:latin typeface="等线 Light" panose="02010600030101010101" pitchFamily="2" charset="-122"/>
              <a:ea typeface="等线 Light" panose="02010600030101010101" pitchFamily="2" charset="-122"/>
            </a:endParaRPr>
          </a:p>
        </p:txBody>
      </p:sp>
      <p:sp>
        <p:nvSpPr>
          <p:cNvPr id="3" name="矩形 2">
            <a:extLst>
              <a:ext uri="{FF2B5EF4-FFF2-40B4-BE49-F238E27FC236}">
                <a16:creationId xmlns:a16="http://schemas.microsoft.com/office/drawing/2014/main" id="{4BCAB6BD-F181-4CED-8371-2A0F9563918E}"/>
              </a:ext>
            </a:extLst>
          </p:cNvPr>
          <p:cNvSpPr/>
          <p:nvPr/>
        </p:nvSpPr>
        <p:spPr>
          <a:xfrm>
            <a:off x="1524000" y="381000"/>
            <a:ext cx="2971800" cy="600164"/>
          </a:xfrm>
          <a:prstGeom prst="rect">
            <a:avLst/>
          </a:prstGeom>
        </p:spPr>
        <p:txBody>
          <a:bodyPr wrap="square">
            <a:spAutoFit/>
          </a:bodyPr>
          <a:lstStyle/>
          <a:p>
            <a:pPr algn="ctr">
              <a:spcBef>
                <a:spcPct val="0"/>
              </a:spcBef>
            </a:pPr>
            <a:r>
              <a:rPr lang="en-US" altLang="zh-CN" sz="3300" dirty="0">
                <a:latin typeface="等线 Light" panose="02010600030101010101" pitchFamily="2" charset="-122"/>
                <a:ea typeface="等线 Light" panose="02010600030101010101" pitchFamily="2" charset="-122"/>
              </a:rPr>
              <a:t>3</a:t>
            </a:r>
            <a:r>
              <a:rPr lang="zh-CN" altLang="en-US" sz="3300" dirty="0">
                <a:latin typeface="等线 Light" panose="02010600030101010101" pitchFamily="2" charset="-122"/>
                <a:ea typeface="等线 Light" panose="02010600030101010101" pitchFamily="2" charset="-122"/>
              </a:rPr>
              <a:t>、文献梳理</a:t>
            </a:r>
            <a:endParaRPr lang="zh-CN" altLang="en-US" sz="3300" dirty="0">
              <a:latin typeface="等线 Light" panose="02010600030101010101" pitchFamily="2" charset="-122"/>
              <a:ea typeface="等线 Light" panose="02010600030101010101" pitchFamily="2" charset="-122"/>
              <a:cs typeface="+mj-cs"/>
            </a:endParaRPr>
          </a:p>
        </p:txBody>
      </p:sp>
    </p:spTree>
    <p:extLst>
      <p:ext uri="{BB962C8B-B14F-4D97-AF65-F5344CB8AC3E}">
        <p14:creationId xmlns:p14="http://schemas.microsoft.com/office/powerpoint/2010/main" val="26935980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6267C13D-2BE1-4B58-B8D4-E612823981E1}"/>
              </a:ext>
            </a:extLst>
          </p:cNvPr>
          <p:cNvSpPr/>
          <p:nvPr/>
        </p:nvSpPr>
        <p:spPr>
          <a:xfrm>
            <a:off x="1676400" y="457200"/>
            <a:ext cx="6781800" cy="600164"/>
          </a:xfrm>
          <a:prstGeom prst="rect">
            <a:avLst/>
          </a:prstGeom>
        </p:spPr>
        <p:txBody>
          <a:bodyPr wrap="square">
            <a:spAutoFit/>
          </a:bodyPr>
          <a:lstStyle/>
          <a:p>
            <a:pPr>
              <a:spcBef>
                <a:spcPct val="0"/>
              </a:spcBef>
            </a:pPr>
            <a:r>
              <a:rPr lang="zh-CN" altLang="en-US" sz="3300" dirty="0">
                <a:latin typeface="等线 Light" panose="02010600030101010101" pitchFamily="2" charset="-122"/>
                <a:ea typeface="等线 Light" panose="02010600030101010101" pitchFamily="2" charset="-122"/>
                <a:cs typeface="+mj-cs"/>
              </a:rPr>
              <a:t>文献综述写作：</a:t>
            </a:r>
            <a:r>
              <a:rPr lang="zh-CN" altLang="zh-CN" sz="3300" dirty="0">
                <a:latin typeface="等线 Light" panose="02010600030101010101" pitchFamily="2" charset="-122"/>
                <a:ea typeface="等线 Light" panose="02010600030101010101" pitchFamily="2" charset="-122"/>
                <a:cs typeface="+mj-cs"/>
              </a:rPr>
              <a:t>研究不足的确定</a:t>
            </a:r>
            <a:endParaRPr lang="zh-CN" altLang="en-US" sz="3300" dirty="0">
              <a:latin typeface="等线 Light" panose="02010600030101010101" pitchFamily="2" charset="-122"/>
              <a:ea typeface="等线 Light" panose="02010600030101010101" pitchFamily="2" charset="-122"/>
              <a:cs typeface="+mj-cs"/>
            </a:endParaRPr>
          </a:p>
        </p:txBody>
      </p:sp>
      <p:sp>
        <p:nvSpPr>
          <p:cNvPr id="3" name="矩形 2">
            <a:extLst>
              <a:ext uri="{FF2B5EF4-FFF2-40B4-BE49-F238E27FC236}">
                <a16:creationId xmlns:a16="http://schemas.microsoft.com/office/drawing/2014/main" id="{8ADABEC2-8BEA-4837-BDD3-55D9F4C0DCB3}"/>
              </a:ext>
            </a:extLst>
          </p:cNvPr>
          <p:cNvSpPr/>
          <p:nvPr/>
        </p:nvSpPr>
        <p:spPr>
          <a:xfrm>
            <a:off x="381000" y="1057364"/>
            <a:ext cx="10820400" cy="4435958"/>
          </a:xfrm>
          <a:prstGeom prst="rect">
            <a:avLst/>
          </a:prstGeom>
        </p:spPr>
        <p:txBody>
          <a:bodyPr wrap="square">
            <a:spAutoFit/>
          </a:bodyPr>
          <a:lstStyle/>
          <a:p>
            <a:pPr algn="just">
              <a:lnSpc>
                <a:spcPct val="150000"/>
              </a:lnSpc>
              <a:spcAft>
                <a:spcPts val="0"/>
              </a:spcAft>
            </a:pPr>
            <a:r>
              <a:rPr lang="en-US" altLang="zh-CN" sz="2000" b="1" kern="100" dirty="0">
                <a:latin typeface="等线 Light" panose="02010600030101010101" pitchFamily="2" charset="-122"/>
                <a:ea typeface="等线 Light" panose="02010600030101010101" pitchFamily="2" charset="-122"/>
                <a:cs typeface="Times New Roman" panose="02020603050405020304" pitchFamily="18" charset="0"/>
              </a:rPr>
              <a:t>1</a:t>
            </a:r>
            <a:r>
              <a:rPr lang="zh-CN" altLang="en-US" sz="2000" b="1" kern="100" dirty="0">
                <a:latin typeface="等线 Light" panose="02010600030101010101" pitchFamily="2" charset="-122"/>
                <a:ea typeface="等线 Light" panose="02010600030101010101" pitchFamily="2" charset="-122"/>
                <a:cs typeface="Times New Roman" panose="02020603050405020304" pitchFamily="18" charset="0"/>
              </a:rPr>
              <a:t>、</a:t>
            </a:r>
            <a:r>
              <a:rPr lang="zh-CN" altLang="zh-CN" sz="2000" b="1" kern="100" dirty="0">
                <a:latin typeface="等线 Light" panose="02010600030101010101" pitchFamily="2" charset="-122"/>
                <a:ea typeface="等线 Light" panose="02010600030101010101" pitchFamily="2" charset="-122"/>
                <a:cs typeface="Times New Roman" panose="02020603050405020304" pitchFamily="18" charset="0"/>
              </a:rPr>
              <a:t>研究背景中简略的综述以获得研究问题</a:t>
            </a:r>
            <a:endParaRPr lang="zh-CN" altLang="zh-CN" sz="2000" kern="100" dirty="0">
              <a:latin typeface="等线 Light" panose="02010600030101010101" pitchFamily="2" charset="-122"/>
              <a:ea typeface="等线 Light" panose="02010600030101010101" pitchFamily="2" charset="-122"/>
              <a:cs typeface="Times New Roman" panose="02020603050405020304" pitchFamily="18" charset="0"/>
            </a:endParaRPr>
          </a:p>
          <a:p>
            <a:pPr marL="342900" indent="-342900" algn="just">
              <a:lnSpc>
                <a:spcPct val="150000"/>
              </a:lnSpc>
              <a:spcAft>
                <a:spcPts val="0"/>
              </a:spcAft>
              <a:buFont typeface="Arial" panose="020B0604020202020204" pitchFamily="34" charset="0"/>
              <a:buChar char="•"/>
            </a:pPr>
            <a:r>
              <a:rPr lang="zh-CN" altLang="zh-CN" kern="100" dirty="0">
                <a:latin typeface="等线 Light" panose="02010600030101010101" pitchFamily="2" charset="-122"/>
                <a:ea typeface="等线 Light" panose="02010600030101010101" pitchFamily="2" charset="-122"/>
                <a:cs typeface="Times New Roman" panose="02020603050405020304" pitchFamily="18" charset="0"/>
              </a:rPr>
              <a:t>在研究背景中介绍的综述内容较为概括，较快进入研究主题。</a:t>
            </a:r>
            <a:r>
              <a:rPr lang="zh-CN" altLang="zh-CN" kern="100" dirty="0">
                <a:solidFill>
                  <a:srgbClr val="000000"/>
                </a:solidFill>
                <a:latin typeface="等线 Light" panose="02010600030101010101" pitchFamily="2" charset="-122"/>
                <a:ea typeface="等线 Light" panose="02010600030101010101" pitchFamily="2" charset="-122"/>
                <a:cs typeface="Times New Roman" panose="02020603050405020304" pitchFamily="18" charset="0"/>
              </a:rPr>
              <a:t>高度概括的出发点是对已有研究进行分类，在分类的基础上，识别研究不足。</a:t>
            </a:r>
            <a:endParaRPr lang="en-US" altLang="zh-CN" kern="100" dirty="0">
              <a:solidFill>
                <a:srgbClr val="000000"/>
              </a:solidFill>
              <a:latin typeface="等线 Light" panose="02010600030101010101" pitchFamily="2" charset="-122"/>
              <a:ea typeface="等线 Light" panose="02010600030101010101" pitchFamily="2" charset="-122"/>
              <a:cs typeface="Times New Roman" panose="02020603050405020304" pitchFamily="18" charset="0"/>
            </a:endParaRPr>
          </a:p>
          <a:p>
            <a:pPr marL="342900" indent="-342900" algn="just">
              <a:lnSpc>
                <a:spcPct val="150000"/>
              </a:lnSpc>
              <a:spcAft>
                <a:spcPts val="0"/>
              </a:spcAft>
              <a:buFont typeface="Arial" panose="020B0604020202020204" pitchFamily="34" charset="0"/>
              <a:buChar char="•"/>
            </a:pPr>
            <a:r>
              <a:rPr lang="zh-CN" altLang="zh-CN" kern="100" dirty="0">
                <a:solidFill>
                  <a:srgbClr val="000000"/>
                </a:solidFill>
                <a:latin typeface="等线 Light" panose="02010600030101010101" pitchFamily="2" charset="-122"/>
                <a:ea typeface="等线 Light" panose="02010600030101010101" pitchFamily="2" charset="-122"/>
                <a:cs typeface="Times New Roman" panose="02020603050405020304" pitchFamily="18" charset="0"/>
              </a:rPr>
              <a:t>由于绪论中篇幅有限，</a:t>
            </a:r>
            <a:r>
              <a:rPr lang="zh-CN" altLang="zh-CN" kern="100" dirty="0">
                <a:latin typeface="等线 Light" panose="02010600030101010101" pitchFamily="2" charset="-122"/>
                <a:ea typeface="等线 Light" panose="02010600030101010101" pitchFamily="2" charset="-122"/>
                <a:cs typeface="Times New Roman" panose="02020603050405020304" pitchFamily="18" charset="0"/>
              </a:rPr>
              <a:t>如需更完整的说明，可在文献综述部分再做论述。</a:t>
            </a:r>
          </a:p>
          <a:p>
            <a:pPr algn="just">
              <a:lnSpc>
                <a:spcPct val="150000"/>
              </a:lnSpc>
              <a:spcAft>
                <a:spcPts val="0"/>
              </a:spcAft>
            </a:pPr>
            <a:r>
              <a:rPr lang="en-US" altLang="zh-CN" sz="2000" b="1" kern="100" dirty="0">
                <a:latin typeface="等线 Light" panose="02010600030101010101" pitchFamily="2" charset="-122"/>
                <a:ea typeface="等线 Light" panose="02010600030101010101" pitchFamily="2" charset="-122"/>
                <a:cs typeface="Times New Roman" panose="02020603050405020304" pitchFamily="18" charset="0"/>
              </a:rPr>
              <a:t>2</a:t>
            </a:r>
            <a:r>
              <a:rPr lang="zh-CN" altLang="en-US" sz="2000" b="1" kern="100" dirty="0">
                <a:latin typeface="等线 Light" panose="02010600030101010101" pitchFamily="2" charset="-122"/>
                <a:ea typeface="等线 Light" panose="02010600030101010101" pitchFamily="2" charset="-122"/>
                <a:cs typeface="Times New Roman" panose="02020603050405020304" pitchFamily="18" charset="0"/>
              </a:rPr>
              <a:t>、</a:t>
            </a:r>
            <a:r>
              <a:rPr lang="zh-CN" altLang="zh-CN" sz="2000" b="1" kern="100" dirty="0">
                <a:latin typeface="等线 Light" panose="02010600030101010101" pitchFamily="2" charset="-122"/>
                <a:ea typeface="等线 Light" panose="02010600030101010101" pitchFamily="2" charset="-122"/>
                <a:cs typeface="Times New Roman" panose="02020603050405020304" pitchFamily="18" charset="0"/>
              </a:rPr>
              <a:t>文献综述部分详细分析已有解决方案对问题解决的情况，以突出研究不足</a:t>
            </a:r>
            <a:endParaRPr lang="zh-CN" altLang="zh-CN" sz="2000" kern="100" dirty="0">
              <a:latin typeface="等线 Light" panose="02010600030101010101" pitchFamily="2" charset="-122"/>
              <a:ea typeface="等线 Light" panose="02010600030101010101" pitchFamily="2" charset="-122"/>
              <a:cs typeface="Times New Roman" panose="02020603050405020304" pitchFamily="18" charset="0"/>
            </a:endParaRPr>
          </a:p>
          <a:p>
            <a:pPr marL="342900" indent="-342900" algn="just">
              <a:lnSpc>
                <a:spcPct val="150000"/>
              </a:lnSpc>
              <a:spcAft>
                <a:spcPts val="0"/>
              </a:spcAft>
              <a:buFont typeface="Arial" panose="020B0604020202020204" pitchFamily="34" charset="0"/>
              <a:buChar char="•"/>
            </a:pPr>
            <a:r>
              <a:rPr lang="zh-CN" altLang="zh-CN" kern="100" dirty="0">
                <a:latin typeface="等线 Light" panose="02010600030101010101" pitchFamily="2" charset="-122"/>
                <a:ea typeface="等线 Light" panose="02010600030101010101" pitchFamily="2" charset="-122"/>
                <a:cs typeface="Times New Roman" panose="02020603050405020304" pitchFamily="18" charset="0"/>
              </a:rPr>
              <a:t>一般在综述部分进行详细阐述。特别是分析其中不足，为提出本研究的解决方案提供铺垫。</a:t>
            </a:r>
            <a:endParaRPr lang="en-US" altLang="zh-CN" kern="100" dirty="0">
              <a:latin typeface="等线 Light" panose="02010600030101010101" pitchFamily="2" charset="-122"/>
              <a:ea typeface="等线 Light" panose="02010600030101010101" pitchFamily="2" charset="-122"/>
              <a:cs typeface="Times New Roman" panose="02020603050405020304" pitchFamily="18" charset="0"/>
            </a:endParaRPr>
          </a:p>
          <a:p>
            <a:pPr marL="342900" indent="-342900" algn="just">
              <a:lnSpc>
                <a:spcPct val="150000"/>
              </a:lnSpc>
              <a:spcAft>
                <a:spcPts val="0"/>
              </a:spcAft>
              <a:buFont typeface="Arial" panose="020B0604020202020204" pitchFamily="34" charset="0"/>
              <a:buChar char="•"/>
            </a:pPr>
            <a:r>
              <a:rPr lang="zh-CN" altLang="zh-CN" kern="100" dirty="0">
                <a:latin typeface="等线 Light" panose="02010600030101010101" pitchFamily="2" charset="-122"/>
                <a:ea typeface="等线 Light" panose="02010600030101010101" pitchFamily="2" charset="-122"/>
                <a:cs typeface="Times New Roman" panose="02020603050405020304" pitchFamily="18" charset="0"/>
              </a:rPr>
              <a:t>包括如下内容：</a:t>
            </a:r>
            <a:endParaRPr lang="en-US" altLang="zh-CN" kern="100" dirty="0">
              <a:latin typeface="等线 Light" panose="02010600030101010101" pitchFamily="2" charset="-122"/>
              <a:ea typeface="等线 Light" panose="02010600030101010101" pitchFamily="2" charset="-122"/>
              <a:cs typeface="Times New Roman" panose="02020603050405020304" pitchFamily="18" charset="0"/>
            </a:endParaRPr>
          </a:p>
          <a:p>
            <a:pPr marL="800100" lvl="1" indent="-342900" algn="just">
              <a:lnSpc>
                <a:spcPct val="150000"/>
              </a:lnSpc>
              <a:buFont typeface="Arial" panose="020B0604020202020204" pitchFamily="34" charset="0"/>
              <a:buChar char="•"/>
            </a:pPr>
            <a:r>
              <a:rPr lang="zh-CN" altLang="zh-CN" kern="100" dirty="0">
                <a:latin typeface="等线 Light" panose="02010600030101010101" pitchFamily="2" charset="-122"/>
                <a:ea typeface="等线 Light" panose="02010600030101010101" pitchFamily="2" charset="-122"/>
                <a:cs typeface="Times New Roman" panose="02020603050405020304" pitchFamily="18" charset="0"/>
              </a:rPr>
              <a:t>介绍研究领域的背景知识，形成理论背景。</a:t>
            </a:r>
            <a:endParaRPr lang="en-US" altLang="zh-CN" kern="100" dirty="0">
              <a:latin typeface="等线 Light" panose="02010600030101010101" pitchFamily="2" charset="-122"/>
              <a:ea typeface="等线 Light" panose="02010600030101010101" pitchFamily="2" charset="-122"/>
              <a:cs typeface="Times New Roman" panose="02020603050405020304" pitchFamily="18" charset="0"/>
            </a:endParaRPr>
          </a:p>
          <a:p>
            <a:pPr marL="800100" lvl="1" indent="-342900" algn="just">
              <a:lnSpc>
                <a:spcPct val="150000"/>
              </a:lnSpc>
              <a:buFont typeface="Arial" panose="020B0604020202020204" pitchFamily="34" charset="0"/>
              <a:buChar char="•"/>
            </a:pPr>
            <a:r>
              <a:rPr lang="zh-CN" altLang="zh-CN" kern="100" dirty="0">
                <a:latin typeface="等线 Light" panose="02010600030101010101" pitchFamily="2" charset="-122"/>
                <a:ea typeface="等线 Light" panose="02010600030101010101" pitchFamily="2" charset="-122"/>
                <a:cs typeface="Times New Roman" panose="02020603050405020304" pitchFamily="18" charset="0"/>
              </a:rPr>
              <a:t>介绍该领域内的趋势，以明确实践问题解决的重要性。</a:t>
            </a:r>
            <a:endParaRPr lang="en-US" altLang="zh-CN" kern="100" dirty="0">
              <a:latin typeface="等线 Light" panose="02010600030101010101" pitchFamily="2" charset="-122"/>
              <a:ea typeface="等线 Light" panose="02010600030101010101" pitchFamily="2" charset="-122"/>
              <a:cs typeface="Times New Roman" panose="02020603050405020304" pitchFamily="18" charset="0"/>
            </a:endParaRPr>
          </a:p>
          <a:p>
            <a:pPr marL="800100" lvl="1" indent="-342900" algn="just">
              <a:lnSpc>
                <a:spcPct val="150000"/>
              </a:lnSpc>
              <a:buFont typeface="Arial" panose="020B0604020202020204" pitchFamily="34" charset="0"/>
              <a:buChar char="•"/>
            </a:pPr>
            <a:r>
              <a:rPr lang="zh-CN" altLang="zh-CN" kern="100" dirty="0">
                <a:latin typeface="等线 Light" panose="02010600030101010101" pitchFamily="2" charset="-122"/>
                <a:ea typeface="等线 Light" panose="02010600030101010101" pitchFamily="2" charset="-122"/>
                <a:cs typeface="Times New Roman" panose="02020603050405020304" pitchFamily="18" charset="0"/>
              </a:rPr>
              <a:t>聚焦到研究不足之处。</a:t>
            </a:r>
          </a:p>
        </p:txBody>
      </p:sp>
    </p:spTree>
    <p:extLst>
      <p:ext uri="{BB962C8B-B14F-4D97-AF65-F5344CB8AC3E}">
        <p14:creationId xmlns:p14="http://schemas.microsoft.com/office/powerpoint/2010/main" val="23870311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82A20E5-F786-4E1B-8FED-1E0EE03D8ABC}"/>
              </a:ext>
            </a:extLst>
          </p:cNvPr>
          <p:cNvSpPr/>
          <p:nvPr/>
        </p:nvSpPr>
        <p:spPr>
          <a:xfrm>
            <a:off x="1676400" y="457200"/>
            <a:ext cx="6781800" cy="600164"/>
          </a:xfrm>
          <a:prstGeom prst="rect">
            <a:avLst/>
          </a:prstGeom>
        </p:spPr>
        <p:txBody>
          <a:bodyPr wrap="square">
            <a:spAutoFit/>
          </a:bodyPr>
          <a:lstStyle/>
          <a:p>
            <a:pPr>
              <a:spcBef>
                <a:spcPct val="0"/>
              </a:spcBef>
            </a:pPr>
            <a:r>
              <a:rPr lang="zh-CN" altLang="en-US" sz="3300" dirty="0">
                <a:latin typeface="等线 Light" panose="02010600030101010101" pitchFamily="2" charset="-122"/>
                <a:ea typeface="等线 Light" panose="02010600030101010101" pitchFamily="2" charset="-122"/>
                <a:cs typeface="+mj-cs"/>
              </a:rPr>
              <a:t>文献综述写作：</a:t>
            </a:r>
            <a:r>
              <a:rPr lang="zh-CN" altLang="zh-CN" sz="3300" dirty="0">
                <a:latin typeface="等线 Light" panose="02010600030101010101" pitchFamily="2" charset="-122"/>
                <a:ea typeface="等线 Light" panose="02010600030101010101" pitchFamily="2" charset="-122"/>
                <a:cs typeface="+mj-cs"/>
              </a:rPr>
              <a:t>研究不足的确定</a:t>
            </a:r>
            <a:endParaRPr lang="zh-CN" altLang="en-US" sz="3300" dirty="0">
              <a:latin typeface="等线 Light" panose="02010600030101010101" pitchFamily="2" charset="-122"/>
              <a:ea typeface="等线 Light" panose="02010600030101010101" pitchFamily="2" charset="-122"/>
              <a:cs typeface="+mj-cs"/>
            </a:endParaRPr>
          </a:p>
        </p:txBody>
      </p:sp>
      <p:sp>
        <p:nvSpPr>
          <p:cNvPr id="3" name="矩形 2">
            <a:extLst>
              <a:ext uri="{FF2B5EF4-FFF2-40B4-BE49-F238E27FC236}">
                <a16:creationId xmlns:a16="http://schemas.microsoft.com/office/drawing/2014/main" id="{9D811E84-D647-460D-9048-4B3EA1A03540}"/>
              </a:ext>
            </a:extLst>
          </p:cNvPr>
          <p:cNvSpPr/>
          <p:nvPr/>
        </p:nvSpPr>
        <p:spPr>
          <a:xfrm>
            <a:off x="457200" y="1621465"/>
            <a:ext cx="1905000" cy="369332"/>
          </a:xfrm>
          <a:prstGeom prst="rect">
            <a:avLst/>
          </a:prstGeom>
        </p:spPr>
        <p:txBody>
          <a:bodyPr wrap="square">
            <a:spAutoFit/>
          </a:bodyPr>
          <a:lstStyle/>
          <a:p>
            <a:pPr algn="ctr"/>
            <a:endParaRPr lang="zh-CN" altLang="en-US" kern="100" dirty="0">
              <a:latin typeface="等线 Light" panose="02010600030101010101" pitchFamily="2" charset="-122"/>
              <a:ea typeface="等线 Light" panose="02010600030101010101" pitchFamily="2" charset="-122"/>
              <a:cs typeface="Times New Roman" panose="02020603050405020304" pitchFamily="18" charset="0"/>
            </a:endParaRPr>
          </a:p>
        </p:txBody>
      </p:sp>
      <p:sp>
        <p:nvSpPr>
          <p:cNvPr id="4" name="矩形 3">
            <a:extLst>
              <a:ext uri="{FF2B5EF4-FFF2-40B4-BE49-F238E27FC236}">
                <a16:creationId xmlns:a16="http://schemas.microsoft.com/office/drawing/2014/main" id="{0A25F9FF-23A0-4127-97A9-208C80093F3D}"/>
              </a:ext>
            </a:extLst>
          </p:cNvPr>
          <p:cNvSpPr/>
          <p:nvPr/>
        </p:nvSpPr>
        <p:spPr>
          <a:xfrm>
            <a:off x="2667000" y="1600200"/>
            <a:ext cx="5638800" cy="369332"/>
          </a:xfrm>
          <a:prstGeom prst="rect">
            <a:avLst/>
          </a:prstGeom>
        </p:spPr>
        <p:txBody>
          <a:bodyPr wrap="square">
            <a:spAutoFit/>
          </a:bodyPr>
          <a:lstStyle/>
          <a:p>
            <a:pPr marL="285750" indent="-285750">
              <a:buFont typeface="Arial" panose="020B0604020202020204" pitchFamily="34" charset="0"/>
              <a:buChar char="•"/>
            </a:pPr>
            <a:endParaRPr lang="zh-CN" altLang="en-US" kern="100" dirty="0">
              <a:latin typeface="等线 Light" panose="02010600030101010101" pitchFamily="2" charset="-122"/>
              <a:ea typeface="等线 Light" panose="02010600030101010101" pitchFamily="2" charset="-122"/>
              <a:cs typeface="Times New Roman" panose="02020603050405020304" pitchFamily="18" charset="0"/>
            </a:endParaRPr>
          </a:p>
        </p:txBody>
      </p:sp>
      <p:graphicFrame>
        <p:nvGraphicFramePr>
          <p:cNvPr id="6" name="表格 5">
            <a:extLst>
              <a:ext uri="{FF2B5EF4-FFF2-40B4-BE49-F238E27FC236}">
                <a16:creationId xmlns:a16="http://schemas.microsoft.com/office/drawing/2014/main" id="{9D97B86C-B99E-4F2D-95B4-A328B71C5096}"/>
              </a:ext>
            </a:extLst>
          </p:cNvPr>
          <p:cNvGraphicFramePr>
            <a:graphicFrameLocks noGrp="1"/>
          </p:cNvGraphicFramePr>
          <p:nvPr>
            <p:extLst>
              <p:ext uri="{D42A27DB-BD31-4B8C-83A1-F6EECF244321}">
                <p14:modId xmlns:p14="http://schemas.microsoft.com/office/powerpoint/2010/main" val="599024592"/>
              </p:ext>
            </p:extLst>
          </p:nvPr>
        </p:nvGraphicFramePr>
        <p:xfrm>
          <a:off x="228600" y="1143000"/>
          <a:ext cx="11811000" cy="521716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3809515119"/>
                    </a:ext>
                  </a:extLst>
                </a:gridCol>
                <a:gridCol w="5715000">
                  <a:extLst>
                    <a:ext uri="{9D8B030D-6E8A-4147-A177-3AD203B41FA5}">
                      <a16:colId xmlns:a16="http://schemas.microsoft.com/office/drawing/2014/main" val="2581171301"/>
                    </a:ext>
                  </a:extLst>
                </a:gridCol>
                <a:gridCol w="3657600">
                  <a:extLst>
                    <a:ext uri="{9D8B030D-6E8A-4147-A177-3AD203B41FA5}">
                      <a16:colId xmlns:a16="http://schemas.microsoft.com/office/drawing/2014/main" val="291808550"/>
                    </a:ext>
                  </a:extLst>
                </a:gridCol>
              </a:tblGrid>
              <a:tr h="370840">
                <a:tc>
                  <a:txBody>
                    <a:bodyPr/>
                    <a:lstStyle/>
                    <a:p>
                      <a:pPr algn="ctr"/>
                      <a:r>
                        <a:rPr lang="zh-CN" altLang="en-US" dirty="0"/>
                        <a:t>研究主题</a:t>
                      </a:r>
                    </a:p>
                  </a:txBody>
                  <a:tcPr/>
                </a:tc>
                <a:tc>
                  <a:txBody>
                    <a:bodyPr/>
                    <a:lstStyle/>
                    <a:p>
                      <a:pPr algn="ctr"/>
                      <a:r>
                        <a:rPr lang="zh-CN" altLang="en-US" dirty="0"/>
                        <a:t>研究不足</a:t>
                      </a:r>
                    </a:p>
                  </a:txBody>
                  <a:tcPr/>
                </a:tc>
                <a:tc>
                  <a:txBody>
                    <a:bodyPr/>
                    <a:lstStyle/>
                    <a:p>
                      <a:pPr algn="ctr"/>
                      <a:r>
                        <a:rPr lang="zh-CN" altLang="en-US" dirty="0"/>
                        <a:t>研究问题</a:t>
                      </a:r>
                    </a:p>
                  </a:txBody>
                  <a:tcPr/>
                </a:tc>
                <a:extLst>
                  <a:ext uri="{0D108BD9-81ED-4DB2-BD59-A6C34878D82A}">
                    <a16:rowId xmlns:a16="http://schemas.microsoft.com/office/drawing/2014/main" val="192341640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kern="100" dirty="0">
                          <a:latin typeface="等线 Light" panose="02010600030101010101" pitchFamily="2" charset="-122"/>
                          <a:ea typeface="等线 Light" panose="02010600030101010101" pitchFamily="2" charset="-122"/>
                          <a:cs typeface="Times New Roman" panose="02020603050405020304" pitchFamily="18" charset="0"/>
                        </a:rPr>
                        <a:t>考虑风险影响的建设项目成本估算方法研究 </a:t>
                      </a:r>
                      <a:endParaRPr lang="zh-CN" altLang="en-US" sz="1400" dirty="0"/>
                    </a:p>
                  </a:txBody>
                  <a:tcPr/>
                </a:tc>
                <a:tc>
                  <a:txBody>
                    <a:bodyPr/>
                    <a:lstStyle/>
                    <a:p>
                      <a:pPr marL="285750" indent="-285750">
                        <a:lnSpc>
                          <a:spcPct val="100000"/>
                        </a:lnSpc>
                        <a:buFont typeface="Arial" panose="020B0604020202020204" pitchFamily="34" charset="0"/>
                        <a:buChar char="•"/>
                      </a:pPr>
                      <a:r>
                        <a:rPr lang="zh-CN" altLang="en-US" sz="1400" kern="100" dirty="0">
                          <a:latin typeface="等线 Light" panose="02010600030101010101" pitchFamily="2" charset="-122"/>
                          <a:ea typeface="等线 Light" panose="02010600030101010101" pitchFamily="2" charset="-122"/>
                          <a:cs typeface="Times New Roman" panose="02020603050405020304" pitchFamily="18" charset="0"/>
                        </a:rPr>
                        <a:t>目前的文献研究更多只单独关注如何预测成本或进行成本风险评估，较少将成本风险考虑到早期成本估算中</a:t>
                      </a:r>
                      <a:endParaRPr lang="en-US" altLang="zh-CN" sz="1400" kern="100" dirty="0">
                        <a:latin typeface="等线 Light" panose="02010600030101010101" pitchFamily="2" charset="-122"/>
                        <a:ea typeface="等线 Light" panose="02010600030101010101" pitchFamily="2" charset="-122"/>
                        <a:cs typeface="Times New Roman" panose="02020603050405020304" pitchFamily="18" charset="0"/>
                      </a:endParaRPr>
                    </a:p>
                    <a:p>
                      <a:pPr marL="285750" indent="-285750">
                        <a:lnSpc>
                          <a:spcPct val="100000"/>
                        </a:lnSpc>
                        <a:buFont typeface="Arial" panose="020B0604020202020204" pitchFamily="34" charset="0"/>
                        <a:buChar char="•"/>
                      </a:pPr>
                      <a:r>
                        <a:rPr lang="zh-CN" altLang="en-US" sz="1400" kern="100" dirty="0">
                          <a:latin typeface="等线 Light" panose="02010600030101010101" pitchFamily="2" charset="-122"/>
                          <a:ea typeface="等线 Light" panose="02010600030101010101" pitchFamily="2" charset="-122"/>
                          <a:cs typeface="Times New Roman" panose="02020603050405020304" pitchFamily="18" charset="0"/>
                        </a:rPr>
                        <a:t>较少有研究同时对建设项目早期信息有限和项目执行过程中的风险分析进行讨论</a:t>
                      </a:r>
                      <a:endParaRPr lang="zh-CN" altLang="en-US" sz="1400" dirty="0"/>
                    </a:p>
                  </a:txBody>
                  <a:tcPr/>
                </a:tc>
                <a:tc>
                  <a:txBody>
                    <a:bodyPr/>
                    <a:lstStyle/>
                    <a:p>
                      <a:pPr>
                        <a:lnSpc>
                          <a:spcPct val="100000"/>
                        </a:lnSpc>
                      </a:pPr>
                      <a:r>
                        <a:rPr lang="zh-CN" altLang="en-US" sz="1400" kern="100" dirty="0">
                          <a:solidFill>
                            <a:schemeClr val="dk1"/>
                          </a:solidFill>
                          <a:latin typeface="等线 Light" panose="02010600030101010101" pitchFamily="2" charset="-122"/>
                          <a:ea typeface="等线 Light" panose="02010600030101010101" pitchFamily="2" charset="-122"/>
                          <a:cs typeface="Times New Roman" panose="02020603050405020304" pitchFamily="18" charset="0"/>
                        </a:rPr>
                        <a:t>如何在早期信息有限的情形下改进成本估算的准确性？</a:t>
                      </a:r>
                      <a:endParaRPr lang="en-US" altLang="zh-CN" sz="1400" kern="100" dirty="0">
                        <a:solidFill>
                          <a:schemeClr val="dk1"/>
                        </a:solidFill>
                        <a:latin typeface="等线 Light" panose="02010600030101010101" pitchFamily="2" charset="-122"/>
                        <a:ea typeface="等线 Light" panose="02010600030101010101" pitchFamily="2" charset="-122"/>
                        <a:cs typeface="Times New Roman" panose="02020603050405020304" pitchFamily="18" charset="0"/>
                      </a:endParaRPr>
                    </a:p>
                    <a:p>
                      <a:pPr>
                        <a:lnSpc>
                          <a:spcPct val="100000"/>
                        </a:lnSpc>
                      </a:pPr>
                      <a:r>
                        <a:rPr lang="zh-CN" altLang="en-US" sz="1400" kern="100" dirty="0">
                          <a:solidFill>
                            <a:schemeClr val="dk1"/>
                          </a:solidFill>
                          <a:latin typeface="等线 Light" panose="02010600030101010101" pitchFamily="2" charset="-122"/>
                          <a:ea typeface="等线 Light" panose="02010600030101010101" pitchFamily="2" charset="-122"/>
                          <a:cs typeface="Times New Roman" panose="02020603050405020304" pitchFamily="18" charset="0"/>
                        </a:rPr>
                        <a:t>如何在早期成本估算中考虑风险的影响？</a:t>
                      </a:r>
                    </a:p>
                  </a:txBody>
                  <a:tcPr/>
                </a:tc>
                <a:extLst>
                  <a:ext uri="{0D108BD9-81ED-4DB2-BD59-A6C34878D82A}">
                    <a16:rowId xmlns:a16="http://schemas.microsoft.com/office/drawing/2014/main" val="3188105098"/>
                  </a:ext>
                </a:extLst>
              </a:tr>
              <a:tr h="1676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kern="100" dirty="0">
                          <a:solidFill>
                            <a:schemeClr val="dk1"/>
                          </a:solidFill>
                          <a:latin typeface="等线 Light" panose="02010600030101010101" pitchFamily="2" charset="-122"/>
                          <a:ea typeface="等线 Light" panose="02010600030101010101" pitchFamily="2" charset="-122"/>
                          <a:cs typeface="Times New Roman" panose="02020603050405020304" pitchFamily="18" charset="0"/>
                        </a:rPr>
                        <a:t>基于NK模型的工程总承包项目风险相关性研究</a:t>
                      </a:r>
                    </a:p>
                    <a:p>
                      <a:pPr>
                        <a:lnSpc>
                          <a:spcPct val="100000"/>
                        </a:lnSpc>
                      </a:pPr>
                      <a:endParaRPr lang="zh-CN" altLang="en-US" sz="1400" kern="100" dirty="0">
                        <a:solidFill>
                          <a:schemeClr val="dk1"/>
                        </a:solidFill>
                        <a:latin typeface="等线 Light" panose="02010600030101010101" pitchFamily="2" charset="-122"/>
                        <a:ea typeface="等线 Light" panose="02010600030101010101" pitchFamily="2" charset="-122"/>
                        <a:cs typeface="Times New Roman" panose="02020603050405020304" pitchFamily="18" charset="0"/>
                      </a:endParaRP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sz="1400" kern="100" dirty="0">
                          <a:solidFill>
                            <a:schemeClr val="dk1"/>
                          </a:solidFill>
                          <a:latin typeface="等线 Light" panose="02010600030101010101" pitchFamily="2" charset="-122"/>
                          <a:ea typeface="等线 Light" panose="02010600030101010101" pitchFamily="2" charset="-122"/>
                          <a:cs typeface="Times New Roman" panose="02020603050405020304" pitchFamily="18" charset="0"/>
                        </a:rPr>
                        <a:t>现有的方法未能较好地度量以多米诺骨牌效应定义的风险相关性。</a:t>
                      </a:r>
                    </a:p>
                    <a:p>
                      <a:pPr>
                        <a:lnSpc>
                          <a:spcPct val="100000"/>
                        </a:lnSpc>
                      </a:pPr>
                      <a:endParaRPr lang="zh-CN" altLang="en-US" sz="1400" kern="100" dirty="0">
                        <a:solidFill>
                          <a:schemeClr val="dk1"/>
                        </a:solidFill>
                        <a:latin typeface="等线 Light" panose="02010600030101010101" pitchFamily="2" charset="-122"/>
                        <a:ea typeface="等线 Light" panose="02010600030101010101" pitchFamily="2" charset="-122"/>
                        <a:cs typeface="Times New Roman" panose="02020603050405020304" pitchFamily="18" charset="0"/>
                      </a:endParaRPr>
                    </a:p>
                  </a:txBody>
                  <a:tcPr/>
                </a:tc>
                <a:tc>
                  <a:txBody>
                    <a:bodyPr/>
                    <a:lstStyle/>
                    <a:p>
                      <a:pPr indent="0" fontAlgn="auto">
                        <a:lnSpc>
                          <a:spcPct val="100000"/>
                        </a:lnSpc>
                        <a:spcBef>
                          <a:spcPts val="0"/>
                        </a:spcBef>
                      </a:pPr>
                      <a:r>
                        <a:rPr lang="zh-CN" altLang="en-US" sz="1400" kern="100" dirty="0">
                          <a:solidFill>
                            <a:schemeClr val="dk1"/>
                          </a:solidFill>
                          <a:latin typeface="等线 Light" panose="02010600030101010101" pitchFamily="2" charset="-122"/>
                          <a:ea typeface="等线 Light" panose="02010600030101010101" pitchFamily="2" charset="-122"/>
                          <a:cs typeface="Times New Roman" panose="02020603050405020304" pitchFamily="18" charset="0"/>
                          <a:sym typeface="+mn-lt"/>
                        </a:rPr>
                        <a:t>如何有效刻画以多米诺骨牌效应定义的风险相关性？</a:t>
                      </a:r>
                    </a:p>
                    <a:p>
                      <a:pPr indent="0" fontAlgn="auto">
                        <a:lnSpc>
                          <a:spcPct val="100000"/>
                        </a:lnSpc>
                        <a:spcBef>
                          <a:spcPts val="0"/>
                        </a:spcBef>
                      </a:pPr>
                      <a:r>
                        <a:rPr lang="zh-CN" altLang="en-US" sz="1400" kern="100" dirty="0">
                          <a:solidFill>
                            <a:schemeClr val="dk1"/>
                          </a:solidFill>
                          <a:latin typeface="等线 Light" panose="02010600030101010101" pitchFamily="2" charset="-122"/>
                          <a:ea typeface="等线 Light" panose="02010600030101010101" pitchFamily="2" charset="-122"/>
                          <a:cs typeface="Times New Roman" panose="02020603050405020304" pitchFamily="18" charset="0"/>
                          <a:sym typeface="+mn-lt"/>
                        </a:rPr>
                        <a:t>如何根据已识别出的风险，构建风险相关性度量模型？</a:t>
                      </a:r>
                    </a:p>
                  </a:txBody>
                  <a:tcPr/>
                </a:tc>
                <a:extLst>
                  <a:ext uri="{0D108BD9-81ED-4DB2-BD59-A6C34878D82A}">
                    <a16:rowId xmlns:a16="http://schemas.microsoft.com/office/drawing/2014/main" val="2774862390"/>
                  </a:ext>
                </a:extLst>
              </a:tr>
              <a:tr h="213360">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CN" altLang="en-US" sz="1400" kern="100" dirty="0">
                          <a:solidFill>
                            <a:schemeClr val="dk1"/>
                          </a:solidFill>
                          <a:latin typeface="等线 Light" panose="02010600030101010101" pitchFamily="2" charset="-122"/>
                          <a:ea typeface="等线 Light" panose="02010600030101010101" pitchFamily="2" charset="-122"/>
                          <a:cs typeface="Times New Roman" panose="02020603050405020304" pitchFamily="18" charset="0"/>
                        </a:rPr>
                        <a:t>基于动态风险绩效指数的项目完工状态预测</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zh-CN" altLang="en-US" sz="1400" kern="100" dirty="0">
                        <a:solidFill>
                          <a:schemeClr val="dk1"/>
                        </a:solidFill>
                        <a:latin typeface="等线 Light" panose="02010600030101010101" pitchFamily="2" charset="-122"/>
                        <a:ea typeface="等线 Light" panose="02010600030101010101" pitchFamily="2" charset="-122"/>
                        <a:cs typeface="Times New Roman" panose="02020603050405020304" pitchFamily="18" charset="0"/>
                      </a:endParaRP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sz="1400" kern="100" dirty="0">
                          <a:solidFill>
                            <a:schemeClr val="dk1"/>
                          </a:solidFill>
                          <a:latin typeface="等线 Light" panose="02010600030101010101" pitchFamily="2" charset="-122"/>
                          <a:ea typeface="等线 Light" panose="02010600030101010101" pitchFamily="2" charset="-122"/>
                          <a:cs typeface="Times New Roman" panose="02020603050405020304" pitchFamily="18" charset="0"/>
                        </a:rPr>
                        <a:t>没有考虑风险绩效指数（风险评估）动态性与关联性</a:t>
                      </a:r>
                      <a:endParaRPr lang="en-US" altLang="zh-CN" sz="1400" kern="100" dirty="0">
                        <a:solidFill>
                          <a:schemeClr val="dk1"/>
                        </a:solidFill>
                        <a:latin typeface="等线 Light" panose="02010600030101010101" pitchFamily="2" charset="-122"/>
                        <a:ea typeface="等线 Light" panose="02010600030101010101" pitchFamily="2" charset="-122"/>
                        <a:cs typeface="Times New Roman" panose="02020603050405020304" pitchFamily="18"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sz="1400" kern="100" dirty="0">
                          <a:solidFill>
                            <a:schemeClr val="dk1"/>
                          </a:solidFill>
                          <a:latin typeface="等线 Light" panose="02010600030101010101" pitchFamily="2" charset="-122"/>
                          <a:ea typeface="等线 Light" panose="02010600030101010101" pitchFamily="2" charset="-122"/>
                          <a:cs typeface="Times New Roman" panose="02020603050405020304" pitchFamily="18" charset="0"/>
                        </a:rPr>
                        <a:t>没有考虑三个绩效指数（成本绩效指数、进度绩效指数、风险绩效指数）权重之间的动态关系</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zh-CN" altLang="en-US" sz="1400" kern="100" dirty="0">
                        <a:solidFill>
                          <a:schemeClr val="dk1"/>
                        </a:solidFill>
                        <a:latin typeface="等线 Light" panose="02010600030101010101" pitchFamily="2" charset="-122"/>
                        <a:ea typeface="等线 Light" panose="02010600030101010101" pitchFamily="2" charset="-122"/>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CN" altLang="en-US" sz="1400" kern="100" dirty="0">
                          <a:solidFill>
                            <a:schemeClr val="dk1"/>
                          </a:solidFill>
                          <a:latin typeface="等线 Light" panose="02010600030101010101" pitchFamily="2" charset="-122"/>
                          <a:ea typeface="等线 Light" panose="02010600030101010101" pitchFamily="2" charset="-122"/>
                          <a:cs typeface="Times New Roman" panose="02020603050405020304" pitchFamily="18" charset="0"/>
                        </a:rPr>
                        <a:t>如何在计算项目风险绩效指数时体现动态性与关联性？</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CN" altLang="en-US" sz="1400" kern="100" dirty="0">
                          <a:solidFill>
                            <a:schemeClr val="dk1"/>
                          </a:solidFill>
                          <a:latin typeface="等线 Light" panose="02010600030101010101" pitchFamily="2" charset="-122"/>
                          <a:ea typeface="等线 Light" panose="02010600030101010101" pitchFamily="2" charset="-122"/>
                          <a:cs typeface="Times New Roman" panose="02020603050405020304" pitchFamily="18" charset="0"/>
                        </a:rPr>
                        <a:t>如何依据三个绩效指数重要性计算动态权重改进项目完工预测模型？</a:t>
                      </a:r>
                    </a:p>
                  </a:txBody>
                  <a:tcPr/>
                </a:tc>
                <a:extLst>
                  <a:ext uri="{0D108BD9-81ED-4DB2-BD59-A6C34878D82A}">
                    <a16:rowId xmlns:a16="http://schemas.microsoft.com/office/drawing/2014/main" val="3068441132"/>
                  </a:ext>
                </a:extLst>
              </a:tr>
              <a:tr h="441960">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CN" altLang="en-US" sz="1400" kern="100" dirty="0">
                          <a:solidFill>
                            <a:schemeClr val="dk1"/>
                          </a:solidFill>
                          <a:latin typeface="等线 Light" panose="02010600030101010101" pitchFamily="2" charset="-122"/>
                          <a:ea typeface="等线 Light" panose="02010600030101010101" pitchFamily="2" charset="-122"/>
                          <a:cs typeface="Times New Roman" panose="02020603050405020304" pitchFamily="18" charset="0"/>
                        </a:rPr>
                        <a:t>考虑风险应对策略的项目储备费估算</a:t>
                      </a:r>
                    </a:p>
                    <a:p>
                      <a:endParaRPr lang="zh-CN" altLang="en-US" dirty="0"/>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sz="1400" kern="100" dirty="0">
                          <a:solidFill>
                            <a:schemeClr val="dk1"/>
                          </a:solidFill>
                          <a:latin typeface="等线 Light" panose="02010600030101010101" pitchFamily="2" charset="-122"/>
                          <a:ea typeface="等线 Light" panose="02010600030101010101" pitchFamily="2" charset="-122"/>
                          <a:cs typeface="Times New Roman" panose="02020603050405020304" pitchFamily="18" charset="0"/>
                        </a:rPr>
                        <a:t>项目储备费估算中仅考虑风险的特点，忽略了实施风险应对策略后对风险概率及其损失程度的影响</a:t>
                      </a:r>
                      <a:endParaRPr lang="en-US" altLang="zh-CN" sz="1400" kern="100" dirty="0">
                        <a:solidFill>
                          <a:schemeClr val="dk1"/>
                        </a:solidFill>
                        <a:latin typeface="等线 Light" panose="02010600030101010101" pitchFamily="2" charset="-122"/>
                        <a:ea typeface="等线 Light"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zh-CN" altLang="en-US" sz="1400" kern="100" dirty="0">
                        <a:solidFill>
                          <a:schemeClr val="dk1"/>
                        </a:solidFill>
                        <a:latin typeface="等线 Light" panose="02010600030101010101" pitchFamily="2" charset="-122"/>
                        <a:ea typeface="等线 Light" panose="02010600030101010101" pitchFamily="2" charset="-122"/>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CN" altLang="en-US" sz="1400" kern="100" dirty="0">
                          <a:solidFill>
                            <a:schemeClr val="dk1"/>
                          </a:solidFill>
                          <a:latin typeface="等线 Light" panose="02010600030101010101" pitchFamily="2" charset="-122"/>
                          <a:ea typeface="等线 Light" panose="02010600030101010101" pitchFamily="2" charset="-122"/>
                          <a:cs typeface="Times New Roman" panose="02020603050405020304" pitchFamily="18" charset="0"/>
                        </a:rPr>
                        <a:t>如何考虑风险应对策略构建估算储备费的模型？</a:t>
                      </a:r>
                      <a:endParaRPr lang="en-US" altLang="zh-CN" sz="1400" kern="100" dirty="0">
                        <a:solidFill>
                          <a:schemeClr val="dk1"/>
                        </a:solidFill>
                        <a:latin typeface="等线 Light" panose="02010600030101010101" pitchFamily="2" charset="-122"/>
                        <a:ea typeface="等线 Light"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zh-CN" altLang="en-US" sz="1400" kern="100" dirty="0">
                        <a:solidFill>
                          <a:schemeClr val="dk1"/>
                        </a:solidFill>
                        <a:latin typeface="等线 Light" panose="02010600030101010101" pitchFamily="2" charset="-122"/>
                        <a:ea typeface="等线 Light" panose="02010600030101010101" pitchFamily="2" charset="-122"/>
                        <a:cs typeface="Times New Roman" panose="02020603050405020304" pitchFamily="18" charset="0"/>
                      </a:endParaRPr>
                    </a:p>
                  </a:txBody>
                  <a:tcPr/>
                </a:tc>
                <a:extLst>
                  <a:ext uri="{0D108BD9-81ED-4DB2-BD59-A6C34878D82A}">
                    <a16:rowId xmlns:a16="http://schemas.microsoft.com/office/drawing/2014/main" val="101369714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kern="100" dirty="0">
                          <a:solidFill>
                            <a:schemeClr val="dk1"/>
                          </a:solidFill>
                          <a:latin typeface="等线 Light" panose="02010600030101010101" pitchFamily="2" charset="-122"/>
                          <a:ea typeface="等线 Light" panose="02010600030101010101" pitchFamily="2" charset="-122"/>
                          <a:cs typeface="Times New Roman" panose="02020603050405020304" pitchFamily="18" charset="0"/>
                        </a:rPr>
                        <a:t>带有多禁止时间窗的工程项目工期-成本优化研究</a:t>
                      </a:r>
                    </a:p>
                    <a:p>
                      <a:endParaRPr lang="zh-CN" altLang="en-US" dirty="0"/>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sz="1400" kern="100" dirty="0">
                          <a:solidFill>
                            <a:schemeClr val="dk1"/>
                          </a:solidFill>
                          <a:latin typeface="等线 Light" panose="02010600030101010101" pitchFamily="2" charset="-122"/>
                          <a:ea typeface="等线 Light" panose="02010600030101010101" pitchFamily="2" charset="-122"/>
                          <a:cs typeface="Times New Roman" panose="02020603050405020304" pitchFamily="18" charset="0"/>
                        </a:rPr>
                        <a:t>关于活动时间约束最普遍的是广义优先关系约束，缺乏对多禁止时间窗的研究</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sz="1400" kern="100" dirty="0">
                          <a:solidFill>
                            <a:schemeClr val="dk1"/>
                          </a:solidFill>
                          <a:latin typeface="等线 Light" panose="02010600030101010101" pitchFamily="2" charset="-122"/>
                          <a:ea typeface="等线 Light" panose="02010600030101010101" pitchFamily="2" charset="-122"/>
                          <a:cs typeface="Times New Roman" panose="02020603050405020304" pitchFamily="18" charset="0"/>
                        </a:rPr>
                        <a:t>在活动遇到不可执行的时间窗口时，缺少根据目标对该活动是否拆分进行决策的研究</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sz="1400" kern="100" dirty="0">
                          <a:solidFill>
                            <a:schemeClr val="dk1"/>
                          </a:solidFill>
                          <a:latin typeface="等线 Light" panose="02010600030101010101" pitchFamily="2" charset="-122"/>
                          <a:ea typeface="等线 Light" panose="02010600030101010101" pitchFamily="2" charset="-122"/>
                          <a:cs typeface="Times New Roman" panose="02020603050405020304" pitchFamily="18" charset="0"/>
                        </a:rPr>
                        <a:t>缺少结合项目实施前的基准调度和实施过程中的反应性调度的研究</a:t>
                      </a:r>
                      <a:endParaRPr lang="zh-CN" altLang="en-US" dirty="0"/>
                    </a:p>
                  </a:txBody>
                  <a:tcPr/>
                </a:tc>
                <a:tc>
                  <a:txBody>
                    <a:bodyPr/>
                    <a:lstStyle/>
                    <a:p>
                      <a:pPr algn="l"/>
                      <a:r>
                        <a:rPr lang="zh-CN" altLang="en-US" sz="1400" kern="100" dirty="0">
                          <a:solidFill>
                            <a:schemeClr val="dk1"/>
                          </a:solidFill>
                          <a:latin typeface="等线 Light" panose="02010600030101010101" pitchFamily="2" charset="-122"/>
                          <a:ea typeface="等线 Light" panose="02010600030101010101" pitchFamily="2" charset="-122"/>
                          <a:cs typeface="Times New Roman" panose="02020603050405020304" pitchFamily="18" charset="0"/>
                        </a:rPr>
                        <a:t>如何在调度模型中对多禁止时间窗约束以及特殊活动拆分的决策进行刻画？</a:t>
                      </a:r>
                    </a:p>
                    <a:p>
                      <a:r>
                        <a:rPr lang="zh-CN" altLang="en-US" sz="1400" kern="100" dirty="0">
                          <a:solidFill>
                            <a:schemeClr val="dk1"/>
                          </a:solidFill>
                          <a:latin typeface="等线 Light" panose="02010600030101010101" pitchFamily="2" charset="-122"/>
                          <a:ea typeface="等线 Light" panose="02010600030101010101" pitchFamily="2" charset="-122"/>
                          <a:cs typeface="Times New Roman" panose="02020603050405020304" pitchFamily="18" charset="0"/>
                        </a:rPr>
                        <a:t>针对带有多禁止时间窗的项目调度问题如何构建基准调度和反应性调度模型？​ </a:t>
                      </a:r>
                    </a:p>
                    <a:p>
                      <a:endParaRPr lang="zh-CN" altLang="en-US" dirty="0"/>
                    </a:p>
                  </a:txBody>
                  <a:tcPr/>
                </a:tc>
                <a:extLst>
                  <a:ext uri="{0D108BD9-81ED-4DB2-BD59-A6C34878D82A}">
                    <a16:rowId xmlns:a16="http://schemas.microsoft.com/office/drawing/2014/main" val="2241892215"/>
                  </a:ext>
                </a:extLst>
              </a:tr>
            </a:tbl>
          </a:graphicData>
        </a:graphic>
      </p:graphicFrame>
    </p:spTree>
    <p:extLst>
      <p:ext uri="{BB962C8B-B14F-4D97-AF65-F5344CB8AC3E}">
        <p14:creationId xmlns:p14="http://schemas.microsoft.com/office/powerpoint/2010/main" val="14759866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9BE6829-9EF5-417E-BC9D-1BB59287F47F}"/>
              </a:ext>
            </a:extLst>
          </p:cNvPr>
          <p:cNvSpPr/>
          <p:nvPr/>
        </p:nvSpPr>
        <p:spPr>
          <a:xfrm>
            <a:off x="1676400" y="457200"/>
            <a:ext cx="9067800" cy="600164"/>
          </a:xfrm>
          <a:prstGeom prst="rect">
            <a:avLst/>
          </a:prstGeom>
        </p:spPr>
        <p:txBody>
          <a:bodyPr wrap="square">
            <a:spAutoFit/>
          </a:bodyPr>
          <a:lstStyle/>
          <a:p>
            <a:pPr>
              <a:spcBef>
                <a:spcPct val="0"/>
              </a:spcBef>
            </a:pPr>
            <a:r>
              <a:rPr lang="zh-CN" altLang="en-US" sz="3300" dirty="0">
                <a:latin typeface="等线 Light" panose="02010600030101010101" pitchFamily="2" charset="-122"/>
                <a:ea typeface="等线 Light" panose="02010600030101010101" pitchFamily="2" charset="-122"/>
                <a:cs typeface="+mj-cs"/>
              </a:rPr>
              <a:t>文献综述写作：</a:t>
            </a:r>
            <a:r>
              <a:rPr lang="zh-CN" altLang="zh-CN" sz="3300" dirty="0">
                <a:latin typeface="等线 Light" panose="02010600030101010101" pitchFamily="2" charset="-122"/>
                <a:ea typeface="等线 Light" panose="02010600030101010101" pitchFamily="2" charset="-122"/>
                <a:cs typeface="+mj-cs"/>
              </a:rPr>
              <a:t>支撑解决方案设计</a:t>
            </a:r>
            <a:endParaRPr lang="zh-CN" altLang="en-US" sz="3300" dirty="0">
              <a:latin typeface="等线 Light" panose="02010600030101010101" pitchFamily="2" charset="-122"/>
              <a:ea typeface="等线 Light" panose="02010600030101010101" pitchFamily="2" charset="-122"/>
              <a:cs typeface="+mj-cs"/>
            </a:endParaRPr>
          </a:p>
        </p:txBody>
      </p:sp>
      <p:sp>
        <p:nvSpPr>
          <p:cNvPr id="3" name="矩形 2">
            <a:extLst>
              <a:ext uri="{FF2B5EF4-FFF2-40B4-BE49-F238E27FC236}">
                <a16:creationId xmlns:a16="http://schemas.microsoft.com/office/drawing/2014/main" id="{2E14E3B8-133E-49DA-9EA3-1AA99E754FE0}"/>
              </a:ext>
            </a:extLst>
          </p:cNvPr>
          <p:cNvSpPr/>
          <p:nvPr/>
        </p:nvSpPr>
        <p:spPr>
          <a:xfrm>
            <a:off x="381000" y="1057364"/>
            <a:ext cx="10896600" cy="1384290"/>
          </a:xfrm>
          <a:prstGeom prst="rect">
            <a:avLst/>
          </a:prstGeom>
        </p:spPr>
        <p:txBody>
          <a:bodyPr wrap="square">
            <a:spAutoFit/>
          </a:bodyPr>
          <a:lstStyle/>
          <a:p>
            <a:pPr algn="just">
              <a:lnSpc>
                <a:spcPct val="150000"/>
              </a:lnSpc>
              <a:spcAft>
                <a:spcPts val="0"/>
              </a:spcAft>
            </a:pPr>
            <a:r>
              <a:rPr lang="en-US" altLang="zh-CN" sz="2000" b="1" kern="100" dirty="0">
                <a:latin typeface="等线 Light" panose="02010600030101010101" pitchFamily="2" charset="-122"/>
                <a:ea typeface="等线 Light" panose="02010600030101010101" pitchFamily="2" charset="-122"/>
                <a:cs typeface="Times New Roman" panose="02020603050405020304" pitchFamily="18" charset="0"/>
              </a:rPr>
              <a:t>1</a:t>
            </a:r>
            <a:r>
              <a:rPr lang="zh-CN" altLang="en-US" sz="2000" b="1" kern="100" dirty="0">
                <a:latin typeface="等线 Light" panose="02010600030101010101" pitchFamily="2" charset="-122"/>
                <a:ea typeface="等线 Light" panose="02010600030101010101" pitchFamily="2" charset="-122"/>
                <a:cs typeface="Times New Roman" panose="02020603050405020304" pitchFamily="18" charset="0"/>
              </a:rPr>
              <a:t>、</a:t>
            </a:r>
            <a:r>
              <a:rPr lang="zh-CN" altLang="zh-CN" sz="2000" b="1" kern="100" dirty="0">
                <a:latin typeface="等线 Light" panose="02010600030101010101" pitchFamily="2" charset="-122"/>
                <a:ea typeface="等线 Light" panose="02010600030101010101" pitchFamily="2" charset="-122"/>
                <a:cs typeface="Times New Roman" panose="02020603050405020304" pitchFamily="18" charset="0"/>
              </a:rPr>
              <a:t>定义基本概念</a:t>
            </a:r>
            <a:endParaRPr lang="zh-CN" altLang="zh-CN" sz="2000" kern="100" dirty="0">
              <a:latin typeface="等线 Light" panose="02010600030101010101" pitchFamily="2" charset="-122"/>
              <a:ea typeface="等线 Light" panose="02010600030101010101" pitchFamily="2" charset="-122"/>
              <a:cs typeface="Times New Roman" panose="02020603050405020304" pitchFamily="18" charset="0"/>
            </a:endParaRPr>
          </a:p>
          <a:p>
            <a:pPr marL="342900" indent="-342900" algn="just">
              <a:lnSpc>
                <a:spcPct val="150000"/>
              </a:lnSpc>
              <a:spcAft>
                <a:spcPts val="0"/>
              </a:spcAft>
              <a:buFont typeface="Arial" panose="020B0604020202020204" pitchFamily="34" charset="0"/>
              <a:buChar char="•"/>
            </a:pPr>
            <a:r>
              <a:rPr lang="zh-CN" altLang="zh-CN" kern="100" dirty="0">
                <a:latin typeface="等线 Light" panose="02010600030101010101" pitchFamily="2" charset="-122"/>
                <a:ea typeface="等线 Light" panose="02010600030101010101" pitchFamily="2" charset="-122"/>
                <a:cs typeface="Times New Roman" panose="02020603050405020304" pitchFamily="18" charset="0"/>
              </a:rPr>
              <a:t>分析关键的概念</a:t>
            </a:r>
            <a:endParaRPr lang="en-US" altLang="zh-CN" kern="100" dirty="0">
              <a:latin typeface="等线 Light" panose="02010600030101010101" pitchFamily="2" charset="-122"/>
              <a:ea typeface="等线 Light" panose="02010600030101010101" pitchFamily="2" charset="-122"/>
              <a:cs typeface="Times New Roman" panose="02020603050405020304" pitchFamily="18" charset="0"/>
            </a:endParaRPr>
          </a:p>
          <a:p>
            <a:pPr marL="342900" indent="-342900" algn="just">
              <a:lnSpc>
                <a:spcPct val="150000"/>
              </a:lnSpc>
              <a:spcAft>
                <a:spcPts val="0"/>
              </a:spcAft>
              <a:buFont typeface="Arial" panose="020B0604020202020204" pitchFamily="34" charset="0"/>
              <a:buChar char="•"/>
            </a:pPr>
            <a:r>
              <a:rPr lang="zh-CN" altLang="en-US" kern="100" dirty="0">
                <a:latin typeface="等线 Light" panose="02010600030101010101" pitchFamily="2" charset="-122"/>
                <a:ea typeface="等线 Light" panose="02010600030101010101" pitchFamily="2" charset="-122"/>
                <a:cs typeface="Times New Roman" panose="02020603050405020304" pitchFamily="18" charset="0"/>
              </a:rPr>
              <a:t>讨论：</a:t>
            </a:r>
            <a:r>
              <a:rPr lang="zh-CN" altLang="zh-CN" kern="100" dirty="0">
                <a:latin typeface="等线 Light" panose="02010600030101010101" pitchFamily="2" charset="-122"/>
                <a:ea typeface="等线 Light" panose="02010600030101010101" pitchFamily="2" charset="-122"/>
                <a:cs typeface="Times New Roman" panose="02020603050405020304" pitchFamily="18" charset="0"/>
              </a:rPr>
              <a:t>考虑风险应对策略的项目储备费估算</a:t>
            </a:r>
            <a:r>
              <a:rPr lang="zh-CN" altLang="en-US" kern="100" dirty="0">
                <a:latin typeface="等线 Light" panose="02010600030101010101" pitchFamily="2" charset="-122"/>
                <a:ea typeface="等线 Light" panose="02010600030101010101" pitchFamily="2" charset="-122"/>
                <a:cs typeface="Times New Roman" panose="02020603050405020304" pitchFamily="18" charset="0"/>
              </a:rPr>
              <a:t>、</a:t>
            </a:r>
            <a:r>
              <a:rPr lang="zh-CN" altLang="zh-CN" kern="100" dirty="0">
                <a:latin typeface="等线 Light" panose="02010600030101010101" pitchFamily="2" charset="-122"/>
                <a:ea typeface="等线 Light" panose="02010600030101010101" pitchFamily="2" charset="-122"/>
                <a:cs typeface="Times New Roman" panose="02020603050405020304" pitchFamily="18" charset="0"/>
              </a:rPr>
              <a:t>基于动态风险绩效指数的项目完工状态预测</a:t>
            </a:r>
          </a:p>
        </p:txBody>
      </p:sp>
      <p:sp>
        <p:nvSpPr>
          <p:cNvPr id="6" name="矩形 5">
            <a:extLst>
              <a:ext uri="{FF2B5EF4-FFF2-40B4-BE49-F238E27FC236}">
                <a16:creationId xmlns:a16="http://schemas.microsoft.com/office/drawing/2014/main" id="{F534DB50-8F10-4E6F-BFA5-4981B870A6AC}"/>
              </a:ext>
            </a:extLst>
          </p:cNvPr>
          <p:cNvSpPr/>
          <p:nvPr/>
        </p:nvSpPr>
        <p:spPr>
          <a:xfrm>
            <a:off x="304800" y="3352530"/>
            <a:ext cx="11430000" cy="2127634"/>
          </a:xfrm>
          <a:prstGeom prst="rect">
            <a:avLst/>
          </a:prstGeom>
          <a:solidFill>
            <a:srgbClr val="70AD47">
              <a:lumMod val="40000"/>
              <a:lumOff val="60000"/>
            </a:srgbClr>
          </a:solidFill>
        </p:spPr>
        <p:txBody>
          <a:bodyPr wrap="square">
            <a:spAutoFit/>
          </a:bodyPr>
          <a:lstStyle/>
          <a:p>
            <a:pPr>
              <a:lnSpc>
                <a:spcPct val="150000"/>
              </a:lnSpc>
            </a:pPr>
            <a:r>
              <a:rPr lang="zh-CN" altLang="en-US" b="1" kern="100" dirty="0">
                <a:highlight>
                  <a:srgbClr val="FFFF00"/>
                </a:highlight>
                <a:latin typeface="等线 Light" panose="02010600030101010101" pitchFamily="2" charset="-122"/>
                <a:ea typeface="等线 Light" panose="02010600030101010101" pitchFamily="2" charset="-122"/>
                <a:cs typeface="Times New Roman" panose="02020603050405020304" pitchFamily="18" charset="0"/>
              </a:rPr>
              <a:t>开题答辩总结：</a:t>
            </a:r>
            <a:r>
              <a:rPr lang="zh-CN" altLang="en-US" i="1" kern="100" dirty="0">
                <a:latin typeface="等线 Light" panose="02010600030101010101" pitchFamily="2" charset="-122"/>
                <a:ea typeface="等线 Light" panose="02010600030101010101" pitchFamily="2" charset="-122"/>
                <a:cs typeface="Times New Roman" panose="02020603050405020304" pitchFamily="18" charset="0"/>
              </a:rPr>
              <a:t>“</a:t>
            </a:r>
            <a:r>
              <a:rPr lang="zh-CN" altLang="zh-CN" i="1" kern="100" dirty="0">
                <a:latin typeface="等线 Light" panose="02010600030101010101" pitchFamily="2" charset="-122"/>
                <a:ea typeface="等线 Light" panose="02010600030101010101" pitchFamily="2" charset="-122"/>
                <a:cs typeface="Times New Roman" panose="02020603050405020304" pitchFamily="18" charset="0"/>
              </a:rPr>
              <a:t>在本次答辩过程中，发现很多同学普遍被答辩专家指出的一个问题是，你的题目或者是你的关键词中的很多关键概念并没有界定清楚，进而使整篇文章的研究的内容无法让人把握，这是答辩专家经常批评的一个点。因此，在之后撰写开题报告的时候，需要对于一些关键的概念，有非常清晰的鉴定，这些鉴定可以来源于大量的文献等。例如，在本开题报告中需要对“组织决策”“关联复杂性”等概念有着非常清晰的界定，这样才能够保证后续论文的撰写。</a:t>
            </a:r>
            <a:r>
              <a:rPr lang="zh-CN" altLang="en-US" i="1" kern="100" dirty="0">
                <a:latin typeface="等线 Light" panose="02010600030101010101" pitchFamily="2" charset="-122"/>
                <a:ea typeface="等线 Light" panose="02010600030101010101" pitchFamily="2" charset="-122"/>
                <a:cs typeface="Times New Roman" panose="02020603050405020304" pitchFamily="18" charset="0"/>
              </a:rPr>
              <a:t>”</a:t>
            </a:r>
          </a:p>
        </p:txBody>
      </p:sp>
    </p:spTree>
    <p:extLst>
      <p:ext uri="{BB962C8B-B14F-4D97-AF65-F5344CB8AC3E}">
        <p14:creationId xmlns:p14="http://schemas.microsoft.com/office/powerpoint/2010/main" val="2853630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9BE6829-9EF5-417E-BC9D-1BB59287F47F}"/>
              </a:ext>
            </a:extLst>
          </p:cNvPr>
          <p:cNvSpPr/>
          <p:nvPr/>
        </p:nvSpPr>
        <p:spPr>
          <a:xfrm>
            <a:off x="1676400" y="457200"/>
            <a:ext cx="9067800" cy="600164"/>
          </a:xfrm>
          <a:prstGeom prst="rect">
            <a:avLst/>
          </a:prstGeom>
        </p:spPr>
        <p:txBody>
          <a:bodyPr wrap="square">
            <a:spAutoFit/>
          </a:bodyPr>
          <a:lstStyle/>
          <a:p>
            <a:pPr>
              <a:spcBef>
                <a:spcPct val="0"/>
              </a:spcBef>
            </a:pPr>
            <a:r>
              <a:rPr lang="zh-CN" altLang="en-US" sz="3300" dirty="0">
                <a:latin typeface="等线 Light" panose="02010600030101010101" pitchFamily="2" charset="-122"/>
                <a:ea typeface="等线 Light" panose="02010600030101010101" pitchFamily="2" charset="-122"/>
                <a:cs typeface="+mj-cs"/>
              </a:rPr>
              <a:t>文献综述写作：</a:t>
            </a:r>
            <a:r>
              <a:rPr lang="zh-CN" altLang="zh-CN" sz="3300" dirty="0">
                <a:latin typeface="等线 Light" panose="02010600030101010101" pitchFamily="2" charset="-122"/>
                <a:ea typeface="等线 Light" panose="02010600030101010101" pitchFamily="2" charset="-122"/>
                <a:cs typeface="+mj-cs"/>
              </a:rPr>
              <a:t>支撑解决方案设计</a:t>
            </a:r>
            <a:endParaRPr lang="zh-CN" altLang="en-US" sz="3300" dirty="0">
              <a:latin typeface="等线 Light" panose="02010600030101010101" pitchFamily="2" charset="-122"/>
              <a:ea typeface="等线 Light" panose="02010600030101010101" pitchFamily="2" charset="-122"/>
              <a:cs typeface="+mj-cs"/>
            </a:endParaRPr>
          </a:p>
        </p:txBody>
      </p:sp>
      <p:sp>
        <p:nvSpPr>
          <p:cNvPr id="3" name="矩形 2">
            <a:extLst>
              <a:ext uri="{FF2B5EF4-FFF2-40B4-BE49-F238E27FC236}">
                <a16:creationId xmlns:a16="http://schemas.microsoft.com/office/drawing/2014/main" id="{2E14E3B8-133E-49DA-9EA3-1AA99E754FE0}"/>
              </a:ext>
            </a:extLst>
          </p:cNvPr>
          <p:cNvSpPr/>
          <p:nvPr/>
        </p:nvSpPr>
        <p:spPr>
          <a:xfrm>
            <a:off x="381000" y="1057364"/>
            <a:ext cx="10896600" cy="1384290"/>
          </a:xfrm>
          <a:prstGeom prst="rect">
            <a:avLst/>
          </a:prstGeom>
        </p:spPr>
        <p:txBody>
          <a:bodyPr wrap="square">
            <a:spAutoFit/>
          </a:bodyPr>
          <a:lstStyle/>
          <a:p>
            <a:pPr algn="just">
              <a:lnSpc>
                <a:spcPct val="150000"/>
              </a:lnSpc>
              <a:spcAft>
                <a:spcPts val="0"/>
              </a:spcAft>
            </a:pPr>
            <a:r>
              <a:rPr lang="en-US" altLang="zh-CN" sz="2000" b="1" kern="100" dirty="0">
                <a:latin typeface="等线 Light" panose="02010600030101010101" pitchFamily="2" charset="-122"/>
                <a:ea typeface="等线 Light" panose="02010600030101010101" pitchFamily="2" charset="-122"/>
                <a:cs typeface="Times New Roman" panose="02020603050405020304" pitchFamily="18" charset="0"/>
              </a:rPr>
              <a:t>1</a:t>
            </a:r>
            <a:r>
              <a:rPr lang="zh-CN" altLang="en-US" sz="2000" b="1" kern="100" dirty="0">
                <a:latin typeface="等线 Light" panose="02010600030101010101" pitchFamily="2" charset="-122"/>
                <a:ea typeface="等线 Light" panose="02010600030101010101" pitchFamily="2" charset="-122"/>
                <a:cs typeface="Times New Roman" panose="02020603050405020304" pitchFamily="18" charset="0"/>
              </a:rPr>
              <a:t>、</a:t>
            </a:r>
            <a:r>
              <a:rPr lang="zh-CN" altLang="zh-CN" sz="2000" b="1" kern="100" dirty="0">
                <a:latin typeface="等线 Light" panose="02010600030101010101" pitchFamily="2" charset="-122"/>
                <a:ea typeface="等线 Light" panose="02010600030101010101" pitchFamily="2" charset="-122"/>
                <a:cs typeface="Times New Roman" panose="02020603050405020304" pitchFamily="18" charset="0"/>
              </a:rPr>
              <a:t>定义基本概念</a:t>
            </a:r>
            <a:endParaRPr lang="zh-CN" altLang="zh-CN" sz="2000" kern="100" dirty="0">
              <a:latin typeface="等线 Light" panose="02010600030101010101" pitchFamily="2" charset="-122"/>
              <a:ea typeface="等线 Light" panose="02010600030101010101" pitchFamily="2" charset="-122"/>
              <a:cs typeface="Times New Roman" panose="02020603050405020304" pitchFamily="18" charset="0"/>
            </a:endParaRPr>
          </a:p>
          <a:p>
            <a:pPr marL="342900" indent="-342900" algn="just">
              <a:lnSpc>
                <a:spcPct val="150000"/>
              </a:lnSpc>
              <a:spcAft>
                <a:spcPts val="0"/>
              </a:spcAft>
              <a:buFont typeface="Arial" panose="020B0604020202020204" pitchFamily="34" charset="0"/>
              <a:buChar char="•"/>
            </a:pPr>
            <a:r>
              <a:rPr lang="zh-CN" altLang="zh-CN" kern="100" dirty="0">
                <a:latin typeface="等线 Light" panose="02010600030101010101" pitchFamily="2" charset="-122"/>
                <a:ea typeface="等线 Light" panose="02010600030101010101" pitchFamily="2" charset="-122"/>
                <a:cs typeface="Times New Roman" panose="02020603050405020304" pitchFamily="18" charset="0"/>
              </a:rPr>
              <a:t>分析关键的概念</a:t>
            </a:r>
            <a:endParaRPr lang="en-US" altLang="zh-CN" kern="100" dirty="0">
              <a:latin typeface="等线 Light" panose="02010600030101010101" pitchFamily="2" charset="-122"/>
              <a:ea typeface="等线 Light" panose="02010600030101010101" pitchFamily="2" charset="-122"/>
              <a:cs typeface="Times New Roman" panose="02020603050405020304" pitchFamily="18" charset="0"/>
            </a:endParaRPr>
          </a:p>
          <a:p>
            <a:pPr marL="342900" indent="-342900" algn="just">
              <a:lnSpc>
                <a:spcPct val="150000"/>
              </a:lnSpc>
              <a:spcAft>
                <a:spcPts val="0"/>
              </a:spcAft>
              <a:buFont typeface="Arial" panose="020B0604020202020204" pitchFamily="34" charset="0"/>
              <a:buChar char="•"/>
            </a:pPr>
            <a:r>
              <a:rPr lang="zh-CN" altLang="en-US" kern="100" dirty="0">
                <a:latin typeface="等线 Light" panose="02010600030101010101" pitchFamily="2" charset="-122"/>
                <a:ea typeface="等线 Light" panose="02010600030101010101" pitchFamily="2" charset="-122"/>
                <a:cs typeface="Times New Roman" panose="02020603050405020304" pitchFamily="18" charset="0"/>
              </a:rPr>
              <a:t>讨论：</a:t>
            </a:r>
            <a:r>
              <a:rPr lang="zh-CN" altLang="zh-CN" kern="100" dirty="0">
                <a:latin typeface="等线 Light" panose="02010600030101010101" pitchFamily="2" charset="-122"/>
                <a:ea typeface="等线 Light" panose="02010600030101010101" pitchFamily="2" charset="-122"/>
                <a:cs typeface="Times New Roman" panose="02020603050405020304" pitchFamily="18" charset="0"/>
              </a:rPr>
              <a:t>考虑风险应对策略的项目储备费估算</a:t>
            </a:r>
            <a:r>
              <a:rPr lang="zh-CN" altLang="en-US" kern="100" dirty="0">
                <a:latin typeface="等线 Light" panose="02010600030101010101" pitchFamily="2" charset="-122"/>
                <a:ea typeface="等线 Light" panose="02010600030101010101" pitchFamily="2" charset="-122"/>
                <a:cs typeface="Times New Roman" panose="02020603050405020304" pitchFamily="18" charset="0"/>
              </a:rPr>
              <a:t>、</a:t>
            </a:r>
            <a:r>
              <a:rPr lang="zh-CN" altLang="zh-CN" kern="100" dirty="0">
                <a:latin typeface="等线 Light" panose="02010600030101010101" pitchFamily="2" charset="-122"/>
                <a:ea typeface="等线 Light" panose="02010600030101010101" pitchFamily="2" charset="-122"/>
                <a:cs typeface="Times New Roman" panose="02020603050405020304" pitchFamily="18" charset="0"/>
              </a:rPr>
              <a:t>基于动态风险绩效指数的项目完工状态预测</a:t>
            </a:r>
          </a:p>
        </p:txBody>
      </p:sp>
      <p:sp>
        <p:nvSpPr>
          <p:cNvPr id="5" name="矩形 4">
            <a:extLst>
              <a:ext uri="{FF2B5EF4-FFF2-40B4-BE49-F238E27FC236}">
                <a16:creationId xmlns:a16="http://schemas.microsoft.com/office/drawing/2014/main" id="{3140E8CE-CBE6-4B79-B798-E3B73A19F1D2}"/>
              </a:ext>
            </a:extLst>
          </p:cNvPr>
          <p:cNvSpPr/>
          <p:nvPr>
            <p:custDataLst>
              <p:tags r:id="rId1"/>
            </p:custDataLst>
          </p:nvPr>
        </p:nvSpPr>
        <p:spPr>
          <a:xfrm>
            <a:off x="396240" y="3067137"/>
            <a:ext cx="11430000" cy="465640"/>
          </a:xfrm>
          <a:prstGeom prst="rect">
            <a:avLst/>
          </a:prstGeom>
          <a:solidFill>
            <a:srgbClr val="70AD47">
              <a:lumMod val="40000"/>
              <a:lumOff val="60000"/>
            </a:srgbClr>
          </a:solidFill>
        </p:spPr>
        <p:txBody>
          <a:bodyPr wrap="square">
            <a:spAutoFit/>
          </a:bodyPr>
          <a:lstStyle/>
          <a:p>
            <a:pPr>
              <a:lnSpc>
                <a:spcPct val="150000"/>
              </a:lnSpc>
            </a:pPr>
            <a:r>
              <a:rPr lang="zh-CN" altLang="en-US" b="1" kern="100" dirty="0">
                <a:latin typeface="等线 Light" panose="02010600030101010101" pitchFamily="2" charset="-122"/>
                <a:ea typeface="等线 Light" panose="02010600030101010101" pitchFamily="2" charset="-122"/>
                <a:cs typeface="Times New Roman" panose="02020603050405020304" pitchFamily="18" charset="0"/>
              </a:rPr>
              <a:t>风险相关性的定义：可分为多米诺骨牌效应、风险之间的优先关系以及二次风险的产生</a:t>
            </a:r>
          </a:p>
        </p:txBody>
      </p:sp>
      <p:pic>
        <p:nvPicPr>
          <p:cNvPr id="7" name="图片 6">
            <a:extLst>
              <a:ext uri="{FF2B5EF4-FFF2-40B4-BE49-F238E27FC236}">
                <a16:creationId xmlns:a16="http://schemas.microsoft.com/office/drawing/2014/main" id="{42A947C4-D950-44B6-85B0-B6A2CAFA2A6B}"/>
              </a:ext>
            </a:extLst>
          </p:cNvPr>
          <p:cNvPicPr>
            <a:picLocks noChangeAspect="1"/>
          </p:cNvPicPr>
          <p:nvPr/>
        </p:nvPicPr>
        <p:blipFill rotWithShape="1">
          <a:blip r:embed="rId3"/>
          <a:srcRect t="731" r="1113"/>
          <a:stretch/>
        </p:blipFill>
        <p:spPr>
          <a:xfrm>
            <a:off x="381000" y="3733800"/>
            <a:ext cx="3976914" cy="2837543"/>
          </a:xfrm>
          <a:prstGeom prst="rect">
            <a:avLst/>
          </a:prstGeom>
        </p:spPr>
      </p:pic>
    </p:spTree>
    <p:extLst>
      <p:ext uri="{BB962C8B-B14F-4D97-AF65-F5344CB8AC3E}">
        <p14:creationId xmlns:p14="http://schemas.microsoft.com/office/powerpoint/2010/main" val="27372197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9BE6829-9EF5-417E-BC9D-1BB59287F47F}"/>
              </a:ext>
            </a:extLst>
          </p:cNvPr>
          <p:cNvSpPr/>
          <p:nvPr/>
        </p:nvSpPr>
        <p:spPr>
          <a:xfrm>
            <a:off x="1676400" y="457200"/>
            <a:ext cx="9067800" cy="600164"/>
          </a:xfrm>
          <a:prstGeom prst="rect">
            <a:avLst/>
          </a:prstGeom>
        </p:spPr>
        <p:txBody>
          <a:bodyPr wrap="square">
            <a:spAutoFit/>
          </a:bodyPr>
          <a:lstStyle/>
          <a:p>
            <a:pPr>
              <a:spcBef>
                <a:spcPct val="0"/>
              </a:spcBef>
            </a:pPr>
            <a:r>
              <a:rPr lang="zh-CN" altLang="en-US" sz="3300" dirty="0">
                <a:latin typeface="等线 Light" panose="02010600030101010101" pitchFamily="2" charset="-122"/>
                <a:ea typeface="等线 Light" panose="02010600030101010101" pitchFamily="2" charset="-122"/>
                <a:cs typeface="+mj-cs"/>
              </a:rPr>
              <a:t>文献综述写作：</a:t>
            </a:r>
            <a:r>
              <a:rPr lang="zh-CN" altLang="zh-CN" sz="3300" dirty="0">
                <a:latin typeface="等线 Light" panose="02010600030101010101" pitchFamily="2" charset="-122"/>
                <a:ea typeface="等线 Light" panose="02010600030101010101" pitchFamily="2" charset="-122"/>
                <a:cs typeface="+mj-cs"/>
              </a:rPr>
              <a:t>支撑解决方案设计</a:t>
            </a:r>
            <a:endParaRPr lang="zh-CN" altLang="en-US" sz="3300" dirty="0">
              <a:latin typeface="等线 Light" panose="02010600030101010101" pitchFamily="2" charset="-122"/>
              <a:ea typeface="等线 Light" panose="02010600030101010101" pitchFamily="2" charset="-122"/>
              <a:cs typeface="+mj-cs"/>
            </a:endParaRPr>
          </a:p>
        </p:txBody>
      </p:sp>
      <p:sp>
        <p:nvSpPr>
          <p:cNvPr id="3" name="矩形 2">
            <a:extLst>
              <a:ext uri="{FF2B5EF4-FFF2-40B4-BE49-F238E27FC236}">
                <a16:creationId xmlns:a16="http://schemas.microsoft.com/office/drawing/2014/main" id="{2E14E3B8-133E-49DA-9EA3-1AA99E754FE0}"/>
              </a:ext>
            </a:extLst>
          </p:cNvPr>
          <p:cNvSpPr/>
          <p:nvPr/>
        </p:nvSpPr>
        <p:spPr>
          <a:xfrm>
            <a:off x="381000" y="1057364"/>
            <a:ext cx="10896600" cy="1342803"/>
          </a:xfrm>
          <a:prstGeom prst="rect">
            <a:avLst/>
          </a:prstGeom>
        </p:spPr>
        <p:txBody>
          <a:bodyPr wrap="square">
            <a:spAutoFit/>
          </a:bodyPr>
          <a:lstStyle/>
          <a:p>
            <a:pPr algn="just">
              <a:lnSpc>
                <a:spcPct val="150000"/>
              </a:lnSpc>
              <a:spcAft>
                <a:spcPts val="0"/>
              </a:spcAft>
            </a:pPr>
            <a:r>
              <a:rPr lang="en-US" altLang="zh-CN" sz="2000" kern="100" dirty="0">
                <a:latin typeface="等线 Light" panose="02010600030101010101" pitchFamily="2" charset="-122"/>
                <a:ea typeface="等线 Light" panose="02010600030101010101" pitchFamily="2" charset="-122"/>
                <a:cs typeface="Times New Roman" panose="02020603050405020304" pitchFamily="18" charset="0"/>
              </a:rPr>
              <a:t> </a:t>
            </a:r>
            <a:r>
              <a:rPr lang="en-US" altLang="zh-CN" sz="2000" b="1" kern="100" dirty="0">
                <a:latin typeface="等线 Light" panose="02010600030101010101" pitchFamily="2" charset="-122"/>
                <a:ea typeface="等线 Light" panose="02010600030101010101" pitchFamily="2" charset="-122"/>
                <a:cs typeface="Times New Roman" panose="02020603050405020304" pitchFamily="18" charset="0"/>
              </a:rPr>
              <a:t>2</a:t>
            </a:r>
            <a:r>
              <a:rPr lang="zh-CN" altLang="en-US" sz="2000" b="1" kern="100" dirty="0">
                <a:latin typeface="等线 Light" panose="02010600030101010101" pitchFamily="2" charset="-122"/>
                <a:ea typeface="等线 Light" panose="02010600030101010101" pitchFamily="2" charset="-122"/>
                <a:cs typeface="Times New Roman" panose="02020603050405020304" pitchFamily="18" charset="0"/>
              </a:rPr>
              <a:t>、</a:t>
            </a:r>
            <a:r>
              <a:rPr lang="zh-CN" altLang="zh-CN" sz="2000" b="1" kern="100" dirty="0">
                <a:latin typeface="等线 Light" panose="02010600030101010101" pitchFamily="2" charset="-122"/>
                <a:ea typeface="等线 Light" panose="02010600030101010101" pitchFamily="2" charset="-122"/>
                <a:cs typeface="Times New Roman" panose="02020603050405020304" pitchFamily="18" charset="0"/>
              </a:rPr>
              <a:t>解决方案设计的理论支撑</a:t>
            </a:r>
            <a:endParaRPr lang="zh-CN" altLang="zh-CN" sz="2000" kern="100" dirty="0">
              <a:latin typeface="等线 Light" panose="02010600030101010101" pitchFamily="2" charset="-122"/>
              <a:ea typeface="等线 Light" panose="02010600030101010101" pitchFamily="2" charset="-122"/>
              <a:cs typeface="Times New Roman" panose="02020603050405020304" pitchFamily="18" charset="0"/>
            </a:endParaRPr>
          </a:p>
          <a:p>
            <a:pPr marL="342900" indent="-342900" algn="just">
              <a:lnSpc>
                <a:spcPct val="150000"/>
              </a:lnSpc>
              <a:buFont typeface="Arial" panose="020B0604020202020204" pitchFamily="34" charset="0"/>
              <a:buChar char="•"/>
            </a:pPr>
            <a:r>
              <a:rPr lang="zh-CN" altLang="zh-CN" kern="100" dirty="0">
                <a:latin typeface="等线 Light" panose="02010600030101010101" pitchFamily="2" charset="-122"/>
                <a:ea typeface="等线 Light" panose="02010600030101010101" pitchFamily="2" charset="-122"/>
                <a:cs typeface="Times New Roman" panose="02020603050405020304" pitchFamily="18" charset="0"/>
              </a:rPr>
              <a:t>基础理论部分</a:t>
            </a:r>
            <a:r>
              <a:rPr lang="en-US" altLang="zh-CN" kern="100" dirty="0">
                <a:latin typeface="等线 Light" panose="02010600030101010101" pitchFamily="2" charset="-122"/>
                <a:ea typeface="等线 Light" panose="02010600030101010101" pitchFamily="2" charset="-122"/>
                <a:cs typeface="Times New Roman" panose="02020603050405020304" pitchFamily="18" charset="0"/>
              </a:rPr>
              <a:t> </a:t>
            </a:r>
            <a:endParaRPr lang="zh-CN" altLang="zh-CN" kern="100" dirty="0">
              <a:latin typeface="等线 Light" panose="02010600030101010101" pitchFamily="2" charset="-122"/>
              <a:ea typeface="等线 Light" panose="02010600030101010101" pitchFamily="2" charset="-122"/>
              <a:cs typeface="Times New Roman" panose="02020603050405020304" pitchFamily="18" charset="0"/>
            </a:endParaRPr>
          </a:p>
          <a:p>
            <a:pPr marL="342900" indent="-342900" algn="just">
              <a:lnSpc>
                <a:spcPct val="150000"/>
              </a:lnSpc>
              <a:buFont typeface="Arial" panose="020B0604020202020204" pitchFamily="34" charset="0"/>
              <a:buChar char="•"/>
            </a:pPr>
            <a:r>
              <a:rPr lang="zh-CN" altLang="zh-CN" kern="100" dirty="0">
                <a:latin typeface="等线 Light" panose="02010600030101010101" pitchFamily="2" charset="-122"/>
                <a:ea typeface="等线 Light" panose="02010600030101010101" pitchFamily="2" charset="-122"/>
                <a:cs typeface="Times New Roman" panose="02020603050405020304" pitchFamily="18" charset="0"/>
              </a:rPr>
              <a:t>解决方案设计的方法和流程</a:t>
            </a:r>
          </a:p>
        </p:txBody>
      </p:sp>
      <p:graphicFrame>
        <p:nvGraphicFramePr>
          <p:cNvPr id="4" name="表格 3">
            <a:extLst>
              <a:ext uri="{FF2B5EF4-FFF2-40B4-BE49-F238E27FC236}">
                <a16:creationId xmlns:a16="http://schemas.microsoft.com/office/drawing/2014/main" id="{A3D74478-5739-489B-95E5-B96BE8C32EB1}"/>
              </a:ext>
            </a:extLst>
          </p:cNvPr>
          <p:cNvGraphicFramePr>
            <a:graphicFrameLocks noGrp="1"/>
          </p:cNvGraphicFramePr>
          <p:nvPr>
            <p:extLst>
              <p:ext uri="{D42A27DB-BD31-4B8C-83A1-F6EECF244321}">
                <p14:modId xmlns:p14="http://schemas.microsoft.com/office/powerpoint/2010/main" val="2812745723"/>
              </p:ext>
            </p:extLst>
          </p:nvPr>
        </p:nvGraphicFramePr>
        <p:xfrm>
          <a:off x="4343400" y="2743200"/>
          <a:ext cx="6553202" cy="2987506"/>
        </p:xfrm>
        <a:graphic>
          <a:graphicData uri="http://schemas.openxmlformats.org/drawingml/2006/table">
            <a:tbl>
              <a:tblPr firstRow="1" firstCol="1" bandRow="1">
                <a:tableStyleId>{5C22544A-7EE6-4342-B048-85BDC9FD1C3A}</a:tableStyleId>
              </a:tblPr>
              <a:tblGrid>
                <a:gridCol w="967811">
                  <a:extLst>
                    <a:ext uri="{9D8B030D-6E8A-4147-A177-3AD203B41FA5}">
                      <a16:colId xmlns:a16="http://schemas.microsoft.com/office/drawing/2014/main" val="4002884091"/>
                    </a:ext>
                  </a:extLst>
                </a:gridCol>
                <a:gridCol w="967811">
                  <a:extLst>
                    <a:ext uri="{9D8B030D-6E8A-4147-A177-3AD203B41FA5}">
                      <a16:colId xmlns:a16="http://schemas.microsoft.com/office/drawing/2014/main" val="3658137877"/>
                    </a:ext>
                  </a:extLst>
                </a:gridCol>
                <a:gridCol w="1074755">
                  <a:extLst>
                    <a:ext uri="{9D8B030D-6E8A-4147-A177-3AD203B41FA5}">
                      <a16:colId xmlns:a16="http://schemas.microsoft.com/office/drawing/2014/main" val="562393921"/>
                    </a:ext>
                  </a:extLst>
                </a:gridCol>
                <a:gridCol w="1075514">
                  <a:extLst>
                    <a:ext uri="{9D8B030D-6E8A-4147-A177-3AD203B41FA5}">
                      <a16:colId xmlns:a16="http://schemas.microsoft.com/office/drawing/2014/main" val="3821092454"/>
                    </a:ext>
                  </a:extLst>
                </a:gridCol>
                <a:gridCol w="1075514">
                  <a:extLst>
                    <a:ext uri="{9D8B030D-6E8A-4147-A177-3AD203B41FA5}">
                      <a16:colId xmlns:a16="http://schemas.microsoft.com/office/drawing/2014/main" val="1480668664"/>
                    </a:ext>
                  </a:extLst>
                </a:gridCol>
                <a:gridCol w="1391797">
                  <a:extLst>
                    <a:ext uri="{9D8B030D-6E8A-4147-A177-3AD203B41FA5}">
                      <a16:colId xmlns:a16="http://schemas.microsoft.com/office/drawing/2014/main" val="2765509628"/>
                    </a:ext>
                  </a:extLst>
                </a:gridCol>
              </a:tblGrid>
              <a:tr h="332721">
                <a:tc>
                  <a:txBody>
                    <a:bodyPr/>
                    <a:lstStyle/>
                    <a:p>
                      <a:pPr algn="l">
                        <a:spcAft>
                          <a:spcPts val="0"/>
                        </a:spcAft>
                      </a:pPr>
                      <a:r>
                        <a:rPr lang="en-US" sz="1100" kern="100" dirty="0">
                          <a:effectLst/>
                        </a:rPr>
                        <a:t>PFM</a:t>
                      </a:r>
                      <a:r>
                        <a:rPr lang="zh-CN" sz="1100" kern="100" dirty="0">
                          <a:effectLst/>
                        </a:rPr>
                        <a:t>因素</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zh-CN" sz="1100" kern="100">
                          <a:effectLst/>
                        </a:rPr>
                        <a:t>子类别</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zh-CN" sz="1100" kern="100">
                          <a:effectLst/>
                        </a:rPr>
                        <a:t>基础理论</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zh-CN" sz="1100" kern="100">
                          <a:effectLst/>
                        </a:rPr>
                        <a:t>构念</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en-US" sz="1100" kern="100">
                          <a:effectLst/>
                        </a:rPr>
                        <a:t>PFM</a:t>
                      </a:r>
                      <a:r>
                        <a:rPr lang="zh-CN" sz="1100" kern="100">
                          <a:effectLst/>
                        </a:rPr>
                        <a:t>变量</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zh-CN" sz="1100" kern="100" dirty="0">
                          <a:effectLst/>
                        </a:rPr>
                        <a:t>理论在</a:t>
                      </a:r>
                      <a:r>
                        <a:rPr lang="en-US" sz="1100" kern="100" dirty="0">
                          <a:effectLst/>
                        </a:rPr>
                        <a:t>PFM</a:t>
                      </a:r>
                      <a:r>
                        <a:rPr lang="zh-CN" sz="1100" kern="100" dirty="0">
                          <a:effectLst/>
                        </a:rPr>
                        <a:t>的应用</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131058684"/>
                  </a:ext>
                </a:extLst>
              </a:tr>
              <a:tr h="408339">
                <a:tc rowSpan="2">
                  <a:txBody>
                    <a:bodyPr/>
                    <a:lstStyle/>
                    <a:p>
                      <a:pPr algn="ctr">
                        <a:spcAft>
                          <a:spcPts val="0"/>
                        </a:spcAft>
                      </a:pPr>
                      <a:r>
                        <a:rPr lang="zh-CN" sz="900" kern="100">
                          <a:effectLst/>
                        </a:rPr>
                        <a:t>工具因素</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just">
                        <a:spcAft>
                          <a:spcPts val="0"/>
                        </a:spcAft>
                      </a:pPr>
                      <a:r>
                        <a:rPr lang="zh-CN" sz="900" kern="100">
                          <a:effectLst/>
                        </a:rPr>
                        <a:t>工具信息</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rowSpan="2">
                  <a:txBody>
                    <a:bodyPr/>
                    <a:lstStyle/>
                    <a:p>
                      <a:pPr algn="just">
                        <a:spcAft>
                          <a:spcPts val="0"/>
                        </a:spcAft>
                      </a:pPr>
                      <a:r>
                        <a:rPr lang="zh-CN" sz="900" kern="100">
                          <a:effectLst/>
                        </a:rPr>
                        <a:t>技术接收模型</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just">
                        <a:spcAft>
                          <a:spcPts val="0"/>
                        </a:spcAft>
                      </a:pPr>
                      <a:r>
                        <a:rPr lang="zh-CN" sz="900" kern="100">
                          <a:effectLst/>
                        </a:rPr>
                        <a:t>感知有用性</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just">
                        <a:spcAft>
                          <a:spcPts val="0"/>
                        </a:spcAft>
                      </a:pPr>
                      <a:r>
                        <a:rPr lang="zh-CN" sz="900" kern="100">
                          <a:effectLst/>
                        </a:rPr>
                        <a:t>工具警告</a:t>
                      </a:r>
                      <a:endParaRPr lang="zh-CN" sz="1050" kern="100">
                        <a:effectLst/>
                      </a:endParaRPr>
                    </a:p>
                    <a:p>
                      <a:pPr algn="just">
                        <a:spcAft>
                          <a:spcPts val="0"/>
                        </a:spcAft>
                      </a:pPr>
                      <a:r>
                        <a:rPr lang="zh-CN" sz="900" kern="100">
                          <a:effectLst/>
                        </a:rPr>
                        <a:t>工具检测率</a:t>
                      </a:r>
                      <a:endParaRPr lang="zh-CN" sz="1050" kern="100">
                        <a:effectLst/>
                      </a:endParaRPr>
                    </a:p>
                    <a:p>
                      <a:pPr algn="just">
                        <a:spcAft>
                          <a:spcPts val="0"/>
                        </a:spcAft>
                      </a:pPr>
                      <a:r>
                        <a:rPr lang="zh-CN" sz="900" kern="100">
                          <a:effectLst/>
                        </a:rPr>
                        <a:t>处理时间</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rowSpan="2">
                  <a:txBody>
                    <a:bodyPr/>
                    <a:lstStyle/>
                    <a:p>
                      <a:pPr algn="l">
                        <a:spcAft>
                          <a:spcPts val="0"/>
                        </a:spcAft>
                      </a:pPr>
                      <a:r>
                        <a:rPr lang="zh-CN" sz="900" kern="100">
                          <a:effectLst/>
                        </a:rPr>
                        <a:t>反钓鱼工具的采用取决于对其有用性和易用性的认识。</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739562158"/>
                  </a:ext>
                </a:extLst>
              </a:tr>
              <a:tr h="272226">
                <a:tc vMerge="1">
                  <a:txBody>
                    <a:bodyPr/>
                    <a:lstStyle/>
                    <a:p>
                      <a:endParaRPr lang="zh-CN" altLang="en-US"/>
                    </a:p>
                  </a:txBody>
                  <a:tcPr/>
                </a:tc>
                <a:tc>
                  <a:txBody>
                    <a:bodyPr/>
                    <a:lstStyle/>
                    <a:p>
                      <a:pPr algn="just">
                        <a:spcAft>
                          <a:spcPts val="0"/>
                        </a:spcAft>
                      </a:pPr>
                      <a:r>
                        <a:rPr lang="zh-CN" sz="900" kern="100">
                          <a:effectLst/>
                        </a:rPr>
                        <a:t>工具感知</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vMerge="1">
                  <a:txBody>
                    <a:bodyPr/>
                    <a:lstStyle/>
                    <a:p>
                      <a:endParaRPr lang="zh-CN" altLang="en-US"/>
                    </a:p>
                  </a:txBody>
                  <a:tcPr/>
                </a:tc>
                <a:tc>
                  <a:txBody>
                    <a:bodyPr/>
                    <a:lstStyle/>
                    <a:p>
                      <a:pPr algn="just">
                        <a:spcAft>
                          <a:spcPts val="0"/>
                        </a:spcAft>
                      </a:pPr>
                      <a:r>
                        <a:rPr lang="zh-CN" sz="900" kern="100">
                          <a:effectLst/>
                        </a:rPr>
                        <a:t>工具易用性</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just">
                        <a:spcAft>
                          <a:spcPts val="0"/>
                        </a:spcAft>
                      </a:pPr>
                      <a:r>
                        <a:rPr lang="zh-CN" sz="900" kern="100">
                          <a:effectLst/>
                        </a:rPr>
                        <a:t>工具有用性</a:t>
                      </a:r>
                      <a:endParaRPr lang="zh-CN" sz="1050" kern="100">
                        <a:effectLst/>
                      </a:endParaRPr>
                    </a:p>
                    <a:p>
                      <a:pPr algn="just">
                        <a:spcAft>
                          <a:spcPts val="0"/>
                        </a:spcAft>
                      </a:pPr>
                      <a:r>
                        <a:rPr lang="zh-CN" sz="900" kern="100">
                          <a:effectLst/>
                        </a:rPr>
                        <a:t>需要的努力</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vMerge="1">
                  <a:txBody>
                    <a:bodyPr/>
                    <a:lstStyle/>
                    <a:p>
                      <a:endParaRPr lang="zh-CN" altLang="en-US"/>
                    </a:p>
                  </a:txBody>
                  <a:tcPr/>
                </a:tc>
                <a:extLst>
                  <a:ext uri="{0D108BD9-81ED-4DB2-BD59-A6C34878D82A}">
                    <a16:rowId xmlns:a16="http://schemas.microsoft.com/office/drawing/2014/main" val="2067444825"/>
                  </a:ext>
                </a:extLst>
              </a:tr>
              <a:tr h="272226">
                <a:tc rowSpan="4">
                  <a:txBody>
                    <a:bodyPr/>
                    <a:lstStyle/>
                    <a:p>
                      <a:pPr algn="ctr">
                        <a:spcAft>
                          <a:spcPts val="0"/>
                        </a:spcAft>
                      </a:pPr>
                      <a:r>
                        <a:rPr lang="zh-CN" sz="900" kern="100">
                          <a:effectLst/>
                        </a:rPr>
                        <a:t>威胁因素</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rowSpan="2">
                  <a:txBody>
                    <a:bodyPr/>
                    <a:lstStyle/>
                    <a:p>
                      <a:pPr algn="just">
                        <a:spcAft>
                          <a:spcPts val="0"/>
                        </a:spcAft>
                      </a:pPr>
                      <a:r>
                        <a:rPr lang="zh-CN" sz="900" kern="100" dirty="0">
                          <a:effectLst/>
                        </a:rPr>
                        <a:t>威胁特征</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rowSpan="4">
                  <a:txBody>
                    <a:bodyPr/>
                    <a:lstStyle/>
                    <a:p>
                      <a:pPr algn="just">
                        <a:spcAft>
                          <a:spcPts val="0"/>
                        </a:spcAft>
                      </a:pPr>
                      <a:r>
                        <a:rPr lang="zh-CN" sz="900" kern="100" dirty="0">
                          <a:effectLst/>
                        </a:rPr>
                        <a:t>保护动机理论</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just">
                        <a:spcAft>
                          <a:spcPts val="0"/>
                        </a:spcAft>
                      </a:pPr>
                      <a:r>
                        <a:rPr lang="zh-CN" sz="900" kern="100">
                          <a:effectLst/>
                        </a:rPr>
                        <a:t>威胁经历</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just">
                        <a:spcAft>
                          <a:spcPts val="0"/>
                        </a:spcAft>
                      </a:pPr>
                      <a:r>
                        <a:rPr lang="zh-CN" sz="900" kern="100">
                          <a:effectLst/>
                        </a:rPr>
                        <a:t>错误成本</a:t>
                      </a:r>
                      <a:endParaRPr lang="zh-CN" sz="1050" kern="100">
                        <a:effectLst/>
                      </a:endParaRPr>
                    </a:p>
                    <a:p>
                      <a:pPr algn="just">
                        <a:spcAft>
                          <a:spcPts val="0"/>
                        </a:spcAft>
                      </a:pPr>
                      <a:r>
                        <a:rPr lang="zh-CN" sz="900" kern="100">
                          <a:effectLst/>
                        </a:rPr>
                        <a:t>威胁领域</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rowSpan="4">
                  <a:txBody>
                    <a:bodyPr/>
                    <a:lstStyle/>
                    <a:p>
                      <a:pPr algn="l">
                        <a:spcAft>
                          <a:spcPts val="0"/>
                        </a:spcAft>
                      </a:pPr>
                      <a:r>
                        <a:rPr lang="zh-CN" sz="900" kern="100">
                          <a:effectLst/>
                        </a:rPr>
                        <a:t>对威胁的反应取决于对威胁严重性和易感性的认识，并以以往经验为依据。</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070167374"/>
                  </a:ext>
                </a:extLst>
              </a:tr>
              <a:tr h="408339">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just">
                        <a:spcAft>
                          <a:spcPts val="0"/>
                        </a:spcAft>
                      </a:pPr>
                      <a:r>
                        <a:rPr lang="zh-CN" sz="900" kern="100">
                          <a:effectLst/>
                        </a:rPr>
                        <a:t>威胁严重性</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just">
                        <a:spcAft>
                          <a:spcPts val="0"/>
                        </a:spcAft>
                      </a:pPr>
                      <a:r>
                        <a:rPr lang="zh-CN" sz="900" kern="100">
                          <a:effectLst/>
                        </a:rPr>
                        <a:t>威胁种类</a:t>
                      </a:r>
                      <a:endParaRPr lang="zh-CN" sz="1050" kern="100">
                        <a:effectLst/>
                      </a:endParaRPr>
                    </a:p>
                    <a:p>
                      <a:pPr algn="just">
                        <a:spcAft>
                          <a:spcPts val="0"/>
                        </a:spcAft>
                      </a:pPr>
                      <a:r>
                        <a:rPr lang="zh-CN" sz="900" kern="100">
                          <a:effectLst/>
                        </a:rPr>
                        <a:t>威胁内容</a:t>
                      </a:r>
                      <a:endParaRPr lang="zh-CN" sz="1050" kern="100">
                        <a:effectLst/>
                      </a:endParaRPr>
                    </a:p>
                    <a:p>
                      <a:pPr algn="just">
                        <a:spcAft>
                          <a:spcPts val="0"/>
                        </a:spcAft>
                      </a:pPr>
                      <a:r>
                        <a:rPr lang="zh-CN" sz="900" kern="100">
                          <a:effectLst/>
                        </a:rPr>
                        <a:t>威胁严重性</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vMerge="1">
                  <a:txBody>
                    <a:bodyPr/>
                    <a:lstStyle/>
                    <a:p>
                      <a:endParaRPr lang="zh-CN" altLang="en-US"/>
                    </a:p>
                  </a:txBody>
                  <a:tcPr/>
                </a:tc>
                <a:extLst>
                  <a:ext uri="{0D108BD9-81ED-4DB2-BD59-A6C34878D82A}">
                    <a16:rowId xmlns:a16="http://schemas.microsoft.com/office/drawing/2014/main" val="3334165802"/>
                  </a:ext>
                </a:extLst>
              </a:tr>
              <a:tr h="136113">
                <a:tc vMerge="1">
                  <a:txBody>
                    <a:bodyPr/>
                    <a:lstStyle/>
                    <a:p>
                      <a:endParaRPr lang="zh-CN" altLang="en-US"/>
                    </a:p>
                  </a:txBody>
                  <a:tcPr/>
                </a:tc>
                <a:tc rowSpan="2">
                  <a:txBody>
                    <a:bodyPr/>
                    <a:lstStyle/>
                    <a:p>
                      <a:pPr algn="just">
                        <a:spcAft>
                          <a:spcPts val="0"/>
                        </a:spcAft>
                      </a:pPr>
                      <a:r>
                        <a:rPr lang="zh-CN" sz="900" kern="100">
                          <a:effectLst/>
                        </a:rPr>
                        <a:t>威胁感知</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vMerge="1">
                  <a:txBody>
                    <a:bodyPr/>
                    <a:lstStyle/>
                    <a:p>
                      <a:endParaRPr lang="zh-CN" altLang="en-US"/>
                    </a:p>
                  </a:txBody>
                  <a:tcPr/>
                </a:tc>
                <a:tc>
                  <a:txBody>
                    <a:bodyPr/>
                    <a:lstStyle/>
                    <a:p>
                      <a:pPr algn="just">
                        <a:spcAft>
                          <a:spcPts val="0"/>
                        </a:spcAft>
                      </a:pPr>
                      <a:r>
                        <a:rPr lang="en-US" sz="900" kern="100">
                          <a:effectLst/>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just">
                        <a:spcAft>
                          <a:spcPts val="0"/>
                        </a:spcAft>
                      </a:pPr>
                      <a:r>
                        <a:rPr lang="zh-CN" sz="900" kern="100">
                          <a:effectLst/>
                        </a:rPr>
                        <a:t>网络钓鱼意识</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vMerge="1">
                  <a:txBody>
                    <a:bodyPr/>
                    <a:lstStyle/>
                    <a:p>
                      <a:endParaRPr lang="zh-CN" altLang="en-US"/>
                    </a:p>
                  </a:txBody>
                  <a:tcPr/>
                </a:tc>
                <a:extLst>
                  <a:ext uri="{0D108BD9-81ED-4DB2-BD59-A6C34878D82A}">
                    <a16:rowId xmlns:a16="http://schemas.microsoft.com/office/drawing/2014/main" val="1332874167"/>
                  </a:ext>
                </a:extLst>
              </a:tr>
              <a:tr h="136113">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just">
                        <a:spcAft>
                          <a:spcPts val="0"/>
                        </a:spcAft>
                      </a:pPr>
                      <a:r>
                        <a:rPr lang="zh-CN" sz="900" kern="100">
                          <a:effectLst/>
                        </a:rPr>
                        <a:t>威胁易感性</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just">
                        <a:spcAft>
                          <a:spcPts val="0"/>
                        </a:spcAft>
                      </a:pPr>
                      <a:r>
                        <a:rPr lang="zh-CN" sz="900" kern="100">
                          <a:effectLst/>
                        </a:rPr>
                        <a:t>感知严重性</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vMerge="1">
                  <a:txBody>
                    <a:bodyPr/>
                    <a:lstStyle/>
                    <a:p>
                      <a:endParaRPr lang="zh-CN" altLang="en-US"/>
                    </a:p>
                  </a:txBody>
                  <a:tcPr/>
                </a:tc>
                <a:extLst>
                  <a:ext uri="{0D108BD9-81ED-4DB2-BD59-A6C34878D82A}">
                    <a16:rowId xmlns:a16="http://schemas.microsoft.com/office/drawing/2014/main" val="2638530009"/>
                  </a:ext>
                </a:extLst>
              </a:tr>
              <a:tr h="272226">
                <a:tc rowSpan="3">
                  <a:txBody>
                    <a:bodyPr/>
                    <a:lstStyle/>
                    <a:p>
                      <a:pPr algn="ctr">
                        <a:spcAft>
                          <a:spcPts val="0"/>
                        </a:spcAft>
                      </a:pPr>
                      <a:r>
                        <a:rPr lang="zh-CN" sz="900" kern="100">
                          <a:effectLst/>
                        </a:rPr>
                        <a:t>用户因素</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rowSpan="2">
                  <a:txBody>
                    <a:bodyPr/>
                    <a:lstStyle/>
                    <a:p>
                      <a:pPr algn="just">
                        <a:spcAft>
                          <a:spcPts val="0"/>
                        </a:spcAft>
                      </a:pPr>
                      <a:r>
                        <a:rPr lang="zh-CN" sz="900" kern="100">
                          <a:effectLst/>
                        </a:rPr>
                        <a:t>人口统计</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rowSpan="3">
                  <a:txBody>
                    <a:bodyPr/>
                    <a:lstStyle/>
                    <a:p>
                      <a:pPr algn="just">
                        <a:spcAft>
                          <a:spcPts val="0"/>
                        </a:spcAft>
                      </a:pPr>
                      <a:r>
                        <a:rPr lang="zh-CN" sz="900" kern="100" dirty="0">
                          <a:effectLst/>
                        </a:rPr>
                        <a:t>人在回路</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just">
                        <a:spcAft>
                          <a:spcPts val="0"/>
                        </a:spcAft>
                      </a:pPr>
                      <a:r>
                        <a:rPr lang="zh-CN" sz="900" kern="100">
                          <a:effectLst/>
                        </a:rPr>
                        <a:t>人口统计</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just">
                        <a:spcAft>
                          <a:spcPts val="0"/>
                        </a:spcAft>
                      </a:pPr>
                      <a:r>
                        <a:rPr lang="zh-CN" sz="900" kern="100">
                          <a:effectLst/>
                        </a:rPr>
                        <a:t>性别</a:t>
                      </a:r>
                      <a:endParaRPr lang="zh-CN" sz="1050" kern="100">
                        <a:effectLst/>
                      </a:endParaRPr>
                    </a:p>
                    <a:p>
                      <a:pPr algn="just">
                        <a:spcAft>
                          <a:spcPts val="0"/>
                        </a:spcAft>
                      </a:pPr>
                      <a:r>
                        <a:rPr lang="zh-CN" sz="900" kern="100">
                          <a:effectLst/>
                        </a:rPr>
                        <a:t>年龄</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rowSpan="3">
                  <a:txBody>
                    <a:bodyPr/>
                    <a:lstStyle/>
                    <a:p>
                      <a:pPr algn="l">
                        <a:spcAft>
                          <a:spcPts val="0"/>
                        </a:spcAft>
                      </a:pPr>
                      <a:r>
                        <a:rPr lang="zh-CN" sz="900" kern="100">
                          <a:effectLst/>
                        </a:rPr>
                        <a:t>人口统计、个人特征、知识和经验会影响预警效果。</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086402938"/>
                  </a:ext>
                </a:extLst>
              </a:tr>
              <a:tr h="136113">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just">
                        <a:spcAft>
                          <a:spcPts val="0"/>
                        </a:spcAft>
                      </a:pPr>
                      <a:r>
                        <a:rPr lang="zh-CN" sz="900" kern="100">
                          <a:effectLst/>
                        </a:rPr>
                        <a:t>个人特征</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just">
                        <a:spcAft>
                          <a:spcPts val="0"/>
                        </a:spcAft>
                      </a:pPr>
                      <a:r>
                        <a:rPr lang="zh-CN" sz="900" kern="100">
                          <a:effectLst/>
                        </a:rPr>
                        <a:t>受教育程度</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vMerge="1">
                  <a:txBody>
                    <a:bodyPr/>
                    <a:lstStyle/>
                    <a:p>
                      <a:endParaRPr lang="zh-CN" altLang="en-US"/>
                    </a:p>
                  </a:txBody>
                  <a:tcPr/>
                </a:tc>
                <a:extLst>
                  <a:ext uri="{0D108BD9-81ED-4DB2-BD59-A6C34878D82A}">
                    <a16:rowId xmlns:a16="http://schemas.microsoft.com/office/drawing/2014/main" val="593869202"/>
                  </a:ext>
                </a:extLst>
              </a:tr>
              <a:tr h="597385">
                <a:tc vMerge="1">
                  <a:txBody>
                    <a:bodyPr/>
                    <a:lstStyle/>
                    <a:p>
                      <a:endParaRPr lang="zh-CN" altLang="en-US"/>
                    </a:p>
                  </a:txBody>
                  <a:tcPr/>
                </a:tc>
                <a:tc>
                  <a:txBody>
                    <a:bodyPr/>
                    <a:lstStyle/>
                    <a:p>
                      <a:pPr algn="just">
                        <a:spcAft>
                          <a:spcPts val="0"/>
                        </a:spcAft>
                      </a:pPr>
                      <a:r>
                        <a:rPr lang="zh-CN" sz="900" kern="100">
                          <a:effectLst/>
                        </a:rPr>
                        <a:t>之前的网站经验</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vMerge="1">
                  <a:txBody>
                    <a:bodyPr/>
                    <a:lstStyle/>
                    <a:p>
                      <a:endParaRPr lang="zh-CN" altLang="en-US"/>
                    </a:p>
                  </a:txBody>
                  <a:tcPr/>
                </a:tc>
                <a:tc>
                  <a:txBody>
                    <a:bodyPr/>
                    <a:lstStyle/>
                    <a:p>
                      <a:pPr algn="just">
                        <a:spcAft>
                          <a:spcPts val="0"/>
                        </a:spcAft>
                      </a:pPr>
                      <a:r>
                        <a:rPr lang="zh-CN" sz="900" kern="100">
                          <a:effectLst/>
                        </a:rPr>
                        <a:t>知识和经验</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just">
                        <a:spcAft>
                          <a:spcPts val="0"/>
                        </a:spcAft>
                      </a:pPr>
                      <a:r>
                        <a:rPr lang="zh-CN" sz="900" kern="100" dirty="0">
                          <a:effectLst/>
                        </a:rPr>
                        <a:t>对机构的信任</a:t>
                      </a:r>
                      <a:endParaRPr lang="zh-CN" sz="1050" kern="100" dirty="0">
                        <a:effectLst/>
                      </a:endParaRPr>
                    </a:p>
                    <a:p>
                      <a:pPr algn="just">
                        <a:spcAft>
                          <a:spcPts val="0"/>
                        </a:spcAft>
                      </a:pPr>
                      <a:r>
                        <a:rPr lang="zh-CN" sz="900" kern="100" dirty="0">
                          <a:effectLst/>
                        </a:rPr>
                        <a:t>领域熟悉度</a:t>
                      </a:r>
                      <a:endParaRPr lang="zh-CN" sz="1050" kern="100" dirty="0">
                        <a:effectLst/>
                      </a:endParaRPr>
                    </a:p>
                    <a:p>
                      <a:pPr algn="just">
                        <a:spcAft>
                          <a:spcPts val="0"/>
                        </a:spcAft>
                      </a:pPr>
                      <a:r>
                        <a:rPr lang="zh-CN" sz="900" kern="100" dirty="0">
                          <a:effectLst/>
                        </a:rPr>
                        <a:t>网站熟悉度</a:t>
                      </a:r>
                      <a:endParaRPr lang="zh-CN" sz="1050" kern="100" dirty="0">
                        <a:effectLst/>
                      </a:endParaRPr>
                    </a:p>
                    <a:p>
                      <a:pPr algn="just">
                        <a:spcAft>
                          <a:spcPts val="0"/>
                        </a:spcAft>
                      </a:pPr>
                      <a:r>
                        <a:rPr lang="zh-CN" sz="900" kern="100" dirty="0">
                          <a:effectLst/>
                        </a:rPr>
                        <a:t>过去的损失</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vMerge="1">
                  <a:txBody>
                    <a:bodyPr/>
                    <a:lstStyle/>
                    <a:p>
                      <a:endParaRPr lang="zh-CN" altLang="en-US"/>
                    </a:p>
                  </a:txBody>
                  <a:tcPr/>
                </a:tc>
                <a:extLst>
                  <a:ext uri="{0D108BD9-81ED-4DB2-BD59-A6C34878D82A}">
                    <a16:rowId xmlns:a16="http://schemas.microsoft.com/office/drawing/2014/main" val="1738561293"/>
                  </a:ext>
                </a:extLst>
              </a:tr>
            </a:tbl>
          </a:graphicData>
        </a:graphic>
      </p:graphicFrame>
      <p:sp>
        <p:nvSpPr>
          <p:cNvPr id="5" name="矩形 4">
            <a:extLst>
              <a:ext uri="{FF2B5EF4-FFF2-40B4-BE49-F238E27FC236}">
                <a16:creationId xmlns:a16="http://schemas.microsoft.com/office/drawing/2014/main" id="{0F0A4E4B-FA28-4531-B9E9-10C6134656AE}"/>
              </a:ext>
            </a:extLst>
          </p:cNvPr>
          <p:cNvSpPr/>
          <p:nvPr/>
        </p:nvSpPr>
        <p:spPr>
          <a:xfrm>
            <a:off x="4313274" y="5804171"/>
            <a:ext cx="6553202" cy="523220"/>
          </a:xfrm>
          <a:prstGeom prst="rect">
            <a:avLst/>
          </a:prstGeom>
        </p:spPr>
        <p:txBody>
          <a:bodyPr wrap="square">
            <a:spAutoFit/>
          </a:bodyPr>
          <a:lstStyle/>
          <a:p>
            <a:r>
              <a:rPr lang="zh-CN" altLang="zh-CN" sz="1400" kern="100" dirty="0">
                <a:latin typeface="等线 Light" panose="02010600030101010101" pitchFamily="2" charset="-122"/>
                <a:ea typeface="等线 Light" panose="02010600030101010101" pitchFamily="2" charset="-122"/>
                <a:cs typeface="Times New Roman" panose="02020603050405020304" pitchFamily="18" charset="0"/>
              </a:rPr>
              <a:t>钓鱼漏斗模型（</a:t>
            </a:r>
            <a:r>
              <a:rPr lang="en-US" altLang="zh-CN" sz="1400" kern="100" dirty="0">
                <a:latin typeface="等线 Light" panose="02010600030101010101" pitchFamily="2" charset="-122"/>
                <a:ea typeface="等线 Light" panose="02010600030101010101" pitchFamily="2" charset="-122"/>
                <a:cs typeface="Times New Roman" panose="02020603050405020304" pitchFamily="18" charset="0"/>
              </a:rPr>
              <a:t>Phishing funnel model, PFM</a:t>
            </a:r>
            <a:r>
              <a:rPr lang="zh-CN" altLang="zh-CN" sz="1400" kern="100" dirty="0">
                <a:latin typeface="等线 Light" panose="02010600030101010101" pitchFamily="2" charset="-122"/>
                <a:ea typeface="等线 Light" panose="02010600030101010101" pitchFamily="2" charset="-122"/>
                <a:cs typeface="Times New Roman" panose="02020603050405020304" pitchFamily="18" charset="0"/>
              </a:rPr>
              <a:t>）的易受攻击性因素包括六类因素</a:t>
            </a:r>
            <a:r>
              <a:rPr lang="en-US" altLang="zh-CN" sz="1400" kern="100" dirty="0">
                <a:latin typeface="等线 Light" panose="02010600030101010101" pitchFamily="2" charset="-122"/>
                <a:ea typeface="等线 Light" panose="02010600030101010101" pitchFamily="2" charset="-122"/>
                <a:cs typeface="Times New Roman" panose="02020603050405020304" pitchFamily="18" charset="0"/>
              </a:rPr>
              <a:t>(Abbasi et al., 2021)</a:t>
            </a:r>
            <a:endParaRPr lang="zh-CN" altLang="en-US" sz="1400" kern="100" dirty="0">
              <a:latin typeface="等线 Light" panose="02010600030101010101" pitchFamily="2" charset="-122"/>
              <a:ea typeface="等线 Light"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8823380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D2B6C40-7899-417C-818B-4CF643793054}"/>
              </a:ext>
            </a:extLst>
          </p:cNvPr>
          <p:cNvSpPr/>
          <p:nvPr/>
        </p:nvSpPr>
        <p:spPr>
          <a:xfrm>
            <a:off x="1828800" y="457200"/>
            <a:ext cx="4038600" cy="600164"/>
          </a:xfrm>
          <a:prstGeom prst="rect">
            <a:avLst/>
          </a:prstGeom>
        </p:spPr>
        <p:txBody>
          <a:bodyPr wrap="square">
            <a:spAutoFit/>
          </a:bodyPr>
          <a:lstStyle/>
          <a:p>
            <a:pPr algn="ctr">
              <a:spcBef>
                <a:spcPct val="0"/>
              </a:spcBef>
            </a:pPr>
            <a:r>
              <a:rPr lang="zh-CN" altLang="zh-CN" sz="3300" dirty="0">
                <a:latin typeface="等线 Light" panose="02010600030101010101" pitchFamily="2" charset="-122"/>
                <a:ea typeface="等线 Light" panose="02010600030101010101" pitchFamily="2" charset="-122"/>
                <a:cs typeface="+mj-cs"/>
              </a:rPr>
              <a:t>文献综述</a:t>
            </a:r>
            <a:r>
              <a:rPr lang="zh-CN" altLang="en-US" sz="3300" dirty="0">
                <a:latin typeface="等线 Light" panose="02010600030101010101" pitchFamily="2" charset="-122"/>
                <a:ea typeface="等线 Light" panose="02010600030101010101" pitchFamily="2" charset="-122"/>
                <a:cs typeface="+mj-cs"/>
              </a:rPr>
              <a:t>写作</a:t>
            </a:r>
            <a:r>
              <a:rPr lang="zh-CN" altLang="zh-CN" sz="3300" dirty="0">
                <a:latin typeface="等线 Light" panose="02010600030101010101" pitchFamily="2" charset="-122"/>
                <a:ea typeface="等线 Light" panose="02010600030101010101" pitchFamily="2" charset="-122"/>
                <a:cs typeface="+mj-cs"/>
              </a:rPr>
              <a:t>的要求</a:t>
            </a:r>
            <a:endParaRPr lang="zh-CN" altLang="en-US" sz="3300" dirty="0">
              <a:latin typeface="等线 Light" panose="02010600030101010101" pitchFamily="2" charset="-122"/>
              <a:ea typeface="等线 Light" panose="02010600030101010101" pitchFamily="2" charset="-122"/>
              <a:cs typeface="+mj-cs"/>
            </a:endParaRPr>
          </a:p>
        </p:txBody>
      </p:sp>
      <p:sp>
        <p:nvSpPr>
          <p:cNvPr id="3" name="矩形 2">
            <a:extLst>
              <a:ext uri="{FF2B5EF4-FFF2-40B4-BE49-F238E27FC236}">
                <a16:creationId xmlns:a16="http://schemas.microsoft.com/office/drawing/2014/main" id="{459DE1E2-D79E-494C-A9D1-6015CF50BAEB}"/>
              </a:ext>
            </a:extLst>
          </p:cNvPr>
          <p:cNvSpPr/>
          <p:nvPr/>
        </p:nvSpPr>
        <p:spPr>
          <a:xfrm>
            <a:off x="381000" y="1143000"/>
            <a:ext cx="10896600" cy="4020460"/>
          </a:xfrm>
          <a:prstGeom prst="rect">
            <a:avLst/>
          </a:prstGeom>
        </p:spPr>
        <p:txBody>
          <a:bodyPr wrap="square">
            <a:spAutoFit/>
          </a:bodyPr>
          <a:lstStyle/>
          <a:p>
            <a:pPr algn="just">
              <a:lnSpc>
                <a:spcPct val="150000"/>
              </a:lnSpc>
              <a:spcAft>
                <a:spcPts val="0"/>
              </a:spcAft>
            </a:pPr>
            <a:r>
              <a:rPr lang="en-US" altLang="zh-CN" sz="2000" b="1" kern="100" dirty="0">
                <a:latin typeface="等线 Light" panose="02010600030101010101" pitchFamily="2" charset="-122"/>
                <a:ea typeface="等线 Light" panose="02010600030101010101" pitchFamily="2" charset="-122"/>
                <a:cs typeface="Times New Roman" panose="02020603050405020304" pitchFamily="18" charset="0"/>
              </a:rPr>
              <a:t>1</a:t>
            </a:r>
            <a:r>
              <a:rPr lang="zh-CN" altLang="en-US" sz="2000" b="1" kern="100" dirty="0">
                <a:latin typeface="等线 Light" panose="02010600030101010101" pitchFamily="2" charset="-122"/>
                <a:ea typeface="等线 Light" panose="02010600030101010101" pitchFamily="2" charset="-122"/>
                <a:cs typeface="Times New Roman" panose="02020603050405020304" pitchFamily="18" charset="0"/>
              </a:rPr>
              <a:t>、</a:t>
            </a:r>
            <a:r>
              <a:rPr lang="zh-CN" altLang="zh-CN" sz="2000" b="1" kern="100" dirty="0">
                <a:latin typeface="等线 Light" panose="02010600030101010101" pitchFamily="2" charset="-122"/>
                <a:ea typeface="等线 Light" panose="02010600030101010101" pitchFamily="2" charset="-122"/>
                <a:cs typeface="Times New Roman" panose="02020603050405020304" pitchFamily="18" charset="0"/>
              </a:rPr>
              <a:t>目的明了</a:t>
            </a:r>
            <a:endParaRPr lang="en-US" altLang="zh-CN" sz="2000" b="1" kern="100" dirty="0">
              <a:latin typeface="等线 Light" panose="02010600030101010101" pitchFamily="2" charset="-122"/>
              <a:ea typeface="等线 Light" panose="02010600030101010101" pitchFamily="2" charset="-122"/>
              <a:cs typeface="Times New Roman" panose="02020603050405020304" pitchFamily="18" charset="0"/>
            </a:endParaRPr>
          </a:p>
          <a:p>
            <a:pPr marL="342900" indent="-342900" algn="just">
              <a:lnSpc>
                <a:spcPct val="150000"/>
              </a:lnSpc>
              <a:spcAft>
                <a:spcPts val="0"/>
              </a:spcAft>
              <a:buFont typeface="Arial" panose="020B0604020202020204" pitchFamily="34" charset="0"/>
              <a:buChar char="•"/>
            </a:pPr>
            <a:r>
              <a:rPr lang="zh-CN" altLang="zh-CN" kern="100" dirty="0">
                <a:latin typeface="等线 Light" panose="02010600030101010101" pitchFamily="2" charset="-122"/>
                <a:ea typeface="等线 Light" panose="02010600030101010101" pitchFamily="2" charset="-122"/>
                <a:cs typeface="Times New Roman" panose="02020603050405020304" pitchFamily="18" charset="0"/>
              </a:rPr>
              <a:t>文献综述主要目的是为了支撑某一论点，如</a:t>
            </a:r>
            <a:r>
              <a:rPr lang="zh-CN" altLang="en-US" kern="100" dirty="0">
                <a:latin typeface="等线 Light" panose="02010600030101010101" pitchFamily="2" charset="-122"/>
                <a:ea typeface="等线 Light" panose="02010600030101010101" pitchFamily="2" charset="-122"/>
                <a:cs typeface="Times New Roman" panose="02020603050405020304" pitchFamily="18" charset="0"/>
              </a:rPr>
              <a:t>，</a:t>
            </a:r>
            <a:r>
              <a:rPr lang="zh-CN" altLang="zh-CN" kern="100" dirty="0">
                <a:latin typeface="等线 Light" panose="02010600030101010101" pitchFamily="2" charset="-122"/>
                <a:ea typeface="等线 Light" panose="02010600030101010101" pitchFamily="2" charset="-122"/>
                <a:cs typeface="Times New Roman" panose="02020603050405020304" pitchFamily="18" charset="0"/>
              </a:rPr>
              <a:t>为引出研究问题、为确定已有研究不足、为铺垫解决方案的设计等。</a:t>
            </a:r>
            <a:endParaRPr lang="en-US" altLang="zh-CN" kern="100" dirty="0">
              <a:latin typeface="等线 Light" panose="02010600030101010101" pitchFamily="2" charset="-122"/>
              <a:ea typeface="等线 Light" panose="02010600030101010101" pitchFamily="2" charset="-122"/>
              <a:cs typeface="Times New Roman" panose="02020603050405020304" pitchFamily="18" charset="0"/>
            </a:endParaRPr>
          </a:p>
          <a:p>
            <a:pPr marL="342900" indent="-342900" algn="just">
              <a:lnSpc>
                <a:spcPct val="150000"/>
              </a:lnSpc>
              <a:spcAft>
                <a:spcPts val="0"/>
              </a:spcAft>
              <a:buFont typeface="Arial" panose="020B0604020202020204" pitchFamily="34" charset="0"/>
              <a:buChar char="•"/>
            </a:pPr>
            <a:r>
              <a:rPr lang="zh-CN" altLang="zh-CN" kern="100" dirty="0">
                <a:latin typeface="等线 Light" panose="02010600030101010101" pitchFamily="2" charset="-122"/>
                <a:ea typeface="等线 Light" panose="02010600030101010101" pitchFamily="2" charset="-122"/>
                <a:cs typeface="Times New Roman" panose="02020603050405020304" pitchFamily="18" charset="0"/>
              </a:rPr>
              <a:t>文献综述要围绕这些目的开展，并充分回应这些目的，避免冗余和拖沓。</a:t>
            </a:r>
          </a:p>
          <a:p>
            <a:pPr algn="just">
              <a:lnSpc>
                <a:spcPct val="150000"/>
              </a:lnSpc>
            </a:pPr>
            <a:r>
              <a:rPr lang="en-US" altLang="zh-CN" sz="2000" b="1" kern="100" dirty="0">
                <a:latin typeface="等线 Light" panose="02010600030101010101" pitchFamily="2" charset="-122"/>
                <a:ea typeface="等线 Light" panose="02010600030101010101" pitchFamily="2" charset="-122"/>
                <a:cs typeface="Times New Roman" panose="02020603050405020304" pitchFamily="18" charset="0"/>
              </a:rPr>
              <a:t>2</a:t>
            </a:r>
            <a:r>
              <a:rPr lang="zh-CN" altLang="en-US" sz="2000" b="1" kern="100" dirty="0">
                <a:latin typeface="等线 Light" panose="02010600030101010101" pitchFamily="2" charset="-122"/>
                <a:ea typeface="等线 Light" panose="02010600030101010101" pitchFamily="2" charset="-122"/>
                <a:cs typeface="Times New Roman" panose="02020603050405020304" pitchFamily="18" charset="0"/>
              </a:rPr>
              <a:t>、</a:t>
            </a:r>
            <a:r>
              <a:rPr lang="zh-CN" altLang="zh-CN" sz="2000" b="1" kern="100" dirty="0">
                <a:latin typeface="等线 Light" panose="02010600030101010101" pitchFamily="2" charset="-122"/>
                <a:ea typeface="等线 Light" panose="02010600030101010101" pitchFamily="2" charset="-122"/>
                <a:cs typeface="Times New Roman" panose="02020603050405020304" pitchFamily="18" charset="0"/>
              </a:rPr>
              <a:t>逻辑严密</a:t>
            </a:r>
            <a:endParaRPr lang="en-US" altLang="zh-CN" sz="2000" b="1" kern="100" dirty="0">
              <a:latin typeface="等线 Light" panose="02010600030101010101" pitchFamily="2" charset="-122"/>
              <a:ea typeface="等线 Light" panose="02010600030101010101" pitchFamily="2" charset="-122"/>
              <a:cs typeface="Times New Roman" panose="02020603050405020304" pitchFamily="18" charset="0"/>
            </a:endParaRPr>
          </a:p>
          <a:p>
            <a:pPr marL="342900" indent="-342900" algn="just">
              <a:lnSpc>
                <a:spcPct val="150000"/>
              </a:lnSpc>
              <a:spcAft>
                <a:spcPts val="0"/>
              </a:spcAft>
              <a:buFont typeface="Arial" panose="020B0604020202020204" pitchFamily="34" charset="0"/>
              <a:buChar char="•"/>
            </a:pPr>
            <a:r>
              <a:rPr lang="zh-CN" altLang="zh-CN" kern="100" dirty="0">
                <a:latin typeface="等线 Light" panose="02010600030101010101" pitchFamily="2" charset="-122"/>
                <a:ea typeface="等线 Light" panose="02010600030101010101" pitchFamily="2" charset="-122"/>
                <a:cs typeface="Times New Roman" panose="02020603050405020304" pitchFamily="18" charset="0"/>
              </a:rPr>
              <a:t>前后的逻辑联系紧密，如为了确认某研究不足，综述的内容比较完整地支撑研究不足的论点；如为了铺垫解决方案的设计，要比较完整、严谨地对应解决方案设计所涉及的理论基础。</a:t>
            </a:r>
          </a:p>
          <a:p>
            <a:pPr algn="just">
              <a:lnSpc>
                <a:spcPct val="150000"/>
              </a:lnSpc>
            </a:pPr>
            <a:r>
              <a:rPr lang="en-US" altLang="zh-CN" sz="2000" b="1" kern="100" dirty="0">
                <a:latin typeface="等线 Light" panose="02010600030101010101" pitchFamily="2" charset="-122"/>
                <a:ea typeface="等线 Light" panose="02010600030101010101" pitchFamily="2" charset="-122"/>
                <a:cs typeface="Times New Roman" panose="02020603050405020304" pitchFamily="18" charset="0"/>
              </a:rPr>
              <a:t>3</a:t>
            </a:r>
            <a:r>
              <a:rPr lang="zh-CN" altLang="en-US" sz="2000" b="1" kern="100" dirty="0">
                <a:latin typeface="等线 Light" panose="02010600030101010101" pitchFamily="2" charset="-122"/>
                <a:ea typeface="等线 Light" panose="02010600030101010101" pitchFamily="2" charset="-122"/>
                <a:cs typeface="Times New Roman" panose="02020603050405020304" pitchFamily="18" charset="0"/>
              </a:rPr>
              <a:t>、</a:t>
            </a:r>
            <a:r>
              <a:rPr lang="zh-CN" altLang="zh-CN" sz="2000" b="1" kern="100" dirty="0">
                <a:latin typeface="等线 Light" panose="02010600030101010101" pitchFamily="2" charset="-122"/>
                <a:ea typeface="等线 Light" panose="02010600030101010101" pitchFamily="2" charset="-122"/>
                <a:cs typeface="Times New Roman" panose="02020603050405020304" pitchFamily="18" charset="0"/>
              </a:rPr>
              <a:t>精炼</a:t>
            </a:r>
            <a:endParaRPr lang="en-US" altLang="zh-CN" sz="2000" b="1" kern="100" dirty="0">
              <a:latin typeface="等线 Light" panose="02010600030101010101" pitchFamily="2" charset="-122"/>
              <a:ea typeface="等线 Light" panose="02010600030101010101" pitchFamily="2" charset="-122"/>
              <a:cs typeface="Times New Roman" panose="02020603050405020304" pitchFamily="18" charset="0"/>
            </a:endParaRPr>
          </a:p>
          <a:p>
            <a:pPr marL="342900" indent="-342900" algn="just">
              <a:lnSpc>
                <a:spcPct val="150000"/>
              </a:lnSpc>
              <a:buFont typeface="Arial" panose="020B0604020202020204" pitchFamily="34" charset="0"/>
              <a:buChar char="•"/>
            </a:pPr>
            <a:r>
              <a:rPr lang="zh-CN" altLang="zh-CN" kern="100" dirty="0">
                <a:latin typeface="等线 Light" panose="02010600030101010101" pitchFamily="2" charset="-122"/>
                <a:ea typeface="等线 Light" panose="02010600030101010101" pitchFamily="2" charset="-122"/>
                <a:cs typeface="Times New Roman" panose="02020603050405020304" pitchFamily="18" charset="0"/>
              </a:rPr>
              <a:t>用词简练，清楚表达意图，避免用词冗余和用复杂句子。</a:t>
            </a:r>
          </a:p>
        </p:txBody>
      </p:sp>
    </p:spTree>
    <p:extLst>
      <p:ext uri="{BB962C8B-B14F-4D97-AF65-F5344CB8AC3E}">
        <p14:creationId xmlns:p14="http://schemas.microsoft.com/office/powerpoint/2010/main" val="18590640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D2B6C40-7899-417C-818B-4CF643793054}"/>
              </a:ext>
            </a:extLst>
          </p:cNvPr>
          <p:cNvSpPr/>
          <p:nvPr/>
        </p:nvSpPr>
        <p:spPr>
          <a:xfrm>
            <a:off x="1752600" y="457200"/>
            <a:ext cx="4038600" cy="600164"/>
          </a:xfrm>
          <a:prstGeom prst="rect">
            <a:avLst/>
          </a:prstGeom>
        </p:spPr>
        <p:txBody>
          <a:bodyPr wrap="square">
            <a:spAutoFit/>
          </a:bodyPr>
          <a:lstStyle/>
          <a:p>
            <a:pPr algn="ctr">
              <a:spcBef>
                <a:spcPct val="0"/>
              </a:spcBef>
            </a:pPr>
            <a:r>
              <a:rPr lang="zh-CN" altLang="zh-CN" sz="3300" dirty="0">
                <a:latin typeface="等线 Light" panose="02010600030101010101" pitchFamily="2" charset="-122"/>
                <a:ea typeface="等线 Light" panose="02010600030101010101" pitchFamily="2" charset="-122"/>
                <a:cs typeface="+mj-cs"/>
              </a:rPr>
              <a:t>文献综述</a:t>
            </a:r>
            <a:r>
              <a:rPr lang="zh-CN" altLang="en-US" sz="3300" dirty="0">
                <a:latin typeface="等线 Light" panose="02010600030101010101" pitchFamily="2" charset="-122"/>
                <a:ea typeface="等线 Light" panose="02010600030101010101" pitchFamily="2" charset="-122"/>
                <a:cs typeface="+mj-cs"/>
              </a:rPr>
              <a:t>写作</a:t>
            </a:r>
            <a:r>
              <a:rPr lang="zh-CN" altLang="zh-CN" sz="3300" dirty="0">
                <a:latin typeface="等线 Light" panose="02010600030101010101" pitchFamily="2" charset="-122"/>
                <a:ea typeface="等线 Light" panose="02010600030101010101" pitchFamily="2" charset="-122"/>
                <a:cs typeface="+mj-cs"/>
              </a:rPr>
              <a:t>的要求</a:t>
            </a:r>
            <a:endParaRPr lang="zh-CN" altLang="en-US" sz="3300" dirty="0">
              <a:latin typeface="等线 Light" panose="02010600030101010101" pitchFamily="2" charset="-122"/>
              <a:ea typeface="等线 Light" panose="02010600030101010101" pitchFamily="2" charset="-122"/>
              <a:cs typeface="+mj-cs"/>
            </a:endParaRPr>
          </a:p>
        </p:txBody>
      </p:sp>
      <p:graphicFrame>
        <p:nvGraphicFramePr>
          <p:cNvPr id="4" name="表格 3">
            <a:extLst>
              <a:ext uri="{FF2B5EF4-FFF2-40B4-BE49-F238E27FC236}">
                <a16:creationId xmlns:a16="http://schemas.microsoft.com/office/drawing/2014/main" id="{37C60143-35DB-4508-BD16-A368AEB6CA29}"/>
              </a:ext>
            </a:extLst>
          </p:cNvPr>
          <p:cNvGraphicFramePr>
            <a:graphicFrameLocks noGrp="1"/>
          </p:cNvGraphicFramePr>
          <p:nvPr>
            <p:extLst>
              <p:ext uri="{D42A27DB-BD31-4B8C-83A1-F6EECF244321}">
                <p14:modId xmlns:p14="http://schemas.microsoft.com/office/powerpoint/2010/main" val="3561280443"/>
              </p:ext>
            </p:extLst>
          </p:nvPr>
        </p:nvGraphicFramePr>
        <p:xfrm>
          <a:off x="457200" y="1219200"/>
          <a:ext cx="10439400" cy="4724394"/>
        </p:xfrm>
        <a:graphic>
          <a:graphicData uri="http://schemas.openxmlformats.org/drawingml/2006/table">
            <a:tbl>
              <a:tblPr firstRow="1" firstCol="1" bandRow="1">
                <a:tableStyleId>{5C22544A-7EE6-4342-B048-85BDC9FD1C3A}</a:tableStyleId>
              </a:tblPr>
              <a:tblGrid>
                <a:gridCol w="3048000">
                  <a:extLst>
                    <a:ext uri="{9D8B030D-6E8A-4147-A177-3AD203B41FA5}">
                      <a16:colId xmlns:a16="http://schemas.microsoft.com/office/drawing/2014/main" val="2375409385"/>
                    </a:ext>
                  </a:extLst>
                </a:gridCol>
                <a:gridCol w="7391400">
                  <a:extLst>
                    <a:ext uri="{9D8B030D-6E8A-4147-A177-3AD203B41FA5}">
                      <a16:colId xmlns:a16="http://schemas.microsoft.com/office/drawing/2014/main" val="1155384407"/>
                    </a:ext>
                  </a:extLst>
                </a:gridCol>
              </a:tblGrid>
              <a:tr h="328242">
                <a:tc>
                  <a:txBody>
                    <a:bodyPr/>
                    <a:lstStyle/>
                    <a:p>
                      <a:pPr algn="ctr">
                        <a:spcAft>
                          <a:spcPts val="0"/>
                        </a:spcAft>
                      </a:pPr>
                      <a:r>
                        <a:rPr lang="zh-CN" sz="2000" kern="100">
                          <a:effectLst/>
                          <a:latin typeface="等线 Light" panose="02010600030101010101" pitchFamily="2" charset="-122"/>
                          <a:ea typeface="等线 Light" panose="02010600030101010101" pitchFamily="2" charset="-122"/>
                        </a:rPr>
                        <a:t>要求</a:t>
                      </a:r>
                      <a:endParaRPr lang="zh-CN" sz="2000" kern="10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2000" kern="100">
                          <a:effectLst/>
                          <a:latin typeface="等线 Light" panose="02010600030101010101" pitchFamily="2" charset="-122"/>
                          <a:ea typeface="等线 Light" panose="02010600030101010101" pitchFamily="2" charset="-122"/>
                        </a:rPr>
                        <a:t>关键问题</a:t>
                      </a:r>
                      <a:endParaRPr lang="zh-CN" sz="2000" kern="10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586526503"/>
                  </a:ext>
                </a:extLst>
              </a:tr>
              <a:tr h="366346">
                <a:tc rowSpan="5">
                  <a:txBody>
                    <a:bodyPr/>
                    <a:lstStyle/>
                    <a:p>
                      <a:pPr algn="just">
                        <a:spcAft>
                          <a:spcPts val="0"/>
                        </a:spcAft>
                      </a:pPr>
                      <a:r>
                        <a:rPr lang="zh-CN" sz="1800" kern="100" dirty="0">
                          <a:effectLst/>
                          <a:latin typeface="等线 Light" panose="02010600030101010101" pitchFamily="2" charset="-122"/>
                          <a:ea typeface="等线 Light" panose="02010600030101010101" pitchFamily="2" charset="-122"/>
                        </a:rPr>
                        <a:t>文献来源的覆盖</a:t>
                      </a:r>
                      <a:r>
                        <a:rPr lang="en-US" sz="1800" kern="100" dirty="0">
                          <a:effectLst/>
                          <a:latin typeface="等线 Light" panose="02010600030101010101" pitchFamily="2" charset="-122"/>
                          <a:ea typeface="等线 Light" panose="02010600030101010101" pitchFamily="2" charset="-122"/>
                        </a:rPr>
                        <a:t> </a:t>
                      </a:r>
                      <a:endParaRPr lang="zh-CN" sz="1800" kern="100" dirty="0">
                        <a:effectLst/>
                        <a:latin typeface="等线 Light" panose="02010600030101010101" pitchFamily="2" charset="-122"/>
                        <a:ea typeface="等线 Light" panose="02010600030101010101" pitchFamily="2" charset="-122"/>
                        <a:cs typeface="Times New Roman" panose="02020603050405020304" pitchFamily="18" charset="0"/>
                      </a:endParaRPr>
                    </a:p>
                    <a:p>
                      <a:pPr algn="just">
                        <a:spcAft>
                          <a:spcPts val="0"/>
                        </a:spcAft>
                      </a:pPr>
                      <a:r>
                        <a:rPr lang="en-US" sz="1800" kern="100" dirty="0">
                          <a:effectLst/>
                          <a:latin typeface="等线 Light" panose="02010600030101010101" pitchFamily="2" charset="-122"/>
                          <a:ea typeface="等线 Light" panose="02010600030101010101" pitchFamily="2" charset="-122"/>
                        </a:rPr>
                        <a:t> </a:t>
                      </a:r>
                      <a:endParaRPr lang="zh-CN" sz="18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nchor="ctr"/>
                </a:tc>
                <a:tc>
                  <a:txBody>
                    <a:bodyPr/>
                    <a:lstStyle/>
                    <a:p>
                      <a:pPr algn="just">
                        <a:spcAft>
                          <a:spcPts val="0"/>
                        </a:spcAft>
                      </a:pPr>
                      <a:r>
                        <a:rPr lang="en-US" sz="1800" kern="100">
                          <a:effectLst/>
                          <a:latin typeface="等线 Light" panose="02010600030101010101" pitchFamily="2" charset="-122"/>
                          <a:ea typeface="等线 Light" panose="02010600030101010101" pitchFamily="2" charset="-122"/>
                        </a:rPr>
                        <a:t>1</a:t>
                      </a:r>
                      <a:r>
                        <a:rPr lang="zh-CN" sz="1800" kern="100">
                          <a:effectLst/>
                          <a:latin typeface="等线 Light" panose="02010600030101010101" pitchFamily="2" charset="-122"/>
                          <a:ea typeface="等线 Light" panose="02010600030101010101" pitchFamily="2" charset="-122"/>
                        </a:rPr>
                        <a:t>）是否收集了关键研究学者的论文</a:t>
                      </a:r>
                      <a:endParaRPr lang="zh-CN" sz="1800" kern="10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884093399"/>
                  </a:ext>
                </a:extLst>
              </a:tr>
              <a:tr h="366346">
                <a:tc vMerge="1">
                  <a:txBody>
                    <a:bodyPr/>
                    <a:lstStyle/>
                    <a:p>
                      <a:pPr algn="just">
                        <a:spcAft>
                          <a:spcPts val="0"/>
                        </a:spcAft>
                      </a:pPr>
                      <a:endParaRPr lang="zh-CN" sz="20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dirty="0">
                          <a:effectLst/>
                          <a:latin typeface="等线 Light" panose="02010600030101010101" pitchFamily="2" charset="-122"/>
                          <a:ea typeface="等线 Light" panose="02010600030101010101" pitchFamily="2" charset="-122"/>
                        </a:rPr>
                        <a:t>2</a:t>
                      </a:r>
                      <a:r>
                        <a:rPr lang="zh-CN" sz="1800" kern="100" dirty="0">
                          <a:effectLst/>
                          <a:latin typeface="等线 Light" panose="02010600030101010101" pitchFamily="2" charset="-122"/>
                          <a:ea typeface="等线 Light" panose="02010600030101010101" pitchFamily="2" charset="-122"/>
                        </a:rPr>
                        <a:t>）是否对关键学者论文的参考文献和被引进行了检索</a:t>
                      </a:r>
                      <a:endParaRPr lang="zh-CN" sz="18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555015489"/>
                  </a:ext>
                </a:extLst>
              </a:tr>
              <a:tr h="366346">
                <a:tc vMerge="1">
                  <a:txBody>
                    <a:bodyPr/>
                    <a:lstStyle/>
                    <a:p>
                      <a:pPr algn="just">
                        <a:spcAft>
                          <a:spcPts val="0"/>
                        </a:spcAft>
                      </a:pPr>
                      <a:endParaRPr lang="zh-CN" sz="20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a:effectLst/>
                          <a:latin typeface="等线 Light" panose="02010600030101010101" pitchFamily="2" charset="-122"/>
                          <a:ea typeface="等线 Light" panose="02010600030101010101" pitchFamily="2" charset="-122"/>
                        </a:rPr>
                        <a:t>2</a:t>
                      </a:r>
                      <a:r>
                        <a:rPr lang="zh-CN" sz="1800" kern="100">
                          <a:effectLst/>
                          <a:latin typeface="等线 Light" panose="02010600030101010101" pitchFamily="2" charset="-122"/>
                          <a:ea typeface="等线 Light" panose="02010600030101010101" pitchFamily="2" charset="-122"/>
                        </a:rPr>
                        <a:t>）是否有高水平期刊的关键核心论文</a:t>
                      </a:r>
                      <a:endParaRPr lang="zh-CN" sz="1800" kern="10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50066233"/>
                  </a:ext>
                </a:extLst>
              </a:tr>
              <a:tr h="366346">
                <a:tc vMerge="1">
                  <a:txBody>
                    <a:bodyPr/>
                    <a:lstStyle/>
                    <a:p>
                      <a:pPr algn="just">
                        <a:spcAft>
                          <a:spcPts val="0"/>
                        </a:spcAft>
                      </a:pPr>
                      <a:endParaRPr lang="zh-CN" sz="20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a:effectLst/>
                          <a:latin typeface="等线 Light" panose="02010600030101010101" pitchFamily="2" charset="-122"/>
                          <a:ea typeface="等线 Light" panose="02010600030101010101" pitchFamily="2" charset="-122"/>
                        </a:rPr>
                        <a:t>3</a:t>
                      </a:r>
                      <a:r>
                        <a:rPr lang="zh-CN" sz="1800" kern="100">
                          <a:effectLst/>
                          <a:latin typeface="等线 Light" panose="02010600030101010101" pitchFamily="2" charset="-122"/>
                          <a:ea typeface="等线 Light" panose="02010600030101010101" pitchFamily="2" charset="-122"/>
                        </a:rPr>
                        <a:t>）是否对关键核心论文的参考文献和被引进行了检索</a:t>
                      </a:r>
                      <a:endParaRPr lang="zh-CN" sz="1800" kern="10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504371027"/>
                  </a:ext>
                </a:extLst>
              </a:tr>
              <a:tr h="366346">
                <a:tc vMerge="1">
                  <a:txBody>
                    <a:bodyPr/>
                    <a:lstStyle/>
                    <a:p>
                      <a:pPr algn="just">
                        <a:spcAft>
                          <a:spcPts val="0"/>
                        </a:spcAft>
                      </a:pPr>
                      <a:endParaRPr lang="zh-CN" sz="20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dirty="0">
                          <a:effectLst/>
                          <a:latin typeface="等线 Light" panose="02010600030101010101" pitchFamily="2" charset="-122"/>
                          <a:ea typeface="等线 Light" panose="02010600030101010101" pitchFamily="2" charset="-122"/>
                        </a:rPr>
                        <a:t>4</a:t>
                      </a:r>
                      <a:r>
                        <a:rPr lang="zh-CN" sz="1800" kern="100" dirty="0">
                          <a:effectLst/>
                          <a:latin typeface="等线 Light" panose="02010600030101010101" pitchFamily="2" charset="-122"/>
                          <a:ea typeface="等线 Light" panose="02010600030101010101" pitchFamily="2" charset="-122"/>
                        </a:rPr>
                        <a:t>）是否准确使用了检索的关键词？</a:t>
                      </a:r>
                      <a:endParaRPr lang="zh-CN" sz="18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185743781"/>
                  </a:ext>
                </a:extLst>
              </a:tr>
              <a:tr h="366346">
                <a:tc rowSpan="2">
                  <a:txBody>
                    <a:bodyPr/>
                    <a:lstStyle/>
                    <a:p>
                      <a:pPr algn="just">
                        <a:spcAft>
                          <a:spcPts val="0"/>
                        </a:spcAft>
                      </a:pPr>
                      <a:r>
                        <a:rPr lang="zh-CN" sz="1800" kern="100" dirty="0">
                          <a:effectLst/>
                          <a:latin typeface="等线 Light" panose="02010600030101010101" pitchFamily="2" charset="-122"/>
                          <a:ea typeface="等线 Light" panose="02010600030101010101" pitchFamily="2" charset="-122"/>
                        </a:rPr>
                        <a:t>文献整理的规范性</a:t>
                      </a:r>
                      <a:endParaRPr lang="zh-CN" sz="18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nchor="ctr"/>
                </a:tc>
                <a:tc>
                  <a:txBody>
                    <a:bodyPr/>
                    <a:lstStyle/>
                    <a:p>
                      <a:pPr algn="just">
                        <a:spcAft>
                          <a:spcPts val="0"/>
                        </a:spcAft>
                      </a:pPr>
                      <a:r>
                        <a:rPr lang="en-US" sz="1800" kern="100" dirty="0">
                          <a:effectLst/>
                          <a:latin typeface="等线 Light" panose="02010600030101010101" pitchFamily="2" charset="-122"/>
                          <a:ea typeface="等线 Light" panose="02010600030101010101" pitchFamily="2" charset="-122"/>
                        </a:rPr>
                        <a:t>1</a:t>
                      </a:r>
                      <a:r>
                        <a:rPr lang="zh-CN" sz="1800" kern="100" dirty="0">
                          <a:effectLst/>
                          <a:latin typeface="等线 Light" panose="02010600030101010101" pitchFamily="2" charset="-122"/>
                          <a:ea typeface="等线 Light" panose="02010600030101010101" pitchFamily="2" charset="-122"/>
                        </a:rPr>
                        <a:t>）文献的引用和检索是否方便可查？</a:t>
                      </a:r>
                      <a:endParaRPr lang="zh-CN" sz="18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575547964"/>
                  </a:ext>
                </a:extLst>
              </a:tr>
              <a:tr h="366346">
                <a:tc vMerge="1">
                  <a:txBody>
                    <a:bodyPr/>
                    <a:lstStyle/>
                    <a:p>
                      <a:pPr algn="just">
                        <a:spcAft>
                          <a:spcPts val="0"/>
                        </a:spcAft>
                      </a:pPr>
                      <a:endParaRPr lang="zh-CN" sz="20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dirty="0">
                          <a:effectLst/>
                          <a:latin typeface="等线 Light" panose="02010600030101010101" pitchFamily="2" charset="-122"/>
                          <a:ea typeface="等线 Light" panose="02010600030101010101" pitchFamily="2" charset="-122"/>
                        </a:rPr>
                        <a:t>2</a:t>
                      </a:r>
                      <a:r>
                        <a:rPr lang="zh-CN" sz="1800" kern="100" dirty="0">
                          <a:effectLst/>
                          <a:latin typeface="等线 Light" panose="02010600030101010101" pitchFamily="2" charset="-122"/>
                          <a:ea typeface="等线 Light" panose="02010600030101010101" pitchFamily="2" charset="-122"/>
                        </a:rPr>
                        <a:t>）引用的文献是否可以快速找到来源？</a:t>
                      </a:r>
                      <a:endParaRPr lang="zh-CN" sz="18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191046215"/>
                  </a:ext>
                </a:extLst>
              </a:tr>
              <a:tr h="366346">
                <a:tc rowSpan="3">
                  <a:txBody>
                    <a:bodyPr/>
                    <a:lstStyle/>
                    <a:p>
                      <a:pPr algn="just">
                        <a:spcAft>
                          <a:spcPts val="0"/>
                        </a:spcAft>
                      </a:pPr>
                      <a:r>
                        <a:rPr lang="zh-CN" sz="1800" kern="100" dirty="0">
                          <a:effectLst/>
                          <a:latin typeface="等线 Light" panose="02010600030101010101" pitchFamily="2" charset="-122"/>
                          <a:ea typeface="等线 Light" panose="02010600030101010101" pitchFamily="2" charset="-122"/>
                        </a:rPr>
                        <a:t>理论基础方面的内容要求</a:t>
                      </a:r>
                      <a:endParaRPr lang="zh-CN" sz="18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nchor="ctr"/>
                </a:tc>
                <a:tc>
                  <a:txBody>
                    <a:bodyPr/>
                    <a:lstStyle/>
                    <a:p>
                      <a:pPr algn="just">
                        <a:spcAft>
                          <a:spcPts val="0"/>
                        </a:spcAft>
                      </a:pPr>
                      <a:r>
                        <a:rPr lang="en-US" sz="1800" kern="100" dirty="0">
                          <a:effectLst/>
                          <a:latin typeface="等线 Light" panose="02010600030101010101" pitchFamily="2" charset="-122"/>
                          <a:ea typeface="等线 Light" panose="02010600030101010101" pitchFamily="2" charset="-122"/>
                        </a:rPr>
                        <a:t>1</a:t>
                      </a:r>
                      <a:r>
                        <a:rPr lang="zh-CN" sz="1800" kern="100" dirty="0">
                          <a:effectLst/>
                          <a:latin typeface="等线 Light" panose="02010600030101010101" pitchFamily="2" charset="-122"/>
                          <a:ea typeface="等线 Light" panose="02010600030101010101" pitchFamily="2" charset="-122"/>
                        </a:rPr>
                        <a:t>）对关键概念的界定是否清晰？</a:t>
                      </a:r>
                      <a:endParaRPr lang="zh-CN" sz="18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223370510"/>
                  </a:ext>
                </a:extLst>
              </a:tr>
              <a:tr h="366346">
                <a:tc vMerge="1">
                  <a:txBody>
                    <a:bodyPr/>
                    <a:lstStyle/>
                    <a:p>
                      <a:pPr algn="just">
                        <a:spcAft>
                          <a:spcPts val="0"/>
                        </a:spcAft>
                      </a:pPr>
                      <a:endParaRPr lang="zh-CN" sz="20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dirty="0">
                          <a:effectLst/>
                          <a:latin typeface="等线 Light" panose="02010600030101010101" pitchFamily="2" charset="-122"/>
                          <a:ea typeface="等线 Light" panose="02010600030101010101" pitchFamily="2" charset="-122"/>
                        </a:rPr>
                        <a:t>2</a:t>
                      </a:r>
                      <a:r>
                        <a:rPr lang="zh-CN" sz="1800" kern="100" dirty="0">
                          <a:effectLst/>
                          <a:latin typeface="等线 Light" panose="02010600030101010101" pitchFamily="2" charset="-122"/>
                          <a:ea typeface="等线 Light" panose="02010600030101010101" pitchFamily="2" charset="-122"/>
                        </a:rPr>
                        <a:t>）对设计理论的认识是否完整？</a:t>
                      </a:r>
                      <a:endParaRPr lang="zh-CN" sz="18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313500548"/>
                  </a:ext>
                </a:extLst>
              </a:tr>
              <a:tr h="366346">
                <a:tc vMerge="1">
                  <a:txBody>
                    <a:bodyPr/>
                    <a:lstStyle/>
                    <a:p>
                      <a:pPr algn="just">
                        <a:spcAft>
                          <a:spcPts val="0"/>
                        </a:spcAft>
                      </a:pPr>
                      <a:endParaRPr lang="zh-CN" sz="20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dirty="0">
                          <a:effectLst/>
                          <a:latin typeface="等线 Light" panose="02010600030101010101" pitchFamily="2" charset="-122"/>
                          <a:ea typeface="等线 Light" panose="02010600030101010101" pitchFamily="2" charset="-122"/>
                        </a:rPr>
                        <a:t>3</a:t>
                      </a:r>
                      <a:r>
                        <a:rPr lang="zh-CN" sz="1800" kern="100" dirty="0">
                          <a:effectLst/>
                          <a:latin typeface="等线 Light" panose="02010600030101010101" pitchFamily="2" charset="-122"/>
                          <a:ea typeface="等线 Light" panose="02010600030101010101" pitchFamily="2" charset="-122"/>
                        </a:rPr>
                        <a:t>）对行业实践的整理是否完整？</a:t>
                      </a:r>
                      <a:endParaRPr lang="zh-CN" sz="18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687165170"/>
                  </a:ext>
                </a:extLst>
              </a:tr>
              <a:tr h="366346">
                <a:tc rowSpan="2">
                  <a:txBody>
                    <a:bodyPr/>
                    <a:lstStyle/>
                    <a:p>
                      <a:pPr algn="just">
                        <a:spcAft>
                          <a:spcPts val="0"/>
                        </a:spcAft>
                      </a:pPr>
                      <a:r>
                        <a:rPr lang="zh-CN" sz="1800" kern="100" dirty="0">
                          <a:effectLst/>
                          <a:latin typeface="等线 Light" panose="02010600030101010101" pitchFamily="2" charset="-122"/>
                          <a:ea typeface="等线 Light" panose="02010600030101010101" pitchFamily="2" charset="-122"/>
                        </a:rPr>
                        <a:t>研究不足方面的内容要求</a:t>
                      </a:r>
                      <a:endParaRPr lang="zh-CN" sz="18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nchor="ctr"/>
                </a:tc>
                <a:tc>
                  <a:txBody>
                    <a:bodyPr/>
                    <a:lstStyle/>
                    <a:p>
                      <a:pPr algn="just">
                        <a:spcAft>
                          <a:spcPts val="0"/>
                        </a:spcAft>
                      </a:pPr>
                      <a:r>
                        <a:rPr lang="en-US" sz="1800" kern="100" dirty="0">
                          <a:effectLst/>
                          <a:latin typeface="等线 Light" panose="02010600030101010101" pitchFamily="2" charset="-122"/>
                          <a:ea typeface="等线 Light" panose="02010600030101010101" pitchFamily="2" charset="-122"/>
                        </a:rPr>
                        <a:t>1</a:t>
                      </a:r>
                      <a:r>
                        <a:rPr lang="zh-CN" sz="1800" kern="100" dirty="0">
                          <a:effectLst/>
                          <a:latin typeface="等线 Light" panose="02010600030101010101" pitchFamily="2" charset="-122"/>
                          <a:ea typeface="等线 Light" panose="02010600030101010101" pitchFamily="2" charset="-122"/>
                        </a:rPr>
                        <a:t>）是否能通过文献清晰确定当前研究的不足？</a:t>
                      </a:r>
                      <a:endParaRPr lang="zh-CN" sz="18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864419312"/>
                  </a:ext>
                </a:extLst>
              </a:tr>
              <a:tr h="366346">
                <a:tc vMerge="1">
                  <a:txBody>
                    <a:bodyPr/>
                    <a:lstStyle/>
                    <a:p>
                      <a:pPr algn="just">
                        <a:spcAft>
                          <a:spcPts val="0"/>
                        </a:spcAft>
                      </a:pPr>
                      <a:endParaRPr lang="zh-CN" sz="20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dirty="0">
                          <a:effectLst/>
                          <a:latin typeface="等线 Light" panose="02010600030101010101" pitchFamily="2" charset="-122"/>
                          <a:ea typeface="等线 Light" panose="02010600030101010101" pitchFamily="2" charset="-122"/>
                        </a:rPr>
                        <a:t>2</a:t>
                      </a:r>
                      <a:r>
                        <a:rPr lang="zh-CN" sz="1800" kern="100" dirty="0">
                          <a:effectLst/>
                          <a:latin typeface="等线 Light" panose="02010600030101010101" pitchFamily="2" charset="-122"/>
                          <a:ea typeface="等线 Light" panose="02010600030101010101" pitchFamily="2" charset="-122"/>
                        </a:rPr>
                        <a:t>）是否确定本研究可以回应的关键论文？</a:t>
                      </a:r>
                      <a:endParaRPr lang="zh-CN" sz="18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305033973"/>
                  </a:ext>
                </a:extLst>
              </a:tr>
            </a:tbl>
          </a:graphicData>
        </a:graphic>
      </p:graphicFrame>
    </p:spTree>
    <p:extLst>
      <p:ext uri="{BB962C8B-B14F-4D97-AF65-F5344CB8AC3E}">
        <p14:creationId xmlns:p14="http://schemas.microsoft.com/office/powerpoint/2010/main" val="22260904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DC2C7AD-FAB2-45FE-B432-D3FF12FDD7C8}"/>
              </a:ext>
            </a:extLst>
          </p:cNvPr>
          <p:cNvSpPr/>
          <p:nvPr/>
        </p:nvSpPr>
        <p:spPr>
          <a:xfrm>
            <a:off x="1752600" y="465124"/>
            <a:ext cx="5105400" cy="600164"/>
          </a:xfrm>
          <a:prstGeom prst="rect">
            <a:avLst/>
          </a:prstGeom>
        </p:spPr>
        <p:txBody>
          <a:bodyPr wrap="square">
            <a:spAutoFit/>
          </a:bodyPr>
          <a:lstStyle/>
          <a:p>
            <a:pPr>
              <a:spcBef>
                <a:spcPct val="0"/>
              </a:spcBef>
            </a:pPr>
            <a:r>
              <a:rPr lang="zh-CN" altLang="zh-CN" sz="3300" dirty="0">
                <a:latin typeface="等线 Light" panose="02010600030101010101" pitchFamily="2" charset="-122"/>
                <a:ea typeface="等线 Light" panose="02010600030101010101" pitchFamily="2" charset="-122"/>
                <a:cs typeface="+mj-cs"/>
              </a:rPr>
              <a:t>文献综述</a:t>
            </a:r>
            <a:r>
              <a:rPr lang="zh-CN" altLang="en-US" sz="3300" dirty="0">
                <a:latin typeface="等线 Light" panose="02010600030101010101" pitchFamily="2" charset="-122"/>
                <a:ea typeface="等线 Light" panose="02010600030101010101" pitchFamily="2" charset="-122"/>
                <a:cs typeface="+mj-cs"/>
              </a:rPr>
              <a:t>写作的</a:t>
            </a:r>
            <a:r>
              <a:rPr lang="zh-CN" altLang="zh-CN" sz="3300" dirty="0">
                <a:latin typeface="等线 Light" panose="02010600030101010101" pitchFamily="2" charset="-122"/>
                <a:ea typeface="等线 Light" panose="02010600030101010101" pitchFamily="2" charset="-122"/>
                <a:cs typeface="+mj-cs"/>
              </a:rPr>
              <a:t>常见问题</a:t>
            </a:r>
            <a:endParaRPr lang="zh-CN" altLang="en-US" sz="3300" dirty="0">
              <a:latin typeface="等线 Light" panose="02010600030101010101" pitchFamily="2" charset="-122"/>
              <a:ea typeface="等线 Light" panose="02010600030101010101" pitchFamily="2" charset="-122"/>
              <a:cs typeface="+mj-cs"/>
            </a:endParaRPr>
          </a:p>
        </p:txBody>
      </p:sp>
      <p:sp>
        <p:nvSpPr>
          <p:cNvPr id="3" name="矩形 2">
            <a:extLst>
              <a:ext uri="{FF2B5EF4-FFF2-40B4-BE49-F238E27FC236}">
                <a16:creationId xmlns:a16="http://schemas.microsoft.com/office/drawing/2014/main" id="{BE80740F-41D6-4B13-9354-133A9C8C6DC2}"/>
              </a:ext>
            </a:extLst>
          </p:cNvPr>
          <p:cNvSpPr/>
          <p:nvPr/>
        </p:nvSpPr>
        <p:spPr>
          <a:xfrm>
            <a:off x="372761" y="1097945"/>
            <a:ext cx="11446477" cy="5128455"/>
          </a:xfrm>
          <a:prstGeom prst="rect">
            <a:avLst/>
          </a:prstGeom>
        </p:spPr>
        <p:txBody>
          <a:bodyPr wrap="square">
            <a:spAutoFit/>
          </a:bodyPr>
          <a:lstStyle/>
          <a:p>
            <a:pPr algn="just">
              <a:lnSpc>
                <a:spcPct val="150000"/>
              </a:lnSpc>
              <a:spcAft>
                <a:spcPts val="0"/>
              </a:spcAft>
            </a:pPr>
            <a:r>
              <a:rPr lang="en-US" altLang="zh-CN" sz="2000" b="1" kern="100" dirty="0">
                <a:latin typeface="等线 Light" panose="02010600030101010101" pitchFamily="2" charset="-122"/>
                <a:ea typeface="等线 Light" panose="02010600030101010101" pitchFamily="2" charset="-122"/>
                <a:cs typeface="Times New Roman" panose="02020603050405020304" pitchFamily="18" charset="0"/>
              </a:rPr>
              <a:t>1</a:t>
            </a:r>
            <a:r>
              <a:rPr lang="zh-CN" altLang="en-US" sz="2000" b="1" kern="100" dirty="0">
                <a:latin typeface="等线 Light" panose="02010600030101010101" pitchFamily="2" charset="-122"/>
                <a:ea typeface="等线 Light" panose="02010600030101010101" pitchFamily="2" charset="-122"/>
                <a:cs typeface="Times New Roman" panose="02020603050405020304" pitchFamily="18" charset="0"/>
              </a:rPr>
              <a:t>、</a:t>
            </a:r>
            <a:r>
              <a:rPr lang="zh-CN" altLang="zh-CN" sz="2000" b="1" kern="100" dirty="0">
                <a:latin typeface="等线 Light" panose="02010600030101010101" pitchFamily="2" charset="-122"/>
                <a:ea typeface="等线 Light" panose="02010600030101010101" pitchFamily="2" charset="-122"/>
                <a:cs typeface="Times New Roman" panose="02020603050405020304" pitchFamily="18" charset="0"/>
              </a:rPr>
              <a:t>对理论综述的欠缺</a:t>
            </a:r>
            <a:endParaRPr lang="en-US" altLang="zh-CN" sz="2000" b="1" kern="100" dirty="0">
              <a:latin typeface="等线 Light" panose="02010600030101010101" pitchFamily="2" charset="-122"/>
              <a:ea typeface="等线 Light" panose="02010600030101010101" pitchFamily="2" charset="-122"/>
              <a:cs typeface="Times New Roman" panose="02020603050405020304" pitchFamily="18" charset="0"/>
            </a:endParaRPr>
          </a:p>
          <a:p>
            <a:pPr marL="342900" indent="-342900" algn="just">
              <a:lnSpc>
                <a:spcPct val="150000"/>
              </a:lnSpc>
              <a:buFont typeface="Arial" panose="020B0604020202020204" pitchFamily="34" charset="0"/>
              <a:buChar char="•"/>
            </a:pPr>
            <a:r>
              <a:rPr lang="zh-CN" altLang="zh-CN" dirty="0">
                <a:latin typeface="等线 Light" panose="02010600030101010101" pitchFamily="2" charset="-122"/>
                <a:ea typeface="等线 Light" panose="02010600030101010101" pitchFamily="2" charset="-122"/>
              </a:rPr>
              <a:t>目的性缺乏</a:t>
            </a:r>
            <a:r>
              <a:rPr lang="zh-CN" altLang="en-US" dirty="0">
                <a:latin typeface="等线 Light" panose="02010600030101010101" pitchFamily="2" charset="-122"/>
                <a:ea typeface="等线 Light" panose="02010600030101010101" pitchFamily="2" charset="-122"/>
              </a:rPr>
              <a:t>。</a:t>
            </a:r>
            <a:r>
              <a:rPr lang="zh-CN" altLang="zh-CN" dirty="0">
                <a:latin typeface="等线 Light" panose="02010600030101010101" pitchFamily="2" charset="-122"/>
                <a:ea typeface="等线 Light" panose="02010600030101010101" pitchFamily="2" charset="-122"/>
              </a:rPr>
              <a:t>缺乏对关键概念的解释</a:t>
            </a:r>
            <a:r>
              <a:rPr lang="zh-CN" altLang="en-US" dirty="0">
                <a:latin typeface="等线 Light" panose="02010600030101010101" pitchFamily="2" charset="-122"/>
                <a:ea typeface="等线 Light" panose="02010600030101010101" pitchFamily="2" charset="-122"/>
              </a:rPr>
              <a:t>，难以支撑研究不足</a:t>
            </a:r>
            <a:endParaRPr lang="en-US" altLang="zh-CN" dirty="0">
              <a:latin typeface="等线 Light" panose="02010600030101010101" pitchFamily="2" charset="-122"/>
              <a:ea typeface="等线 Light" panose="02010600030101010101" pitchFamily="2" charset="-122"/>
            </a:endParaRPr>
          </a:p>
          <a:p>
            <a:pPr marL="342900" indent="-342900" algn="just">
              <a:lnSpc>
                <a:spcPct val="150000"/>
              </a:lnSpc>
              <a:buFont typeface="Arial" panose="020B0604020202020204" pitchFamily="34" charset="0"/>
              <a:buChar char="•"/>
            </a:pPr>
            <a:r>
              <a:rPr lang="zh-CN" altLang="zh-CN" dirty="0">
                <a:latin typeface="等线 Light" panose="02010600030101010101" pitchFamily="2" charset="-122"/>
                <a:ea typeface="等线 Light" panose="02010600030101010101" pitchFamily="2" charset="-122"/>
              </a:rPr>
              <a:t>对结论解读方面</a:t>
            </a:r>
            <a:r>
              <a:rPr lang="zh-CN" altLang="en-US" dirty="0">
                <a:latin typeface="等线 Light" panose="02010600030101010101" pitchFamily="2" charset="-122"/>
                <a:ea typeface="等线 Light" panose="02010600030101010101" pitchFamily="2" charset="-122"/>
              </a:rPr>
              <a:t>。如，</a:t>
            </a:r>
            <a:r>
              <a:rPr lang="zh-CN" altLang="zh-CN" dirty="0">
                <a:latin typeface="等线 Light" panose="02010600030101010101" pitchFamily="2" charset="-122"/>
                <a:ea typeface="等线 Light" panose="02010600030101010101" pitchFamily="2" charset="-122"/>
              </a:rPr>
              <a:t>国外研究项目合作伙伴关系，其所处的情境有相关的合同、组织、招标等，这些制度与我国的制度环境存在差异，难以直接套用</a:t>
            </a:r>
          </a:p>
          <a:p>
            <a:pPr marL="342900" indent="-342900" algn="just">
              <a:lnSpc>
                <a:spcPct val="150000"/>
              </a:lnSpc>
              <a:buFont typeface="Arial" panose="020B0604020202020204" pitchFamily="34" charset="0"/>
              <a:buChar char="•"/>
            </a:pPr>
            <a:r>
              <a:rPr lang="zh-CN" altLang="zh-CN" dirty="0">
                <a:latin typeface="等线 Light" panose="02010600030101010101" pitchFamily="2" charset="-122"/>
                <a:ea typeface="等线 Light" panose="02010600030101010101" pitchFamily="2" charset="-122"/>
              </a:rPr>
              <a:t>引文来源的选择方面</a:t>
            </a:r>
            <a:r>
              <a:rPr lang="zh-CN" altLang="en-US" dirty="0">
                <a:latin typeface="等线 Light" panose="02010600030101010101" pitchFamily="2" charset="-122"/>
                <a:ea typeface="等线 Light" panose="02010600030101010101" pitchFamily="2" charset="-122"/>
              </a:rPr>
              <a:t>。</a:t>
            </a:r>
            <a:r>
              <a:rPr lang="zh-CN" altLang="zh-CN" dirty="0">
                <a:latin typeface="等线 Light" panose="02010600030101010101" pitchFamily="2" charset="-122"/>
                <a:ea typeface="等线 Light" panose="02010600030101010101" pitchFamily="2" charset="-122"/>
              </a:rPr>
              <a:t>文献偏老、大量使用教科书的内容、学位论文、低水平期刊论文等，缺少关键性的参考文献</a:t>
            </a:r>
          </a:p>
          <a:p>
            <a:pPr algn="just">
              <a:lnSpc>
                <a:spcPct val="150000"/>
              </a:lnSpc>
            </a:pPr>
            <a:r>
              <a:rPr lang="en-US" altLang="zh-CN" sz="2000" b="1" kern="100" dirty="0">
                <a:latin typeface="等线 Light" panose="02010600030101010101" pitchFamily="2" charset="-122"/>
                <a:ea typeface="等线 Light" panose="02010600030101010101" pitchFamily="2" charset="-122"/>
                <a:cs typeface="Times New Roman" panose="02020603050405020304" pitchFamily="18" charset="0"/>
              </a:rPr>
              <a:t>2</a:t>
            </a:r>
            <a:r>
              <a:rPr lang="zh-CN" altLang="en-US" sz="2000" b="1" kern="100" dirty="0">
                <a:latin typeface="等线 Light" panose="02010600030101010101" pitchFamily="2" charset="-122"/>
                <a:ea typeface="等线 Light" panose="02010600030101010101" pitchFamily="2" charset="-122"/>
                <a:cs typeface="Times New Roman" panose="02020603050405020304" pitchFamily="18" charset="0"/>
              </a:rPr>
              <a:t>、</a:t>
            </a:r>
            <a:r>
              <a:rPr lang="zh-CN" altLang="zh-CN" sz="2000" b="1" kern="100" dirty="0">
                <a:latin typeface="等线 Light" panose="02010600030101010101" pitchFamily="2" charset="-122"/>
                <a:ea typeface="等线 Light" panose="02010600030101010101" pitchFamily="2" charset="-122"/>
                <a:cs typeface="Times New Roman" panose="02020603050405020304" pitchFamily="18" charset="0"/>
              </a:rPr>
              <a:t>综述写作的逻辑问题</a:t>
            </a:r>
          </a:p>
          <a:p>
            <a:pPr marL="342900" indent="-342900" algn="just">
              <a:lnSpc>
                <a:spcPct val="150000"/>
              </a:lnSpc>
              <a:buFont typeface="Arial" panose="020B0604020202020204" pitchFamily="34" charset="0"/>
              <a:buChar char="•"/>
            </a:pPr>
            <a:r>
              <a:rPr lang="zh-CN" altLang="zh-CN" dirty="0">
                <a:latin typeface="等线 Light" panose="02010600030101010101" pitchFamily="2" charset="-122"/>
                <a:ea typeface="等线 Light" panose="02010600030101010101" pitchFamily="2" charset="-122"/>
              </a:rPr>
              <a:t>避免做简单罗列。不同研究结论组合到一起时，一定是为了服务某特定的综述目的，对综述目的的明确是组织综述的前提。</a:t>
            </a:r>
          </a:p>
          <a:p>
            <a:pPr marL="342900" indent="-342900" algn="just">
              <a:lnSpc>
                <a:spcPct val="150000"/>
              </a:lnSpc>
              <a:buFont typeface="Arial" panose="020B0604020202020204" pitchFamily="34" charset="0"/>
              <a:buChar char="•"/>
            </a:pPr>
            <a:r>
              <a:rPr lang="zh-CN" altLang="zh-CN" dirty="0">
                <a:latin typeface="等线 Light" panose="02010600030101010101" pitchFamily="2" charset="-122"/>
                <a:ea typeface="等线 Light" panose="02010600030101010101" pitchFamily="2" charset="-122"/>
              </a:rPr>
              <a:t>对已有文献进行分类，对每一类提炼中心思想，然后组合各个中心思想的关联。在确定主要逻辑关系后，再组织每个中心思想下的内容。</a:t>
            </a:r>
          </a:p>
          <a:p>
            <a:pPr marL="342900" indent="-342900" algn="just">
              <a:lnSpc>
                <a:spcPct val="150000"/>
              </a:lnSpc>
              <a:buFont typeface="Arial" panose="020B0604020202020204" pitchFamily="34" charset="0"/>
              <a:buChar char="•"/>
            </a:pPr>
            <a:r>
              <a:rPr lang="zh-CN" altLang="zh-CN" dirty="0">
                <a:latin typeface="等线 Light" panose="02010600030101010101" pitchFamily="2" charset="-122"/>
                <a:ea typeface="等线 Light" panose="02010600030101010101" pitchFamily="2" charset="-122"/>
              </a:rPr>
              <a:t>文献综述是用于支撑本研究论点和逻辑的部分，不需要过细地综述不相关内容。</a:t>
            </a:r>
            <a:endParaRPr lang="en-US" altLang="zh-CN" dirty="0">
              <a:latin typeface="等线 Light" panose="02010600030101010101" pitchFamily="2" charset="-122"/>
              <a:ea typeface="等线 Light" panose="02010600030101010101" pitchFamily="2" charset="-122"/>
            </a:endParaRPr>
          </a:p>
        </p:txBody>
      </p:sp>
    </p:spTree>
    <p:extLst>
      <p:ext uri="{BB962C8B-B14F-4D97-AF65-F5344CB8AC3E}">
        <p14:creationId xmlns:p14="http://schemas.microsoft.com/office/powerpoint/2010/main" val="32440124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602FA01-B754-40B8-8537-030DC4DDC405}"/>
              </a:ext>
            </a:extLst>
          </p:cNvPr>
          <p:cNvSpPr/>
          <p:nvPr/>
        </p:nvSpPr>
        <p:spPr>
          <a:xfrm>
            <a:off x="1752600" y="465124"/>
            <a:ext cx="5105400" cy="600164"/>
          </a:xfrm>
          <a:prstGeom prst="rect">
            <a:avLst/>
          </a:prstGeom>
        </p:spPr>
        <p:txBody>
          <a:bodyPr wrap="square">
            <a:spAutoFit/>
          </a:bodyPr>
          <a:lstStyle/>
          <a:p>
            <a:pPr>
              <a:spcBef>
                <a:spcPct val="0"/>
              </a:spcBef>
            </a:pPr>
            <a:r>
              <a:rPr lang="zh-CN" altLang="zh-CN" sz="3300" dirty="0">
                <a:latin typeface="等线 Light" panose="02010600030101010101" pitchFamily="2" charset="-122"/>
                <a:ea typeface="等线 Light" panose="02010600030101010101" pitchFamily="2" charset="-122"/>
                <a:cs typeface="+mj-cs"/>
              </a:rPr>
              <a:t>文献综述</a:t>
            </a:r>
            <a:r>
              <a:rPr lang="zh-CN" altLang="en-US" sz="3300" dirty="0">
                <a:latin typeface="等线 Light" panose="02010600030101010101" pitchFamily="2" charset="-122"/>
                <a:ea typeface="等线 Light" panose="02010600030101010101" pitchFamily="2" charset="-122"/>
                <a:cs typeface="+mj-cs"/>
              </a:rPr>
              <a:t>写作的</a:t>
            </a:r>
            <a:r>
              <a:rPr lang="zh-CN" altLang="zh-CN" sz="3300" dirty="0">
                <a:latin typeface="等线 Light" panose="02010600030101010101" pitchFamily="2" charset="-122"/>
                <a:ea typeface="等线 Light" panose="02010600030101010101" pitchFamily="2" charset="-122"/>
                <a:cs typeface="+mj-cs"/>
              </a:rPr>
              <a:t>常见问题</a:t>
            </a:r>
            <a:endParaRPr lang="zh-CN" altLang="en-US" sz="3300" dirty="0">
              <a:latin typeface="等线 Light" panose="02010600030101010101" pitchFamily="2" charset="-122"/>
              <a:ea typeface="等线 Light" panose="02010600030101010101" pitchFamily="2" charset="-122"/>
              <a:cs typeface="+mj-cs"/>
            </a:endParaRPr>
          </a:p>
        </p:txBody>
      </p:sp>
      <p:sp>
        <p:nvSpPr>
          <p:cNvPr id="6" name="矩形 5">
            <a:extLst>
              <a:ext uri="{FF2B5EF4-FFF2-40B4-BE49-F238E27FC236}">
                <a16:creationId xmlns:a16="http://schemas.microsoft.com/office/drawing/2014/main" id="{56C134C2-B7B4-4357-B871-80943C883583}"/>
              </a:ext>
            </a:extLst>
          </p:cNvPr>
          <p:cNvSpPr/>
          <p:nvPr/>
        </p:nvSpPr>
        <p:spPr>
          <a:xfrm>
            <a:off x="372761" y="1097945"/>
            <a:ext cx="11446477" cy="1758302"/>
          </a:xfrm>
          <a:prstGeom prst="rect">
            <a:avLst/>
          </a:prstGeom>
        </p:spPr>
        <p:txBody>
          <a:bodyPr wrap="square">
            <a:spAutoFit/>
          </a:bodyPr>
          <a:lstStyle/>
          <a:p>
            <a:pPr algn="just">
              <a:lnSpc>
                <a:spcPct val="150000"/>
              </a:lnSpc>
              <a:spcAft>
                <a:spcPts val="0"/>
              </a:spcAft>
            </a:pPr>
            <a:r>
              <a:rPr lang="en-US" altLang="zh-CN" sz="2000" b="1" kern="100" dirty="0">
                <a:latin typeface="等线 Light" panose="02010600030101010101" pitchFamily="2" charset="-122"/>
                <a:ea typeface="等线 Light" panose="02010600030101010101" pitchFamily="2" charset="-122"/>
                <a:cs typeface="Times New Roman" panose="02020603050405020304" pitchFamily="18" charset="0"/>
              </a:rPr>
              <a:t>3</a:t>
            </a:r>
            <a:r>
              <a:rPr lang="zh-CN" altLang="en-US" sz="2000" b="1" kern="100" dirty="0">
                <a:latin typeface="等线 Light" panose="02010600030101010101" pitchFamily="2" charset="-122"/>
                <a:ea typeface="等线 Light" panose="02010600030101010101" pitchFamily="2" charset="-122"/>
                <a:cs typeface="Times New Roman" panose="02020603050405020304" pitchFamily="18" charset="0"/>
              </a:rPr>
              <a:t>、</a:t>
            </a:r>
            <a:r>
              <a:rPr lang="zh-CN" altLang="zh-CN" sz="2000" b="1" kern="100" dirty="0">
                <a:latin typeface="等线 Light" panose="02010600030101010101" pitchFamily="2" charset="-122"/>
                <a:ea typeface="等线 Light" panose="02010600030101010101" pitchFamily="2" charset="-122"/>
                <a:cs typeface="Times New Roman" panose="02020603050405020304" pitchFamily="18" charset="0"/>
              </a:rPr>
              <a:t>规范性问题</a:t>
            </a:r>
            <a:endParaRPr lang="en-US" altLang="zh-CN" sz="2000" b="1" kern="100" dirty="0">
              <a:latin typeface="等线 Light" panose="02010600030101010101" pitchFamily="2" charset="-122"/>
              <a:ea typeface="等线 Light" panose="02010600030101010101" pitchFamily="2" charset="-122"/>
              <a:cs typeface="Times New Roman" panose="02020603050405020304" pitchFamily="18" charset="0"/>
            </a:endParaRPr>
          </a:p>
          <a:p>
            <a:pPr marL="342900" indent="-342900" algn="just">
              <a:lnSpc>
                <a:spcPct val="150000"/>
              </a:lnSpc>
              <a:spcAft>
                <a:spcPts val="0"/>
              </a:spcAft>
              <a:buFont typeface="Arial" panose="020B0604020202020204" pitchFamily="34" charset="0"/>
              <a:buChar char="•"/>
            </a:pPr>
            <a:r>
              <a:rPr lang="zh-CN" altLang="zh-CN" dirty="0">
                <a:latin typeface="等线 Light" panose="02010600030101010101" pitchFamily="2" charset="-122"/>
                <a:ea typeface="等线 Light" panose="02010600030101010101" pitchFamily="2" charset="-122"/>
              </a:rPr>
              <a:t>用词准确性问题。在综述中避免使用</a:t>
            </a:r>
            <a:r>
              <a:rPr lang="en-US" altLang="zh-CN" dirty="0">
                <a:latin typeface="等线 Light" panose="02010600030101010101" pitchFamily="2" charset="-122"/>
                <a:ea typeface="等线 Light" panose="02010600030101010101" pitchFamily="2" charset="-122"/>
              </a:rPr>
              <a:t>“</a:t>
            </a:r>
            <a:r>
              <a:rPr lang="zh-CN" altLang="zh-CN" dirty="0">
                <a:latin typeface="等线 Light" panose="02010600030101010101" pitchFamily="2" charset="-122"/>
                <a:ea typeface="等线 Light" panose="02010600030101010101" pitchFamily="2" charset="-122"/>
              </a:rPr>
              <a:t>没有相关研究</a:t>
            </a:r>
            <a:r>
              <a:rPr lang="en-US" altLang="zh-CN" dirty="0">
                <a:latin typeface="等线 Light" panose="02010600030101010101" pitchFamily="2" charset="-122"/>
                <a:ea typeface="等线 Light" panose="02010600030101010101" pitchFamily="2" charset="-122"/>
              </a:rPr>
              <a:t>”“</a:t>
            </a:r>
            <a:r>
              <a:rPr lang="zh-CN" altLang="zh-CN" dirty="0">
                <a:latin typeface="等线 Light" panose="02010600030101010101" pitchFamily="2" charset="-122"/>
                <a:ea typeface="等线 Light" panose="02010600030101010101" pitchFamily="2" charset="-122"/>
              </a:rPr>
              <a:t>填补了学术空白</a:t>
            </a:r>
            <a:r>
              <a:rPr lang="en-US" altLang="zh-CN" dirty="0">
                <a:latin typeface="等线 Light" panose="02010600030101010101" pitchFamily="2" charset="-122"/>
                <a:ea typeface="等线 Light" panose="02010600030101010101" pitchFamily="2" charset="-122"/>
              </a:rPr>
              <a:t>”</a:t>
            </a:r>
            <a:r>
              <a:rPr lang="zh-CN" altLang="zh-CN" dirty="0">
                <a:latin typeface="等线 Light" panose="02010600030101010101" pitchFamily="2" charset="-122"/>
                <a:ea typeface="等线 Light" panose="02010600030101010101" pitchFamily="2" charset="-122"/>
              </a:rPr>
              <a:t>等表达。“没有相关研究”的表达过于口语化。“填补了学术空白”的用词要谨慎考虑研究结论是否能支撑该部分内容。</a:t>
            </a:r>
          </a:p>
          <a:p>
            <a:pPr marL="342900" indent="-342900" algn="just">
              <a:lnSpc>
                <a:spcPct val="150000"/>
              </a:lnSpc>
              <a:spcAft>
                <a:spcPts val="0"/>
              </a:spcAft>
              <a:buFont typeface="Arial" panose="020B0604020202020204" pitchFamily="34" charset="0"/>
              <a:buChar char="•"/>
            </a:pPr>
            <a:r>
              <a:rPr lang="zh-CN" altLang="zh-CN" dirty="0">
                <a:latin typeface="等线 Light" panose="02010600030101010101" pitchFamily="2" charset="-122"/>
                <a:ea typeface="等线 Light" panose="02010600030101010101" pitchFamily="2" charset="-122"/>
              </a:rPr>
              <a:t>标注和引用问题。引述来源标注错误或无来源标注。</a:t>
            </a:r>
          </a:p>
        </p:txBody>
      </p:sp>
      <p:sp>
        <p:nvSpPr>
          <p:cNvPr id="8" name="矩形 7">
            <a:extLst>
              <a:ext uri="{FF2B5EF4-FFF2-40B4-BE49-F238E27FC236}">
                <a16:creationId xmlns:a16="http://schemas.microsoft.com/office/drawing/2014/main" id="{2496CB64-72FA-44C4-BCA3-E3BCA3FFA1EC}"/>
              </a:ext>
            </a:extLst>
          </p:cNvPr>
          <p:cNvSpPr/>
          <p:nvPr>
            <p:custDataLst>
              <p:tags r:id="rId1"/>
            </p:custDataLst>
          </p:nvPr>
        </p:nvSpPr>
        <p:spPr>
          <a:xfrm>
            <a:off x="914400" y="2967687"/>
            <a:ext cx="9342662" cy="922625"/>
          </a:xfrm>
          <a:prstGeom prst="rect">
            <a:avLst/>
          </a:prstGeom>
          <a:solidFill>
            <a:srgbClr val="70AD47">
              <a:lumMod val="40000"/>
              <a:lumOff val="60000"/>
            </a:srgbClr>
          </a:solidFill>
        </p:spPr>
        <p:txBody>
          <a:bodyPr wrap="square">
            <a:spAutoFit/>
          </a:bodyPr>
          <a:lstStyle/>
          <a:p>
            <a:pPr>
              <a:lnSpc>
                <a:spcPct val="150000"/>
              </a:lnSpc>
            </a:pPr>
            <a:r>
              <a:rPr lang="zh-CN" altLang="en-US" b="1" kern="100" dirty="0">
                <a:highlight>
                  <a:srgbClr val="FFFF00"/>
                </a:highlight>
                <a:latin typeface="等线 Light" panose="02010600030101010101" pitchFamily="2" charset="-122"/>
                <a:ea typeface="等线 Light" panose="02010600030101010101" pitchFamily="2" charset="-122"/>
                <a:cs typeface="Times New Roman" panose="02020603050405020304" pitchFamily="18" charset="0"/>
              </a:rPr>
              <a:t>开题报告：</a:t>
            </a:r>
            <a:r>
              <a:rPr lang="zh-CN" altLang="en-US" i="1" dirty="0">
                <a:latin typeface="等线 Light" panose="02010600030101010101" pitchFamily="2" charset="-122"/>
                <a:ea typeface="等线 Light" panose="02010600030101010101" pitchFamily="2" charset="-122"/>
                <a:cs typeface="Times New Roman" panose="02020603050405020304" pitchFamily="18" charset="0"/>
              </a:rPr>
              <a:t>“</a:t>
            </a:r>
            <a:r>
              <a:rPr i="1" dirty="0">
                <a:latin typeface="等线 Light" panose="02010600030101010101" pitchFamily="2" charset="-122"/>
                <a:ea typeface="等线 Light" panose="02010600030101010101" pitchFamily="2" charset="-122"/>
                <a:cs typeface="Times New Roman" panose="02020603050405020304" pitchFamily="18" charset="0"/>
              </a:rPr>
              <a:t>首先，本文补充了关于建筑领域中风险相关性研究的</a:t>
            </a:r>
            <a:r>
              <a:rPr b="1" i="1" dirty="0">
                <a:latin typeface="等线 Light" panose="02010600030101010101" pitchFamily="2" charset="-122"/>
                <a:ea typeface="等线 Light" panose="02010600030101010101" pitchFamily="2" charset="-122"/>
                <a:cs typeface="Times New Roman" panose="02020603050405020304" pitchFamily="18" charset="0"/>
              </a:rPr>
              <a:t>空白</a:t>
            </a:r>
            <a:r>
              <a:rPr i="1" dirty="0">
                <a:latin typeface="等线 Light" panose="02010600030101010101" pitchFamily="2" charset="-122"/>
                <a:ea typeface="等线 Light" panose="02010600030101010101" pitchFamily="2" charset="-122"/>
                <a:cs typeface="Times New Roman" panose="02020603050405020304" pitchFamily="18" charset="0"/>
              </a:rPr>
              <a:t>，目前关于风险相关性的研究主要为定性研究，较少从定量分析的角度进行分析和探索</a:t>
            </a:r>
            <a:r>
              <a:rPr lang="zh-CN" altLang="zh-CN" i="1" dirty="0">
                <a:latin typeface="等线 Light" panose="02010600030101010101" pitchFamily="2" charset="-122"/>
                <a:ea typeface="等线 Light" panose="02010600030101010101" pitchFamily="2" charset="-122"/>
                <a:cs typeface="Times New Roman" panose="02020603050405020304" pitchFamily="18" charset="0"/>
              </a:rPr>
              <a:t>。</a:t>
            </a:r>
            <a:r>
              <a:rPr lang="zh-CN" altLang="en-US" sz="2000" i="1" dirty="0">
                <a:latin typeface="等线 Light" panose="02010600030101010101" pitchFamily="2" charset="-122"/>
                <a:ea typeface="等线 Light" panose="02010600030101010101" pitchFamily="2" charset="-122"/>
                <a:cs typeface="Times New Roman" panose="02020603050405020304" pitchFamily="18" charset="0"/>
              </a:rPr>
              <a:t>”</a:t>
            </a:r>
            <a:endParaRPr lang="zh-CN" altLang="en-US" sz="2000" i="1" dirty="0">
              <a:latin typeface="等线 Light" panose="02010600030101010101" pitchFamily="2" charset="-122"/>
              <a:ea typeface="等线 Light" panose="02010600030101010101" pitchFamily="2" charset="-122"/>
            </a:endParaRPr>
          </a:p>
        </p:txBody>
      </p:sp>
      <p:sp>
        <p:nvSpPr>
          <p:cNvPr id="15" name="矩形 14">
            <a:extLst>
              <a:ext uri="{FF2B5EF4-FFF2-40B4-BE49-F238E27FC236}">
                <a16:creationId xmlns:a16="http://schemas.microsoft.com/office/drawing/2014/main" id="{1871D00E-394B-416E-8CC7-F129BE5502DC}"/>
              </a:ext>
            </a:extLst>
          </p:cNvPr>
          <p:cNvSpPr/>
          <p:nvPr>
            <p:custDataLst>
              <p:tags r:id="rId2"/>
            </p:custDataLst>
          </p:nvPr>
        </p:nvSpPr>
        <p:spPr>
          <a:xfrm>
            <a:off x="304800" y="4495800"/>
            <a:ext cx="5638800" cy="1708929"/>
          </a:xfrm>
          <a:prstGeom prst="rect">
            <a:avLst/>
          </a:prstGeom>
          <a:solidFill>
            <a:srgbClr val="70AD47">
              <a:lumMod val="40000"/>
              <a:lumOff val="60000"/>
            </a:srgbClr>
          </a:solidFill>
        </p:spPr>
        <p:txBody>
          <a:bodyPr wrap="square">
            <a:spAutoFit/>
          </a:bodyPr>
          <a:lstStyle/>
          <a:p>
            <a:pPr indent="0" fontAlgn="auto">
              <a:lnSpc>
                <a:spcPct val="125000"/>
              </a:lnSpc>
            </a:pPr>
            <a:r>
              <a:rPr lang="zh-CN" altLang="en-US" i="1" dirty="0">
                <a:latin typeface="等线 Light" panose="02010600030101010101" pitchFamily="2" charset="-122"/>
                <a:ea typeface="等线 Light" panose="02010600030101010101" pitchFamily="2" charset="-122"/>
                <a:cs typeface="Times New Roman" panose="02020603050405020304" pitchFamily="18" charset="0"/>
              </a:rPr>
              <a:t>研究不足：</a:t>
            </a:r>
          </a:p>
          <a:p>
            <a:pPr marL="285750" indent="-285750" algn="just" fontAlgn="auto">
              <a:lnSpc>
                <a:spcPct val="125000"/>
              </a:lnSpc>
              <a:spcBef>
                <a:spcPts val="1000"/>
              </a:spcBef>
              <a:spcAft>
                <a:spcPts val="1000"/>
              </a:spcAft>
              <a:buFont typeface="Arial" panose="020B0604020202020204" pitchFamily="34" charset="0"/>
              <a:buChar char="•"/>
            </a:pPr>
            <a:r>
              <a:rPr lang="zh-CN" altLang="en-US" i="1" dirty="0">
                <a:latin typeface="等线 Light" panose="02010600030101010101" pitchFamily="2" charset="-122"/>
                <a:ea typeface="等线 Light" panose="02010600030101010101" pitchFamily="2" charset="-122"/>
                <a:cs typeface="Times New Roman" panose="02020603050405020304" pitchFamily="18" charset="0"/>
              </a:rPr>
              <a:t>缺少对多米诺骨牌效应的风险相关性的相关研究；</a:t>
            </a:r>
          </a:p>
          <a:p>
            <a:pPr marL="285750" indent="-285750" algn="just" fontAlgn="auto">
              <a:lnSpc>
                <a:spcPct val="125000"/>
              </a:lnSpc>
              <a:buFont typeface="Arial" panose="020B0604020202020204" pitchFamily="34" charset="0"/>
              <a:buChar char="•"/>
            </a:pPr>
            <a:r>
              <a:rPr lang="zh-CN" altLang="en-US" i="1" dirty="0">
                <a:latin typeface="等线 Light" panose="02010600030101010101" pitchFamily="2" charset="-122"/>
                <a:ea typeface="等线 Light" panose="02010600030101010101" pitchFamily="2" charset="-122"/>
                <a:cs typeface="Times New Roman" panose="02020603050405020304" pitchFamily="18" charset="0"/>
              </a:rPr>
              <a:t>没有针对风险相关性的具体机制和作用机理进行深入分析。</a:t>
            </a:r>
          </a:p>
        </p:txBody>
      </p:sp>
      <p:sp>
        <p:nvSpPr>
          <p:cNvPr id="16" name="矩形 15">
            <a:extLst>
              <a:ext uri="{FF2B5EF4-FFF2-40B4-BE49-F238E27FC236}">
                <a16:creationId xmlns:a16="http://schemas.microsoft.com/office/drawing/2014/main" id="{384D80C7-3D87-4429-B90F-8FCF6D89699B}"/>
              </a:ext>
            </a:extLst>
          </p:cNvPr>
          <p:cNvSpPr/>
          <p:nvPr>
            <p:custDataLst>
              <p:tags r:id="rId3"/>
            </p:custDataLst>
          </p:nvPr>
        </p:nvSpPr>
        <p:spPr>
          <a:xfrm>
            <a:off x="6088380" y="4495800"/>
            <a:ext cx="5943600" cy="1712135"/>
          </a:xfrm>
          <a:prstGeom prst="rect">
            <a:avLst/>
          </a:prstGeom>
          <a:solidFill>
            <a:srgbClr val="70AD47">
              <a:lumMod val="40000"/>
              <a:lumOff val="60000"/>
            </a:srgbClr>
          </a:solidFill>
        </p:spPr>
        <p:txBody>
          <a:bodyPr wrap="square">
            <a:spAutoFit/>
          </a:bodyPr>
          <a:lstStyle/>
          <a:p>
            <a:pPr indent="0" fontAlgn="auto">
              <a:lnSpc>
                <a:spcPct val="150000"/>
              </a:lnSpc>
            </a:pPr>
            <a:r>
              <a:rPr lang="zh-CN" altLang="en-US" i="1" dirty="0">
                <a:latin typeface="等线 Light" panose="02010600030101010101" pitchFamily="2" charset="-122"/>
                <a:ea typeface="等线 Light" panose="02010600030101010101" pitchFamily="2" charset="-122"/>
                <a:cs typeface="Times New Roman" panose="02020603050405020304" pitchFamily="18" charset="0"/>
              </a:rPr>
              <a:t>研究不足：</a:t>
            </a:r>
          </a:p>
          <a:p>
            <a:pPr marL="285750" indent="-285750" algn="just" fontAlgn="auto">
              <a:lnSpc>
                <a:spcPct val="150000"/>
              </a:lnSpc>
              <a:buFont typeface="Arial" panose="020B0604020202020204" pitchFamily="34" charset="0"/>
              <a:buChar char="•"/>
            </a:pPr>
            <a:r>
              <a:rPr lang="zh-CN" altLang="en-US" dirty="0">
                <a:latin typeface="等线 Light" panose="02010600030101010101" pitchFamily="2" charset="-122"/>
                <a:ea typeface="等线 Light" panose="02010600030101010101" pitchFamily="2" charset="-122"/>
              </a:rPr>
              <a:t>现有对</a:t>
            </a:r>
            <a:r>
              <a:rPr lang="zh-CN" altLang="en-US" b="1" dirty="0">
                <a:latin typeface="等线 Light" panose="02010600030101010101" pitchFamily="2" charset="-122"/>
                <a:ea typeface="等线 Light" panose="02010600030101010101" pitchFamily="2" charset="-122"/>
              </a:rPr>
              <a:t>多米诺骨牌效应</a:t>
            </a:r>
            <a:r>
              <a:rPr lang="zh-CN" altLang="en-US" dirty="0">
                <a:latin typeface="等线 Light" panose="02010600030101010101" pitchFamily="2" charset="-122"/>
                <a:ea typeface="等线 Light" panose="02010600030101010101" pitchFamily="2" charset="-122"/>
              </a:rPr>
              <a:t>的风险相关性的研究较少。</a:t>
            </a:r>
          </a:p>
          <a:p>
            <a:pPr marL="285750" indent="-285750" algn="just" fontAlgn="auto">
              <a:lnSpc>
                <a:spcPct val="150000"/>
              </a:lnSpc>
              <a:buFont typeface="Arial" panose="020B0604020202020204" pitchFamily="34" charset="0"/>
              <a:buChar char="•"/>
            </a:pPr>
            <a:r>
              <a:rPr lang="zh-CN" altLang="en-US" dirty="0">
                <a:latin typeface="等线 Light" panose="02010600030101010101" pitchFamily="2" charset="-122"/>
                <a:ea typeface="等线 Light" panose="02010600030101010101" pitchFamily="2" charset="-122"/>
              </a:rPr>
              <a:t>现有的方法未能较好地度量以</a:t>
            </a:r>
            <a:r>
              <a:rPr lang="zh-CN" altLang="en-US" b="1" dirty="0">
                <a:latin typeface="等线 Light" panose="02010600030101010101" pitchFamily="2" charset="-122"/>
                <a:ea typeface="等线 Light" panose="02010600030101010101" pitchFamily="2" charset="-122"/>
              </a:rPr>
              <a:t>多米诺骨牌效应</a:t>
            </a:r>
            <a:r>
              <a:rPr lang="zh-CN" altLang="en-US" dirty="0">
                <a:latin typeface="等线 Light" panose="02010600030101010101" pitchFamily="2" charset="-122"/>
                <a:ea typeface="等线 Light" panose="02010600030101010101" pitchFamily="2" charset="-122"/>
              </a:rPr>
              <a:t>定义的风险相关性。</a:t>
            </a:r>
          </a:p>
        </p:txBody>
      </p:sp>
    </p:spTree>
    <p:extLst>
      <p:ext uri="{BB962C8B-B14F-4D97-AF65-F5344CB8AC3E}">
        <p14:creationId xmlns:p14="http://schemas.microsoft.com/office/powerpoint/2010/main" val="9481287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602FA01-B754-40B8-8537-030DC4DDC405}"/>
              </a:ext>
            </a:extLst>
          </p:cNvPr>
          <p:cNvSpPr/>
          <p:nvPr/>
        </p:nvSpPr>
        <p:spPr>
          <a:xfrm>
            <a:off x="1752600" y="465124"/>
            <a:ext cx="5105400" cy="600164"/>
          </a:xfrm>
          <a:prstGeom prst="rect">
            <a:avLst/>
          </a:prstGeom>
        </p:spPr>
        <p:txBody>
          <a:bodyPr wrap="square">
            <a:spAutoFit/>
          </a:bodyPr>
          <a:lstStyle/>
          <a:p>
            <a:pPr>
              <a:spcBef>
                <a:spcPct val="0"/>
              </a:spcBef>
            </a:pPr>
            <a:r>
              <a:rPr lang="zh-CN" altLang="zh-CN" sz="3300" dirty="0">
                <a:latin typeface="等线 Light" panose="02010600030101010101" pitchFamily="2" charset="-122"/>
                <a:ea typeface="等线 Light" panose="02010600030101010101" pitchFamily="2" charset="-122"/>
                <a:cs typeface="+mj-cs"/>
              </a:rPr>
              <a:t>文献综述</a:t>
            </a:r>
            <a:r>
              <a:rPr lang="zh-CN" altLang="en-US" sz="3300" dirty="0">
                <a:latin typeface="等线 Light" panose="02010600030101010101" pitchFamily="2" charset="-122"/>
                <a:ea typeface="等线 Light" panose="02010600030101010101" pitchFamily="2" charset="-122"/>
                <a:cs typeface="+mj-cs"/>
              </a:rPr>
              <a:t>写作的</a:t>
            </a:r>
            <a:r>
              <a:rPr lang="zh-CN" altLang="zh-CN" sz="3300" dirty="0">
                <a:latin typeface="等线 Light" panose="02010600030101010101" pitchFamily="2" charset="-122"/>
                <a:ea typeface="等线 Light" panose="02010600030101010101" pitchFamily="2" charset="-122"/>
                <a:cs typeface="+mj-cs"/>
              </a:rPr>
              <a:t>常见问题</a:t>
            </a:r>
            <a:endParaRPr lang="zh-CN" altLang="en-US" sz="3300" dirty="0">
              <a:latin typeface="等线 Light" panose="02010600030101010101" pitchFamily="2" charset="-122"/>
              <a:ea typeface="等线 Light" panose="02010600030101010101" pitchFamily="2" charset="-122"/>
              <a:cs typeface="+mj-cs"/>
            </a:endParaRPr>
          </a:p>
        </p:txBody>
      </p:sp>
      <p:sp>
        <p:nvSpPr>
          <p:cNvPr id="6" name="矩形 5">
            <a:extLst>
              <a:ext uri="{FF2B5EF4-FFF2-40B4-BE49-F238E27FC236}">
                <a16:creationId xmlns:a16="http://schemas.microsoft.com/office/drawing/2014/main" id="{56C134C2-B7B4-4357-B871-80943C883583}"/>
              </a:ext>
            </a:extLst>
          </p:cNvPr>
          <p:cNvSpPr/>
          <p:nvPr/>
        </p:nvSpPr>
        <p:spPr>
          <a:xfrm>
            <a:off x="372761" y="1097945"/>
            <a:ext cx="11446477" cy="507127"/>
          </a:xfrm>
          <a:prstGeom prst="rect">
            <a:avLst/>
          </a:prstGeom>
        </p:spPr>
        <p:txBody>
          <a:bodyPr wrap="square">
            <a:spAutoFit/>
          </a:bodyPr>
          <a:lstStyle/>
          <a:p>
            <a:pPr algn="just">
              <a:lnSpc>
                <a:spcPct val="150000"/>
              </a:lnSpc>
              <a:spcAft>
                <a:spcPts val="0"/>
              </a:spcAft>
            </a:pPr>
            <a:r>
              <a:rPr lang="en-US" altLang="zh-CN" sz="2000" b="1" kern="100" dirty="0">
                <a:latin typeface="等线 Light" panose="02010600030101010101" pitchFamily="2" charset="-122"/>
                <a:ea typeface="等线 Light" panose="02010600030101010101" pitchFamily="2" charset="-122"/>
                <a:cs typeface="Times New Roman" panose="02020603050405020304" pitchFamily="18" charset="0"/>
              </a:rPr>
              <a:t>3</a:t>
            </a:r>
            <a:r>
              <a:rPr lang="zh-CN" altLang="en-US" sz="2000" b="1" kern="100" dirty="0">
                <a:latin typeface="等线 Light" panose="02010600030101010101" pitchFamily="2" charset="-122"/>
                <a:ea typeface="等线 Light" panose="02010600030101010101" pitchFamily="2" charset="-122"/>
                <a:cs typeface="Times New Roman" panose="02020603050405020304" pitchFamily="18" charset="0"/>
              </a:rPr>
              <a:t>、</a:t>
            </a:r>
            <a:r>
              <a:rPr lang="zh-CN" altLang="zh-CN" sz="2000" b="1" kern="100" dirty="0">
                <a:latin typeface="等线 Light" panose="02010600030101010101" pitchFamily="2" charset="-122"/>
                <a:ea typeface="等线 Light" panose="02010600030101010101" pitchFamily="2" charset="-122"/>
                <a:cs typeface="Times New Roman" panose="02020603050405020304" pitchFamily="18" charset="0"/>
              </a:rPr>
              <a:t>规范性问题</a:t>
            </a:r>
            <a:endParaRPr lang="en-US" altLang="zh-CN" sz="2000" b="1" kern="100" dirty="0">
              <a:latin typeface="等线 Light" panose="02010600030101010101" pitchFamily="2" charset="-122"/>
              <a:ea typeface="等线 Light" panose="02010600030101010101" pitchFamily="2" charset="-122"/>
              <a:cs typeface="Times New Roman" panose="02020603050405020304" pitchFamily="18" charset="0"/>
            </a:endParaRPr>
          </a:p>
        </p:txBody>
      </p:sp>
      <p:graphicFrame>
        <p:nvGraphicFramePr>
          <p:cNvPr id="3" name="表格 2">
            <a:extLst>
              <a:ext uri="{FF2B5EF4-FFF2-40B4-BE49-F238E27FC236}">
                <a16:creationId xmlns:a16="http://schemas.microsoft.com/office/drawing/2014/main" id="{BBE19CCF-4CE8-4E01-955C-2402DF7F96A5}"/>
              </a:ext>
            </a:extLst>
          </p:cNvPr>
          <p:cNvGraphicFramePr>
            <a:graphicFrameLocks noGrp="1"/>
          </p:cNvGraphicFramePr>
          <p:nvPr>
            <p:extLst>
              <p:ext uri="{D42A27DB-BD31-4B8C-83A1-F6EECF244321}">
                <p14:modId xmlns:p14="http://schemas.microsoft.com/office/powerpoint/2010/main" val="2253908141"/>
              </p:ext>
            </p:extLst>
          </p:nvPr>
        </p:nvGraphicFramePr>
        <p:xfrm>
          <a:off x="304800" y="2326650"/>
          <a:ext cx="5614382" cy="2926080"/>
        </p:xfrm>
        <a:graphic>
          <a:graphicData uri="http://schemas.openxmlformats.org/drawingml/2006/table">
            <a:tbl>
              <a:tblPr firstRow="1" firstCol="1" bandRow="1">
                <a:tableStyleId>{5C22544A-7EE6-4342-B048-85BDC9FD1C3A}</a:tableStyleId>
              </a:tblPr>
              <a:tblGrid>
                <a:gridCol w="4270093">
                  <a:extLst>
                    <a:ext uri="{9D8B030D-6E8A-4147-A177-3AD203B41FA5}">
                      <a16:colId xmlns:a16="http://schemas.microsoft.com/office/drawing/2014/main" val="1548003287"/>
                    </a:ext>
                  </a:extLst>
                </a:gridCol>
                <a:gridCol w="1344289">
                  <a:extLst>
                    <a:ext uri="{9D8B030D-6E8A-4147-A177-3AD203B41FA5}">
                      <a16:colId xmlns:a16="http://schemas.microsoft.com/office/drawing/2014/main" val="1823212581"/>
                    </a:ext>
                  </a:extLst>
                </a:gridCol>
              </a:tblGrid>
              <a:tr h="213571">
                <a:tc>
                  <a:txBody>
                    <a:bodyPr/>
                    <a:lstStyle/>
                    <a:p>
                      <a:pPr algn="ctr">
                        <a:spcAft>
                          <a:spcPts val="0"/>
                        </a:spcAft>
                      </a:pPr>
                      <a:r>
                        <a:rPr lang="zh-CN" sz="1600" kern="100" dirty="0">
                          <a:effectLst/>
                          <a:latin typeface="等线 Light" panose="02010600030101010101" pitchFamily="2" charset="-122"/>
                          <a:ea typeface="等线 Light" panose="02010600030101010101" pitchFamily="2" charset="-122"/>
                        </a:rPr>
                        <a:t>问题</a:t>
                      </a:r>
                      <a:endParaRPr lang="zh-CN" sz="16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600" kern="100">
                          <a:effectLst/>
                          <a:latin typeface="等线 Light" panose="02010600030101010101" pitchFamily="2" charset="-122"/>
                          <a:ea typeface="等线 Light" panose="02010600030101010101" pitchFamily="2" charset="-122"/>
                        </a:rPr>
                        <a:t>数量（比重）</a:t>
                      </a:r>
                      <a:endParaRPr lang="zh-CN" sz="1600" kern="10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382924226"/>
                  </a:ext>
                </a:extLst>
              </a:tr>
              <a:tr h="205211">
                <a:tc>
                  <a:txBody>
                    <a:bodyPr/>
                    <a:lstStyle/>
                    <a:p>
                      <a:pPr algn="just">
                        <a:spcAft>
                          <a:spcPts val="0"/>
                        </a:spcAft>
                      </a:pPr>
                      <a:r>
                        <a:rPr lang="zh-CN" sz="1600" kern="100" dirty="0">
                          <a:effectLst/>
                          <a:latin typeface="等线 Light" panose="02010600030101010101" pitchFamily="2" charset="-122"/>
                          <a:ea typeface="等线 Light" panose="02010600030101010101" pitchFamily="2" charset="-122"/>
                        </a:rPr>
                        <a:t>引述内容缺乏详细信息，引述焦点不突出</a:t>
                      </a:r>
                      <a:endParaRPr lang="zh-CN" sz="16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600" kern="100">
                          <a:effectLst/>
                          <a:latin typeface="等线 Light" panose="02010600030101010101" pitchFamily="2" charset="-122"/>
                          <a:ea typeface="等线 Light" panose="02010600030101010101" pitchFamily="2" charset="-122"/>
                        </a:rPr>
                        <a:t>170</a:t>
                      </a:r>
                      <a:r>
                        <a:rPr lang="zh-CN" sz="1600" kern="100">
                          <a:effectLst/>
                          <a:latin typeface="等线 Light" panose="02010600030101010101" pitchFamily="2" charset="-122"/>
                          <a:ea typeface="等线 Light" panose="02010600030101010101" pitchFamily="2" charset="-122"/>
                        </a:rPr>
                        <a:t>（</a:t>
                      </a:r>
                      <a:r>
                        <a:rPr lang="en-US" sz="1600" kern="100">
                          <a:effectLst/>
                          <a:latin typeface="等线 Light" panose="02010600030101010101" pitchFamily="2" charset="-122"/>
                          <a:ea typeface="等线 Light" panose="02010600030101010101" pitchFamily="2" charset="-122"/>
                        </a:rPr>
                        <a:t>38%</a:t>
                      </a:r>
                      <a:r>
                        <a:rPr lang="zh-CN" sz="1600" kern="100">
                          <a:effectLst/>
                          <a:latin typeface="等线 Light" panose="02010600030101010101" pitchFamily="2" charset="-122"/>
                          <a:ea typeface="等线 Light" panose="02010600030101010101" pitchFamily="2" charset="-122"/>
                        </a:rPr>
                        <a:t>）</a:t>
                      </a:r>
                      <a:endParaRPr lang="zh-CN" sz="1600" kern="10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1742472"/>
                  </a:ext>
                </a:extLst>
              </a:tr>
              <a:tr h="205211">
                <a:tc>
                  <a:txBody>
                    <a:bodyPr/>
                    <a:lstStyle/>
                    <a:p>
                      <a:pPr algn="just">
                        <a:spcAft>
                          <a:spcPts val="0"/>
                        </a:spcAft>
                      </a:pPr>
                      <a:r>
                        <a:rPr lang="zh-CN" sz="1600" kern="100" dirty="0">
                          <a:effectLst/>
                          <a:latin typeface="等线 Light" panose="02010600030101010101" pitchFamily="2" charset="-122"/>
                          <a:ea typeface="等线 Light" panose="02010600030101010101" pitchFamily="2" charset="-122"/>
                        </a:rPr>
                        <a:t>引述内容与主题不直接相关或无关</a:t>
                      </a:r>
                      <a:endParaRPr lang="zh-CN" sz="16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600" kern="100" dirty="0">
                          <a:effectLst/>
                          <a:latin typeface="等线 Light" panose="02010600030101010101" pitchFamily="2" charset="-122"/>
                          <a:ea typeface="等线 Light" panose="02010600030101010101" pitchFamily="2" charset="-122"/>
                        </a:rPr>
                        <a:t>103</a:t>
                      </a:r>
                      <a:r>
                        <a:rPr lang="zh-CN" sz="1600" kern="100" dirty="0">
                          <a:effectLst/>
                          <a:latin typeface="等线 Light" panose="02010600030101010101" pitchFamily="2" charset="-122"/>
                          <a:ea typeface="等线 Light" panose="02010600030101010101" pitchFamily="2" charset="-122"/>
                        </a:rPr>
                        <a:t>（</a:t>
                      </a:r>
                      <a:r>
                        <a:rPr lang="en-US" sz="1600" kern="100" dirty="0">
                          <a:effectLst/>
                          <a:latin typeface="等线 Light" panose="02010600030101010101" pitchFamily="2" charset="-122"/>
                          <a:ea typeface="等线 Light" panose="02010600030101010101" pitchFamily="2" charset="-122"/>
                        </a:rPr>
                        <a:t>23%</a:t>
                      </a:r>
                      <a:r>
                        <a:rPr lang="zh-CN" sz="1600" kern="100" dirty="0">
                          <a:effectLst/>
                          <a:latin typeface="等线 Light" panose="02010600030101010101" pitchFamily="2" charset="-122"/>
                          <a:ea typeface="等线 Light" panose="02010600030101010101" pitchFamily="2" charset="-122"/>
                        </a:rPr>
                        <a:t>）</a:t>
                      </a:r>
                      <a:endParaRPr lang="zh-CN" sz="16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250735220"/>
                  </a:ext>
                </a:extLst>
              </a:tr>
              <a:tr h="205211">
                <a:tc>
                  <a:txBody>
                    <a:bodyPr/>
                    <a:lstStyle/>
                    <a:p>
                      <a:pPr algn="just">
                        <a:spcAft>
                          <a:spcPts val="0"/>
                        </a:spcAft>
                      </a:pPr>
                      <a:r>
                        <a:rPr lang="zh-CN" sz="1600" kern="100" dirty="0">
                          <a:effectLst/>
                          <a:latin typeface="等线 Light" panose="02010600030101010101" pitchFamily="2" charset="-122"/>
                          <a:ea typeface="等线 Light" panose="02010600030101010101" pitchFamily="2" charset="-122"/>
                        </a:rPr>
                        <a:t>引述之间逻辑关系混乱</a:t>
                      </a:r>
                      <a:endParaRPr lang="zh-CN" sz="16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600" kern="100" dirty="0">
                          <a:effectLst/>
                          <a:latin typeface="等线 Light" panose="02010600030101010101" pitchFamily="2" charset="-122"/>
                          <a:ea typeface="等线 Light" panose="02010600030101010101" pitchFamily="2" charset="-122"/>
                        </a:rPr>
                        <a:t>42</a:t>
                      </a:r>
                      <a:r>
                        <a:rPr lang="zh-CN" sz="1600" kern="100" dirty="0">
                          <a:effectLst/>
                          <a:latin typeface="等线 Light" panose="02010600030101010101" pitchFamily="2" charset="-122"/>
                          <a:ea typeface="等线 Light" panose="02010600030101010101" pitchFamily="2" charset="-122"/>
                        </a:rPr>
                        <a:t>（</a:t>
                      </a:r>
                      <a:r>
                        <a:rPr lang="en-US" sz="1600" kern="100" dirty="0">
                          <a:effectLst/>
                          <a:latin typeface="等线 Light" panose="02010600030101010101" pitchFamily="2" charset="-122"/>
                          <a:ea typeface="等线 Light" panose="02010600030101010101" pitchFamily="2" charset="-122"/>
                        </a:rPr>
                        <a:t>9.4%</a:t>
                      </a:r>
                      <a:r>
                        <a:rPr lang="zh-CN" sz="1600" kern="100" dirty="0">
                          <a:effectLst/>
                          <a:latin typeface="等线 Light" panose="02010600030101010101" pitchFamily="2" charset="-122"/>
                          <a:ea typeface="等线 Light" panose="02010600030101010101" pitchFamily="2" charset="-122"/>
                        </a:rPr>
                        <a:t>）</a:t>
                      </a:r>
                      <a:endParaRPr lang="zh-CN" sz="16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137156194"/>
                  </a:ext>
                </a:extLst>
              </a:tr>
              <a:tr h="205211">
                <a:tc>
                  <a:txBody>
                    <a:bodyPr/>
                    <a:lstStyle/>
                    <a:p>
                      <a:pPr algn="just">
                        <a:spcAft>
                          <a:spcPts val="0"/>
                        </a:spcAft>
                      </a:pPr>
                      <a:r>
                        <a:rPr lang="zh-CN" sz="1600" kern="100" dirty="0">
                          <a:effectLst/>
                          <a:latin typeface="等线 Light" panose="02010600030101010101" pitchFamily="2" charset="-122"/>
                          <a:ea typeface="等线 Light" panose="02010600030101010101" pitchFamily="2" charset="-122"/>
                        </a:rPr>
                        <a:t>引述来源标注错误或无来源标注</a:t>
                      </a:r>
                      <a:endParaRPr lang="zh-CN" sz="16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600" kern="100">
                          <a:effectLst/>
                          <a:latin typeface="等线 Light" panose="02010600030101010101" pitchFamily="2" charset="-122"/>
                          <a:ea typeface="等线 Light" panose="02010600030101010101" pitchFamily="2" charset="-122"/>
                        </a:rPr>
                        <a:t>61</a:t>
                      </a:r>
                      <a:r>
                        <a:rPr lang="zh-CN" sz="1600" kern="100">
                          <a:effectLst/>
                          <a:latin typeface="等线 Light" panose="02010600030101010101" pitchFamily="2" charset="-122"/>
                          <a:ea typeface="等线 Light" panose="02010600030101010101" pitchFamily="2" charset="-122"/>
                        </a:rPr>
                        <a:t>（</a:t>
                      </a:r>
                      <a:r>
                        <a:rPr lang="en-US" sz="1600" kern="100">
                          <a:effectLst/>
                          <a:latin typeface="等线 Light" panose="02010600030101010101" pitchFamily="2" charset="-122"/>
                          <a:ea typeface="等线 Light" panose="02010600030101010101" pitchFamily="2" charset="-122"/>
                        </a:rPr>
                        <a:t>13.6%</a:t>
                      </a:r>
                      <a:r>
                        <a:rPr lang="zh-CN" sz="1600" kern="100">
                          <a:effectLst/>
                          <a:latin typeface="等线 Light" panose="02010600030101010101" pitchFamily="2" charset="-122"/>
                          <a:ea typeface="等线 Light" panose="02010600030101010101" pitchFamily="2" charset="-122"/>
                        </a:rPr>
                        <a:t>）</a:t>
                      </a:r>
                      <a:endParaRPr lang="zh-CN" sz="1600" kern="10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599215868"/>
                  </a:ext>
                </a:extLst>
              </a:tr>
              <a:tr h="205211">
                <a:tc>
                  <a:txBody>
                    <a:bodyPr/>
                    <a:lstStyle/>
                    <a:p>
                      <a:pPr algn="just">
                        <a:spcAft>
                          <a:spcPts val="0"/>
                        </a:spcAft>
                      </a:pPr>
                      <a:r>
                        <a:rPr lang="zh-CN" sz="1600" kern="100" dirty="0">
                          <a:effectLst/>
                          <a:latin typeface="等线 Light" panose="02010600030101010101" pitchFamily="2" charset="-122"/>
                          <a:ea typeface="等线 Light" panose="02010600030101010101" pitchFamily="2" charset="-122"/>
                        </a:rPr>
                        <a:t>用词、造句不符合文献综述文体规范</a:t>
                      </a:r>
                      <a:endParaRPr lang="zh-CN" sz="16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600" kern="100">
                          <a:effectLst/>
                          <a:latin typeface="等线 Light" panose="02010600030101010101" pitchFamily="2" charset="-122"/>
                          <a:ea typeface="等线 Light" panose="02010600030101010101" pitchFamily="2" charset="-122"/>
                        </a:rPr>
                        <a:t>16</a:t>
                      </a:r>
                      <a:r>
                        <a:rPr lang="zh-CN" sz="1600" kern="100">
                          <a:effectLst/>
                          <a:latin typeface="等线 Light" panose="02010600030101010101" pitchFamily="2" charset="-122"/>
                          <a:ea typeface="等线 Light" panose="02010600030101010101" pitchFamily="2" charset="-122"/>
                        </a:rPr>
                        <a:t>（</a:t>
                      </a:r>
                      <a:r>
                        <a:rPr lang="en-US" sz="1600" kern="100">
                          <a:effectLst/>
                          <a:latin typeface="等线 Light" panose="02010600030101010101" pitchFamily="2" charset="-122"/>
                          <a:ea typeface="等线 Light" panose="02010600030101010101" pitchFamily="2" charset="-122"/>
                        </a:rPr>
                        <a:t>3.6%</a:t>
                      </a:r>
                      <a:r>
                        <a:rPr lang="zh-CN" sz="1600" kern="100">
                          <a:effectLst/>
                          <a:latin typeface="等线 Light" panose="02010600030101010101" pitchFamily="2" charset="-122"/>
                          <a:ea typeface="等线 Light" panose="02010600030101010101" pitchFamily="2" charset="-122"/>
                        </a:rPr>
                        <a:t>）</a:t>
                      </a:r>
                      <a:endParaRPr lang="zh-CN" sz="1600" kern="10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658011168"/>
                  </a:ext>
                </a:extLst>
              </a:tr>
              <a:tr h="205211">
                <a:tc>
                  <a:txBody>
                    <a:bodyPr/>
                    <a:lstStyle/>
                    <a:p>
                      <a:pPr algn="just">
                        <a:spcAft>
                          <a:spcPts val="0"/>
                        </a:spcAft>
                      </a:pPr>
                      <a:r>
                        <a:rPr lang="zh-CN" sz="1600" kern="100" dirty="0">
                          <a:effectLst/>
                          <a:latin typeface="等线 Light" panose="02010600030101010101" pitchFamily="2" charset="-122"/>
                          <a:ea typeface="等线 Light" panose="02010600030101010101" pitchFamily="2" charset="-122"/>
                        </a:rPr>
                        <a:t>句与句之间逻辑关系不严密</a:t>
                      </a:r>
                      <a:endParaRPr lang="zh-CN" sz="16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600" kern="100" dirty="0">
                          <a:effectLst/>
                          <a:latin typeface="等线 Light" panose="02010600030101010101" pitchFamily="2" charset="-122"/>
                          <a:ea typeface="等线 Light" panose="02010600030101010101" pitchFamily="2" charset="-122"/>
                        </a:rPr>
                        <a:t>9</a:t>
                      </a:r>
                      <a:r>
                        <a:rPr lang="zh-CN" sz="1600" kern="100" dirty="0">
                          <a:effectLst/>
                          <a:latin typeface="等线 Light" panose="02010600030101010101" pitchFamily="2" charset="-122"/>
                          <a:ea typeface="等线 Light" panose="02010600030101010101" pitchFamily="2" charset="-122"/>
                        </a:rPr>
                        <a:t>（</a:t>
                      </a:r>
                      <a:r>
                        <a:rPr lang="en-US" sz="1600" kern="100" dirty="0">
                          <a:effectLst/>
                          <a:latin typeface="等线 Light" panose="02010600030101010101" pitchFamily="2" charset="-122"/>
                          <a:ea typeface="等线 Light" panose="02010600030101010101" pitchFamily="2" charset="-122"/>
                        </a:rPr>
                        <a:t>2%</a:t>
                      </a:r>
                      <a:r>
                        <a:rPr lang="zh-CN" sz="1600" kern="100" dirty="0">
                          <a:effectLst/>
                          <a:latin typeface="等线 Light" panose="02010600030101010101" pitchFamily="2" charset="-122"/>
                          <a:ea typeface="等线 Light" panose="02010600030101010101" pitchFamily="2" charset="-122"/>
                        </a:rPr>
                        <a:t>）</a:t>
                      </a:r>
                      <a:endParaRPr lang="zh-CN" sz="16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206341490"/>
                  </a:ext>
                </a:extLst>
              </a:tr>
              <a:tr h="205211">
                <a:tc>
                  <a:txBody>
                    <a:bodyPr/>
                    <a:lstStyle/>
                    <a:p>
                      <a:pPr algn="just">
                        <a:spcAft>
                          <a:spcPts val="0"/>
                        </a:spcAft>
                      </a:pPr>
                      <a:r>
                        <a:rPr lang="zh-CN" sz="1600" kern="100">
                          <a:effectLst/>
                          <a:latin typeface="等线 Light" panose="02010600030101010101" pitchFamily="2" charset="-122"/>
                          <a:ea typeface="等线 Light" panose="02010600030101010101" pitchFamily="2" charset="-122"/>
                        </a:rPr>
                        <a:t>意思不清</a:t>
                      </a:r>
                      <a:endParaRPr lang="zh-CN" sz="1600" kern="10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600" kern="100" dirty="0">
                          <a:effectLst/>
                          <a:latin typeface="等线 Light" panose="02010600030101010101" pitchFamily="2" charset="-122"/>
                          <a:ea typeface="等线 Light" panose="02010600030101010101" pitchFamily="2" charset="-122"/>
                        </a:rPr>
                        <a:t>9</a:t>
                      </a:r>
                      <a:r>
                        <a:rPr lang="zh-CN" sz="1600" kern="100" dirty="0">
                          <a:effectLst/>
                          <a:latin typeface="等线 Light" panose="02010600030101010101" pitchFamily="2" charset="-122"/>
                          <a:ea typeface="等线 Light" panose="02010600030101010101" pitchFamily="2" charset="-122"/>
                        </a:rPr>
                        <a:t>（</a:t>
                      </a:r>
                      <a:r>
                        <a:rPr lang="en-US" sz="1600" kern="100" dirty="0">
                          <a:effectLst/>
                          <a:latin typeface="等线 Light" panose="02010600030101010101" pitchFamily="2" charset="-122"/>
                          <a:ea typeface="等线 Light" panose="02010600030101010101" pitchFamily="2" charset="-122"/>
                        </a:rPr>
                        <a:t>2%</a:t>
                      </a:r>
                      <a:r>
                        <a:rPr lang="zh-CN" sz="1600" kern="100" dirty="0">
                          <a:effectLst/>
                          <a:latin typeface="等线 Light" panose="02010600030101010101" pitchFamily="2" charset="-122"/>
                          <a:ea typeface="等线 Light" panose="02010600030101010101" pitchFamily="2" charset="-122"/>
                        </a:rPr>
                        <a:t>）</a:t>
                      </a:r>
                      <a:endParaRPr lang="zh-CN" sz="16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286462873"/>
                  </a:ext>
                </a:extLst>
              </a:tr>
              <a:tr h="205211">
                <a:tc>
                  <a:txBody>
                    <a:bodyPr/>
                    <a:lstStyle/>
                    <a:p>
                      <a:pPr algn="just">
                        <a:spcAft>
                          <a:spcPts val="0"/>
                        </a:spcAft>
                      </a:pPr>
                      <a:r>
                        <a:rPr lang="zh-CN" sz="1600" kern="100">
                          <a:effectLst/>
                          <a:latin typeface="等线 Light" panose="02010600030101010101" pitchFamily="2" charset="-122"/>
                          <a:ea typeface="等线 Light" panose="02010600030101010101" pitchFamily="2" charset="-122"/>
                        </a:rPr>
                        <a:t>被引述者主体地位、身份表述不当</a:t>
                      </a:r>
                      <a:endParaRPr lang="zh-CN" sz="1600" kern="10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600" kern="100" dirty="0">
                          <a:effectLst/>
                          <a:latin typeface="等线 Light" panose="02010600030101010101" pitchFamily="2" charset="-122"/>
                          <a:ea typeface="等线 Light" panose="02010600030101010101" pitchFamily="2" charset="-122"/>
                        </a:rPr>
                        <a:t>10</a:t>
                      </a:r>
                      <a:r>
                        <a:rPr lang="zh-CN" sz="1600" kern="100" dirty="0">
                          <a:effectLst/>
                          <a:latin typeface="等线 Light" panose="02010600030101010101" pitchFamily="2" charset="-122"/>
                          <a:ea typeface="等线 Light" panose="02010600030101010101" pitchFamily="2" charset="-122"/>
                        </a:rPr>
                        <a:t>（</a:t>
                      </a:r>
                      <a:r>
                        <a:rPr lang="en-US" sz="1600" kern="100" dirty="0">
                          <a:effectLst/>
                          <a:latin typeface="等线 Light" panose="02010600030101010101" pitchFamily="2" charset="-122"/>
                          <a:ea typeface="等线 Light" panose="02010600030101010101" pitchFamily="2" charset="-122"/>
                        </a:rPr>
                        <a:t>2.2%</a:t>
                      </a:r>
                      <a:r>
                        <a:rPr lang="zh-CN" sz="1600" kern="100" dirty="0">
                          <a:effectLst/>
                          <a:latin typeface="等线 Light" panose="02010600030101010101" pitchFamily="2" charset="-122"/>
                          <a:ea typeface="等线 Light" panose="02010600030101010101" pitchFamily="2" charset="-122"/>
                        </a:rPr>
                        <a:t>）</a:t>
                      </a:r>
                      <a:endParaRPr lang="zh-CN" sz="16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007371566"/>
                  </a:ext>
                </a:extLst>
              </a:tr>
              <a:tr h="205211">
                <a:tc>
                  <a:txBody>
                    <a:bodyPr/>
                    <a:lstStyle/>
                    <a:p>
                      <a:pPr algn="just">
                        <a:spcAft>
                          <a:spcPts val="0"/>
                        </a:spcAft>
                      </a:pPr>
                      <a:r>
                        <a:rPr lang="zh-CN" sz="1600" kern="100">
                          <a:effectLst/>
                          <a:latin typeface="等线 Light" panose="02010600030101010101" pitchFamily="2" charset="-122"/>
                          <a:ea typeface="等线 Light" panose="02010600030101010101" pitchFamily="2" charset="-122"/>
                        </a:rPr>
                        <a:t>语法错误</a:t>
                      </a:r>
                      <a:endParaRPr lang="zh-CN" sz="1600" kern="10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600" kern="100" dirty="0">
                          <a:effectLst/>
                          <a:latin typeface="等线 Light" panose="02010600030101010101" pitchFamily="2" charset="-122"/>
                          <a:ea typeface="等线 Light" panose="02010600030101010101" pitchFamily="2" charset="-122"/>
                        </a:rPr>
                        <a:t>5</a:t>
                      </a:r>
                      <a:r>
                        <a:rPr lang="zh-CN" sz="1600" kern="100" dirty="0">
                          <a:effectLst/>
                          <a:latin typeface="等线 Light" panose="02010600030101010101" pitchFamily="2" charset="-122"/>
                          <a:ea typeface="等线 Light" panose="02010600030101010101" pitchFamily="2" charset="-122"/>
                        </a:rPr>
                        <a:t>（</a:t>
                      </a:r>
                      <a:r>
                        <a:rPr lang="en-US" sz="1600" kern="100" dirty="0">
                          <a:effectLst/>
                          <a:latin typeface="等线 Light" panose="02010600030101010101" pitchFamily="2" charset="-122"/>
                          <a:ea typeface="等线 Light" panose="02010600030101010101" pitchFamily="2" charset="-122"/>
                        </a:rPr>
                        <a:t>1.1%</a:t>
                      </a:r>
                      <a:r>
                        <a:rPr lang="zh-CN" sz="1600" kern="100" dirty="0">
                          <a:effectLst/>
                          <a:latin typeface="等线 Light" panose="02010600030101010101" pitchFamily="2" charset="-122"/>
                          <a:ea typeface="等线 Light" panose="02010600030101010101" pitchFamily="2" charset="-122"/>
                        </a:rPr>
                        <a:t>）</a:t>
                      </a:r>
                      <a:endParaRPr lang="zh-CN" sz="16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243105002"/>
                  </a:ext>
                </a:extLst>
              </a:tr>
              <a:tr h="205211">
                <a:tc>
                  <a:txBody>
                    <a:bodyPr/>
                    <a:lstStyle/>
                    <a:p>
                      <a:pPr algn="just">
                        <a:spcAft>
                          <a:spcPts val="0"/>
                        </a:spcAft>
                      </a:pPr>
                      <a:r>
                        <a:rPr lang="zh-CN" sz="1600" kern="100">
                          <a:effectLst/>
                          <a:latin typeface="等线 Light" panose="02010600030101010101" pitchFamily="2" charset="-122"/>
                          <a:ea typeface="等线 Light" panose="02010600030101010101" pitchFamily="2" charset="-122"/>
                        </a:rPr>
                        <a:t>非文献综述内容</a:t>
                      </a:r>
                      <a:endParaRPr lang="zh-CN" sz="1600" kern="10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600" kern="100" dirty="0">
                          <a:effectLst/>
                          <a:latin typeface="等线 Light" panose="02010600030101010101" pitchFamily="2" charset="-122"/>
                          <a:ea typeface="等线 Light" panose="02010600030101010101" pitchFamily="2" charset="-122"/>
                        </a:rPr>
                        <a:t>23</a:t>
                      </a:r>
                      <a:r>
                        <a:rPr lang="zh-CN" sz="1600" kern="100" dirty="0">
                          <a:effectLst/>
                          <a:latin typeface="等线 Light" panose="02010600030101010101" pitchFamily="2" charset="-122"/>
                          <a:ea typeface="等线 Light" panose="02010600030101010101" pitchFamily="2" charset="-122"/>
                        </a:rPr>
                        <a:t>（</a:t>
                      </a:r>
                      <a:r>
                        <a:rPr lang="en-US" sz="1600" kern="100" dirty="0">
                          <a:effectLst/>
                          <a:latin typeface="等线 Light" panose="02010600030101010101" pitchFamily="2" charset="-122"/>
                          <a:ea typeface="等线 Light" panose="02010600030101010101" pitchFamily="2" charset="-122"/>
                        </a:rPr>
                        <a:t>5.1%</a:t>
                      </a:r>
                      <a:r>
                        <a:rPr lang="zh-CN" sz="1600" kern="100" dirty="0">
                          <a:effectLst/>
                          <a:latin typeface="等线 Light" panose="02010600030101010101" pitchFamily="2" charset="-122"/>
                          <a:ea typeface="等线 Light" panose="02010600030101010101" pitchFamily="2" charset="-122"/>
                        </a:rPr>
                        <a:t>）</a:t>
                      </a:r>
                      <a:endParaRPr lang="zh-CN" sz="16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668936162"/>
                  </a:ext>
                </a:extLst>
              </a:tr>
              <a:tr h="205211">
                <a:tc>
                  <a:txBody>
                    <a:bodyPr/>
                    <a:lstStyle/>
                    <a:p>
                      <a:pPr algn="just">
                        <a:spcAft>
                          <a:spcPts val="0"/>
                        </a:spcAft>
                      </a:pPr>
                      <a:r>
                        <a:rPr lang="zh-CN" sz="1600" kern="100">
                          <a:effectLst/>
                          <a:latin typeface="等线 Light" panose="02010600030101010101" pitchFamily="2" charset="-122"/>
                          <a:ea typeface="等线 Light" panose="02010600030101010101" pitchFamily="2" charset="-122"/>
                        </a:rPr>
                        <a:t>总计</a:t>
                      </a:r>
                      <a:endParaRPr lang="zh-CN" sz="1600" kern="10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600" kern="100" dirty="0">
                          <a:effectLst/>
                          <a:latin typeface="等线 Light" panose="02010600030101010101" pitchFamily="2" charset="-122"/>
                          <a:ea typeface="等线 Light" panose="02010600030101010101" pitchFamily="2" charset="-122"/>
                        </a:rPr>
                        <a:t>448</a:t>
                      </a:r>
                      <a:r>
                        <a:rPr lang="zh-CN" sz="1600" kern="100" dirty="0">
                          <a:effectLst/>
                          <a:latin typeface="等线 Light" panose="02010600030101010101" pitchFamily="2" charset="-122"/>
                          <a:ea typeface="等线 Light" panose="02010600030101010101" pitchFamily="2" charset="-122"/>
                        </a:rPr>
                        <a:t>（</a:t>
                      </a:r>
                      <a:r>
                        <a:rPr lang="en-US" sz="1600" kern="100" dirty="0">
                          <a:effectLst/>
                          <a:latin typeface="等线 Light" panose="02010600030101010101" pitchFamily="2" charset="-122"/>
                          <a:ea typeface="等线 Light" panose="02010600030101010101" pitchFamily="2" charset="-122"/>
                        </a:rPr>
                        <a:t>100%</a:t>
                      </a:r>
                      <a:r>
                        <a:rPr lang="zh-CN" sz="1600" kern="100" dirty="0">
                          <a:effectLst/>
                          <a:latin typeface="等线 Light" panose="02010600030101010101" pitchFamily="2" charset="-122"/>
                          <a:ea typeface="等线 Light" panose="02010600030101010101" pitchFamily="2" charset="-122"/>
                        </a:rPr>
                        <a:t>）</a:t>
                      </a:r>
                      <a:endParaRPr lang="zh-CN" sz="1600" kern="100" dirty="0">
                        <a:effectLst/>
                        <a:latin typeface="等线 Light" panose="02010600030101010101" pitchFamily="2" charset="-122"/>
                        <a:ea typeface="等线 Light"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469037493"/>
                  </a:ext>
                </a:extLst>
              </a:tr>
            </a:tbl>
          </a:graphicData>
        </a:graphic>
      </p:graphicFrame>
      <p:sp>
        <p:nvSpPr>
          <p:cNvPr id="7" name="矩形 6">
            <a:extLst>
              <a:ext uri="{FF2B5EF4-FFF2-40B4-BE49-F238E27FC236}">
                <a16:creationId xmlns:a16="http://schemas.microsoft.com/office/drawing/2014/main" id="{AAA5BDF7-5576-47B5-A4D7-270A4D808402}"/>
              </a:ext>
            </a:extLst>
          </p:cNvPr>
          <p:cNvSpPr/>
          <p:nvPr/>
        </p:nvSpPr>
        <p:spPr>
          <a:xfrm>
            <a:off x="6324600" y="2895600"/>
            <a:ext cx="4852380" cy="1200329"/>
          </a:xfrm>
          <a:prstGeom prst="rect">
            <a:avLst/>
          </a:prstGeom>
        </p:spPr>
        <p:txBody>
          <a:bodyPr wrap="square">
            <a:spAutoFit/>
          </a:bodyPr>
          <a:lstStyle/>
          <a:p>
            <a:r>
              <a:rPr lang="zh-CN" altLang="zh-CN" dirty="0">
                <a:latin typeface="等线 Light" panose="02010600030101010101" pitchFamily="2" charset="-122"/>
                <a:ea typeface="等线 Light" panose="02010600030101010101" pitchFamily="2" charset="-122"/>
              </a:rPr>
              <a:t>安徽某省属大学</a:t>
            </a:r>
            <a:r>
              <a:rPr lang="en-US" altLang="zh-CN" dirty="0">
                <a:latin typeface="等线 Light" panose="02010600030101010101" pitchFamily="2" charset="-122"/>
                <a:ea typeface="等线 Light" panose="02010600030101010101" pitchFamily="2" charset="-122"/>
              </a:rPr>
              <a:t>14</a:t>
            </a:r>
            <a:r>
              <a:rPr lang="zh-CN" altLang="zh-CN" dirty="0">
                <a:latin typeface="等线 Light" panose="02010600030101010101" pitchFamily="2" charset="-122"/>
                <a:ea typeface="等线 Light" panose="02010600030101010101" pitchFamily="2" charset="-122"/>
              </a:rPr>
              <a:t>届毕业生中选取</a:t>
            </a:r>
            <a:r>
              <a:rPr lang="en-US" altLang="zh-CN" dirty="0">
                <a:latin typeface="等线 Light" panose="02010600030101010101" pitchFamily="2" charset="-122"/>
                <a:ea typeface="等线 Light" panose="02010600030101010101" pitchFamily="2" charset="-122"/>
              </a:rPr>
              <a:t>80</a:t>
            </a:r>
            <a:r>
              <a:rPr lang="zh-CN" altLang="zh-CN" dirty="0">
                <a:latin typeface="等线 Light" panose="02010600030101010101" pitchFamily="2" charset="-122"/>
                <a:ea typeface="等线 Light" panose="02010600030101010101" pitchFamily="2" charset="-122"/>
              </a:rPr>
              <a:t>篇学士学位论文，涵盖英语教育、翻译、语言学、文学与文化</a:t>
            </a:r>
            <a:r>
              <a:rPr lang="en-US" altLang="zh-CN" dirty="0">
                <a:latin typeface="等线 Light" panose="02010600030101010101" pitchFamily="2" charset="-122"/>
                <a:ea typeface="等线 Light" panose="02010600030101010101" pitchFamily="2" charset="-122"/>
              </a:rPr>
              <a:t>4</a:t>
            </a:r>
            <a:r>
              <a:rPr lang="zh-CN" altLang="zh-CN" dirty="0">
                <a:latin typeface="等线 Light" panose="02010600030101010101" pitchFamily="2" charset="-122"/>
                <a:ea typeface="等线 Light" panose="02010600030101010101" pitchFamily="2" charset="-122"/>
              </a:rPr>
              <a:t>个研究领域</a:t>
            </a:r>
            <a:r>
              <a:rPr lang="zh-CN" altLang="en-US" dirty="0">
                <a:latin typeface="等线 Light" panose="02010600030101010101" pitchFamily="2" charset="-122"/>
                <a:ea typeface="等线 Light" panose="02010600030101010101" pitchFamily="2" charset="-122"/>
              </a:rPr>
              <a:t>。</a:t>
            </a:r>
            <a:endParaRPr lang="en-US" altLang="zh-CN" dirty="0">
              <a:latin typeface="等线 Light" panose="02010600030101010101" pitchFamily="2" charset="-122"/>
              <a:ea typeface="等线 Light" panose="02010600030101010101" pitchFamily="2" charset="-122"/>
            </a:endParaRPr>
          </a:p>
          <a:p>
            <a:r>
              <a:rPr lang="zh-CN" altLang="zh-CN" dirty="0">
                <a:latin typeface="等线 Light" panose="02010600030101010101" pitchFamily="2" charset="-122"/>
                <a:ea typeface="等线 Light" panose="02010600030101010101" pitchFamily="2" charset="-122"/>
              </a:rPr>
              <a:t>何晔</a:t>
            </a:r>
            <a:r>
              <a:rPr lang="zh-CN" altLang="en-US" dirty="0">
                <a:latin typeface="等线 Light" panose="02010600030101010101" pitchFamily="2" charset="-122"/>
                <a:ea typeface="等线 Light" panose="02010600030101010101" pitchFamily="2" charset="-122"/>
              </a:rPr>
              <a:t>（</a:t>
            </a:r>
            <a:r>
              <a:rPr lang="en-US" altLang="zh-CN" dirty="0">
                <a:latin typeface="等线 Light" panose="02010600030101010101" pitchFamily="2" charset="-122"/>
                <a:ea typeface="等线 Light" panose="02010600030101010101" pitchFamily="2" charset="-122"/>
              </a:rPr>
              <a:t>2015</a:t>
            </a:r>
            <a:r>
              <a:rPr lang="zh-CN" altLang="en-US" dirty="0">
                <a:latin typeface="等线 Light" panose="02010600030101010101" pitchFamily="2" charset="-122"/>
                <a:ea typeface="等线 Light" panose="02010600030101010101" pitchFamily="2" charset="-122"/>
              </a:rPr>
              <a:t>）</a:t>
            </a:r>
          </a:p>
        </p:txBody>
      </p:sp>
    </p:spTree>
    <p:extLst>
      <p:ext uri="{BB962C8B-B14F-4D97-AF65-F5344CB8AC3E}">
        <p14:creationId xmlns:p14="http://schemas.microsoft.com/office/powerpoint/2010/main" val="35096571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027C8C4-A16F-42E8-8530-67D4E3B800EC}"/>
              </a:ext>
            </a:extLst>
          </p:cNvPr>
          <p:cNvSpPr/>
          <p:nvPr/>
        </p:nvSpPr>
        <p:spPr>
          <a:xfrm>
            <a:off x="1752600" y="457200"/>
            <a:ext cx="2300630" cy="600164"/>
          </a:xfrm>
          <a:prstGeom prst="rect">
            <a:avLst/>
          </a:prstGeom>
        </p:spPr>
        <p:txBody>
          <a:bodyPr wrap="none">
            <a:spAutoFit/>
          </a:bodyPr>
          <a:lstStyle/>
          <a:p>
            <a:pPr algn="ctr">
              <a:spcBef>
                <a:spcPct val="0"/>
              </a:spcBef>
            </a:pPr>
            <a:r>
              <a:rPr lang="zh-CN" altLang="zh-CN" sz="3300" dirty="0">
                <a:latin typeface="等线 Light" panose="02010600030101010101" pitchFamily="2" charset="-122"/>
                <a:ea typeface="等线 Light" panose="02010600030101010101" pitchFamily="2" charset="-122"/>
                <a:cs typeface="+mj-cs"/>
              </a:rPr>
              <a:t>操作性建议</a:t>
            </a:r>
            <a:endParaRPr lang="zh-CN" altLang="en-US" sz="3300" dirty="0">
              <a:latin typeface="等线 Light" panose="02010600030101010101" pitchFamily="2" charset="-122"/>
              <a:ea typeface="等线 Light" panose="02010600030101010101" pitchFamily="2" charset="-122"/>
              <a:cs typeface="+mj-cs"/>
            </a:endParaRPr>
          </a:p>
        </p:txBody>
      </p:sp>
      <p:sp>
        <p:nvSpPr>
          <p:cNvPr id="3" name="矩形 2">
            <a:extLst>
              <a:ext uri="{FF2B5EF4-FFF2-40B4-BE49-F238E27FC236}">
                <a16:creationId xmlns:a16="http://schemas.microsoft.com/office/drawing/2014/main" id="{4E99C013-7FD7-4A3A-A561-5FB4E684351B}"/>
              </a:ext>
            </a:extLst>
          </p:cNvPr>
          <p:cNvSpPr/>
          <p:nvPr/>
        </p:nvSpPr>
        <p:spPr>
          <a:xfrm>
            <a:off x="434267" y="1084043"/>
            <a:ext cx="6499933" cy="1850635"/>
          </a:xfrm>
          <a:prstGeom prst="rect">
            <a:avLst/>
          </a:prstGeom>
        </p:spPr>
        <p:txBody>
          <a:bodyPr wrap="square">
            <a:spAutoFit/>
          </a:bodyPr>
          <a:lstStyle/>
          <a:p>
            <a:pPr algn="just">
              <a:lnSpc>
                <a:spcPct val="150000"/>
              </a:lnSpc>
              <a:spcAft>
                <a:spcPts val="0"/>
              </a:spcAft>
            </a:pPr>
            <a:r>
              <a:rPr lang="en-US" altLang="zh-CN" sz="2000" kern="100" dirty="0">
                <a:latin typeface="等线 Light" panose="02010600030101010101" pitchFamily="2" charset="-122"/>
                <a:ea typeface="等线 Light" panose="02010600030101010101" pitchFamily="2" charset="-122"/>
                <a:cs typeface="Times New Roman" panose="02020603050405020304" pitchFamily="18" charset="0"/>
              </a:rPr>
              <a:t>1</a:t>
            </a:r>
            <a:r>
              <a:rPr lang="zh-CN" altLang="en-US" sz="2000" kern="100" dirty="0">
                <a:latin typeface="等线 Light" panose="02010600030101010101" pitchFamily="2" charset="-122"/>
                <a:ea typeface="等线 Light" panose="02010600030101010101" pitchFamily="2" charset="-122"/>
                <a:cs typeface="Times New Roman" panose="02020603050405020304" pitchFamily="18" charset="0"/>
              </a:rPr>
              <a:t>、</a:t>
            </a:r>
            <a:r>
              <a:rPr lang="zh-CN" altLang="zh-CN" sz="2000" kern="100" dirty="0">
                <a:latin typeface="等线 Light" panose="02010600030101010101" pitchFamily="2" charset="-122"/>
                <a:ea typeface="等线 Light" panose="02010600030101010101" pitchFamily="2" charset="-122"/>
                <a:cs typeface="Times New Roman" panose="02020603050405020304" pitchFamily="18" charset="0"/>
              </a:rPr>
              <a:t>注重构建认知：多读、多观察、重在思考</a:t>
            </a:r>
            <a:endParaRPr lang="en-US" altLang="zh-CN" sz="2000" kern="100" dirty="0">
              <a:latin typeface="等线 Light" panose="02010600030101010101" pitchFamily="2" charset="-122"/>
              <a:ea typeface="等线 Light" panose="02010600030101010101" pitchFamily="2" charset="-122"/>
              <a:cs typeface="Times New Roman" panose="02020603050405020304" pitchFamily="18" charset="0"/>
            </a:endParaRPr>
          </a:p>
          <a:p>
            <a:pPr algn="just">
              <a:lnSpc>
                <a:spcPct val="150000"/>
              </a:lnSpc>
            </a:pPr>
            <a:r>
              <a:rPr lang="en-US" altLang="zh-CN" sz="2000" dirty="0">
                <a:latin typeface="等线 Light" panose="02010600030101010101" pitchFamily="2" charset="-122"/>
                <a:ea typeface="等线 Light" panose="02010600030101010101" pitchFamily="2" charset="-122"/>
              </a:rPr>
              <a:t>2</a:t>
            </a:r>
            <a:r>
              <a:rPr lang="zh-CN" altLang="en-US" sz="2000" dirty="0">
                <a:latin typeface="等线 Light" panose="02010600030101010101" pitchFamily="2" charset="-122"/>
                <a:ea typeface="等线 Light" panose="02010600030101010101" pitchFamily="2" charset="-122"/>
              </a:rPr>
              <a:t>、</a:t>
            </a:r>
            <a:r>
              <a:rPr lang="zh-CN" altLang="zh-CN" sz="2000" dirty="0">
                <a:latin typeface="等线 Light" panose="02010600030101010101" pitchFamily="2" charset="-122"/>
                <a:ea typeface="等线 Light" panose="02010600030101010101" pitchFamily="2" charset="-122"/>
              </a:rPr>
              <a:t>注重理论框架：重视理论与概念框架</a:t>
            </a:r>
          </a:p>
          <a:p>
            <a:pPr algn="just">
              <a:lnSpc>
                <a:spcPct val="150000"/>
              </a:lnSpc>
            </a:pPr>
            <a:r>
              <a:rPr lang="en-US" altLang="zh-CN" sz="2000" dirty="0">
                <a:latin typeface="等线 Light" panose="02010600030101010101" pitchFamily="2" charset="-122"/>
                <a:ea typeface="等线 Light" panose="02010600030101010101" pitchFamily="2" charset="-122"/>
              </a:rPr>
              <a:t>3</a:t>
            </a:r>
            <a:r>
              <a:rPr lang="zh-CN" altLang="en-US" sz="2000" dirty="0">
                <a:latin typeface="等线 Light" panose="02010600030101010101" pitchFamily="2" charset="-122"/>
                <a:ea typeface="等线 Light" panose="02010600030101010101" pitchFamily="2" charset="-122"/>
              </a:rPr>
              <a:t>、</a:t>
            </a:r>
            <a:r>
              <a:rPr lang="zh-CN" altLang="zh-CN" sz="2000" dirty="0">
                <a:latin typeface="等线 Light" panose="02010600030101010101" pitchFamily="2" charset="-122"/>
                <a:ea typeface="等线 Light" panose="02010600030101010101" pitchFamily="2" charset="-122"/>
              </a:rPr>
              <a:t>具体写法：多在模仿</a:t>
            </a:r>
          </a:p>
          <a:p>
            <a:pPr indent="267970" algn="just">
              <a:lnSpc>
                <a:spcPct val="150000"/>
              </a:lnSpc>
              <a:spcAft>
                <a:spcPts val="0"/>
              </a:spcAft>
            </a:pPr>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12773012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1266</TotalTime>
  <Words>4171</Words>
  <Application>Microsoft Office PowerPoint</Application>
  <PresentationFormat>宽屏</PresentationFormat>
  <Paragraphs>379</Paragraphs>
  <Slides>31</Slides>
  <Notes>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31</vt:i4>
      </vt:variant>
    </vt:vector>
  </HeadingPairs>
  <TitlesOfParts>
    <vt:vector size="40" baseType="lpstr">
      <vt:lpstr>等线</vt:lpstr>
      <vt:lpstr>等线 Light</vt:lpstr>
      <vt:lpstr>宋体</vt:lpstr>
      <vt:lpstr>微软雅黑</vt:lpstr>
      <vt:lpstr>Arial</vt:lpstr>
      <vt:lpstr>Calibri</vt:lpstr>
      <vt:lpstr>Times New Roman</vt:lpstr>
      <vt:lpstr>Wingdings</vt:lpstr>
      <vt:lpstr>Office Theme</vt:lpstr>
      <vt:lpstr>学位论文的文献综述</vt:lpstr>
      <vt:lpstr>目 录</vt:lpstr>
      <vt:lpstr>PowerPoint 演示文稿</vt:lpstr>
      <vt:lpstr>PowerPoint 演示文稿</vt:lpstr>
      <vt:lpstr>PowerPoint 演示文稿</vt:lpstr>
      <vt:lpstr>步骤一：明确文献综述的目的</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文献综述</dc:title>
  <dc:creator>Ning Yan</dc:creator>
  <cp:lastModifiedBy>Yan Ning</cp:lastModifiedBy>
  <cp:revision>612</cp:revision>
  <cp:lastPrinted>2015-10-12T06:20:36Z</cp:lastPrinted>
  <dcterms:created xsi:type="dcterms:W3CDTF">2006-08-16T00:00:00Z</dcterms:created>
  <dcterms:modified xsi:type="dcterms:W3CDTF">2025-02-28T01:53:55Z</dcterms:modified>
</cp:coreProperties>
</file>