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623" r:id="rId2"/>
    <p:sldId id="667" r:id="rId3"/>
    <p:sldId id="1635" r:id="rId4"/>
    <p:sldId id="1636" r:id="rId5"/>
    <p:sldId id="1637" r:id="rId6"/>
    <p:sldId id="1638" r:id="rId7"/>
    <p:sldId id="1639" r:id="rId8"/>
    <p:sldId id="1640" r:id="rId9"/>
    <p:sldId id="1642" r:id="rId10"/>
    <p:sldId id="1643" r:id="rId11"/>
    <p:sldId id="1644" r:id="rId12"/>
    <p:sldId id="1645" r:id="rId13"/>
    <p:sldId id="1646" r:id="rId14"/>
    <p:sldId id="164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4" autoAdjust="0"/>
    <p:restoredTop sz="94558" autoAdjust="0"/>
  </p:normalViewPr>
  <p:slideViewPr>
    <p:cSldViewPr snapToGrid="0">
      <p:cViewPr varScale="1">
        <p:scale>
          <a:sx n="72" d="100"/>
          <a:sy n="72" d="100"/>
        </p:scale>
        <p:origin x="23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c5e2e04bbef42de" providerId="LiveId" clId="{F8FC4112-9B9A-4D05-855B-277A91BA0D26}"/>
    <pc:docChg chg="custSel modSld">
      <pc:chgData name="" userId="6c5e2e04bbef42de" providerId="LiveId" clId="{F8FC4112-9B9A-4D05-855B-277A91BA0D26}" dt="2025-02-28T02:02:38.476" v="3" actId="478"/>
      <pc:docMkLst>
        <pc:docMk/>
      </pc:docMkLst>
      <pc:sldChg chg="addSp delSp modSp">
        <pc:chgData name="" userId="6c5e2e04bbef42de" providerId="LiveId" clId="{F8FC4112-9B9A-4D05-855B-277A91BA0D26}" dt="2025-02-28T02:02:38.476" v="3" actId="478"/>
        <pc:sldMkLst>
          <pc:docMk/>
          <pc:sldMk cId="0" sldId="623"/>
        </pc:sldMkLst>
        <pc:spChg chg="del">
          <ac:chgData name="" userId="6c5e2e04bbef42de" providerId="LiveId" clId="{F8FC4112-9B9A-4D05-855B-277A91BA0D26}" dt="2025-02-28T02:02:36.940" v="2" actId="478"/>
          <ac:spMkLst>
            <pc:docMk/>
            <pc:sldMk cId="0" sldId="623"/>
            <ac:spMk id="3" creationId="{00000000-0000-0000-0000-000000000000}"/>
          </ac:spMkLst>
        </pc:spChg>
        <pc:spChg chg="add del mod">
          <ac:chgData name="" userId="6c5e2e04bbef42de" providerId="LiveId" clId="{F8FC4112-9B9A-4D05-855B-277A91BA0D26}" dt="2025-02-28T02:02:38.476" v="3" actId="478"/>
          <ac:spMkLst>
            <pc:docMk/>
            <pc:sldMk cId="0" sldId="623"/>
            <ac:spMk id="5" creationId="{8589D476-BFAF-4197-B9A5-7166A4BD45F4}"/>
          </ac:spMkLst>
        </pc:spChg>
        <pc:spChg chg="del">
          <ac:chgData name="" userId="6c5e2e04bbef42de" providerId="LiveId" clId="{F8FC4112-9B9A-4D05-855B-277A91BA0D26}" dt="2025-02-28T02:02:34.668" v="1" actId="478"/>
          <ac:spMkLst>
            <pc:docMk/>
            <pc:sldMk cId="0" sldId="623"/>
            <ac:spMk id="10" creationId="{00000000-0000-0000-0000-000000000000}"/>
          </ac:spMkLst>
        </pc:spChg>
        <pc:picChg chg="del">
          <ac:chgData name="" userId="6c5e2e04bbef42de" providerId="LiveId" clId="{F8FC4112-9B9A-4D05-855B-277A91BA0D26}" dt="2025-02-28T02:02:33.744" v="0" actId="478"/>
          <ac:picMkLst>
            <pc:docMk/>
            <pc:sldMk cId="0" sldId="623"/>
            <ac:picMk id="9" creationId="{00000000-0000-0000-0000-000000000000}"/>
          </ac:picMkLst>
        </pc:picChg>
      </pc:sldChg>
    </pc:docChg>
  </pc:docChgLst>
  <pc:docChgLst>
    <pc:chgData name=" " userId="1d39a4fa-c76e-4be0-a329-cd20bca6ab88" providerId="ADAL" clId="{6800319E-6BF4-5247-B550-695041517522}"/>
    <pc:docChg chg="modSld">
      <pc:chgData name=" " userId="1d39a4fa-c76e-4be0-a329-cd20bca6ab88" providerId="ADAL" clId="{6800319E-6BF4-5247-B550-695041517522}" dt="2025-02-17T14:16:23.487" v="11" actId="20577"/>
      <pc:docMkLst>
        <pc:docMk/>
      </pc:docMkLst>
      <pc:sldChg chg="modSp mod">
        <pc:chgData name=" " userId="1d39a4fa-c76e-4be0-a329-cd20bca6ab88" providerId="ADAL" clId="{6800319E-6BF4-5247-B550-695041517522}" dt="2025-02-17T14:15:43.416" v="3" actId="2711"/>
        <pc:sldMkLst>
          <pc:docMk/>
          <pc:sldMk cId="2932216951" sldId="1635"/>
        </pc:sldMkLst>
        <pc:spChg chg="mod">
          <ac:chgData name=" " userId="1d39a4fa-c76e-4be0-a329-cd20bca6ab88" providerId="ADAL" clId="{6800319E-6BF4-5247-B550-695041517522}" dt="2025-02-17T14:15:43.416" v="3" actId="2711"/>
          <ac:spMkLst>
            <pc:docMk/>
            <pc:sldMk cId="2932216951" sldId="1635"/>
            <ac:spMk id="3" creationId="{15FD57E7-A3DC-470D-9434-861FA8D52272}"/>
          </ac:spMkLst>
        </pc:spChg>
      </pc:sldChg>
      <pc:sldChg chg="modSp mod">
        <pc:chgData name=" " userId="1d39a4fa-c76e-4be0-a329-cd20bca6ab88" providerId="ADAL" clId="{6800319E-6BF4-5247-B550-695041517522}" dt="2025-02-17T14:15:52.629" v="4" actId="2711"/>
        <pc:sldMkLst>
          <pc:docMk/>
          <pc:sldMk cId="2777653020" sldId="1636"/>
        </pc:sldMkLst>
        <pc:spChg chg="mod">
          <ac:chgData name=" " userId="1d39a4fa-c76e-4be0-a329-cd20bca6ab88" providerId="ADAL" clId="{6800319E-6BF4-5247-B550-695041517522}" dt="2025-02-17T14:15:52.629" v="4" actId="2711"/>
          <ac:spMkLst>
            <pc:docMk/>
            <pc:sldMk cId="2777653020" sldId="1636"/>
            <ac:spMk id="3" creationId="{15FD57E7-A3DC-470D-9434-861FA8D52272}"/>
          </ac:spMkLst>
        </pc:spChg>
      </pc:sldChg>
      <pc:sldChg chg="modSp mod">
        <pc:chgData name=" " userId="1d39a4fa-c76e-4be0-a329-cd20bca6ab88" providerId="ADAL" clId="{6800319E-6BF4-5247-B550-695041517522}" dt="2025-02-17T14:16:23.487" v="11" actId="20577"/>
        <pc:sldMkLst>
          <pc:docMk/>
          <pc:sldMk cId="3745932279" sldId="1637"/>
        </pc:sldMkLst>
        <pc:spChg chg="mod">
          <ac:chgData name=" " userId="1d39a4fa-c76e-4be0-a329-cd20bca6ab88" providerId="ADAL" clId="{6800319E-6BF4-5247-B550-695041517522}" dt="2025-02-17T14:16:23.487" v="11" actId="20577"/>
          <ac:spMkLst>
            <pc:docMk/>
            <pc:sldMk cId="3745932279" sldId="1637"/>
            <ac:spMk id="3" creationId="{15FD57E7-A3DC-470D-9434-861FA8D5227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5255C-18F3-4DDB-BBD7-6518A0AFC2C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55024-9D59-46C3-A0DB-ED02D21441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544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103FD-515C-42D9-AF72-56D52BA7B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52415A-CA51-47E8-831A-9B7FA5656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AC152F-EA3D-466D-8166-2512400AB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9156A4-88C8-4661-8F3F-81808A5A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7E36A7-D454-414F-A7CB-CA9B6FB8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668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66BBD-445B-4307-8404-3C9E55B3C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D068DA-3777-43E3-B7F5-87BD9F7DD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E6E70B-04E4-4787-93CA-4EEA5718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0E928D-BC94-4F2D-B53A-3180E110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CAB707-2271-4F55-B227-95FA6DE2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477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B1197-E440-4AF4-BC8B-C4B184565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FFCB6E-07BC-4035-87FE-67B6D5AE3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9FDF8-176C-413E-9AE9-D3DD2292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1E3DBA-C1DC-4FDE-B897-D715B0ED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5C9068-B7C5-4E02-8706-68F732E2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04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DC88F-1F41-4ABA-B8AE-64E8758B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1C596E-186D-4E06-BE39-819ECA422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D0014C-9470-4359-8795-896B4457E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32816E-1329-4A7C-83F4-D211A908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9A8283-12FB-42A2-B184-382079576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4BA166-08CB-4F4C-A82A-6A54DDBC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91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07D4A-718B-46FB-9811-CD73BEDD1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0F18E6-DD1F-4427-9E70-B443C1EE8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CA2D10-8BE2-484B-BA12-2FDE39385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1C370B-FEA8-40FC-982D-1CFA1C5B5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B43256-EAAE-489B-89B2-EB0EBD298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2B2BF0-982E-4DCC-9CC1-5E73E8EA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96C86D8-C38D-40EF-B7DC-51300925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643910-70FD-48E3-BDE2-540CFB14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64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7AE02-50CD-4FB2-BD02-76F3E8B9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F0A67C-4CAE-49DF-BA3A-4A627B6F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F947EE-D3CC-4D0F-9EC9-EAA0F192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04809-3C78-497A-82B1-CC426F67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16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CF1B75-484E-4AFA-844B-6697E847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878834-27C0-417E-938E-4D9D4146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7DEB67-743D-4873-85E6-5A9F3177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14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ED83F-DB22-46D9-855F-6D5C57894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01C7E-B5A2-476B-B1D7-7AEF7B33D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5D8587-D98D-4514-B904-29CE95B85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02B46D-9F74-4FD2-BC3B-AE943DF10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93ACDA-2B9C-40FD-A239-C52FDD97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528C01-34A5-420B-A604-B4011101D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1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EE2D2-414A-4935-81A3-07ECCFF5E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4B0647-724F-465D-AA4A-1AAA05CF3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28AC01-7925-49DD-826D-336FE3055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78FF29-AFCB-4793-AA26-1F2C8479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C631CD-DD99-4AC5-8574-019DEED9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DD9507-DDDB-4831-9B20-1DE84C9C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04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5657E-53E5-4008-9F21-BAFEA01D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BB134A-EF2A-4612-BC2E-DCF530219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533070-3ECC-4FFD-AFFC-4BB61603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B0E874-F2CB-4755-8443-A856D521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F74974-6194-47AD-A321-333EF064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97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43C0A9-02E0-4757-93E3-A84929FDE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27089F-D812-49A7-8AA6-82DB9C87A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BF6DC3-3372-4FFF-A693-8DC10F2F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297473-017C-4371-AE98-6F8ECB38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5BA15-09D9-4092-9CD2-72EE0EF7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490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6774180"/>
            <a:ext cx="12192000" cy="83820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>
            <a:noAutofit/>
          </a:bodyPr>
          <a:lstStyle/>
          <a:p>
            <a:pPr algn="ctr"/>
            <a:endParaRPr lang="zh-CN" altLang="en-US" sz="1200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0" t="18187" r="19659" b="49773"/>
          <a:stretch>
            <a:fillRect/>
          </a:stretch>
        </p:blipFill>
        <p:spPr>
          <a:xfrm>
            <a:off x="301112" y="342433"/>
            <a:ext cx="1447301" cy="682507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49968CE-9441-48AB-B411-308267690CDF}"/>
              </a:ext>
            </a:extLst>
          </p:cNvPr>
          <p:cNvCxnSpPr/>
          <p:nvPr userDrawn="1"/>
        </p:nvCxnSpPr>
        <p:spPr>
          <a:xfrm>
            <a:off x="1748413" y="1024934"/>
            <a:ext cx="9462064" cy="0"/>
          </a:xfrm>
          <a:prstGeom prst="line">
            <a:avLst/>
          </a:prstGeom>
          <a:ln w="28575">
            <a:solidFill>
              <a:srgbClr val="6306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13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01E131-1FE4-4CF8-BDA2-A6829A75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3B0D38-8EE9-4BBC-82CA-C5EFDBD04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C13A21-B67E-4186-B0F1-D945AA00F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385BAA-8800-4379-B9C9-AA88427CE5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22A6E2-4DAD-4670-955D-2A6C7F14F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67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-1329"/>
            <a:ext cx="12188826" cy="696320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-1590" y="1155103"/>
            <a:ext cx="12192002" cy="51192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69753" y="1621971"/>
            <a:ext cx="9541048" cy="2061625"/>
          </a:xfrm>
        </p:spPr>
        <p:txBody>
          <a:bodyPr>
            <a:noAutofit/>
          </a:bodyPr>
          <a:lstStyle/>
          <a:p>
            <a:r>
              <a:rPr lang="zh-CN" altLang="en-US" b="1" dirty="0"/>
              <a:t>学位论文写作规范性要求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4" y="466629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一、排版的规范性要求</a:t>
            </a: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1886" y="1259175"/>
            <a:ext cx="10983685" cy="4035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n-ea"/>
              </a:rPr>
              <a:t>1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zh-CN" altLang="zh-CN" sz="2000" b="1" dirty="0">
                <a:latin typeface="+mn-ea"/>
              </a:rPr>
              <a:t>学位论文构成</a:t>
            </a:r>
            <a:endParaRPr lang="en-US" altLang="zh-CN" sz="2000" b="1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包括封面、版权声明、中英文摘要、目录、正文（含引言和结论）、参考文献、附录、致谢、后记或说明、学位论文原创性声明和授权使用说明。</a:t>
            </a:r>
            <a:endParaRPr lang="en-US" altLang="zh-CN" dirty="0">
              <a:latin typeface="+mn-ea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n-ea"/>
              </a:rPr>
              <a:t>2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zh-CN" altLang="zh-CN" sz="2000" b="1" dirty="0">
                <a:latin typeface="+mn-ea"/>
              </a:rPr>
              <a:t>打印和装订要求</a:t>
            </a:r>
            <a:endParaRPr lang="en-US" altLang="zh-CN" sz="20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学位论文打印是左侧装订。学位论文稿纸四周应留足空白边缘。上方和左侧页边距为</a:t>
            </a:r>
            <a:r>
              <a:rPr lang="en-US" altLang="zh-CN" dirty="0">
                <a:latin typeface="+mn-ea"/>
              </a:rPr>
              <a:t>25mm</a:t>
            </a:r>
            <a:r>
              <a:rPr lang="zh-CN" altLang="zh-CN" dirty="0">
                <a:latin typeface="+mn-ea"/>
              </a:rPr>
              <a:t>以上，下方和右侧页边距为</a:t>
            </a:r>
            <a:r>
              <a:rPr lang="en-US" altLang="zh-CN" dirty="0">
                <a:latin typeface="+mn-ea"/>
              </a:rPr>
              <a:t>20mm</a:t>
            </a:r>
            <a:r>
              <a:rPr lang="zh-CN" altLang="zh-CN" dirty="0">
                <a:latin typeface="+mn-ea"/>
              </a:rPr>
              <a:t>以上。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除封面和原创性声明外，纸质需双面打印。封面一般有校徽、校名、</a:t>
            </a:r>
            <a:r>
              <a:rPr lang="en-US" altLang="zh-CN" dirty="0">
                <a:latin typeface="+mn-ea"/>
              </a:rPr>
              <a:t>“</a:t>
            </a:r>
            <a:r>
              <a:rPr lang="zh-CN" altLang="zh-CN" dirty="0">
                <a:latin typeface="+mn-ea"/>
              </a:rPr>
              <a:t>工程管理专业硕士研究生学位论文</a:t>
            </a:r>
            <a:r>
              <a:rPr lang="en-US" altLang="zh-CN" dirty="0">
                <a:latin typeface="+mn-ea"/>
              </a:rPr>
              <a:t>”</a:t>
            </a:r>
            <a:r>
              <a:rPr lang="zh-CN" altLang="zh-CN" dirty="0">
                <a:latin typeface="+mn-ea"/>
              </a:rPr>
              <a:t>等内容。专业学位论文的指导老师包括校内、校外两位导师。如果论文得到了有关基金资助，应标注“本研究得到某某基金（编号）资助”。</a:t>
            </a:r>
          </a:p>
        </p:txBody>
      </p:sp>
    </p:spTree>
    <p:extLst>
      <p:ext uri="{BB962C8B-B14F-4D97-AF65-F5344CB8AC3E}">
        <p14:creationId xmlns:p14="http://schemas.microsoft.com/office/powerpoint/2010/main" val="231374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4" y="466629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一、排版的规范性要求</a:t>
            </a: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1886" y="1259175"/>
            <a:ext cx="10961914" cy="4183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n-ea"/>
              </a:rPr>
              <a:t>3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zh-CN" altLang="zh-CN" sz="2000" b="1" dirty="0">
                <a:latin typeface="+mn-ea"/>
              </a:rPr>
              <a:t>正文排版的规范性要求</a:t>
            </a:r>
            <a:endParaRPr lang="en-US" altLang="zh-CN" sz="2000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采用学校或学院规定的模板。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格式要求包括字号、行间距、首行缩进、段前和段后间距、图表、页眉页脚、公式等方面的规范要求。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规范要求需保持全文一致。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一页内不要留有太多空白，内容呈现上需紧凑。表格跨页，需以“续前表”方式表示。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zh-CN" dirty="0"/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n-ea"/>
              </a:rPr>
              <a:t>4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zh-CN" altLang="zh-CN" sz="2000" b="1" dirty="0">
                <a:latin typeface="+mn-ea"/>
              </a:rPr>
              <a:t>页眉页脚</a:t>
            </a:r>
            <a:endParaRPr lang="en-US" altLang="zh-CN" sz="2000" b="1" dirty="0">
              <a:latin typeface="+mn-ea"/>
            </a:endParaRPr>
          </a:p>
          <a:p>
            <a:pPr marL="342900" indent="-34290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《学位论文编写规则》（</a:t>
            </a:r>
            <a:r>
              <a:rPr lang="en-US" altLang="zh-CN" dirty="0"/>
              <a:t>GB/T 7713.1-2006</a:t>
            </a:r>
            <a:r>
              <a:rPr lang="zh-CN" altLang="zh-CN" dirty="0"/>
              <a:t>）要求学位论文的页码从“绪论”数起（包括绪论、正文、参考文献、附录、致谢等）用阿拉伯数字编连续码；</a:t>
            </a:r>
            <a:endParaRPr lang="en-US" altLang="zh-CN" dirty="0"/>
          </a:p>
          <a:p>
            <a:pPr marL="342900" indent="-34290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文摘页、目次页、插图和附表清单、符号和缩略词说明等用阿拉伯数字单独编连续码。</a:t>
            </a:r>
          </a:p>
        </p:txBody>
      </p:sp>
    </p:spTree>
    <p:extLst>
      <p:ext uri="{BB962C8B-B14F-4D97-AF65-F5344CB8AC3E}">
        <p14:creationId xmlns:p14="http://schemas.microsoft.com/office/powerpoint/2010/main" val="2932216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4" y="466629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一、排版的规范性要求</a:t>
            </a: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1886" y="1259175"/>
            <a:ext cx="10805358" cy="449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latin typeface="+mn-ea"/>
              </a:rPr>
              <a:t>5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zh-CN" altLang="zh-CN" sz="2000" b="1" dirty="0">
                <a:latin typeface="+mn-ea"/>
              </a:rPr>
              <a:t>编号</a:t>
            </a:r>
            <a:endParaRPr lang="en-US" altLang="zh-CN" sz="20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A18811-BA01-47B1-9962-6C833EDCB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26" y="1772630"/>
            <a:ext cx="7895903" cy="352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53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4" y="466629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二、</a:t>
            </a:r>
            <a:r>
              <a:rPr lang="zh-CN" altLang="zh-CN" sz="3300" b="1" dirty="0">
                <a:latin typeface="+mj-ea"/>
              </a:rPr>
              <a:t>段落规范性要求</a:t>
            </a:r>
            <a:endParaRPr lang="zh-CN" altLang="en-US" sz="3300" b="1" dirty="0">
              <a:latin typeface="+mj-ea"/>
            </a:endParaRP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1886" y="1259175"/>
            <a:ext cx="10805358" cy="4005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b="1" dirty="0">
                <a:latin typeface="+mn-ea"/>
              </a:rPr>
              <a:t>撰写段落的基本要求</a:t>
            </a:r>
            <a:endParaRPr lang="zh-CN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+mn-ea"/>
              </a:rPr>
              <a:t>段落之间的逻辑关系</a:t>
            </a:r>
            <a:endParaRPr lang="zh-CN" altLang="zh-CN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保持段落的单一性。一段只能有一个中心思想，段内所有句子都是为服务于中心思想。</a:t>
            </a:r>
            <a:endParaRPr lang="en-US" altLang="zh-CN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段落的完整性。避免段落内容未介绍完就分段。</a:t>
            </a:r>
            <a:endParaRPr lang="en-US" altLang="zh-CN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连贯性。段落之间存在紧密的联系，并通过转折词连接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zh-CN" dirty="0">
                <a:latin typeface="+mn-ea"/>
              </a:rPr>
              <a:t>并用小标题对段落进行分类。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n-ea"/>
              </a:rPr>
              <a:t>段落的总</a:t>
            </a:r>
            <a:r>
              <a:rPr lang="en-US" altLang="zh-CN" sz="2000" b="1" dirty="0">
                <a:latin typeface="+mn-ea"/>
              </a:rPr>
              <a:t>-</a:t>
            </a:r>
            <a:r>
              <a:rPr lang="zh-CN" altLang="zh-CN" sz="2000" b="1" dirty="0">
                <a:latin typeface="+mn-ea"/>
              </a:rPr>
              <a:t>分结构</a:t>
            </a:r>
            <a:endParaRPr lang="zh-CN" altLang="zh-CN" sz="20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段落结构一般先总述，再分说。</a:t>
            </a:r>
          </a:p>
          <a:p>
            <a:pPr marL="7429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段落规范性要求：单一中心思想</a:t>
            </a:r>
            <a:r>
              <a:rPr lang="zh-CN" altLang="en-US" dirty="0">
                <a:latin typeface="+mn-ea"/>
              </a:rPr>
              <a:t>；</a:t>
            </a:r>
            <a:r>
              <a:rPr lang="zh-CN" altLang="zh-CN" dirty="0">
                <a:latin typeface="+mn-ea"/>
              </a:rPr>
              <a:t>表达意思完全</a:t>
            </a:r>
            <a:r>
              <a:rPr lang="zh-CN" altLang="en-US" dirty="0">
                <a:latin typeface="+mn-ea"/>
              </a:rPr>
              <a:t>；</a:t>
            </a:r>
            <a:r>
              <a:rPr lang="zh-CN" altLang="zh-CN" dirty="0">
                <a:latin typeface="+mn-ea"/>
              </a:rPr>
              <a:t>长度合适，可读性强。</a:t>
            </a:r>
          </a:p>
        </p:txBody>
      </p:sp>
    </p:spTree>
    <p:extLst>
      <p:ext uri="{BB962C8B-B14F-4D97-AF65-F5344CB8AC3E}">
        <p14:creationId xmlns:p14="http://schemas.microsoft.com/office/powerpoint/2010/main" val="3745932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4" y="466629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二、</a:t>
            </a:r>
            <a:r>
              <a:rPr lang="zh-CN" altLang="zh-CN" sz="3300" b="1" dirty="0">
                <a:latin typeface="+mj-ea"/>
              </a:rPr>
              <a:t>段落规范性要求</a:t>
            </a:r>
            <a:endParaRPr lang="zh-CN" altLang="en-US" sz="3300" b="1" dirty="0">
              <a:latin typeface="+mj-ea"/>
            </a:endParaRP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1886" y="1259175"/>
            <a:ext cx="10805358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b="1" dirty="0">
                <a:latin typeface="+mn-ea"/>
              </a:rPr>
              <a:t>1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zh-CN" altLang="zh-CN" sz="2000" b="1" dirty="0">
                <a:latin typeface="+mn-ea"/>
              </a:rPr>
              <a:t>确定段落主题。</a:t>
            </a:r>
            <a:r>
              <a:rPr lang="zh-CN" altLang="zh-CN" sz="2000" dirty="0">
                <a:latin typeface="+mn-ea"/>
              </a:rPr>
              <a:t>每一段陈述一个中心思想，中心思想表达要：①合理。有效支撑上一层的思想；②清晰。表达上要清晰；③与其它中心思想的逻辑一致。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b="1" dirty="0">
                <a:latin typeface="+mn-ea"/>
              </a:rPr>
              <a:t>2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zh-CN" altLang="zh-CN" sz="2000" b="1" dirty="0">
                <a:latin typeface="+mn-ea"/>
              </a:rPr>
              <a:t>形成中心句。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b="1" dirty="0">
                <a:latin typeface="+mn-ea"/>
              </a:rPr>
              <a:t>3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zh-CN" altLang="zh-CN" sz="2000" b="1" dirty="0">
                <a:latin typeface="+mn-ea"/>
              </a:rPr>
              <a:t>解释中心句。</a:t>
            </a:r>
            <a:r>
              <a:rPr lang="zh-CN" altLang="zh-CN" sz="2000" dirty="0">
                <a:latin typeface="+mn-ea"/>
              </a:rPr>
              <a:t>明确用于解释中心句的素材之间的逻辑关系。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b="1" dirty="0">
                <a:latin typeface="+mn-ea"/>
              </a:rPr>
              <a:t>4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zh-CN" altLang="zh-CN" sz="2000" b="1" dirty="0">
                <a:latin typeface="+mn-ea"/>
              </a:rPr>
              <a:t>处理与前后段的逻辑关系。</a:t>
            </a:r>
            <a:r>
              <a:rPr lang="zh-CN" altLang="zh-CN" sz="2000" dirty="0">
                <a:latin typeface="+mn-ea"/>
              </a:rPr>
              <a:t>前后段的逻辑关系是否严密，如通过结束语与下一段联系起来。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b="1" dirty="0">
                <a:latin typeface="+mn-ea"/>
              </a:rPr>
              <a:t>5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zh-CN" altLang="zh-CN" sz="2000" b="1" dirty="0">
                <a:latin typeface="+mn-ea"/>
              </a:rPr>
              <a:t>总体检查。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n-ea"/>
              </a:rPr>
              <a:t>段落单一中心思想是否明确。中心句是否有歧义。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n-ea"/>
              </a:rPr>
              <a:t>主体句逻辑关系是否合理。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n-ea"/>
              </a:rPr>
              <a:t>排版美观方面。</a:t>
            </a:r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140715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4" y="466629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三、句子的规范性要求</a:t>
            </a: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1886" y="1259175"/>
            <a:ext cx="10805358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b="1" dirty="0"/>
              <a:t>基本要求</a:t>
            </a:r>
            <a:endParaRPr lang="zh-CN" altLang="zh-CN" sz="2000" dirty="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/>
              <a:t>语句通顺。语句可清楚表达内容，阐述所要表达的意思。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/>
              <a:t>结构简单。尽量避免超过一行没有任何标点符号，或者超过三行没有出现句号。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/>
              <a:t>语言凝练。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/>
              <a:t>客观陈述。避免采用口语化、主观性词语和语句。例如，</a:t>
            </a:r>
            <a:r>
              <a:rPr lang="en-US" altLang="zh-CN" sz="2000" dirty="0"/>
              <a:t>“</a:t>
            </a:r>
            <a:r>
              <a:rPr lang="zh-CN" altLang="zh-CN" sz="2000" dirty="0"/>
              <a:t>给出了研究思路与方法”</a:t>
            </a:r>
            <a:r>
              <a:rPr lang="zh-CN" altLang="en-US" sz="2000" dirty="0"/>
              <a:t> </a:t>
            </a:r>
            <a:r>
              <a:rPr lang="zh-CN" altLang="zh-CN" sz="2000" dirty="0"/>
              <a:t>。</a:t>
            </a:r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29895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4" y="466629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四、图表的规范性要求</a:t>
            </a: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1886" y="1259175"/>
            <a:ext cx="10805358" cy="2974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b="1" dirty="0"/>
              <a:t>《学位论文编写规则》（</a:t>
            </a:r>
            <a:r>
              <a:rPr lang="en-US" altLang="zh-CN" sz="2000" b="1" dirty="0"/>
              <a:t>GB/T 7713.1-2006</a:t>
            </a:r>
            <a:r>
              <a:rPr lang="zh-CN" altLang="zh-CN" sz="2000" b="1" dirty="0"/>
              <a:t>）对图的规范性使用的要求：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图具有“自明性”，即只看图、图题和图例，不阅读正文，就可理解图意。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图的编号。图的编号由“图”和从</a:t>
            </a:r>
            <a:r>
              <a:rPr lang="en-US" altLang="zh-CN" dirty="0"/>
              <a:t>1</a:t>
            </a:r>
            <a:r>
              <a:rPr lang="zh-CN" altLang="zh-CN" dirty="0"/>
              <a:t>开始的阿拉伯数字组成，例如“图</a:t>
            </a:r>
            <a:r>
              <a:rPr lang="en-US" altLang="zh-CN" dirty="0"/>
              <a:t>1</a:t>
            </a:r>
            <a:r>
              <a:rPr lang="zh-CN" altLang="zh-CN" dirty="0"/>
              <a:t>”、“图</a:t>
            </a:r>
            <a:r>
              <a:rPr lang="en-US" altLang="zh-CN" dirty="0"/>
              <a:t>2</a:t>
            </a:r>
            <a:r>
              <a:rPr lang="zh-CN" altLang="zh-CN" dirty="0"/>
              <a:t>”等。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图题置于图的编号之后，图的编号和图题置于图下方的居中位置。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曲线图的纵横坐标须标注“量、标准规定符号、单位”。坐标上标注的量的符号和缩略词须与正文一致。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图要求主题和轮廓鲜明。如用放大缩小的图，须清晰。</a:t>
            </a:r>
          </a:p>
        </p:txBody>
      </p:sp>
    </p:spTree>
    <p:extLst>
      <p:ext uri="{BB962C8B-B14F-4D97-AF65-F5344CB8AC3E}">
        <p14:creationId xmlns:p14="http://schemas.microsoft.com/office/powerpoint/2010/main" val="985868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4" y="466629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四、图表的规范性要求</a:t>
            </a: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1886" y="1259175"/>
            <a:ext cx="10805358" cy="3728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b="1" dirty="0">
                <a:latin typeface="+mn-ea"/>
              </a:rPr>
              <a:t>图形的呈现需要在全文统一：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格式要统一，采用一种形式的图。图中字体要统一，通常比正文小一号。文字方向统一。图中线条的粗细、箭头大小和样式保持一致。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清晰度，文字等清晰可见。避免从软件中直接截图，避免清晰度不够等问题。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避免图的留白过多，如图的上面或两边大片空白。文本框之间需要横向、纵向对齐，保持美观。文字框内的文字占满整框，避免文本框空白太多。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引用与编号的统一。当某一个图的编号有误，就会导致该章后面的图编号错乱，因此，在修改图编号时，应检查全部图编号及其在正文中的引用。</a:t>
            </a:r>
          </a:p>
        </p:txBody>
      </p:sp>
    </p:spTree>
    <p:extLst>
      <p:ext uri="{BB962C8B-B14F-4D97-AF65-F5344CB8AC3E}">
        <p14:creationId xmlns:p14="http://schemas.microsoft.com/office/powerpoint/2010/main" val="3139295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4" y="466629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四、图表的规范性要求</a:t>
            </a: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1886" y="1259175"/>
            <a:ext cx="10805358" cy="2974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b="1" dirty="0">
                <a:latin typeface="+mn-ea"/>
              </a:rPr>
              <a:t>《学位论文编写规则》（</a:t>
            </a:r>
            <a:r>
              <a:rPr lang="en-US" altLang="zh-CN" sz="2000" b="1" dirty="0">
                <a:latin typeface="+mn-ea"/>
              </a:rPr>
              <a:t>GB/T 7713.1-2006</a:t>
            </a:r>
            <a:r>
              <a:rPr lang="zh-CN" altLang="zh-CN" sz="2000" b="1" dirty="0">
                <a:latin typeface="+mn-ea"/>
              </a:rPr>
              <a:t>）对表的规范性</a:t>
            </a:r>
            <a:r>
              <a:rPr lang="zh-CN" altLang="en-US" sz="2000" b="1" dirty="0">
                <a:latin typeface="+mn-ea"/>
              </a:rPr>
              <a:t>的</a:t>
            </a:r>
            <a:r>
              <a:rPr lang="zh-CN" altLang="zh-CN" sz="2000" b="1" dirty="0">
                <a:latin typeface="+mn-ea"/>
              </a:rPr>
              <a:t>要求：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表的编排，一般是内容和测试项目由左至右横读，数据依序竖读。表应有自明性。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表的编号由“表”和从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zh-CN" dirty="0">
                <a:latin typeface="+mn-ea"/>
              </a:rPr>
              <a:t>开始的阿拉伯数字组成，例如“表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zh-CN" dirty="0">
                <a:latin typeface="+mn-ea"/>
              </a:rPr>
              <a:t>”“表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zh-CN" dirty="0">
                <a:latin typeface="+mn-ea"/>
              </a:rPr>
              <a:t>”等。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表题即表的名称，置于表的编号之后。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表的编号和表题置于表上方的居中位置。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如某个表需要转页接排，在随后的各页上应重复表的编号。</a:t>
            </a:r>
          </a:p>
        </p:txBody>
      </p:sp>
    </p:spTree>
    <p:extLst>
      <p:ext uri="{BB962C8B-B14F-4D97-AF65-F5344CB8AC3E}">
        <p14:creationId xmlns:p14="http://schemas.microsoft.com/office/powerpoint/2010/main" val="392863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4" y="466629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四、图表的规范性要求</a:t>
            </a: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1886" y="1259175"/>
            <a:ext cx="10805358" cy="3312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b="1" dirty="0"/>
              <a:t>表格格式</a:t>
            </a:r>
            <a:r>
              <a:rPr lang="zh-CN" altLang="en-US" sz="2000" b="1" dirty="0"/>
              <a:t>的</a:t>
            </a:r>
            <a:r>
              <a:rPr lang="zh-CN" altLang="zh-CN" sz="2000" b="1" dirty="0"/>
              <a:t>统一：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格式要统一，所有表的格式都需要同意，如线条粗细、表的格式等。论文中不能出现几种不同格式的表，如左右两边有框线的表、左右两边无框线的表、三线表等；不能用截图代替表。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字体要统一，字体大小通常比正文小一号。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如果表格过长，应该尽量缩减篇幅。使用图表比较大时，可采用横排。表跨页中，需要重复表头，并在续表的右上方标注“续前表”。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表格内容与文字描述内容的统一。表中展示的所有数据，应符合正文中对表内容的概括和说明。</a:t>
            </a:r>
          </a:p>
        </p:txBody>
      </p:sp>
    </p:spTree>
    <p:extLst>
      <p:ext uri="{BB962C8B-B14F-4D97-AF65-F5344CB8AC3E}">
        <p14:creationId xmlns:p14="http://schemas.microsoft.com/office/powerpoint/2010/main" val="806606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3" y="466629"/>
            <a:ext cx="7556533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五、</a:t>
            </a:r>
            <a:r>
              <a:rPr lang="zh-CN" altLang="zh-CN" sz="3300" b="1" dirty="0">
                <a:latin typeface="+mj-ea"/>
              </a:rPr>
              <a:t>数学表述与标点符号规范性要求</a:t>
            </a:r>
            <a:endParaRPr lang="zh-CN" altLang="en-US" sz="3300" b="1" dirty="0">
              <a:latin typeface="+mj-ea"/>
            </a:endParaRP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70115" y="1117661"/>
            <a:ext cx="10896600" cy="4512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b="1" dirty="0">
                <a:latin typeface="+mn-ea"/>
              </a:rPr>
              <a:t>数学表述</a:t>
            </a:r>
            <a:endParaRPr lang="zh-CN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+mn-ea"/>
              </a:rPr>
              <a:t>公式推导或改进中存在逻辑问题。例如，引用公式时照搬公式，参数的命名规则缺乏统一性，缺乏不同语境之下的调整。此外，还容易发生公式的格式和编号。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b="1" dirty="0">
                <a:latin typeface="+mn-ea"/>
              </a:rPr>
              <a:t>标点符号</a:t>
            </a:r>
            <a:r>
              <a:rPr lang="zh-CN" altLang="en-US" sz="2000" b="1" dirty="0">
                <a:latin typeface="+mn-ea"/>
              </a:rPr>
              <a:t>常见问题</a:t>
            </a:r>
            <a:endParaRPr lang="zh-CN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标点符号需注意全角和半角。典型如括弧（），</a:t>
            </a:r>
            <a:r>
              <a:rPr lang="en-US" altLang="zh-CN" dirty="0">
                <a:latin typeface="+mn-ea"/>
              </a:rPr>
              <a:t>()</a:t>
            </a:r>
            <a:r>
              <a:rPr lang="zh-CN" altLang="zh-CN" dirty="0">
                <a:latin typeface="+mn-ea"/>
              </a:rPr>
              <a:t>的使用。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标点符号缺失。常见于段尾缺少标点。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标点格式不规范，如中英文标点混用。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冒号引出的表示分项列举的并列词语可用分号隔，但一般的并列词语不能用分号隔开。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话语成句地被独立引用，引文末尾的句号放在引号内；不成句、不独立引用，句号放在引号外。</a:t>
            </a:r>
          </a:p>
        </p:txBody>
      </p:sp>
    </p:spTree>
    <p:extLst>
      <p:ext uri="{BB962C8B-B14F-4D97-AF65-F5344CB8AC3E}">
        <p14:creationId xmlns:p14="http://schemas.microsoft.com/office/powerpoint/2010/main" val="437451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3" y="466629"/>
            <a:ext cx="7556533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六、</a:t>
            </a:r>
            <a:r>
              <a:rPr lang="zh-CN" altLang="zh-CN" sz="3300" b="1" dirty="0">
                <a:latin typeface="+mj-ea"/>
              </a:rPr>
              <a:t>引文与参考文献的规范性要求</a:t>
            </a:r>
            <a:endParaRPr lang="zh-CN" altLang="en-US" sz="3300" b="1" dirty="0">
              <a:latin typeface="+mj-ea"/>
            </a:endParaRP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1886" y="1259175"/>
            <a:ext cx="10805358" cy="4712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b="1" dirty="0"/>
              <a:t>论文中引用的参考文献标注方法可遵照</a:t>
            </a:r>
            <a:r>
              <a:rPr lang="en-US" altLang="zh-CN" sz="2000" b="1" dirty="0"/>
              <a:t>GB/T7714-2015</a:t>
            </a:r>
            <a:r>
              <a:rPr lang="zh-CN" altLang="en-US" sz="2000" b="1" dirty="0"/>
              <a:t>：</a:t>
            </a:r>
            <a:endParaRPr lang="zh-CN" altLang="zh-CN" sz="2000" b="1" dirty="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如采用顺序编码制，同一文献在文中被引用多次，统一采用首次出现的序号。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同一处引用多篇文献时，只须将各篇文献的序号在方括号内列出，各序号间用</a:t>
            </a:r>
            <a:r>
              <a:rPr lang="en-US" altLang="zh-CN" dirty="0"/>
              <a:t>“</a:t>
            </a:r>
            <a:r>
              <a:rPr lang="zh-CN" altLang="zh-CN" dirty="0"/>
              <a:t>，</a:t>
            </a:r>
            <a:r>
              <a:rPr lang="en-US" altLang="zh-CN" dirty="0"/>
              <a:t>”</a:t>
            </a:r>
            <a:r>
              <a:rPr lang="zh-CN" altLang="zh-CN" dirty="0"/>
              <a:t>。如遇连续序号，可</a:t>
            </a:r>
            <a:r>
              <a:rPr lang="en-US" altLang="zh-CN" dirty="0"/>
              <a:t>“-”</a:t>
            </a:r>
            <a:r>
              <a:rPr lang="zh-CN" altLang="zh-CN" dirty="0"/>
              <a:t>标注起止序号。如张三</a:t>
            </a:r>
            <a:r>
              <a:rPr lang="en-US" altLang="zh-CN" baseline="30000" dirty="0"/>
              <a:t>[2,5]</a:t>
            </a:r>
            <a:r>
              <a:rPr lang="zh-CN" altLang="zh-CN" dirty="0"/>
              <a:t>提出</a:t>
            </a:r>
            <a:r>
              <a:rPr lang="en-US" altLang="zh-CN" dirty="0"/>
              <a:t>……</a:t>
            </a:r>
            <a:r>
              <a:rPr lang="zh-CN" altLang="zh-CN" dirty="0"/>
              <a:t>；李四</a:t>
            </a:r>
            <a:r>
              <a:rPr lang="en-US" altLang="zh-CN" baseline="30000" dirty="0"/>
              <a:t>[5-7]</a:t>
            </a:r>
            <a:r>
              <a:rPr lang="zh-CN" altLang="zh-CN" dirty="0"/>
              <a:t>提出。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文中同时引用多篇文章，作者之间用顿号隔开，作者上方用上标注明，如张三</a:t>
            </a:r>
            <a:r>
              <a:rPr lang="en-US" altLang="zh-CN" baseline="30000" dirty="0"/>
              <a:t>[1]</a:t>
            </a:r>
            <a:r>
              <a:rPr lang="zh-CN" altLang="zh-CN" dirty="0"/>
              <a:t>、李四</a:t>
            </a:r>
            <a:r>
              <a:rPr lang="en-US" altLang="zh-CN" baseline="30000" dirty="0"/>
              <a:t>[2]</a:t>
            </a:r>
            <a:r>
              <a:rPr lang="zh-CN" altLang="zh-CN" dirty="0"/>
              <a:t>、王五</a:t>
            </a:r>
            <a:r>
              <a:rPr lang="en-US" altLang="zh-CN" baseline="30000" dirty="0"/>
              <a:t>[3]</a:t>
            </a:r>
            <a:r>
              <a:rPr lang="zh-CN" altLang="zh-CN" dirty="0"/>
              <a:t>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英文姓名在引用中只用姓，如引用</a:t>
            </a:r>
            <a:r>
              <a:rPr lang="en-US" altLang="zh-CN" dirty="0"/>
              <a:t>San Zhang</a:t>
            </a:r>
            <a:r>
              <a:rPr lang="zh-CN" altLang="zh-CN" dirty="0"/>
              <a:t>的文章，引用方式是</a:t>
            </a:r>
            <a:r>
              <a:rPr lang="en-US" altLang="zh-CN" dirty="0"/>
              <a:t>Zhang</a:t>
            </a:r>
            <a:r>
              <a:rPr lang="zh-CN" altLang="zh-CN" dirty="0"/>
              <a:t>（</a:t>
            </a:r>
            <a:r>
              <a:rPr lang="en-US" altLang="zh-CN" dirty="0"/>
              <a:t>2023</a:t>
            </a:r>
            <a:r>
              <a:rPr lang="zh-CN" altLang="zh-CN" dirty="0"/>
              <a:t>）。中文是引用全名，如张三（</a:t>
            </a:r>
            <a:r>
              <a:rPr lang="en-US" altLang="zh-CN" dirty="0"/>
              <a:t>2023</a:t>
            </a:r>
            <a:r>
              <a:rPr lang="zh-CN" altLang="zh-CN" dirty="0"/>
              <a:t>）。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注释的采用。当论文中的字、词或短语需要进一步加以说明，而又没有具体的文献来源时，可用注释。同时，注释的数量不宜过多，一般采用脚注方式。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/>
              <a:t>当引用他人数据和研究成果，需要加参考文献。</a:t>
            </a:r>
          </a:p>
        </p:txBody>
      </p:sp>
    </p:spTree>
    <p:extLst>
      <p:ext uri="{BB962C8B-B14F-4D97-AF65-F5344CB8AC3E}">
        <p14:creationId xmlns:p14="http://schemas.microsoft.com/office/powerpoint/2010/main" val="951693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92F6-D574-4FB2-8DD0-98DCECEC36F5}"/>
              </a:ext>
            </a:extLst>
          </p:cNvPr>
          <p:cNvSpPr txBox="1">
            <a:spLocks noChangeArrowheads="1"/>
          </p:cNvSpPr>
          <p:nvPr/>
        </p:nvSpPr>
        <p:spPr>
          <a:xfrm>
            <a:off x="1944913" y="466629"/>
            <a:ext cx="7556533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j-ea"/>
              </a:rPr>
              <a:t>六、</a:t>
            </a:r>
            <a:r>
              <a:rPr lang="zh-CN" altLang="zh-CN" sz="3300" b="1" dirty="0">
                <a:latin typeface="+mj-ea"/>
              </a:rPr>
              <a:t>引文与参考文献的规范性要求</a:t>
            </a:r>
            <a:endParaRPr lang="zh-CN" altLang="en-US" sz="3300" b="1" dirty="0">
              <a:latin typeface="+mj-ea"/>
            </a:endParaRPr>
          </a:p>
          <a:p>
            <a:endParaRPr lang="zh-CN" altLang="en-US" sz="3300" b="1" dirty="0">
              <a:latin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D57E7-A3DC-470D-9434-861FA8D52272}"/>
              </a:ext>
            </a:extLst>
          </p:cNvPr>
          <p:cNvSpPr/>
          <p:nvPr/>
        </p:nvSpPr>
        <p:spPr>
          <a:xfrm>
            <a:off x="391886" y="1259175"/>
            <a:ext cx="10805358" cy="4759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b="1" dirty="0">
                <a:latin typeface="+mn-ea"/>
              </a:rPr>
              <a:t>参考文献格式可遵照文后参考文献著录规则（</a:t>
            </a:r>
            <a:r>
              <a:rPr lang="en-US" altLang="zh-CN" sz="2000" b="1" dirty="0">
                <a:latin typeface="+mn-ea"/>
              </a:rPr>
              <a:t>GB/T7714-2015</a:t>
            </a:r>
            <a:r>
              <a:rPr lang="zh-CN" altLang="zh-CN" sz="2000" b="1" dirty="0">
                <a:latin typeface="+mn-ea"/>
              </a:rPr>
              <a:t>）</a:t>
            </a:r>
            <a:r>
              <a:rPr lang="zh-CN" altLang="en-US" sz="2000" b="1" dirty="0">
                <a:latin typeface="+mn-ea"/>
              </a:rPr>
              <a:t>：</a:t>
            </a:r>
            <a:endParaRPr lang="en-US" altLang="zh-CN" sz="20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主要责任者</a:t>
            </a:r>
            <a:r>
              <a:rPr lang="en-US" altLang="zh-CN" dirty="0">
                <a:latin typeface="+mn-ea"/>
              </a:rPr>
              <a:t>.</a:t>
            </a:r>
            <a:r>
              <a:rPr lang="zh-CN" altLang="zh-CN" dirty="0">
                <a:latin typeface="+mn-ea"/>
              </a:rPr>
              <a:t>题名</a:t>
            </a:r>
            <a:r>
              <a:rPr lang="en-US" altLang="zh-CN" dirty="0">
                <a:latin typeface="+mn-ea"/>
              </a:rPr>
              <a:t>:</a:t>
            </a:r>
            <a:r>
              <a:rPr lang="zh-CN" altLang="zh-CN" dirty="0">
                <a:latin typeface="+mn-ea"/>
              </a:rPr>
              <a:t>其他题名信息</a:t>
            </a:r>
            <a:r>
              <a:rPr lang="en-US" altLang="zh-CN" dirty="0">
                <a:latin typeface="+mn-ea"/>
              </a:rPr>
              <a:t>[</a:t>
            </a:r>
            <a:r>
              <a:rPr lang="zh-CN" altLang="zh-CN" dirty="0">
                <a:latin typeface="+mn-ea"/>
              </a:rPr>
              <a:t>文献类型标志</a:t>
            </a:r>
            <a:r>
              <a:rPr lang="en-US" altLang="zh-CN" dirty="0">
                <a:latin typeface="+mn-ea"/>
              </a:rPr>
              <a:t>].</a:t>
            </a:r>
            <a:r>
              <a:rPr lang="zh-CN" altLang="zh-CN" dirty="0">
                <a:latin typeface="+mn-ea"/>
              </a:rPr>
              <a:t>其他责任者</a:t>
            </a:r>
            <a:r>
              <a:rPr lang="en-US" altLang="zh-CN" dirty="0">
                <a:latin typeface="+mn-ea"/>
              </a:rPr>
              <a:t>.</a:t>
            </a:r>
            <a:r>
              <a:rPr lang="zh-CN" altLang="zh-CN" dirty="0">
                <a:latin typeface="+mn-ea"/>
              </a:rPr>
              <a:t>版本项</a:t>
            </a:r>
            <a:r>
              <a:rPr lang="en-US" altLang="zh-CN" dirty="0">
                <a:latin typeface="+mn-ea"/>
              </a:rPr>
              <a:t>.</a:t>
            </a:r>
            <a:r>
              <a:rPr lang="zh-CN" altLang="zh-CN" dirty="0">
                <a:latin typeface="+mn-ea"/>
              </a:rPr>
              <a:t>出版地</a:t>
            </a:r>
            <a:r>
              <a:rPr lang="en-US" altLang="zh-CN" dirty="0">
                <a:latin typeface="+mn-ea"/>
              </a:rPr>
              <a:t>:</a:t>
            </a:r>
            <a:r>
              <a:rPr lang="zh-CN" altLang="zh-CN" dirty="0">
                <a:latin typeface="+mn-ea"/>
              </a:rPr>
              <a:t>出版者，出版年</a:t>
            </a:r>
            <a:r>
              <a:rPr lang="en-US" altLang="zh-CN" dirty="0">
                <a:latin typeface="+mn-ea"/>
              </a:rPr>
              <a:t>:</a:t>
            </a:r>
            <a:r>
              <a:rPr lang="zh-CN" altLang="zh-CN" dirty="0">
                <a:latin typeface="+mn-ea"/>
              </a:rPr>
              <a:t>引文页码</a:t>
            </a:r>
            <a:r>
              <a:rPr lang="en-US" altLang="zh-CN" dirty="0">
                <a:latin typeface="+mn-ea"/>
              </a:rPr>
              <a:t>[</a:t>
            </a:r>
            <a:r>
              <a:rPr lang="zh-CN" altLang="zh-CN" dirty="0">
                <a:latin typeface="+mn-ea"/>
              </a:rPr>
              <a:t>引用日期</a:t>
            </a:r>
            <a:r>
              <a:rPr lang="en-US" altLang="zh-CN" dirty="0">
                <a:latin typeface="+mn-ea"/>
              </a:rPr>
              <a:t>].</a:t>
            </a:r>
            <a:r>
              <a:rPr lang="zh-CN" altLang="zh-CN" dirty="0">
                <a:latin typeface="+mn-ea"/>
              </a:rPr>
              <a:t>获取和访问路径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zh-CN" sz="2000" b="1" dirty="0">
                <a:latin typeface="+mn-ea"/>
              </a:rPr>
              <a:t>参考文献中的常见问题：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参考文献表中有缺失项。如缺少部分作者姓名，如只写出第一作者。当出现多位作者，应至少列出</a:t>
            </a:r>
            <a:r>
              <a:rPr lang="en-US" altLang="zh-CN" dirty="0">
                <a:latin typeface="+mn-ea"/>
              </a:rPr>
              <a:t>3</a:t>
            </a:r>
            <a:r>
              <a:rPr lang="zh-CN" altLang="zh-CN" dirty="0">
                <a:latin typeface="+mn-ea"/>
              </a:rPr>
              <a:t>位；缺少期刊卷号或期号；著作缺少地点；缺少年份。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著录符号不符合要求。参考文献表中各著录项之间的符号是著录符号，而不是标点符号。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引文与参考文献不对应的问题。只列参考文献，未在正文引用；文献列表的序号与正文引用不对应。引文采用著作</a:t>
            </a:r>
            <a:r>
              <a:rPr lang="en-US" altLang="zh-CN" dirty="0">
                <a:latin typeface="+mn-ea"/>
              </a:rPr>
              <a:t>-</a:t>
            </a:r>
            <a:r>
              <a:rPr lang="zh-CN" altLang="zh-CN" dirty="0">
                <a:latin typeface="+mn-ea"/>
              </a:rPr>
              <a:t>出版年制标注时，参考文献应按照著作者自顺和出版年排序。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latin typeface="+mn-ea"/>
              </a:rPr>
              <a:t>行距与正文不一致。</a:t>
            </a:r>
          </a:p>
        </p:txBody>
      </p:sp>
    </p:spTree>
    <p:extLst>
      <p:ext uri="{BB962C8B-B14F-4D97-AF65-F5344CB8AC3E}">
        <p14:creationId xmlns:p14="http://schemas.microsoft.com/office/powerpoint/2010/main" val="3338835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</TotalTime>
  <Words>1776</Words>
  <Application>Microsoft Office PowerPoint</Application>
  <PresentationFormat>宽屏</PresentationFormat>
  <Paragraphs>95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学位论文写作规范性要求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 Ning</dc:creator>
  <cp:lastModifiedBy>Yan Ning</cp:lastModifiedBy>
  <cp:revision>372</cp:revision>
  <dcterms:created xsi:type="dcterms:W3CDTF">2023-02-21T01:12:16Z</dcterms:created>
  <dcterms:modified xsi:type="dcterms:W3CDTF">2025-02-28T02:02:43Z</dcterms:modified>
</cp:coreProperties>
</file>