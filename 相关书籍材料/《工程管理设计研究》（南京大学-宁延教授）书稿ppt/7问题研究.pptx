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sdx" ContentType="application/vnd.ms-visio.drawing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623" r:id="rId2"/>
    <p:sldId id="1636" r:id="rId3"/>
    <p:sldId id="1598" r:id="rId4"/>
    <p:sldId id="653" r:id="rId5"/>
    <p:sldId id="627" r:id="rId6"/>
    <p:sldId id="628" r:id="rId7"/>
    <p:sldId id="1637" r:id="rId8"/>
    <p:sldId id="648" r:id="rId9"/>
    <p:sldId id="629" r:id="rId10"/>
    <p:sldId id="656" r:id="rId11"/>
    <p:sldId id="619" r:id="rId12"/>
    <p:sldId id="620" r:id="rId13"/>
    <p:sldId id="647" r:id="rId14"/>
    <p:sldId id="637" r:id="rId15"/>
    <p:sldId id="621" r:id="rId16"/>
    <p:sldId id="658" r:id="rId17"/>
    <p:sldId id="1680" r:id="rId18"/>
    <p:sldId id="1681" r:id="rId19"/>
    <p:sldId id="1642" r:id="rId20"/>
    <p:sldId id="1682" r:id="rId21"/>
    <p:sldId id="1684" r:id="rId22"/>
    <p:sldId id="1600" r:id="rId23"/>
    <p:sldId id="1601" r:id="rId24"/>
    <p:sldId id="639" r:id="rId25"/>
    <p:sldId id="644" r:id="rId26"/>
    <p:sldId id="649" r:id="rId27"/>
    <p:sldId id="650" r:id="rId28"/>
    <p:sldId id="622" r:id="rId29"/>
    <p:sldId id="1603" r:id="rId30"/>
    <p:sldId id="631" r:id="rId31"/>
    <p:sldId id="1683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549F2556-1922-43C8-9398-AAA8EEB100E2}">
          <p14:sldIdLst>
            <p14:sldId id="623"/>
            <p14:sldId id="1636"/>
            <p14:sldId id="1598"/>
            <p14:sldId id="653"/>
            <p14:sldId id="627"/>
            <p14:sldId id="628"/>
            <p14:sldId id="1637"/>
            <p14:sldId id="648"/>
            <p14:sldId id="629"/>
            <p14:sldId id="656"/>
            <p14:sldId id="619"/>
            <p14:sldId id="620"/>
            <p14:sldId id="647"/>
            <p14:sldId id="637"/>
            <p14:sldId id="621"/>
            <p14:sldId id="658"/>
            <p14:sldId id="1680"/>
            <p14:sldId id="1681"/>
            <p14:sldId id="1642"/>
            <p14:sldId id="1682"/>
            <p14:sldId id="1684"/>
            <p14:sldId id="1600"/>
            <p14:sldId id="1601"/>
            <p14:sldId id="639"/>
            <p14:sldId id="644"/>
            <p14:sldId id="649"/>
            <p14:sldId id="650"/>
            <p14:sldId id="622"/>
            <p14:sldId id="1603"/>
            <p14:sldId id="631"/>
            <p14:sldId id="16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44" autoAdjust="0"/>
    <p:restoredTop sz="89252" autoAdjust="0"/>
  </p:normalViewPr>
  <p:slideViewPr>
    <p:cSldViewPr snapToGrid="0">
      <p:cViewPr varScale="1">
        <p:scale>
          <a:sx n="68" d="100"/>
          <a:sy n="68" d="100"/>
        </p:scale>
        <p:origin x="2527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1d39a4fa-c76e-4be0-a329-cd20bca6ab88" providerId="ADAL" clId="{47607A57-2D0B-E64F-8AF5-8ADC96EF0548}"/>
  </pc:docChgLst>
  <pc:docChgLst>
    <pc:chgData name=" " userId="1d39a4fa-c76e-4be0-a329-cd20bca6ab88" providerId="ADAL" clId="{181B532B-4EA5-7B4F-814F-2C4B4B191B16}"/>
    <pc:docChg chg="modSld">
      <pc:chgData name=" " userId="1d39a4fa-c76e-4be0-a329-cd20bca6ab88" providerId="ADAL" clId="{181B532B-4EA5-7B4F-814F-2C4B4B191B16}" dt="2025-02-27T15:10:44.923" v="0" actId="14100"/>
      <pc:docMkLst>
        <pc:docMk/>
      </pc:docMkLst>
      <pc:sldChg chg="modSp mod">
        <pc:chgData name=" " userId="1d39a4fa-c76e-4be0-a329-cd20bca6ab88" providerId="ADAL" clId="{181B532B-4EA5-7B4F-814F-2C4B4B191B16}" dt="2025-02-27T15:10:44.923" v="0" actId="14100"/>
        <pc:sldMkLst>
          <pc:docMk/>
          <pc:sldMk cId="1535139944" sldId="622"/>
        </pc:sldMkLst>
        <pc:spChg chg="mod">
          <ac:chgData name=" " userId="1d39a4fa-c76e-4be0-a329-cd20bca6ab88" providerId="ADAL" clId="{181B532B-4EA5-7B4F-814F-2C4B4B191B16}" dt="2025-02-27T15:10:44.923" v="0" actId="14100"/>
          <ac:spMkLst>
            <pc:docMk/>
            <pc:sldMk cId="1535139944" sldId="622"/>
            <ac:spMk id="2" creationId="{22592DFF-BC24-451F-9641-8924D5CE33D3}"/>
          </ac:spMkLst>
        </pc:spChg>
      </pc:sldChg>
    </pc:docChg>
  </pc:docChgLst>
  <pc:docChgLst>
    <pc:chgData userId="6c5e2e04bbef42de" providerId="LiveId" clId="{C8BDB5E3-12A2-40D0-92F0-7E3D8B66945B}"/>
    <pc:docChg chg="undo custSel delSld modSld addSection delSection modSection">
      <pc:chgData name="" userId="6c5e2e04bbef42de" providerId="LiveId" clId="{C8BDB5E3-12A2-40D0-92F0-7E3D8B66945B}" dt="2025-02-28T01:55:07.455" v="9" actId="18676"/>
      <pc:docMkLst>
        <pc:docMk/>
      </pc:docMkLst>
      <pc:sldChg chg="del">
        <pc:chgData name="" userId="6c5e2e04bbef42de" providerId="LiveId" clId="{C8BDB5E3-12A2-40D0-92F0-7E3D8B66945B}" dt="2025-02-28T01:54:51.694" v="3" actId="2696"/>
        <pc:sldMkLst>
          <pc:docMk/>
          <pc:sldMk cId="4094221001" sldId="552"/>
        </pc:sldMkLst>
      </pc:sldChg>
      <pc:sldChg chg="del">
        <pc:chgData name="" userId="6c5e2e04bbef42de" providerId="LiveId" clId="{C8BDB5E3-12A2-40D0-92F0-7E3D8B66945B}" dt="2025-02-28T01:54:52.557" v="4" actId="2696"/>
        <pc:sldMkLst>
          <pc:docMk/>
          <pc:sldMk cId="384410100" sldId="560"/>
        </pc:sldMkLst>
      </pc:sldChg>
      <pc:sldChg chg="del">
        <pc:chgData name="" userId="6c5e2e04bbef42de" providerId="LiveId" clId="{C8BDB5E3-12A2-40D0-92F0-7E3D8B66945B}" dt="2025-02-28T01:54:53.010" v="5" actId="2696"/>
        <pc:sldMkLst>
          <pc:docMk/>
          <pc:sldMk cId="569117562" sldId="576"/>
        </pc:sldMkLst>
      </pc:sldChg>
      <pc:sldChg chg="del">
        <pc:chgData name="" userId="6c5e2e04bbef42de" providerId="LiveId" clId="{C8BDB5E3-12A2-40D0-92F0-7E3D8B66945B}" dt="2025-02-28T01:55:07.455" v="8" actId="2696"/>
        <pc:sldMkLst>
          <pc:docMk/>
          <pc:sldMk cId="3332239838" sldId="587"/>
        </pc:sldMkLst>
      </pc:sldChg>
      <pc:sldChg chg="addSp delSp modSp">
        <pc:chgData name="" userId="6c5e2e04bbef42de" providerId="LiveId" clId="{C8BDB5E3-12A2-40D0-92F0-7E3D8B66945B}" dt="2025-02-28T01:54:40.151" v="2" actId="478"/>
        <pc:sldMkLst>
          <pc:docMk/>
          <pc:sldMk cId="0" sldId="623"/>
        </pc:sldMkLst>
        <pc:spChg chg="del">
          <ac:chgData name="" userId="6c5e2e04bbef42de" providerId="LiveId" clId="{C8BDB5E3-12A2-40D0-92F0-7E3D8B66945B}" dt="2025-02-28T01:54:40.151" v="2" actId="478"/>
          <ac:spMkLst>
            <pc:docMk/>
            <pc:sldMk cId="0" sldId="623"/>
            <ac:spMk id="3" creationId="{00000000-0000-0000-0000-000000000000}"/>
          </ac:spMkLst>
        </pc:spChg>
        <pc:spChg chg="add mod">
          <ac:chgData name="" userId="6c5e2e04bbef42de" providerId="LiveId" clId="{C8BDB5E3-12A2-40D0-92F0-7E3D8B66945B}" dt="2025-02-28T01:54:40.151" v="2" actId="478"/>
          <ac:spMkLst>
            <pc:docMk/>
            <pc:sldMk cId="0" sldId="623"/>
            <ac:spMk id="5" creationId="{7A6CA88A-125E-49D3-90FE-E9F3A54EC42C}"/>
          </ac:spMkLst>
        </pc:spChg>
        <pc:spChg chg="del">
          <ac:chgData name="" userId="6c5e2e04bbef42de" providerId="LiveId" clId="{C8BDB5E3-12A2-40D0-92F0-7E3D8B66945B}" dt="2025-02-28T01:54:38.727" v="1" actId="478"/>
          <ac:spMkLst>
            <pc:docMk/>
            <pc:sldMk cId="0" sldId="623"/>
            <ac:spMk id="10" creationId="{00000000-0000-0000-0000-000000000000}"/>
          </ac:spMkLst>
        </pc:spChg>
        <pc:picChg chg="del">
          <ac:chgData name="" userId="6c5e2e04bbef42de" providerId="LiveId" clId="{C8BDB5E3-12A2-40D0-92F0-7E3D8B66945B}" dt="2025-02-28T01:54:36.943" v="0" actId="478"/>
          <ac:picMkLst>
            <pc:docMk/>
            <pc:sldMk cId="0" sldId="623"/>
            <ac:picMk id="9" creationId="{00000000-0000-0000-0000-000000000000}"/>
          </ac:picMkLst>
        </pc:pic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45255C-18F3-4DDB-BBD7-6518A0AFC2C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A55024-9D59-46C3-A0DB-ED02D21441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6544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5E54D9-9C73-4B20-A770-06A213075666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58563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5E54D9-9C73-4B20-A770-06A213075666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005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D103FD-515C-42D9-AF72-56D52BA7B6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752415A-CA51-47E8-831A-9B7FA56563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AC152F-EA3D-466D-8166-2512400AB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AC7F2-E5B9-4964-81B1-C6DC197C55B9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9156A4-88C8-4661-8F3F-81808A5A9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7E36A7-D454-414F-A7CB-CA9B6FB8F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DAAE0-8E33-4A7D-B129-5071298524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3668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066BBD-445B-4307-8404-3C9E55B3C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D068DA-3777-43E3-B7F5-87BD9F7DD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E6E70B-04E4-4787-93CA-4EEA57185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AC7F2-E5B9-4964-81B1-C6DC197C55B9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0E928D-BC94-4F2D-B53A-3180E1102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CAB707-2271-4F55-B227-95FA6DE28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DAAE0-8E33-4A7D-B129-5071298524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4477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2B1197-E440-4AF4-BC8B-C4B184565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FFCB6E-07BC-4035-87FE-67B6D5AE3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B9FDF8-176C-413E-9AE9-D3DD22929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AC7F2-E5B9-4964-81B1-C6DC197C55B9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1E3DBA-C1DC-4FDE-B897-D715B0ED9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5C9068-B7C5-4E02-8706-68F732E25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DAAE0-8E33-4A7D-B129-5071298524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1047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4DC88F-1F41-4ABA-B8AE-64E8758BF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1C596E-186D-4E06-BE39-819ECA4228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DD0014C-9470-4359-8795-896B4457ED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32816E-1329-4A7C-83F4-D211A908A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AC7F2-E5B9-4964-81B1-C6DC197C55B9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9A8283-12FB-42A2-B184-382079576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24BA166-08CB-4F4C-A82A-6A54DDBC7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DAAE0-8E33-4A7D-B129-5071298524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5916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907D4A-718B-46FB-9811-CD73BEDD1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40F18E6-DD1F-4427-9E70-B443C1EE8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4CA2D10-8BE2-484B-BA12-2FDE393856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A1C370B-FEA8-40FC-982D-1CFA1C5B5C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0B43256-EAAE-489B-89B2-EB0EBD2985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C2B2BF0-982E-4DCC-9CC1-5E73E8EA9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AC7F2-E5B9-4964-81B1-C6DC197C55B9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96C86D8-C38D-40EF-B7DC-513009258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F643910-70FD-48E3-BDE2-540CFB142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DAAE0-8E33-4A7D-B129-5071298524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3644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37AE02-50CD-4FB2-BD02-76F3E8B98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5F0A67C-4CAE-49DF-BA3A-4A627B6FE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AC7F2-E5B9-4964-81B1-C6DC197C55B9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2F947EE-D3CC-4D0F-9EC9-EAA0F1923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4704809-3C78-497A-82B1-CC426F679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DAAE0-8E33-4A7D-B129-5071298524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7168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9CF1B75-484E-4AFA-844B-6697E8473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AC7F2-E5B9-4964-81B1-C6DC197C55B9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1878834-27C0-417E-938E-4D9D4146D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7DEB67-743D-4873-85E6-5A9F3177E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DAAE0-8E33-4A7D-B129-5071298524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9142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FED83F-DB22-46D9-855F-6D5C57894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601C7E-B5A2-476B-B1D7-7AEF7B33D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D5D8587-D98D-4514-B904-29CE95B859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E02B46D-9F74-4FD2-BC3B-AE943DF10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AC7F2-E5B9-4964-81B1-C6DC197C55B9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793ACDA-2B9C-40FD-A239-C52FDD976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528C01-34A5-420B-A604-B4011101D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DAAE0-8E33-4A7D-B129-5071298524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411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AEE2D2-414A-4935-81A3-07ECCFF5E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14B0647-724F-465D-AA4A-1AAA05CF3A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228AC01-7925-49DD-826D-336FE30552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078FF29-AFCB-4793-AA26-1F2C84797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AC7F2-E5B9-4964-81B1-C6DC197C55B9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C631CD-DD99-4AC5-8574-019DEED95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DD9507-DDDB-4831-9B20-1DE84C9C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DAAE0-8E33-4A7D-B129-5071298524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8040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05657E-53E5-4008-9F21-BAFEA01D3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CBB134A-EF2A-4612-BC2E-DCF5302190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533070-3ECC-4FFD-AFFC-4BB616032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AC7F2-E5B9-4964-81B1-C6DC197C55B9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B0E874-F2CB-4755-8443-A856D5218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F74974-6194-47AD-A321-333EF064B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DAAE0-8E33-4A7D-B129-5071298524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5978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C43C0A9-02E0-4757-93E3-A84929FDED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227089F-D812-49A7-8AA6-82DB9C87A0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BF6DC3-3372-4FFF-A693-8DC10F2FB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AC7F2-E5B9-4964-81B1-C6DC197C55B9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297473-017C-4371-AE98-6F8ECB38A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65BA15-09D9-4092-9CD2-72EE0EF73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DAAE0-8E33-4A7D-B129-5071298524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44905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/>
          <p:cNvSpPr/>
          <p:nvPr userDrawn="1"/>
        </p:nvSpPr>
        <p:spPr>
          <a:xfrm>
            <a:off x="0" y="6774180"/>
            <a:ext cx="12192000" cy="83820"/>
          </a:xfrm>
          <a:custGeom>
            <a:avLst/>
            <a:gdLst>
              <a:gd name="connsiteX0" fmla="*/ 0 w 12192000"/>
              <a:gd name="connsiteY0" fmla="*/ 0 h 133007"/>
              <a:gd name="connsiteX1" fmla="*/ 12058465 w 12192000"/>
              <a:gd name="connsiteY1" fmla="*/ 0 h 133007"/>
              <a:gd name="connsiteX2" fmla="*/ 12087604 w 12192000"/>
              <a:gd name="connsiteY2" fmla="*/ 67096 h 133007"/>
              <a:gd name="connsiteX3" fmla="*/ 12183872 w 12192000"/>
              <a:gd name="connsiteY3" fmla="*/ 129001 h 133007"/>
              <a:gd name="connsiteX4" fmla="*/ 12192000 w 12192000"/>
              <a:gd name="connsiteY4" fmla="*/ 127729 h 133007"/>
              <a:gd name="connsiteX5" fmla="*/ 12192000 w 12192000"/>
              <a:gd name="connsiteY5" fmla="*/ 133007 h 133007"/>
              <a:gd name="connsiteX6" fmla="*/ 0 w 12192000"/>
              <a:gd name="connsiteY6" fmla="*/ 133007 h 133007"/>
              <a:gd name="connsiteX0-1" fmla="*/ 0 w 12192000"/>
              <a:gd name="connsiteY0-2" fmla="*/ 0 h 133007"/>
              <a:gd name="connsiteX1-3" fmla="*/ 12058465 w 12192000"/>
              <a:gd name="connsiteY1-4" fmla="*/ 0 h 133007"/>
              <a:gd name="connsiteX2-5" fmla="*/ 12087604 w 12192000"/>
              <a:gd name="connsiteY2-6" fmla="*/ 67096 h 133007"/>
              <a:gd name="connsiteX3-7" fmla="*/ 12183872 w 12192000"/>
              <a:gd name="connsiteY3-8" fmla="*/ 129001 h 133007"/>
              <a:gd name="connsiteX4-9" fmla="*/ 12192000 w 12192000"/>
              <a:gd name="connsiteY4-10" fmla="*/ 127729 h 133007"/>
              <a:gd name="connsiteX5-11" fmla="*/ 11775440 w 12192000"/>
              <a:gd name="connsiteY5-12" fmla="*/ 126005 h 133007"/>
              <a:gd name="connsiteX6-13" fmla="*/ 0 w 12192000"/>
              <a:gd name="connsiteY6-14" fmla="*/ 133007 h 133007"/>
              <a:gd name="connsiteX7" fmla="*/ 0 w 12192000"/>
              <a:gd name="connsiteY7" fmla="*/ 0 h 13300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" y="connsiteY7"/>
              </a:cxn>
            </a:cxnLst>
            <a:rect l="l" t="t" r="r" b="b"/>
            <a:pathLst>
              <a:path w="12192000" h="133007">
                <a:moveTo>
                  <a:pt x="0" y="0"/>
                </a:moveTo>
                <a:lnTo>
                  <a:pt x="12058465" y="0"/>
                </a:lnTo>
                <a:lnTo>
                  <a:pt x="12087604" y="67096"/>
                </a:lnTo>
                <a:cubicBezTo>
                  <a:pt x="12112241" y="105344"/>
                  <a:pt x="12146277" y="129001"/>
                  <a:pt x="12183872" y="129001"/>
                </a:cubicBezTo>
                <a:lnTo>
                  <a:pt x="12192000" y="127729"/>
                </a:lnTo>
                <a:lnTo>
                  <a:pt x="11775440" y="126005"/>
                </a:lnTo>
                <a:lnTo>
                  <a:pt x="0" y="133007"/>
                </a:lnTo>
                <a:lnTo>
                  <a:pt x="0" y="0"/>
                </a:lnTo>
                <a:close/>
              </a:path>
            </a:pathLst>
          </a:custGeom>
          <a:solidFill>
            <a:srgbClr val="6306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8580" tIns="34290" rIns="68580" bIns="34290" rtlCol="0" anchor="ctr">
            <a:noAutofit/>
          </a:bodyPr>
          <a:lstStyle/>
          <a:p>
            <a:pPr algn="ctr"/>
            <a:endParaRPr lang="zh-CN" altLang="en-US" sz="1200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00" t="18187" r="19659" b="49773"/>
          <a:stretch>
            <a:fillRect/>
          </a:stretch>
        </p:blipFill>
        <p:spPr>
          <a:xfrm>
            <a:off x="301112" y="342433"/>
            <a:ext cx="1447301" cy="682507"/>
          </a:xfrm>
          <a:prstGeom prst="rect">
            <a:avLst/>
          </a:prstGeom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449968CE-9441-48AB-B411-308267690CDF}"/>
              </a:ext>
            </a:extLst>
          </p:cNvPr>
          <p:cNvCxnSpPr/>
          <p:nvPr userDrawn="1"/>
        </p:nvCxnSpPr>
        <p:spPr>
          <a:xfrm>
            <a:off x="1748413" y="1024934"/>
            <a:ext cx="9462064" cy="0"/>
          </a:xfrm>
          <a:prstGeom prst="line">
            <a:avLst/>
          </a:prstGeom>
          <a:ln w="28575">
            <a:solidFill>
              <a:srgbClr val="6306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8137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301E131-1FE4-4CF8-BDA2-A6829A759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3B0D38-8EE9-4BBC-82CA-C5EFDBD04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C13A21-B67E-4186-B0F1-D945AA00FE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EAC7F2-E5B9-4964-81B1-C6DC197C55B9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385BAA-8800-4379-B9C9-AA88427CE5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22A6E2-4DAD-4670-955D-2A6C7F14FB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FDAAE0-8E33-4A7D-B129-5071298524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8675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.vsdx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1.vsdx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6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" y="-1329"/>
            <a:ext cx="12188826" cy="6963204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-1590" y="1155103"/>
            <a:ext cx="12192002" cy="511927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  </a:t>
            </a: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469753" y="1621971"/>
            <a:ext cx="9541048" cy="2061625"/>
          </a:xfrm>
        </p:spPr>
        <p:txBody>
          <a:bodyPr>
            <a:noAutofit/>
          </a:bodyPr>
          <a:lstStyle/>
          <a:p>
            <a:r>
              <a:rPr lang="zh-CN" altLang="en-US" b="1" dirty="0"/>
              <a:t>问题研究</a:t>
            </a:r>
            <a:endParaRPr lang="zh-CN" altLang="en-US" sz="6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7A6CA88A-125E-49D3-90FE-E9F3A54EC4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0BED8D74-7BC2-4E0A-B9D1-0804D833C0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611473"/>
              </p:ext>
            </p:extLst>
          </p:nvPr>
        </p:nvGraphicFramePr>
        <p:xfrm>
          <a:off x="3282535" y="991666"/>
          <a:ext cx="3864429" cy="53285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Visio" r:id="rId3" imgW="2111730" imgH="3265793" progId="Visio.Drawing.15">
                  <p:embed/>
                </p:oleObj>
              </mc:Choice>
              <mc:Fallback>
                <p:oleObj name="Visio" r:id="rId3" imgW="2111730" imgH="3265793" progId="Visio.Drawing.15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0BED8D74-7BC2-4E0A-B9D1-0804D833C0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2535" y="991666"/>
                        <a:ext cx="3864429" cy="532855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标题 1">
            <a:extLst>
              <a:ext uri="{FF2B5EF4-FFF2-40B4-BE49-F238E27FC236}">
                <a16:creationId xmlns:a16="http://schemas.microsoft.com/office/drawing/2014/main" id="{128A7C94-F099-4A0A-AF19-917F61C033B3}"/>
              </a:ext>
            </a:extLst>
          </p:cNvPr>
          <p:cNvSpPr txBox="1">
            <a:spLocks noChangeArrowheads="1"/>
          </p:cNvSpPr>
          <p:nvPr/>
        </p:nvSpPr>
        <p:spPr>
          <a:xfrm>
            <a:off x="1748939" y="418034"/>
            <a:ext cx="6554880" cy="4868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300" dirty="0">
                <a:latin typeface="+mn-ea"/>
                <a:ea typeface="+mn-ea"/>
              </a:rPr>
              <a:t>工程管理设计研究的三个步骤</a:t>
            </a:r>
          </a:p>
        </p:txBody>
      </p:sp>
    </p:spTree>
    <p:extLst>
      <p:ext uri="{BB962C8B-B14F-4D97-AF65-F5344CB8AC3E}">
        <p14:creationId xmlns:p14="http://schemas.microsoft.com/office/powerpoint/2010/main" val="2054226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5FD57E7-A3DC-470D-9434-861FA8D52272}"/>
              </a:ext>
            </a:extLst>
          </p:cNvPr>
          <p:cNvSpPr/>
          <p:nvPr/>
        </p:nvSpPr>
        <p:spPr>
          <a:xfrm>
            <a:off x="390697" y="1082614"/>
            <a:ext cx="10975895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 algn="just">
              <a:spcBef>
                <a:spcPts val="600"/>
              </a:spcBef>
            </a:pPr>
            <a:r>
              <a:rPr lang="zh-CN" altLang="zh-CN" sz="2000" b="1" dirty="0">
                <a:latin typeface="+mj-ea"/>
                <a:ea typeface="+mj-ea"/>
              </a:rPr>
              <a:t>问题</a:t>
            </a:r>
            <a:r>
              <a:rPr lang="zh-CN" altLang="en-US" sz="2000" b="1" dirty="0">
                <a:latin typeface="+mj-ea"/>
                <a:ea typeface="+mj-ea"/>
              </a:rPr>
              <a:t>：</a:t>
            </a:r>
            <a:endParaRPr lang="en-US" altLang="zh-CN" sz="2000" b="1" dirty="0">
              <a:latin typeface="+mj-ea"/>
              <a:ea typeface="+mj-ea"/>
            </a:endParaRPr>
          </a:p>
          <a:p>
            <a:pPr marL="285750" lvl="2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sz="2000" dirty="0">
                <a:latin typeface="+mj-ea"/>
                <a:ea typeface="+mj-ea"/>
              </a:rPr>
              <a:t>与期望的某一具体（或某一范围内）可接受条件的偏差，该偏差引发了一系列需要解决的症状</a:t>
            </a:r>
            <a:endParaRPr lang="zh-CN" altLang="zh-CN" sz="2000" dirty="0">
              <a:latin typeface="+mj-ea"/>
            </a:endParaRPr>
          </a:p>
          <a:p>
            <a:pPr marL="285750" lvl="2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sz="2000" dirty="0">
                <a:latin typeface="+mj-ea"/>
                <a:ea typeface="+mj-ea"/>
              </a:rPr>
              <a:t>现状与预期存在差异的情况下，为了实现预期，确定问题，形成解决方案。</a:t>
            </a:r>
            <a:endParaRPr lang="zh-CN" altLang="zh-CN" sz="2000" dirty="0">
              <a:solidFill>
                <a:srgbClr val="333333"/>
              </a:solidFill>
              <a:latin typeface="+mj-ea"/>
              <a:ea typeface="+mj-ea"/>
              <a:cs typeface="宋体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B937065-532E-4B91-A5DB-4D2C362B5BD9}"/>
              </a:ext>
            </a:extLst>
          </p:cNvPr>
          <p:cNvSpPr/>
          <p:nvPr/>
        </p:nvSpPr>
        <p:spPr>
          <a:xfrm>
            <a:off x="784128" y="5019830"/>
            <a:ext cx="9157892" cy="11062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b="1" dirty="0">
                <a:solidFill>
                  <a:srgbClr val="7030A0"/>
                </a:solidFill>
                <a:latin typeface="+mj-ea"/>
                <a:ea typeface="+mj-ea"/>
              </a:rPr>
              <a:t>现状与预期</a:t>
            </a:r>
            <a:r>
              <a:rPr lang="zh-CN" altLang="en-US" dirty="0">
                <a:latin typeface="+mj-ea"/>
                <a:ea typeface="+mj-ea"/>
              </a:rPr>
              <a:t>：</a:t>
            </a:r>
            <a:r>
              <a:rPr lang="zh-CN" altLang="zh-CN" dirty="0">
                <a:latin typeface="+mj-ea"/>
                <a:ea typeface="+mj-ea"/>
              </a:rPr>
              <a:t>人体正常温度</a:t>
            </a:r>
            <a:r>
              <a:rPr lang="en-US" altLang="zh-CN" dirty="0">
                <a:latin typeface="+mj-ea"/>
                <a:ea typeface="+mj-ea"/>
              </a:rPr>
              <a:t>37</a:t>
            </a:r>
            <a:r>
              <a:rPr lang="zh-CN" altLang="zh-CN" dirty="0">
                <a:latin typeface="+mj-ea"/>
                <a:ea typeface="+mj-ea"/>
              </a:rPr>
              <a:t>℃，现状</a:t>
            </a:r>
            <a:r>
              <a:rPr lang="en-US" altLang="zh-CN" dirty="0">
                <a:latin typeface="+mj-ea"/>
                <a:ea typeface="+mj-ea"/>
              </a:rPr>
              <a:t>38.5</a:t>
            </a:r>
            <a:r>
              <a:rPr lang="zh-CN" altLang="zh-CN" dirty="0">
                <a:latin typeface="+mj-ea"/>
                <a:ea typeface="+mj-ea"/>
              </a:rPr>
              <a:t>℃，</a:t>
            </a:r>
            <a:r>
              <a:rPr lang="zh-CN" altLang="en-US" dirty="0">
                <a:latin typeface="+mj-ea"/>
                <a:ea typeface="+mj-ea"/>
              </a:rPr>
              <a:t>问题是</a:t>
            </a:r>
            <a:r>
              <a:rPr lang="zh-CN" altLang="zh-CN" dirty="0">
                <a:latin typeface="+mj-ea"/>
                <a:ea typeface="+mj-ea"/>
              </a:rPr>
              <a:t>如何降至</a:t>
            </a:r>
            <a:r>
              <a:rPr lang="en-US" altLang="zh-CN" dirty="0">
                <a:latin typeface="+mj-ea"/>
                <a:ea typeface="+mj-ea"/>
              </a:rPr>
              <a:t> 37</a:t>
            </a:r>
            <a:r>
              <a:rPr lang="zh-CN" altLang="zh-CN" dirty="0">
                <a:latin typeface="+mj-ea"/>
                <a:ea typeface="+mj-ea"/>
              </a:rPr>
              <a:t>℃？</a:t>
            </a:r>
          </a:p>
          <a:p>
            <a:pPr algn="just">
              <a:lnSpc>
                <a:spcPct val="125000"/>
              </a:lnSpc>
            </a:pPr>
            <a:r>
              <a:rPr lang="zh-CN" altLang="en-US" b="1" dirty="0">
                <a:solidFill>
                  <a:srgbClr val="7030A0"/>
                </a:solidFill>
                <a:latin typeface="+mj-ea"/>
                <a:ea typeface="+mj-ea"/>
              </a:rPr>
              <a:t>状态转换的路径</a:t>
            </a:r>
            <a:r>
              <a:rPr lang="zh-CN" altLang="en-US" dirty="0">
                <a:latin typeface="+mj-ea"/>
                <a:ea typeface="+mj-ea"/>
              </a:rPr>
              <a:t>：</a:t>
            </a:r>
            <a:r>
              <a:rPr lang="zh-CN" altLang="zh-CN" dirty="0">
                <a:latin typeface="+mj-ea"/>
                <a:ea typeface="+mj-ea"/>
              </a:rPr>
              <a:t>冰敷，直接对头部降温；或者吃大量的冰块，把体温降下来。</a:t>
            </a:r>
          </a:p>
          <a:p>
            <a:pPr algn="just">
              <a:lnSpc>
                <a:spcPct val="125000"/>
              </a:lnSpc>
            </a:pPr>
            <a:r>
              <a:rPr lang="zh-CN" altLang="en-US" b="1" dirty="0">
                <a:solidFill>
                  <a:srgbClr val="7030A0"/>
                </a:solidFill>
                <a:latin typeface="+mj-ea"/>
                <a:ea typeface="+mj-ea"/>
              </a:rPr>
              <a:t>问题与症状</a:t>
            </a:r>
            <a:r>
              <a:rPr lang="zh-CN" altLang="en-US" dirty="0">
                <a:latin typeface="+mj-ea"/>
                <a:ea typeface="+mj-ea"/>
              </a:rPr>
              <a:t>：</a:t>
            </a:r>
            <a:r>
              <a:rPr lang="zh-CN" altLang="zh-CN" dirty="0">
                <a:latin typeface="+mj-ea"/>
                <a:ea typeface="+mj-ea"/>
              </a:rPr>
              <a:t>发烧是</a:t>
            </a:r>
            <a:r>
              <a:rPr lang="zh-CN" altLang="en-US" dirty="0">
                <a:latin typeface="+mj-ea"/>
                <a:ea typeface="+mj-ea"/>
              </a:rPr>
              <a:t>症状</a:t>
            </a:r>
            <a:r>
              <a:rPr lang="zh-CN" altLang="zh-CN" dirty="0">
                <a:latin typeface="+mj-ea"/>
                <a:ea typeface="+mj-ea"/>
              </a:rPr>
              <a:t>，</a:t>
            </a:r>
            <a:r>
              <a:rPr lang="zh-CN" altLang="en-US" dirty="0">
                <a:latin typeface="+mj-ea"/>
                <a:ea typeface="+mj-ea"/>
              </a:rPr>
              <a:t>而症状</a:t>
            </a:r>
            <a:r>
              <a:rPr lang="zh-CN" altLang="zh-CN" dirty="0">
                <a:latin typeface="+mj-ea"/>
                <a:ea typeface="+mj-ea"/>
              </a:rPr>
              <a:t>是由问题导致的</a:t>
            </a:r>
            <a:r>
              <a:rPr lang="zh-CN" altLang="en-US" dirty="0">
                <a:latin typeface="+mj-ea"/>
                <a:ea typeface="+mj-ea"/>
              </a:rPr>
              <a:t>，如细菌感染</a:t>
            </a:r>
            <a:endParaRPr lang="zh-CN" altLang="zh-CN" dirty="0">
              <a:latin typeface="+mj-ea"/>
              <a:ea typeface="+mj-ea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15FA92F6-D574-4FB2-8DD0-98DCECEC36F5}"/>
              </a:ext>
            </a:extLst>
          </p:cNvPr>
          <p:cNvSpPr txBox="1">
            <a:spLocks noChangeArrowheads="1"/>
          </p:cNvSpPr>
          <p:nvPr/>
        </p:nvSpPr>
        <p:spPr>
          <a:xfrm>
            <a:off x="1731780" y="364970"/>
            <a:ext cx="5829300" cy="4868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zh-CN" sz="3600" b="1" dirty="0"/>
              <a:t>问题</a:t>
            </a:r>
            <a:r>
              <a:rPr lang="zh-CN" altLang="en-US" sz="3600" b="1" dirty="0"/>
              <a:t>的定义</a:t>
            </a:r>
            <a:endParaRPr lang="zh-CN" altLang="en-US" sz="3300" b="1" dirty="0">
              <a:latin typeface="+mj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78BD7F4-4732-4260-8D64-E62391777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9968" y="2772861"/>
            <a:ext cx="5239657" cy="1726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647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E1A7906-E38E-4D7F-ACC0-BAF470D3FE21}"/>
              </a:ext>
            </a:extLst>
          </p:cNvPr>
          <p:cNvSpPr/>
          <p:nvPr/>
        </p:nvSpPr>
        <p:spPr>
          <a:xfrm>
            <a:off x="6095218" y="2653288"/>
            <a:ext cx="945663" cy="32824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+mj-ea"/>
                <a:ea typeface="+mj-ea"/>
              </a:rPr>
              <a:t>症状</a:t>
            </a:r>
            <a:r>
              <a:rPr lang="en-US" altLang="zh-CN" dirty="0">
                <a:solidFill>
                  <a:schemeClr val="tx1"/>
                </a:solidFill>
                <a:latin typeface="+mj-ea"/>
                <a:ea typeface="+mj-ea"/>
              </a:rPr>
              <a:t>1</a:t>
            </a:r>
            <a:endParaRPr lang="zh-CN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D5E0509-DD8B-41D9-9E11-688545741F39}"/>
              </a:ext>
            </a:extLst>
          </p:cNvPr>
          <p:cNvSpPr/>
          <p:nvPr/>
        </p:nvSpPr>
        <p:spPr>
          <a:xfrm>
            <a:off x="6095218" y="3286334"/>
            <a:ext cx="945663" cy="32824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+mj-ea"/>
                <a:ea typeface="+mj-ea"/>
              </a:rPr>
              <a:t>症状</a:t>
            </a:r>
            <a:r>
              <a:rPr lang="en-US" altLang="zh-CN" dirty="0">
                <a:solidFill>
                  <a:schemeClr val="tx1"/>
                </a:solidFill>
                <a:latin typeface="+mj-ea"/>
                <a:ea typeface="+mj-ea"/>
              </a:rPr>
              <a:t>2</a:t>
            </a:r>
            <a:endParaRPr lang="zh-CN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96C406B-B7AB-41F8-B9ED-40DCBDB80AA0}"/>
              </a:ext>
            </a:extLst>
          </p:cNvPr>
          <p:cNvSpPr/>
          <p:nvPr/>
        </p:nvSpPr>
        <p:spPr>
          <a:xfrm>
            <a:off x="6095218" y="3962366"/>
            <a:ext cx="945663" cy="32824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+mj-ea"/>
                <a:ea typeface="+mj-ea"/>
              </a:rPr>
              <a:t>症状</a:t>
            </a:r>
            <a:r>
              <a:rPr lang="en-US" altLang="zh-CN" dirty="0">
                <a:solidFill>
                  <a:schemeClr val="tx1"/>
                </a:solidFill>
                <a:latin typeface="+mj-ea"/>
                <a:ea typeface="+mj-ea"/>
              </a:rPr>
              <a:t>n</a:t>
            </a:r>
            <a:endParaRPr lang="zh-CN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CA05ED6-4ABD-4791-82C5-CF17A11820C5}"/>
              </a:ext>
            </a:extLst>
          </p:cNvPr>
          <p:cNvSpPr/>
          <p:nvPr/>
        </p:nvSpPr>
        <p:spPr>
          <a:xfrm>
            <a:off x="3883464" y="2614209"/>
            <a:ext cx="945663" cy="32824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+mj-ea"/>
                <a:ea typeface="+mj-ea"/>
              </a:rPr>
              <a:t>原因</a:t>
            </a:r>
            <a:r>
              <a:rPr lang="en-US" altLang="zh-CN" dirty="0">
                <a:solidFill>
                  <a:schemeClr val="tx1"/>
                </a:solidFill>
                <a:latin typeface="+mj-ea"/>
                <a:ea typeface="+mj-ea"/>
              </a:rPr>
              <a:t>1</a:t>
            </a:r>
            <a:endParaRPr lang="zh-CN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CB7BAD8-DC8C-495F-938C-C1A4BAB73101}"/>
              </a:ext>
            </a:extLst>
          </p:cNvPr>
          <p:cNvSpPr/>
          <p:nvPr/>
        </p:nvSpPr>
        <p:spPr>
          <a:xfrm>
            <a:off x="3883464" y="3247255"/>
            <a:ext cx="945663" cy="32824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+mj-ea"/>
                <a:ea typeface="+mj-ea"/>
              </a:rPr>
              <a:t>原因</a:t>
            </a:r>
            <a:r>
              <a:rPr lang="en-US" altLang="zh-CN" dirty="0">
                <a:solidFill>
                  <a:schemeClr val="tx1"/>
                </a:solidFill>
                <a:latin typeface="+mj-ea"/>
                <a:ea typeface="+mj-ea"/>
              </a:rPr>
              <a:t>2</a:t>
            </a:r>
            <a:endParaRPr lang="zh-CN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EA552B6-892D-456B-9092-5E584FCC137E}"/>
              </a:ext>
            </a:extLst>
          </p:cNvPr>
          <p:cNvSpPr/>
          <p:nvPr/>
        </p:nvSpPr>
        <p:spPr>
          <a:xfrm>
            <a:off x="3883464" y="3962366"/>
            <a:ext cx="945663" cy="32824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+mj-ea"/>
                <a:ea typeface="+mj-ea"/>
              </a:rPr>
              <a:t>原因</a:t>
            </a:r>
            <a:r>
              <a:rPr lang="en-US" altLang="zh-CN" dirty="0">
                <a:solidFill>
                  <a:schemeClr val="tx1"/>
                </a:solidFill>
                <a:latin typeface="+mj-ea"/>
                <a:ea typeface="+mj-ea"/>
              </a:rPr>
              <a:t>n</a:t>
            </a:r>
            <a:endParaRPr lang="zh-CN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8E081274-4844-4571-A876-6DC0335531B9}"/>
              </a:ext>
            </a:extLst>
          </p:cNvPr>
          <p:cNvCxnSpPr>
            <a:stCxn id="5" idx="3"/>
            <a:endCxn id="3" idx="1"/>
          </p:cNvCxnSpPr>
          <p:nvPr/>
        </p:nvCxnSpPr>
        <p:spPr>
          <a:xfrm>
            <a:off x="4829127" y="2778333"/>
            <a:ext cx="1266091" cy="672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6B49A736-D2BD-487F-9721-4DDAF3262FB3}"/>
              </a:ext>
            </a:extLst>
          </p:cNvPr>
          <p:cNvCxnSpPr>
            <a:stCxn id="6" idx="3"/>
            <a:endCxn id="2" idx="1"/>
          </p:cNvCxnSpPr>
          <p:nvPr/>
        </p:nvCxnSpPr>
        <p:spPr>
          <a:xfrm flipV="1">
            <a:off x="4829127" y="2817412"/>
            <a:ext cx="1266091" cy="5939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3109B926-0C62-4FEE-850B-2A0A4D281EB9}"/>
              </a:ext>
            </a:extLst>
          </p:cNvPr>
          <p:cNvCxnSpPr>
            <a:stCxn id="5" idx="3"/>
            <a:endCxn id="2" idx="1"/>
          </p:cNvCxnSpPr>
          <p:nvPr/>
        </p:nvCxnSpPr>
        <p:spPr>
          <a:xfrm>
            <a:off x="4829127" y="2778333"/>
            <a:ext cx="1266091" cy="39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B1F1BA17-E549-4F3C-8769-F529109E1FF7}"/>
              </a:ext>
            </a:extLst>
          </p:cNvPr>
          <p:cNvCxnSpPr>
            <a:stCxn id="5" idx="3"/>
            <a:endCxn id="4" idx="1"/>
          </p:cNvCxnSpPr>
          <p:nvPr/>
        </p:nvCxnSpPr>
        <p:spPr>
          <a:xfrm>
            <a:off x="4829127" y="2778333"/>
            <a:ext cx="1266091" cy="13481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5A4BE5F4-2CFE-4C93-AE2C-BFF715C4F666}"/>
              </a:ext>
            </a:extLst>
          </p:cNvPr>
          <p:cNvCxnSpPr>
            <a:stCxn id="6" idx="3"/>
            <a:endCxn id="3" idx="1"/>
          </p:cNvCxnSpPr>
          <p:nvPr/>
        </p:nvCxnSpPr>
        <p:spPr>
          <a:xfrm>
            <a:off x="4829127" y="3411379"/>
            <a:ext cx="1266091" cy="39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098A4927-A8FF-4008-8325-DC0A75F52D64}"/>
              </a:ext>
            </a:extLst>
          </p:cNvPr>
          <p:cNvCxnSpPr>
            <a:stCxn id="6" idx="3"/>
            <a:endCxn id="4" idx="1"/>
          </p:cNvCxnSpPr>
          <p:nvPr/>
        </p:nvCxnSpPr>
        <p:spPr>
          <a:xfrm>
            <a:off x="4829127" y="3411379"/>
            <a:ext cx="1266091" cy="7151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BD20E0CB-69DB-4D59-A357-5F7F88FB4806}"/>
              </a:ext>
            </a:extLst>
          </p:cNvPr>
          <p:cNvCxnSpPr>
            <a:stCxn id="7" idx="3"/>
            <a:endCxn id="3" idx="1"/>
          </p:cNvCxnSpPr>
          <p:nvPr/>
        </p:nvCxnSpPr>
        <p:spPr>
          <a:xfrm flipV="1">
            <a:off x="4829127" y="3450457"/>
            <a:ext cx="1266091" cy="676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998FFB50-EDC1-4F26-A9CE-4FAAD93D8B93}"/>
              </a:ext>
            </a:extLst>
          </p:cNvPr>
          <p:cNvCxnSpPr>
            <a:stCxn id="7" idx="3"/>
            <a:endCxn id="4" idx="1"/>
          </p:cNvCxnSpPr>
          <p:nvPr/>
        </p:nvCxnSpPr>
        <p:spPr>
          <a:xfrm>
            <a:off x="4829127" y="4126489"/>
            <a:ext cx="12660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AFFC61C3-18F9-410B-85AB-BE0644F118C1}"/>
              </a:ext>
            </a:extLst>
          </p:cNvPr>
          <p:cNvCxnSpPr>
            <a:stCxn id="7" idx="3"/>
            <a:endCxn id="2" idx="1"/>
          </p:cNvCxnSpPr>
          <p:nvPr/>
        </p:nvCxnSpPr>
        <p:spPr>
          <a:xfrm flipV="1">
            <a:off x="4829127" y="2817411"/>
            <a:ext cx="1266091" cy="1309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椭圆 37">
            <a:extLst>
              <a:ext uri="{FF2B5EF4-FFF2-40B4-BE49-F238E27FC236}">
                <a16:creationId xmlns:a16="http://schemas.microsoft.com/office/drawing/2014/main" id="{F0CDEBFF-5777-42FA-A8CD-0C37809996CD}"/>
              </a:ext>
            </a:extLst>
          </p:cNvPr>
          <p:cNvSpPr/>
          <p:nvPr/>
        </p:nvSpPr>
        <p:spPr>
          <a:xfrm>
            <a:off x="3477065" y="1899458"/>
            <a:ext cx="4098175" cy="3059084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3D6915B-6B49-4160-AC49-C688E32E705F}"/>
              </a:ext>
            </a:extLst>
          </p:cNvPr>
          <p:cNvSpPr/>
          <p:nvPr/>
        </p:nvSpPr>
        <p:spPr>
          <a:xfrm>
            <a:off x="6230211" y="4929449"/>
            <a:ext cx="881505" cy="40597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+mj-ea"/>
                <a:ea typeface="+mj-ea"/>
              </a:rPr>
              <a:t>症状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898FBE52-4A24-4DA3-BC04-8299DFCC228C}"/>
              </a:ext>
            </a:extLst>
          </p:cNvPr>
          <p:cNvSpPr/>
          <p:nvPr/>
        </p:nvSpPr>
        <p:spPr>
          <a:xfrm>
            <a:off x="3915542" y="4863658"/>
            <a:ext cx="881505" cy="40597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+mj-ea"/>
                <a:ea typeface="+mj-ea"/>
              </a:rPr>
              <a:t>原因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B5E1742D-6E19-4071-BC5B-D71A0AA7F096}"/>
              </a:ext>
            </a:extLst>
          </p:cNvPr>
          <p:cNvSpPr/>
          <p:nvPr/>
        </p:nvSpPr>
        <p:spPr>
          <a:xfrm>
            <a:off x="6568049" y="1899458"/>
            <a:ext cx="820615" cy="40597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+mj-ea"/>
                <a:ea typeface="+mj-ea"/>
              </a:rPr>
              <a:t>情境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8533F0F7-E9DD-49F1-B680-11335103A316}"/>
              </a:ext>
            </a:extLst>
          </p:cNvPr>
          <p:cNvSpPr/>
          <p:nvPr/>
        </p:nvSpPr>
        <p:spPr>
          <a:xfrm>
            <a:off x="4906497" y="2083192"/>
            <a:ext cx="1188721" cy="40597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+mj-ea"/>
                <a:ea typeface="+mj-ea"/>
              </a:rPr>
              <a:t>边界条件</a:t>
            </a:r>
          </a:p>
        </p:txBody>
      </p:sp>
      <p:sp>
        <p:nvSpPr>
          <p:cNvPr id="22" name="标题 1">
            <a:extLst>
              <a:ext uri="{FF2B5EF4-FFF2-40B4-BE49-F238E27FC236}">
                <a16:creationId xmlns:a16="http://schemas.microsoft.com/office/drawing/2014/main" id="{3E4CC268-D2D0-4683-999F-1960C9E0141B}"/>
              </a:ext>
            </a:extLst>
          </p:cNvPr>
          <p:cNvSpPr txBox="1">
            <a:spLocks noChangeArrowheads="1"/>
          </p:cNvSpPr>
          <p:nvPr/>
        </p:nvSpPr>
        <p:spPr>
          <a:xfrm>
            <a:off x="1731780" y="364970"/>
            <a:ext cx="5829300" cy="4868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zh-CN" sz="3600" b="1" dirty="0"/>
              <a:t>问题</a:t>
            </a:r>
            <a:r>
              <a:rPr lang="zh-CN" altLang="en-US" sz="3600" b="1" dirty="0"/>
              <a:t>的定义</a:t>
            </a:r>
            <a:endParaRPr lang="zh-CN" altLang="en-US" sz="330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419340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0F37500-6E85-48DA-86BF-CADE5177758A}"/>
              </a:ext>
            </a:extLst>
          </p:cNvPr>
          <p:cNvSpPr/>
          <p:nvPr/>
        </p:nvSpPr>
        <p:spPr>
          <a:xfrm>
            <a:off x="391886" y="1251482"/>
            <a:ext cx="10905109" cy="3873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en-US" altLang="zh-CN" sz="2000" b="1" dirty="0">
                <a:latin typeface="+mj-ea"/>
                <a:ea typeface="+mj-ea"/>
              </a:rPr>
              <a:t>1</a:t>
            </a:r>
            <a:r>
              <a:rPr lang="zh-CN" altLang="en-US" sz="2000" b="1" dirty="0">
                <a:latin typeface="+mj-ea"/>
                <a:ea typeface="+mj-ea"/>
              </a:rPr>
              <a:t>、</a:t>
            </a:r>
            <a:r>
              <a:rPr lang="zh-CN" altLang="zh-CN" sz="2000" b="1" dirty="0">
                <a:latin typeface="+mj-ea"/>
                <a:ea typeface="+mj-ea"/>
              </a:rPr>
              <a:t>揭示现象症状的成因</a:t>
            </a:r>
            <a:endParaRPr lang="zh-CN" altLang="zh-CN" sz="2000" dirty="0">
              <a:latin typeface="+mj-ea"/>
              <a:ea typeface="+mj-ea"/>
            </a:endParaRPr>
          </a:p>
          <a:p>
            <a:pPr marL="342900" lvl="1" indent="-342900">
              <a:lnSpc>
                <a:spcPct val="125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zh-CN" sz="2000" dirty="0">
                <a:latin typeface="+mj-ea"/>
                <a:ea typeface="+mj-ea"/>
              </a:rPr>
              <a:t>通过问题呈现揭示症状现象背后的</a:t>
            </a:r>
            <a:r>
              <a:rPr lang="zh-CN" altLang="en-US" sz="2000" dirty="0">
                <a:latin typeface="+mj-ea"/>
                <a:ea typeface="+mj-ea"/>
              </a:rPr>
              <a:t>原因</a:t>
            </a:r>
            <a:r>
              <a:rPr lang="zh-CN" altLang="zh-CN" sz="2000" dirty="0">
                <a:latin typeface="+mj-ea"/>
                <a:ea typeface="+mj-ea"/>
              </a:rPr>
              <a:t>，抓住主要矛盾，以改进现实。</a:t>
            </a:r>
          </a:p>
          <a:p>
            <a:pPr>
              <a:spcBef>
                <a:spcPts val="300"/>
              </a:spcBef>
            </a:pPr>
            <a:r>
              <a:rPr lang="en-US" altLang="zh-CN" sz="2000" b="1" dirty="0">
                <a:latin typeface="+mj-ea"/>
                <a:ea typeface="+mj-ea"/>
              </a:rPr>
              <a:t>2</a:t>
            </a:r>
            <a:r>
              <a:rPr lang="zh-CN" altLang="en-US" sz="2000" b="1" dirty="0">
                <a:latin typeface="+mj-ea"/>
                <a:ea typeface="+mj-ea"/>
              </a:rPr>
              <a:t>、</a:t>
            </a:r>
            <a:r>
              <a:rPr lang="zh-CN" altLang="zh-CN" sz="2000" b="1" dirty="0">
                <a:latin typeface="+mj-ea"/>
                <a:ea typeface="+mj-ea"/>
              </a:rPr>
              <a:t>凝聚共识</a:t>
            </a:r>
            <a:endParaRPr lang="zh-CN" altLang="zh-CN" sz="2000" dirty="0">
              <a:latin typeface="+mj-ea"/>
              <a:ea typeface="+mj-ea"/>
            </a:endParaRPr>
          </a:p>
          <a:p>
            <a:pPr marL="342900" lvl="1" indent="-342900">
              <a:lnSpc>
                <a:spcPct val="125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zh-CN" sz="2000" dirty="0">
                <a:latin typeface="+mj-ea"/>
                <a:ea typeface="+mj-ea"/>
              </a:rPr>
              <a:t>问题能引导资源的聚集和凝聚共识。</a:t>
            </a:r>
            <a:endParaRPr lang="en-US" altLang="zh-CN" sz="2000" dirty="0">
              <a:latin typeface="+mj-ea"/>
              <a:ea typeface="+mj-ea"/>
            </a:endParaRPr>
          </a:p>
          <a:p>
            <a:pPr>
              <a:spcBef>
                <a:spcPts val="300"/>
              </a:spcBef>
            </a:pPr>
            <a:r>
              <a:rPr lang="en-US" altLang="zh-CN" sz="2000" b="1" dirty="0">
                <a:latin typeface="+mj-ea"/>
                <a:ea typeface="+mj-ea"/>
              </a:rPr>
              <a:t>3</a:t>
            </a:r>
            <a:r>
              <a:rPr lang="zh-CN" altLang="en-US" sz="2000" b="1" dirty="0">
                <a:latin typeface="+mj-ea"/>
                <a:ea typeface="+mj-ea"/>
              </a:rPr>
              <a:t>、</a:t>
            </a:r>
            <a:r>
              <a:rPr lang="zh-CN" altLang="zh-CN" sz="2000" b="1" dirty="0">
                <a:latin typeface="+mj-ea"/>
                <a:ea typeface="+mj-ea"/>
              </a:rPr>
              <a:t>提高解决方案搜寻的效率</a:t>
            </a:r>
            <a:endParaRPr lang="zh-CN" altLang="zh-CN" sz="2000" dirty="0">
              <a:latin typeface="+mj-ea"/>
              <a:ea typeface="+mj-ea"/>
            </a:endParaRPr>
          </a:p>
          <a:p>
            <a:pPr marL="342900" lvl="1" indent="-342900">
              <a:lnSpc>
                <a:spcPct val="125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zh-CN" sz="2000" dirty="0">
                <a:latin typeface="+mj-ea"/>
                <a:ea typeface="+mj-ea"/>
              </a:rPr>
              <a:t>呈现问题有助于提高搜寻的效率</a:t>
            </a:r>
            <a:r>
              <a:rPr lang="zh-CN" altLang="en-US" sz="2000" dirty="0">
                <a:latin typeface="+mj-ea"/>
                <a:ea typeface="+mj-ea"/>
              </a:rPr>
              <a:t>，</a:t>
            </a:r>
            <a:r>
              <a:rPr lang="zh-CN" altLang="zh-CN" sz="2000" dirty="0">
                <a:latin typeface="+mj-ea"/>
                <a:ea typeface="+mj-ea"/>
              </a:rPr>
              <a:t>能帮助组织更有效</a:t>
            </a:r>
            <a:r>
              <a:rPr lang="zh-CN" altLang="en-US" sz="2000" dirty="0">
                <a:latin typeface="+mj-ea"/>
                <a:ea typeface="+mj-ea"/>
              </a:rPr>
              <a:t>地</a:t>
            </a:r>
            <a:r>
              <a:rPr lang="zh-CN" altLang="zh-CN" sz="2000" dirty="0">
                <a:latin typeface="+mj-ea"/>
                <a:ea typeface="+mj-ea"/>
              </a:rPr>
              <a:t>确定当前存在的重点难题，以此来辅助实现解决方案。</a:t>
            </a:r>
          </a:p>
          <a:p>
            <a:pPr>
              <a:spcBef>
                <a:spcPts val="300"/>
              </a:spcBef>
            </a:pPr>
            <a:r>
              <a:rPr lang="en-US" altLang="zh-CN" sz="2000" b="1" dirty="0">
                <a:latin typeface="+mj-ea"/>
                <a:ea typeface="+mj-ea"/>
              </a:rPr>
              <a:t>4</a:t>
            </a:r>
            <a:r>
              <a:rPr lang="zh-CN" altLang="en-US" sz="2000" b="1" dirty="0">
                <a:latin typeface="+mj-ea"/>
                <a:ea typeface="+mj-ea"/>
              </a:rPr>
              <a:t>、</a:t>
            </a:r>
            <a:r>
              <a:rPr lang="zh-CN" altLang="zh-CN" sz="2000" b="1" dirty="0">
                <a:latin typeface="+mj-ea"/>
                <a:ea typeface="+mj-ea"/>
              </a:rPr>
              <a:t>指导解决方案的评估</a:t>
            </a:r>
            <a:endParaRPr lang="zh-CN" altLang="zh-CN" sz="2000" dirty="0">
              <a:latin typeface="+mj-ea"/>
              <a:ea typeface="+mj-ea"/>
            </a:endParaRPr>
          </a:p>
          <a:p>
            <a:pPr marL="342900" lvl="1" indent="-342900">
              <a:lnSpc>
                <a:spcPct val="125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zh-CN" sz="2000" dirty="0">
                <a:latin typeface="+mj-ea"/>
                <a:ea typeface="+mj-ea"/>
              </a:rPr>
              <a:t>对解决方案的评估侧重于如何能有效地解决问题，因此问题的清晰呈现将有助于从特定的维度来评估解决方案。</a:t>
            </a: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8C11D66C-E002-4DE8-8A3E-B61EEFA42552}"/>
              </a:ext>
            </a:extLst>
          </p:cNvPr>
          <p:cNvSpPr txBox="1">
            <a:spLocks noChangeArrowheads="1"/>
          </p:cNvSpPr>
          <p:nvPr/>
        </p:nvSpPr>
        <p:spPr>
          <a:xfrm>
            <a:off x="1731781" y="433971"/>
            <a:ext cx="5829300" cy="4868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zh-CN" sz="3600" b="1" dirty="0"/>
              <a:t>问题呈现的重要性</a:t>
            </a:r>
            <a:endParaRPr lang="zh-CN" altLang="en-US" sz="3600" b="1" dirty="0"/>
          </a:p>
        </p:txBody>
      </p:sp>
      <p:sp>
        <p:nvSpPr>
          <p:cNvPr id="4" name="矩形 3"/>
          <p:cNvSpPr/>
          <p:nvPr/>
        </p:nvSpPr>
        <p:spPr>
          <a:xfrm>
            <a:off x="706583" y="5331422"/>
            <a:ext cx="10375074" cy="109260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114300" lvl="1" algn="just">
              <a:spcBef>
                <a:spcPts val="600"/>
              </a:spcBef>
            </a:pPr>
            <a:r>
              <a:rPr lang="zh-CN" altLang="en-US" sz="2000" b="1" dirty="0">
                <a:solidFill>
                  <a:srgbClr val="FF0000"/>
                </a:solidFill>
                <a:latin typeface="+mj-ea"/>
                <a:ea typeface="+mj-ea"/>
                <a:cs typeface="宋体" panose="02010600030101010101" pitchFamily="2" charset="-122"/>
              </a:rPr>
              <a:t>案例：华佗问诊</a:t>
            </a:r>
            <a:endParaRPr lang="en-US" altLang="zh-CN" sz="2000" b="1" dirty="0">
              <a:solidFill>
                <a:srgbClr val="FF0000"/>
              </a:solidFill>
              <a:latin typeface="+mj-ea"/>
              <a:ea typeface="+mj-ea"/>
              <a:cs typeface="宋体" panose="02010600030101010101" pitchFamily="2" charset="-122"/>
            </a:endParaRPr>
          </a:p>
          <a:p>
            <a:pPr marL="114300" lvl="1" algn="just">
              <a:spcBef>
                <a:spcPts val="600"/>
              </a:spcBef>
            </a:pPr>
            <a:r>
              <a:rPr lang="zh-CN" altLang="en-US" sz="2000" dirty="0">
                <a:solidFill>
                  <a:srgbClr val="333333"/>
                </a:solidFill>
                <a:latin typeface="+mj-ea"/>
                <a:ea typeface="+mj-ea"/>
                <a:cs typeface="宋体" panose="02010600030101010101" pitchFamily="2" charset="-122"/>
              </a:rPr>
              <a:t>府吏倪寻、李延共止，俱头痛身热，所苦正同。佗曰：“寻当下之，延当发汗。”或难其异，佗曰：“寻外实，延内实，故治之宜殊。”即各与药，明旦并起。</a:t>
            </a:r>
            <a:endParaRPr lang="en-US" altLang="zh-CN" sz="2000" dirty="0">
              <a:solidFill>
                <a:srgbClr val="333333"/>
              </a:solidFill>
              <a:latin typeface="+mj-ea"/>
              <a:ea typeface="+mj-ea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95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0F37500-6E85-48DA-86BF-CADE5177758A}"/>
              </a:ext>
            </a:extLst>
          </p:cNvPr>
          <p:cNvSpPr/>
          <p:nvPr/>
        </p:nvSpPr>
        <p:spPr>
          <a:xfrm>
            <a:off x="415636" y="1251482"/>
            <a:ext cx="10806545" cy="15927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en-US" altLang="zh-CN" sz="2000" b="1" dirty="0">
                <a:latin typeface="+mj-ea"/>
                <a:ea typeface="+mj-ea"/>
              </a:rPr>
              <a:t>1</a:t>
            </a:r>
            <a:r>
              <a:rPr lang="zh-CN" altLang="en-US" sz="2000" b="1" dirty="0">
                <a:latin typeface="+mj-ea"/>
                <a:ea typeface="+mj-ea"/>
              </a:rPr>
              <a:t>、</a:t>
            </a:r>
            <a:r>
              <a:rPr lang="zh-CN" altLang="zh-CN" sz="2000" b="1" dirty="0">
                <a:latin typeface="+mj-ea"/>
                <a:ea typeface="+mj-ea"/>
              </a:rPr>
              <a:t>提供一个分析视角</a:t>
            </a:r>
            <a:endParaRPr lang="zh-CN" altLang="zh-CN" sz="2000" dirty="0">
              <a:latin typeface="+mj-ea"/>
              <a:ea typeface="+mj-ea"/>
            </a:endParaRPr>
          </a:p>
          <a:p>
            <a:pPr marL="342900" lvl="1" indent="-342900">
              <a:lnSpc>
                <a:spcPct val="125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zh-CN" sz="2000" dirty="0">
                <a:latin typeface="+mj-ea"/>
                <a:ea typeface="+mj-ea"/>
              </a:rPr>
              <a:t>问题分析存在多种角度</a:t>
            </a:r>
            <a:r>
              <a:rPr lang="zh-CN" altLang="en-US" sz="2000" dirty="0">
                <a:latin typeface="+mj-ea"/>
                <a:ea typeface="+mj-ea"/>
              </a:rPr>
              <a:t>，</a:t>
            </a:r>
            <a:r>
              <a:rPr lang="zh-CN" altLang="zh-CN" sz="2000" dirty="0">
                <a:latin typeface="+mj-ea"/>
                <a:ea typeface="+mj-ea"/>
              </a:rPr>
              <a:t>不同的角度分析，所呈现的结果也存在一定的差异性。</a:t>
            </a:r>
            <a:endParaRPr lang="en-US" altLang="zh-CN" sz="2000" dirty="0">
              <a:latin typeface="+mj-ea"/>
              <a:ea typeface="+mj-ea"/>
            </a:endParaRPr>
          </a:p>
          <a:p>
            <a:pPr marL="342900" lvl="1" indent="-342900">
              <a:lnSpc>
                <a:spcPct val="125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zh-CN" sz="2000" dirty="0">
                <a:latin typeface="+mj-ea"/>
                <a:ea typeface="+mj-ea"/>
              </a:rPr>
              <a:t>如对工程成本超支</a:t>
            </a:r>
            <a:r>
              <a:rPr lang="zh-CN" altLang="en-US" sz="2000" dirty="0">
                <a:latin typeface="+mj-ea"/>
                <a:ea typeface="+mj-ea"/>
              </a:rPr>
              <a:t>的分析</a:t>
            </a:r>
            <a:r>
              <a:rPr lang="zh-CN" altLang="zh-CN" sz="2000" dirty="0">
                <a:latin typeface="+mj-ea"/>
                <a:ea typeface="+mj-ea"/>
              </a:rPr>
              <a:t>，可从决策、管理、工程技术复杂性等多角度进行</a:t>
            </a:r>
            <a:endParaRPr lang="en-US" altLang="zh-CN" sz="2000" dirty="0">
              <a:latin typeface="+mj-ea"/>
              <a:ea typeface="+mj-ea"/>
            </a:endParaRPr>
          </a:p>
          <a:p>
            <a:pPr>
              <a:spcBef>
                <a:spcPts val="300"/>
              </a:spcBef>
            </a:pPr>
            <a:endParaRPr lang="en-US" altLang="zh-CN" sz="2000" b="1" dirty="0"/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8C11D66C-E002-4DE8-8A3E-B61EEFA42552}"/>
              </a:ext>
            </a:extLst>
          </p:cNvPr>
          <p:cNvSpPr txBox="1">
            <a:spLocks noChangeArrowheads="1"/>
          </p:cNvSpPr>
          <p:nvPr/>
        </p:nvSpPr>
        <p:spPr>
          <a:xfrm>
            <a:off x="1700679" y="450597"/>
            <a:ext cx="6506754" cy="4868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zh-CN" sz="3600" b="1" dirty="0"/>
              <a:t>理论在问题</a:t>
            </a:r>
            <a:r>
              <a:rPr lang="zh-CN" altLang="en-US" sz="3600" b="1" dirty="0"/>
              <a:t>分析</a:t>
            </a:r>
            <a:r>
              <a:rPr lang="zh-CN" altLang="zh-CN" sz="3600" b="1" dirty="0"/>
              <a:t>和呈现的作用</a:t>
            </a:r>
            <a:endParaRPr lang="zh-CN" altLang="en-US" sz="36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8E124CD-D2CF-4A69-AE9A-5620979B2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2146" y="2882189"/>
            <a:ext cx="4808997" cy="2251914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FF5A17A-47F4-44FE-97E6-68DA53BB720A}"/>
              </a:ext>
            </a:extLst>
          </p:cNvPr>
          <p:cNvSpPr/>
          <p:nvPr/>
        </p:nvSpPr>
        <p:spPr>
          <a:xfrm>
            <a:off x="620486" y="5761072"/>
            <a:ext cx="10657113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+mj-ea"/>
                <a:ea typeface="+mj-ea"/>
              </a:rPr>
              <a:t>熟练掌握理论是研究者区别于实践人员的重要特征。通常实践者关注特定现象（如一棵树），而研究者更关心普遍层面问题（如一片森林）</a:t>
            </a:r>
            <a:r>
              <a:rPr lang="en-US" altLang="zh-CN" dirty="0">
                <a:solidFill>
                  <a:srgbClr val="000000"/>
                </a:solidFill>
                <a:latin typeface="+mj-ea"/>
                <a:ea typeface="+mj-ea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+mj-ea"/>
                <a:ea typeface="+mj-ea"/>
              </a:rPr>
              <a:t>Makadok</a:t>
            </a:r>
            <a:r>
              <a:rPr lang="en-US" altLang="zh-CN" dirty="0">
                <a:solidFill>
                  <a:srgbClr val="000000"/>
                </a:solidFill>
                <a:latin typeface="+mj-ea"/>
                <a:ea typeface="+mj-ea"/>
              </a:rPr>
              <a:t>, Burton, &amp; Barney, 2018)</a:t>
            </a:r>
            <a:r>
              <a:rPr lang="zh-CN" altLang="en-US" dirty="0">
                <a:solidFill>
                  <a:srgbClr val="000000"/>
                </a:solidFill>
                <a:latin typeface="+mj-ea"/>
                <a:ea typeface="+mj-ea"/>
              </a:rPr>
              <a:t>。</a:t>
            </a:r>
            <a:endParaRPr lang="zh-CN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680438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46AA43E8-4EC6-43BA-AA4D-615A1586A2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94214" y="2077437"/>
          <a:ext cx="6291943" cy="32018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Visio" r:id="rId3" imgW="2607185" imgH="1333585" progId="Visio.Drawing.15">
                  <p:embed/>
                </p:oleObj>
              </mc:Choice>
              <mc:Fallback>
                <p:oleObj name="Visio" r:id="rId3" imgW="2607185" imgH="1333585" progId="Visio.Drawing.15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46AA43E8-4EC6-43BA-AA4D-615A1586A2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4214" y="2077437"/>
                        <a:ext cx="6291943" cy="320188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E8D32F0F-BD4F-4B21-96DD-FE20AE71E746}"/>
              </a:ext>
            </a:extLst>
          </p:cNvPr>
          <p:cNvSpPr/>
          <p:nvPr/>
        </p:nvSpPr>
        <p:spPr>
          <a:xfrm>
            <a:off x="8288186" y="3295205"/>
            <a:ext cx="2503714" cy="6008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b="1" dirty="0">
                <a:solidFill>
                  <a:schemeClr val="tx1"/>
                </a:solidFill>
                <a:highlight>
                  <a:srgbClr val="FFFF00"/>
                </a:highlight>
              </a:rPr>
              <a:t>考虑特殊性</a:t>
            </a:r>
            <a:endParaRPr lang="en-US" altLang="zh-CN" sz="3200" b="1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01A903F-DF6A-45D6-825A-BDB80433F9FF}"/>
              </a:ext>
            </a:extLst>
          </p:cNvPr>
          <p:cNvSpPr/>
          <p:nvPr/>
        </p:nvSpPr>
        <p:spPr>
          <a:xfrm>
            <a:off x="1027415" y="3377935"/>
            <a:ext cx="2503714" cy="6008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b="1" dirty="0">
                <a:solidFill>
                  <a:schemeClr val="tx1"/>
                </a:solidFill>
                <a:highlight>
                  <a:srgbClr val="FFFF00"/>
                </a:highlight>
              </a:rPr>
              <a:t>考虑一般性</a:t>
            </a:r>
            <a:endParaRPr lang="en-US" altLang="zh-CN" sz="3200" b="1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63EBD666-1BB5-470D-9E9E-9CE5E299EA10}"/>
              </a:ext>
            </a:extLst>
          </p:cNvPr>
          <p:cNvSpPr txBox="1">
            <a:spLocks noChangeArrowheads="1"/>
          </p:cNvSpPr>
          <p:nvPr/>
        </p:nvSpPr>
        <p:spPr>
          <a:xfrm>
            <a:off x="1700679" y="450597"/>
            <a:ext cx="6506754" cy="4868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zh-CN" sz="3600" b="1" dirty="0"/>
              <a:t>理论在问题</a:t>
            </a:r>
            <a:r>
              <a:rPr lang="zh-CN" altLang="en-US" sz="3600" b="1" dirty="0"/>
              <a:t>分析</a:t>
            </a:r>
            <a:r>
              <a:rPr lang="zh-CN" altLang="zh-CN" sz="3600" b="1" dirty="0"/>
              <a:t>和呈现的作用</a:t>
            </a:r>
            <a:endParaRPr lang="zh-CN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262751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8883D2A-1775-46E4-9961-BE20F791BB29}"/>
              </a:ext>
            </a:extLst>
          </p:cNvPr>
          <p:cNvSpPr/>
          <p:nvPr/>
        </p:nvSpPr>
        <p:spPr>
          <a:xfrm>
            <a:off x="365760" y="1217751"/>
            <a:ext cx="9545782" cy="12188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latin typeface="+mj-ea"/>
                <a:ea typeface="+mj-ea"/>
              </a:rPr>
              <a:t>Kerzner</a:t>
            </a:r>
            <a:r>
              <a:rPr lang="zh-CN" altLang="en-US" sz="2000" dirty="0">
                <a:solidFill>
                  <a:srgbClr val="000000"/>
                </a:solidFill>
                <a:latin typeface="+mj-ea"/>
                <a:ea typeface="+mj-ea"/>
              </a:rPr>
              <a:t>：项目成熟度模型（</a:t>
            </a:r>
            <a:r>
              <a:rPr lang="en-US" altLang="zh-CN" sz="2000" dirty="0">
                <a:solidFill>
                  <a:srgbClr val="000000"/>
                </a:solidFill>
                <a:latin typeface="+mj-ea"/>
                <a:ea typeface="+mj-ea"/>
              </a:rPr>
              <a:t>K-PMMM</a:t>
            </a:r>
            <a:r>
              <a:rPr lang="zh-CN" altLang="en-US" sz="2000" dirty="0">
                <a:solidFill>
                  <a:srgbClr val="000000"/>
                </a:solidFill>
                <a:latin typeface="+mj-ea"/>
                <a:ea typeface="+mj-ea"/>
              </a:rPr>
              <a:t>）</a:t>
            </a:r>
            <a:endParaRPr lang="en-US" altLang="zh-CN" sz="2000" dirty="0">
              <a:solidFill>
                <a:srgbClr val="000000"/>
              </a:solidFill>
              <a:latin typeface="+mj-ea"/>
              <a:ea typeface="+mj-ea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00"/>
                </a:solidFill>
                <a:latin typeface="+mj-ea"/>
                <a:ea typeface="+mj-ea"/>
              </a:rPr>
              <a:t>软件工程学会（</a:t>
            </a:r>
            <a:r>
              <a:rPr lang="en-US" altLang="zh-CN" sz="2000" dirty="0">
                <a:solidFill>
                  <a:srgbClr val="000000"/>
                </a:solidFill>
                <a:latin typeface="+mj-ea"/>
                <a:ea typeface="+mj-ea"/>
              </a:rPr>
              <a:t>SEI</a:t>
            </a:r>
            <a:r>
              <a:rPr lang="zh-CN" altLang="en-US" sz="2000" dirty="0">
                <a:solidFill>
                  <a:srgbClr val="000000"/>
                </a:solidFill>
                <a:latin typeface="+mj-ea"/>
                <a:ea typeface="+mj-ea"/>
              </a:rPr>
              <a:t>）：</a:t>
            </a:r>
            <a:r>
              <a:rPr lang="en-US" altLang="zh-CN" sz="2000" dirty="0">
                <a:solidFill>
                  <a:srgbClr val="000000"/>
                </a:solidFill>
                <a:latin typeface="+mj-ea"/>
                <a:ea typeface="+mj-ea"/>
              </a:rPr>
              <a:t>CMMI</a:t>
            </a:r>
            <a:r>
              <a:rPr lang="zh-CN" altLang="en-US" sz="2000" dirty="0">
                <a:solidFill>
                  <a:srgbClr val="000000"/>
                </a:solidFill>
                <a:latin typeface="+mj-ea"/>
                <a:ea typeface="+mj-ea"/>
              </a:rPr>
              <a:t>模型</a:t>
            </a:r>
            <a:endParaRPr lang="en-US" altLang="zh-CN" sz="2000" dirty="0">
              <a:solidFill>
                <a:srgbClr val="000000"/>
              </a:solidFill>
              <a:latin typeface="+mj-ea"/>
              <a:ea typeface="+mj-ea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00"/>
                </a:solidFill>
                <a:latin typeface="+mj-ea"/>
                <a:ea typeface="+mj-ea"/>
              </a:rPr>
              <a:t>美国项目管理学会</a:t>
            </a:r>
            <a:r>
              <a:rPr lang="en-US" altLang="zh-CN" sz="2000" dirty="0">
                <a:solidFill>
                  <a:srgbClr val="000000"/>
                </a:solidFill>
                <a:latin typeface="+mj-ea"/>
                <a:ea typeface="+mj-ea"/>
              </a:rPr>
              <a:t>PMI</a:t>
            </a:r>
            <a:r>
              <a:rPr lang="zh-CN" altLang="en-US" sz="2000" dirty="0">
                <a:solidFill>
                  <a:srgbClr val="000000"/>
                </a:solidFill>
                <a:latin typeface="+mj-ea"/>
                <a:ea typeface="+mj-ea"/>
              </a:rPr>
              <a:t>：项目管理成熟度模型</a:t>
            </a:r>
            <a:r>
              <a:rPr lang="en-US" altLang="zh-CN" sz="2000" dirty="0">
                <a:solidFill>
                  <a:srgbClr val="000000"/>
                </a:solidFill>
                <a:latin typeface="+mj-ea"/>
                <a:ea typeface="+mj-ea"/>
              </a:rPr>
              <a:t>(OPM3)</a:t>
            </a:r>
            <a:endParaRPr lang="zh-CN" altLang="en-US" sz="2000" dirty="0">
              <a:latin typeface="+mj-ea"/>
              <a:ea typeface="+mj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F533484-4419-4BA0-82F7-AA039B717884}"/>
              </a:ext>
            </a:extLst>
          </p:cNvPr>
          <p:cNvSpPr/>
          <p:nvPr/>
        </p:nvSpPr>
        <p:spPr>
          <a:xfrm>
            <a:off x="448887" y="3429001"/>
            <a:ext cx="10856422" cy="230832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b="1" kern="100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案例：</a:t>
            </a:r>
            <a:r>
              <a:rPr lang="en-US" altLang="zh-CN" b="1" kern="100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CMMI</a:t>
            </a:r>
          </a:p>
          <a:p>
            <a:r>
              <a:rPr lang="en-US" altLang="zh-CN" kern="100" dirty="0">
                <a:latin typeface="+mj-ea"/>
                <a:ea typeface="+mj-ea"/>
                <a:cs typeface="Times New Roman" panose="02020603050405020304" pitchFamily="18" charset="0"/>
              </a:rPr>
              <a:t>CMMI2.0</a:t>
            </a: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能力成熟度分为</a:t>
            </a:r>
            <a:r>
              <a:rPr lang="en-US" altLang="zh-CN" kern="100" dirty="0">
                <a:latin typeface="+mj-ea"/>
                <a:ea typeface="+mj-ea"/>
                <a:cs typeface="Times New Roman" panose="02020603050405020304" pitchFamily="18" charset="0"/>
              </a:rPr>
              <a:t>6</a:t>
            </a: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个级别，最高为</a:t>
            </a:r>
            <a:r>
              <a:rPr lang="en-US" altLang="zh-CN" kern="100" dirty="0">
                <a:latin typeface="+mj-ea"/>
                <a:ea typeface="+mj-ea"/>
                <a:cs typeface="Times New Roman" panose="02020603050405020304" pitchFamily="18" charset="0"/>
              </a:rPr>
              <a:t>5</a:t>
            </a: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级。等级越高代表能力成熟度越高，</a:t>
            </a:r>
            <a:endParaRPr lang="en-US" altLang="zh-CN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kern="100" dirty="0">
                <a:latin typeface="+mj-ea"/>
                <a:ea typeface="+mj-ea"/>
                <a:cs typeface="Times New Roman" panose="02020603050405020304" pitchFamily="18" charset="0"/>
              </a:rPr>
              <a:t>0</a:t>
            </a: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级无法确定工作能否完成，是不完整级；</a:t>
            </a:r>
            <a:endParaRPr lang="en-US" altLang="zh-CN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kern="100" dirty="0">
                <a:latin typeface="+mj-ea"/>
                <a:ea typeface="+mj-ea"/>
                <a:cs typeface="Times New Roman" panose="02020603050405020304" pitchFamily="18" charset="0"/>
              </a:rPr>
              <a:t>1</a:t>
            </a: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级在</a:t>
            </a:r>
            <a:r>
              <a:rPr lang="en-US" altLang="zh-CN" kern="100" dirty="0">
                <a:latin typeface="+mj-ea"/>
                <a:ea typeface="+mj-ea"/>
                <a:cs typeface="Times New Roman" panose="02020603050405020304" pitchFamily="18" charset="0"/>
              </a:rPr>
              <a:t>0</a:t>
            </a: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级基础上提高，虽然有流程但是无序，是初始级；</a:t>
            </a:r>
            <a:endParaRPr lang="en-US" altLang="zh-CN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kern="100" dirty="0">
                <a:latin typeface="+mj-ea"/>
                <a:ea typeface="+mj-ea"/>
                <a:cs typeface="Times New Roman" panose="02020603050405020304" pitchFamily="18" charset="0"/>
              </a:rPr>
              <a:t>2</a:t>
            </a: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级进一步提高，项目有流程，但不是组织统一的流程，每个项目流程都不同，是可管理级；</a:t>
            </a:r>
            <a:endParaRPr lang="en-US" altLang="zh-CN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kern="100" dirty="0">
                <a:latin typeface="+mj-ea"/>
                <a:ea typeface="+mj-ea"/>
                <a:cs typeface="Times New Roman" panose="02020603050405020304" pitchFamily="18" charset="0"/>
              </a:rPr>
              <a:t>3</a:t>
            </a: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级是组织有流程定义，各个项目根据情况可以进行裁剪，是已定义级；</a:t>
            </a:r>
            <a:endParaRPr lang="en-US" altLang="zh-CN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kern="100" dirty="0">
                <a:latin typeface="+mj-ea"/>
                <a:ea typeface="+mj-ea"/>
                <a:cs typeface="Times New Roman" panose="02020603050405020304" pitchFamily="18" charset="0"/>
              </a:rPr>
              <a:t>4</a:t>
            </a: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级加入了量化技术用以客观的度量性能，是量化管理级；</a:t>
            </a:r>
            <a:endParaRPr lang="en-US" altLang="zh-CN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kern="100" dirty="0">
                <a:latin typeface="+mj-ea"/>
                <a:ea typeface="+mj-ea"/>
                <a:cs typeface="Times New Roman" panose="02020603050405020304" pitchFamily="18" charset="0"/>
              </a:rPr>
              <a:t>5</a:t>
            </a: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级则是在量化的基础上强调持续改进，是优化管理级。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68F17CEB-B3BA-4B9F-96EC-D17B6C3B6ACC}"/>
              </a:ext>
            </a:extLst>
          </p:cNvPr>
          <p:cNvSpPr txBox="1">
            <a:spLocks noChangeArrowheads="1"/>
          </p:cNvSpPr>
          <p:nvPr/>
        </p:nvSpPr>
        <p:spPr>
          <a:xfrm>
            <a:off x="1700679" y="450597"/>
            <a:ext cx="6506754" cy="4868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zh-CN" sz="3600" b="1" dirty="0"/>
              <a:t>理论在问题</a:t>
            </a:r>
            <a:r>
              <a:rPr lang="zh-CN" altLang="en-US" sz="3600" b="1" dirty="0"/>
              <a:t>分析</a:t>
            </a:r>
            <a:r>
              <a:rPr lang="zh-CN" altLang="zh-CN" sz="3600" b="1" dirty="0"/>
              <a:t>和呈现的作用</a:t>
            </a:r>
            <a:endParaRPr lang="zh-CN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4108346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5DBB2972-0B9B-49F2-83D3-92D9FC4F37A1}"/>
              </a:ext>
            </a:extLst>
          </p:cNvPr>
          <p:cNvSpPr txBox="1">
            <a:spLocks noChangeArrowheads="1"/>
          </p:cNvSpPr>
          <p:nvPr/>
        </p:nvSpPr>
        <p:spPr>
          <a:xfrm>
            <a:off x="1667427" y="388686"/>
            <a:ext cx="5829300" cy="4868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/>
              <a:t>问题呈现的步骤</a:t>
            </a:r>
          </a:p>
          <a:p>
            <a:endParaRPr lang="zh-CN" altLang="en-US" sz="3300" b="1" dirty="0">
              <a:latin typeface="+mj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FD50031-9E35-4E8C-9729-65F56CC13593}"/>
              </a:ext>
            </a:extLst>
          </p:cNvPr>
          <p:cNvSpPr/>
          <p:nvPr/>
        </p:nvSpPr>
        <p:spPr>
          <a:xfrm>
            <a:off x="1901342" y="1562385"/>
            <a:ext cx="1463040" cy="5818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+mj-ea"/>
                <a:ea typeface="+mj-ea"/>
              </a:rPr>
              <a:t>已有信息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7B5C638-8F91-4059-88F4-DC36ECB8CD59}"/>
              </a:ext>
            </a:extLst>
          </p:cNvPr>
          <p:cNvSpPr/>
          <p:nvPr/>
        </p:nvSpPr>
        <p:spPr>
          <a:xfrm>
            <a:off x="1901342" y="2886035"/>
            <a:ext cx="1463040" cy="7129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+mj-ea"/>
                <a:ea typeface="+mj-ea"/>
              </a:rPr>
              <a:t>初步的问题描述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E9F9C1F-98C1-447E-ACDE-41A5B0FF0E07}"/>
              </a:ext>
            </a:extLst>
          </p:cNvPr>
          <p:cNvSpPr/>
          <p:nvPr/>
        </p:nvSpPr>
        <p:spPr>
          <a:xfrm>
            <a:off x="4149098" y="2252270"/>
            <a:ext cx="1530310" cy="7417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+mj-ea"/>
                <a:ea typeface="+mj-ea"/>
              </a:rPr>
              <a:t>假设的</a:t>
            </a:r>
            <a:endParaRPr lang="en-US" altLang="zh-CN" sz="2400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/>
            <a:r>
              <a:rPr lang="zh-CN" altLang="en-US" sz="2400" dirty="0">
                <a:solidFill>
                  <a:schemeClr val="tx1"/>
                </a:solidFill>
                <a:latin typeface="+mj-ea"/>
                <a:ea typeface="+mj-ea"/>
              </a:rPr>
              <a:t>答案方向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9E52EF5D-BA19-47AF-BFFF-838A6C3F57CA}"/>
              </a:ext>
            </a:extLst>
          </p:cNvPr>
          <p:cNvSpPr/>
          <p:nvPr/>
        </p:nvSpPr>
        <p:spPr>
          <a:xfrm rot="2111247">
            <a:off x="3459981" y="2023147"/>
            <a:ext cx="681643" cy="290946"/>
          </a:xfrm>
          <a:prstGeom prst="rightArrow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FEF6D0F7-2D40-4FC7-A7E2-E40EA8AC8F7C}"/>
              </a:ext>
            </a:extLst>
          </p:cNvPr>
          <p:cNvSpPr/>
          <p:nvPr/>
        </p:nvSpPr>
        <p:spPr>
          <a:xfrm rot="20099690">
            <a:off x="3451987" y="2877378"/>
            <a:ext cx="681643" cy="290946"/>
          </a:xfrm>
          <a:prstGeom prst="rightArrow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F58D114-6073-415D-BA1A-EBDD9D9128A0}"/>
              </a:ext>
            </a:extLst>
          </p:cNvPr>
          <p:cNvSpPr/>
          <p:nvPr/>
        </p:nvSpPr>
        <p:spPr>
          <a:xfrm>
            <a:off x="6066019" y="2247249"/>
            <a:ext cx="873474" cy="7417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+mj-ea"/>
                <a:ea typeface="+mj-ea"/>
              </a:rPr>
              <a:t>收集信息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717DDAC-49E8-4AF0-8057-7B9E145CA06C}"/>
              </a:ext>
            </a:extLst>
          </p:cNvPr>
          <p:cNvSpPr/>
          <p:nvPr/>
        </p:nvSpPr>
        <p:spPr>
          <a:xfrm>
            <a:off x="7326104" y="2247248"/>
            <a:ext cx="1530310" cy="7417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+mj-ea"/>
                <a:ea typeface="+mj-ea"/>
              </a:rPr>
              <a:t>信息处理与分析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B9267B0-7686-422E-AF27-75A0921E82A6}"/>
              </a:ext>
            </a:extLst>
          </p:cNvPr>
          <p:cNvSpPr/>
          <p:nvPr/>
        </p:nvSpPr>
        <p:spPr>
          <a:xfrm>
            <a:off x="9357222" y="2242083"/>
            <a:ext cx="873474" cy="7417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+mj-ea"/>
                <a:ea typeface="+mj-ea"/>
              </a:rPr>
              <a:t>问题呈现</a:t>
            </a: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0B6C6A06-9FAF-4DBA-91F1-77D6A4EF393B}"/>
              </a:ext>
            </a:extLst>
          </p:cNvPr>
          <p:cNvSpPr/>
          <p:nvPr/>
        </p:nvSpPr>
        <p:spPr>
          <a:xfrm>
            <a:off x="5679409" y="2467488"/>
            <a:ext cx="379021" cy="290946"/>
          </a:xfrm>
          <a:prstGeom prst="rightArrow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3D44AA29-2C6F-4506-B29C-A3C2BB780A22}"/>
              </a:ext>
            </a:extLst>
          </p:cNvPr>
          <p:cNvSpPr/>
          <p:nvPr/>
        </p:nvSpPr>
        <p:spPr>
          <a:xfrm>
            <a:off x="6930422" y="2456001"/>
            <a:ext cx="379021" cy="290946"/>
          </a:xfrm>
          <a:prstGeom prst="rightArrow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85676B42-3CFE-4184-86C8-EFA7925284E0}"/>
              </a:ext>
            </a:extLst>
          </p:cNvPr>
          <p:cNvSpPr/>
          <p:nvPr/>
        </p:nvSpPr>
        <p:spPr>
          <a:xfrm>
            <a:off x="8920329" y="2456001"/>
            <a:ext cx="379021" cy="290946"/>
          </a:xfrm>
          <a:prstGeom prst="rightArrow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14" name="箭头: 手杖形 13">
            <a:extLst>
              <a:ext uri="{FF2B5EF4-FFF2-40B4-BE49-F238E27FC236}">
                <a16:creationId xmlns:a16="http://schemas.microsoft.com/office/drawing/2014/main" id="{611E4095-8083-4F7D-9E7B-966D3F81E7BC}"/>
              </a:ext>
            </a:extLst>
          </p:cNvPr>
          <p:cNvSpPr/>
          <p:nvPr/>
        </p:nvSpPr>
        <p:spPr>
          <a:xfrm rot="10800000">
            <a:off x="5144680" y="3069965"/>
            <a:ext cx="2716153" cy="345106"/>
          </a:xfrm>
          <a:prstGeom prst="uturnArrow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0054D5D-AD1B-4EFF-B1C6-70111D9B0740}"/>
              </a:ext>
            </a:extLst>
          </p:cNvPr>
          <p:cNvSpPr/>
          <p:nvPr/>
        </p:nvSpPr>
        <p:spPr>
          <a:xfrm>
            <a:off x="5846402" y="3491010"/>
            <a:ext cx="1308188" cy="4497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+mj-ea"/>
                <a:ea typeface="+mj-ea"/>
              </a:rPr>
              <a:t>验证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31BB1E8-E3FE-4957-9695-AEB1FF4BB2DD}"/>
              </a:ext>
            </a:extLst>
          </p:cNvPr>
          <p:cNvSpPr/>
          <p:nvPr/>
        </p:nvSpPr>
        <p:spPr>
          <a:xfrm>
            <a:off x="1700813" y="5205526"/>
            <a:ext cx="7957189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zh-CN" altLang="en-US" b="1" kern="100" dirty="0">
                <a:latin typeface="+mj-ea"/>
                <a:ea typeface="+mj-ea"/>
                <a:cs typeface="Times New Roman" panose="02020603050405020304" pitchFamily="18" charset="0"/>
              </a:rPr>
              <a:t>诊断治病</a:t>
            </a:r>
            <a:r>
              <a:rPr lang="zh-CN" altLang="en-US" kern="100" dirty="0">
                <a:latin typeface="+mj-ea"/>
                <a:ea typeface="+mj-ea"/>
                <a:cs typeface="Times New Roman" panose="02020603050405020304" pitchFamily="18" charset="0"/>
              </a:rPr>
              <a:t>：</a:t>
            </a:r>
            <a:endParaRPr lang="en-US" altLang="zh-CN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整体审察、全面收集病情、综合分析、病证结合</a:t>
            </a:r>
            <a:endParaRPr lang="en-US" altLang="zh-CN" kern="100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5176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5DBB2972-0B9B-49F2-83D3-92D9FC4F37A1}"/>
              </a:ext>
            </a:extLst>
          </p:cNvPr>
          <p:cNvSpPr txBox="1">
            <a:spLocks noChangeArrowheads="1"/>
          </p:cNvSpPr>
          <p:nvPr/>
        </p:nvSpPr>
        <p:spPr>
          <a:xfrm>
            <a:off x="1692366" y="409034"/>
            <a:ext cx="5829300" cy="4868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/>
              <a:t>一、</a:t>
            </a:r>
            <a:r>
              <a:rPr lang="zh-CN" altLang="zh-CN" sz="3600" b="1" dirty="0"/>
              <a:t>确定边界条件和范围</a:t>
            </a:r>
            <a:endParaRPr lang="zh-CN" altLang="en-US" sz="3600" b="1" dirty="0"/>
          </a:p>
          <a:p>
            <a:endParaRPr lang="zh-CN" altLang="en-US" sz="3300" b="1" dirty="0">
              <a:latin typeface="+mj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8CAF928-FE34-4ED3-A122-8360843334BB}"/>
              </a:ext>
            </a:extLst>
          </p:cNvPr>
          <p:cNvSpPr/>
          <p:nvPr/>
        </p:nvSpPr>
        <p:spPr>
          <a:xfrm>
            <a:off x="423949" y="1251482"/>
            <a:ext cx="10831484" cy="32855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000" b="1" dirty="0">
                <a:latin typeface="+mj-ea"/>
                <a:ea typeface="+mj-ea"/>
              </a:rPr>
              <a:t>1</a:t>
            </a:r>
            <a:r>
              <a:rPr lang="zh-CN" altLang="en-US" sz="2000" b="1" dirty="0">
                <a:latin typeface="+mj-ea"/>
                <a:ea typeface="+mj-ea"/>
              </a:rPr>
              <a:t>、</a:t>
            </a:r>
            <a:r>
              <a:rPr lang="zh-CN" altLang="zh-CN" sz="2000" b="1" dirty="0">
                <a:latin typeface="+mj-ea"/>
                <a:ea typeface="+mj-ea"/>
              </a:rPr>
              <a:t>确定边界条件</a:t>
            </a:r>
            <a:endParaRPr lang="en-US" altLang="zh-CN" sz="2000" b="1" dirty="0">
              <a:latin typeface="+mj-ea"/>
              <a:ea typeface="+mj-ea"/>
            </a:endParaRPr>
          </a:p>
          <a:p>
            <a:pPr marL="342900" lvl="1" indent="-342900">
              <a:lnSpc>
                <a:spcPct val="125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zh-CN" sz="2000" dirty="0">
                <a:latin typeface="+mj-ea"/>
                <a:ea typeface="+mj-ea"/>
              </a:rPr>
              <a:t>对于总体问题，需要分析系统层的边界条件；</a:t>
            </a:r>
            <a:endParaRPr lang="en-US" altLang="zh-CN" sz="2000" dirty="0">
              <a:latin typeface="+mj-ea"/>
              <a:ea typeface="+mj-ea"/>
            </a:endParaRPr>
          </a:p>
          <a:p>
            <a:pPr marL="342900" lvl="1" indent="-342900">
              <a:lnSpc>
                <a:spcPct val="125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+mj-ea"/>
                <a:ea typeface="+mj-ea"/>
              </a:rPr>
              <a:t>外部边界条件，如</a:t>
            </a:r>
            <a:r>
              <a:rPr lang="zh-CN" altLang="en-US" sz="2000" dirty="0">
                <a:latin typeface="+mj-ea"/>
                <a:ea typeface="+mj-ea"/>
              </a:rPr>
              <a:t>采用</a:t>
            </a:r>
            <a:r>
              <a:rPr lang="en-US" altLang="zh-CN" sz="2000" dirty="0">
                <a:latin typeface="+mj-ea"/>
                <a:ea typeface="+mj-ea"/>
              </a:rPr>
              <a:t>PESTEL</a:t>
            </a:r>
            <a:r>
              <a:rPr lang="zh-CN" altLang="en-US" sz="2000" dirty="0">
                <a:latin typeface="+mj-ea"/>
                <a:ea typeface="+mj-ea"/>
              </a:rPr>
              <a:t>分析。</a:t>
            </a:r>
            <a:endParaRPr lang="en-US" altLang="zh-CN" sz="2000" dirty="0">
              <a:latin typeface="+mj-ea"/>
              <a:ea typeface="+mj-ea"/>
            </a:endParaRPr>
          </a:p>
          <a:p>
            <a:pPr marL="342900" lvl="1" indent="-342900">
              <a:lnSpc>
                <a:spcPct val="125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+mj-ea"/>
                <a:ea typeface="+mj-ea"/>
              </a:rPr>
              <a:t>企业内部</a:t>
            </a:r>
            <a:r>
              <a:rPr lang="zh-CN" altLang="en-US" sz="2000" dirty="0">
                <a:latin typeface="+mj-ea"/>
                <a:ea typeface="+mj-ea"/>
              </a:rPr>
              <a:t>：主要依据上层系统的约束来进行分析边界条件。如项目服从项目群的目标和资源约束，受制于企业战略要求。 </a:t>
            </a:r>
            <a:endParaRPr lang="en-US" altLang="zh-CN" sz="2000" dirty="0">
              <a:latin typeface="+mj-ea"/>
              <a:ea typeface="+mj-ea"/>
            </a:endParaRPr>
          </a:p>
          <a:p>
            <a:pPr marL="342900" lvl="1" indent="-342900">
              <a:lnSpc>
                <a:spcPct val="125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zh-CN" sz="2000" b="1" dirty="0">
                <a:latin typeface="+mj-ea"/>
                <a:ea typeface="+mj-ea"/>
              </a:rPr>
              <a:t>子问题</a:t>
            </a:r>
            <a:r>
              <a:rPr lang="zh-CN" altLang="en-US" sz="2000" dirty="0">
                <a:latin typeface="+mj-ea"/>
                <a:ea typeface="+mj-ea"/>
              </a:rPr>
              <a:t>：</a:t>
            </a:r>
            <a:r>
              <a:rPr lang="zh-CN" altLang="zh-CN" sz="2000" dirty="0">
                <a:latin typeface="+mj-ea"/>
                <a:ea typeface="+mj-ea"/>
              </a:rPr>
              <a:t>需要分析子系统层的边界条件，不同子系统存在一定的关系，某一子系统的输出可能会是其它子系统的输入条件。</a:t>
            </a:r>
            <a:endParaRPr lang="en-US" altLang="zh-CN" sz="2000" dirty="0">
              <a:latin typeface="+mj-ea"/>
              <a:ea typeface="+mj-ea"/>
            </a:endParaRPr>
          </a:p>
          <a:p>
            <a:pPr marL="800100" lvl="1" indent="-34290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zh-CN" sz="2000" dirty="0">
              <a:latin typeface="+mj-ea"/>
              <a:ea typeface="+mj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DD822DF-0639-4D77-B6E3-71D131B7F520}"/>
              </a:ext>
            </a:extLst>
          </p:cNvPr>
          <p:cNvSpPr/>
          <p:nvPr/>
        </p:nvSpPr>
        <p:spPr>
          <a:xfrm>
            <a:off x="696685" y="5606519"/>
            <a:ext cx="10558747" cy="70788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lvl="1">
              <a:spcBef>
                <a:spcPts val="300"/>
              </a:spcBef>
            </a:pPr>
            <a:r>
              <a:rPr lang="zh-CN" altLang="zh-CN" sz="2000" dirty="0">
                <a:latin typeface="+mj-ea"/>
              </a:rPr>
              <a:t>如某大桥划分为多个标段，每个标段形成一个子系统问题，子系统需要考虑子系统之间的边界，以及总体系统的边界条件等。</a:t>
            </a:r>
          </a:p>
        </p:txBody>
      </p:sp>
    </p:spTree>
    <p:extLst>
      <p:ext uri="{BB962C8B-B14F-4D97-AF65-F5344CB8AC3E}">
        <p14:creationId xmlns:p14="http://schemas.microsoft.com/office/powerpoint/2010/main" val="3119260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5DBB2972-0B9B-49F2-83D3-92D9FC4F37A1}"/>
              </a:ext>
            </a:extLst>
          </p:cNvPr>
          <p:cNvSpPr txBox="1">
            <a:spLocks noChangeArrowheads="1"/>
          </p:cNvSpPr>
          <p:nvPr/>
        </p:nvSpPr>
        <p:spPr>
          <a:xfrm>
            <a:off x="1667428" y="425660"/>
            <a:ext cx="5829300" cy="4868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/>
              <a:t>一、</a:t>
            </a:r>
            <a:r>
              <a:rPr lang="zh-CN" altLang="zh-CN" sz="3600" b="1" dirty="0"/>
              <a:t>确定边界条件和范围</a:t>
            </a:r>
            <a:endParaRPr lang="zh-CN" altLang="en-US" sz="3600" b="1" dirty="0"/>
          </a:p>
          <a:p>
            <a:endParaRPr lang="zh-CN" altLang="en-US" sz="3300" b="1" dirty="0">
              <a:latin typeface="+mj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8CAF928-FE34-4ED3-A122-8360843334BB}"/>
              </a:ext>
            </a:extLst>
          </p:cNvPr>
          <p:cNvSpPr/>
          <p:nvPr/>
        </p:nvSpPr>
        <p:spPr>
          <a:xfrm>
            <a:off x="415636" y="1251481"/>
            <a:ext cx="10856421" cy="1680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000" b="1" dirty="0">
                <a:latin typeface="+mj-ea"/>
                <a:ea typeface="+mj-ea"/>
              </a:rPr>
              <a:t>2</a:t>
            </a:r>
            <a:r>
              <a:rPr lang="zh-CN" altLang="en-US" sz="2000" b="1" dirty="0">
                <a:latin typeface="+mj-ea"/>
                <a:ea typeface="+mj-ea"/>
              </a:rPr>
              <a:t>、</a:t>
            </a:r>
            <a:r>
              <a:rPr lang="zh-CN" altLang="zh-CN" sz="2000" b="1" dirty="0">
                <a:latin typeface="+mj-ea"/>
                <a:ea typeface="+mj-ea"/>
              </a:rPr>
              <a:t>确定</a:t>
            </a:r>
            <a:r>
              <a:rPr lang="zh-CN" altLang="en-US" sz="2000" b="1" dirty="0">
                <a:latin typeface="+mj-ea"/>
                <a:ea typeface="+mj-ea"/>
              </a:rPr>
              <a:t>问题的</a:t>
            </a:r>
            <a:r>
              <a:rPr lang="zh-CN" altLang="zh-CN" sz="2000" b="1" dirty="0">
                <a:latin typeface="+mj-ea"/>
                <a:ea typeface="+mj-ea"/>
              </a:rPr>
              <a:t>范围</a:t>
            </a:r>
            <a:endParaRPr lang="en-US" altLang="zh-CN" sz="2000" b="1" dirty="0">
              <a:latin typeface="+mj-ea"/>
              <a:ea typeface="+mj-ea"/>
            </a:endParaRPr>
          </a:p>
          <a:p>
            <a:pPr marL="342900" lvl="1" indent="-342900">
              <a:lnSpc>
                <a:spcPct val="125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j-ea"/>
                <a:ea typeface="+mj-ea"/>
              </a:rPr>
              <a:t>问题范围是症状、需求和任务对象的范围。问题的范围并非边界条件。</a:t>
            </a:r>
            <a:endParaRPr lang="en-US" altLang="zh-CN" sz="2000" dirty="0">
              <a:latin typeface="+mj-ea"/>
              <a:ea typeface="+mj-ea"/>
            </a:endParaRPr>
          </a:p>
          <a:p>
            <a:pPr marL="342900" lvl="1" indent="-342900">
              <a:lnSpc>
                <a:spcPct val="125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zh-CN" sz="2000" dirty="0">
                <a:latin typeface="+mj-ea"/>
                <a:ea typeface="+mj-ea"/>
              </a:rPr>
              <a:t>问题的范围与问题的分解存在关联，不同的分解方式，对子问题的范围，以及子问题的关联会产生差异化的影响。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C316C70-0EAE-4894-BCA1-A1F8DF2A4CC0}"/>
              </a:ext>
            </a:extLst>
          </p:cNvPr>
          <p:cNvSpPr/>
          <p:nvPr/>
        </p:nvSpPr>
        <p:spPr>
          <a:xfrm>
            <a:off x="674914" y="5055967"/>
            <a:ext cx="10363200" cy="70788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lvl="1">
              <a:spcBef>
                <a:spcPts val="300"/>
              </a:spcBef>
            </a:pPr>
            <a:r>
              <a:rPr lang="zh-CN" altLang="zh-CN" sz="2000" dirty="0">
                <a:latin typeface="+mj-ea"/>
              </a:rPr>
              <a:t>招标过程中的，承发包方式的问题，这是对范围的界定，如果承发包方式还需要考虑技术方案，则涉及到更大的问题范围。</a:t>
            </a:r>
            <a:endParaRPr lang="en-US" altLang="zh-CN" sz="200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325182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5DBB2972-0B9B-49F2-83D3-92D9FC4F37A1}"/>
              </a:ext>
            </a:extLst>
          </p:cNvPr>
          <p:cNvSpPr txBox="1">
            <a:spLocks noChangeArrowheads="1"/>
          </p:cNvSpPr>
          <p:nvPr/>
        </p:nvSpPr>
        <p:spPr>
          <a:xfrm>
            <a:off x="1725617" y="433972"/>
            <a:ext cx="5829300" cy="4868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/>
              <a:t>二、</a:t>
            </a:r>
            <a:r>
              <a:rPr lang="zh-CN" altLang="zh-CN" sz="3600" b="1" dirty="0"/>
              <a:t>确定假设方向</a:t>
            </a:r>
            <a:endParaRPr lang="zh-CN" altLang="en-US" sz="3600" b="1" dirty="0"/>
          </a:p>
          <a:p>
            <a:endParaRPr lang="zh-CN" altLang="en-US" sz="3300" b="1" dirty="0">
              <a:latin typeface="+mj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1A9037F-F8C9-4530-B3FF-6B397A459D68}"/>
              </a:ext>
            </a:extLst>
          </p:cNvPr>
          <p:cNvSpPr/>
          <p:nvPr/>
        </p:nvSpPr>
        <p:spPr>
          <a:xfrm>
            <a:off x="432262" y="1251482"/>
            <a:ext cx="10864734" cy="38349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altLang="zh-CN" sz="2000" b="1" dirty="0">
                <a:latin typeface="+mj-ea"/>
                <a:ea typeface="+mj-ea"/>
              </a:rPr>
              <a:t>1</a:t>
            </a:r>
            <a:r>
              <a:rPr lang="zh-CN" altLang="en-US" sz="2000" b="1" dirty="0">
                <a:latin typeface="+mj-ea"/>
                <a:ea typeface="+mj-ea"/>
              </a:rPr>
              <a:t>、</a:t>
            </a:r>
            <a:r>
              <a:rPr lang="zh-CN" altLang="zh-CN" sz="2000" b="1" dirty="0">
                <a:latin typeface="+mj-ea"/>
                <a:ea typeface="+mj-ea"/>
              </a:rPr>
              <a:t>生成假设方向</a:t>
            </a:r>
            <a:r>
              <a:rPr lang="zh-CN" altLang="en-US" sz="2000" dirty="0">
                <a:latin typeface="+mj-ea"/>
                <a:ea typeface="+mj-ea"/>
              </a:rPr>
              <a:t>：</a:t>
            </a:r>
            <a:endParaRPr lang="en-US" altLang="zh-CN" sz="2000" dirty="0">
              <a:latin typeface="+mj-ea"/>
              <a:ea typeface="+mj-ea"/>
            </a:endParaRPr>
          </a:p>
          <a:p>
            <a:pPr marL="342900" lvl="1" indent="-342900">
              <a:lnSpc>
                <a:spcPct val="125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j-ea"/>
                <a:ea typeface="+mj-ea"/>
              </a:rPr>
              <a:t>理论框架，如人机料法环、人理</a:t>
            </a:r>
            <a:r>
              <a:rPr lang="en-US" altLang="zh-CN" sz="2000" dirty="0">
                <a:latin typeface="+mj-ea"/>
                <a:ea typeface="+mj-ea"/>
              </a:rPr>
              <a:t>-</a:t>
            </a:r>
            <a:r>
              <a:rPr lang="zh-CN" altLang="en-US" sz="2000" dirty="0">
                <a:latin typeface="+mj-ea"/>
                <a:ea typeface="+mj-ea"/>
              </a:rPr>
              <a:t>事理</a:t>
            </a:r>
            <a:r>
              <a:rPr lang="en-US" altLang="zh-CN" sz="2000" dirty="0">
                <a:latin typeface="+mj-ea"/>
                <a:ea typeface="+mj-ea"/>
              </a:rPr>
              <a:t>-</a:t>
            </a:r>
            <a:r>
              <a:rPr lang="zh-CN" altLang="en-US" sz="2000" dirty="0">
                <a:latin typeface="+mj-ea"/>
                <a:ea typeface="+mj-ea"/>
              </a:rPr>
              <a:t>物理、</a:t>
            </a:r>
            <a:r>
              <a:rPr lang="en-US" altLang="zh-CN" sz="2000" dirty="0">
                <a:latin typeface="+mj-ea"/>
                <a:ea typeface="+mj-ea"/>
              </a:rPr>
              <a:t>PEST</a:t>
            </a:r>
            <a:r>
              <a:rPr lang="zh-CN" altLang="en-US" sz="2000" dirty="0">
                <a:latin typeface="+mj-ea"/>
                <a:ea typeface="+mj-ea"/>
              </a:rPr>
              <a:t>、</a:t>
            </a:r>
            <a:r>
              <a:rPr lang="en-US" altLang="zh-CN" sz="2000" dirty="0">
                <a:latin typeface="+mj-ea"/>
                <a:ea typeface="+mj-ea"/>
              </a:rPr>
              <a:t>SWOT</a:t>
            </a:r>
            <a:r>
              <a:rPr lang="zh-CN" altLang="en-US" sz="2000" dirty="0">
                <a:latin typeface="+mj-ea"/>
                <a:ea typeface="+mj-ea"/>
              </a:rPr>
              <a:t>、商业模式画布、营销的</a:t>
            </a:r>
            <a:r>
              <a:rPr lang="en-US" altLang="zh-CN" sz="2000" dirty="0">
                <a:latin typeface="+mj-ea"/>
                <a:ea typeface="+mj-ea"/>
              </a:rPr>
              <a:t>4P</a:t>
            </a:r>
            <a:r>
              <a:rPr lang="zh-CN" altLang="en-US" sz="2000" dirty="0">
                <a:latin typeface="+mj-ea"/>
                <a:ea typeface="+mj-ea"/>
              </a:rPr>
              <a:t>等</a:t>
            </a:r>
            <a:endParaRPr lang="en-US" altLang="zh-CN" sz="2000" dirty="0">
              <a:latin typeface="+mj-ea"/>
              <a:ea typeface="+mj-ea"/>
            </a:endParaRPr>
          </a:p>
          <a:p>
            <a:pPr marL="342900" lvl="1" indent="-342900">
              <a:lnSpc>
                <a:spcPct val="125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j-ea"/>
                <a:ea typeface="+mj-ea"/>
              </a:rPr>
              <a:t>问题的要素：目的、问题环境、边界条件、组织</a:t>
            </a:r>
            <a:r>
              <a:rPr lang="en-US" altLang="zh-CN" sz="2000" dirty="0">
                <a:latin typeface="+mj-ea"/>
                <a:ea typeface="+mj-ea"/>
              </a:rPr>
              <a:t>/</a:t>
            </a:r>
            <a:r>
              <a:rPr lang="zh-CN" altLang="en-US" sz="2000" dirty="0">
                <a:latin typeface="+mj-ea"/>
                <a:ea typeface="+mj-ea"/>
              </a:rPr>
              <a:t>人员、其他</a:t>
            </a:r>
            <a:endParaRPr lang="en-US" altLang="zh-CN" sz="2000" dirty="0">
              <a:latin typeface="+mj-ea"/>
              <a:ea typeface="+mj-ea"/>
            </a:endParaRPr>
          </a:p>
          <a:p>
            <a:pPr marL="342900" lvl="1" indent="-342900">
              <a:lnSpc>
                <a:spcPct val="125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j-ea"/>
                <a:ea typeface="+mj-ea"/>
              </a:rPr>
              <a:t>对问题维度初步分解：系统性思维</a:t>
            </a:r>
            <a:endParaRPr lang="en-US" altLang="zh-CN" sz="2000" dirty="0">
              <a:latin typeface="+mj-ea"/>
              <a:ea typeface="+mj-ea"/>
            </a:endParaRPr>
          </a:p>
          <a:p>
            <a:pPr marL="0" lvl="2">
              <a:lnSpc>
                <a:spcPct val="125000"/>
              </a:lnSpc>
              <a:spcBef>
                <a:spcPts val="600"/>
              </a:spcBef>
            </a:pPr>
            <a:r>
              <a:rPr lang="en-US" altLang="zh-CN" sz="2000" b="1" dirty="0">
                <a:latin typeface="+mj-ea"/>
                <a:ea typeface="+mj-ea"/>
              </a:rPr>
              <a:t>2</a:t>
            </a:r>
            <a:r>
              <a:rPr lang="zh-CN" altLang="en-US" sz="2000" b="1" dirty="0">
                <a:latin typeface="+mj-ea"/>
                <a:ea typeface="+mj-ea"/>
              </a:rPr>
              <a:t>、假设方向类型：</a:t>
            </a:r>
            <a:endParaRPr lang="en-US" altLang="zh-CN" sz="2000" b="1" dirty="0">
              <a:latin typeface="+mj-ea"/>
              <a:ea typeface="+mj-ea"/>
            </a:endParaRPr>
          </a:p>
          <a:p>
            <a:pPr marL="342900" lvl="1" indent="-342900">
              <a:lnSpc>
                <a:spcPct val="125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j-ea"/>
                <a:ea typeface="+mj-ea"/>
              </a:rPr>
              <a:t>验证性方向：获得肯定事例，搜集支撑方向的实例；</a:t>
            </a:r>
            <a:endParaRPr lang="en-US" altLang="zh-CN" sz="2000" dirty="0">
              <a:latin typeface="+mj-ea"/>
              <a:ea typeface="+mj-ea"/>
            </a:endParaRPr>
          </a:p>
          <a:p>
            <a:pPr marL="342900" lvl="1" indent="-342900">
              <a:lnSpc>
                <a:spcPct val="125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j-ea"/>
                <a:ea typeface="+mj-ea"/>
              </a:rPr>
              <a:t>排除性方向：获得否定事例，找到相对应的反例来证明；</a:t>
            </a:r>
            <a:endParaRPr lang="en-US" altLang="zh-CN" sz="2000" dirty="0">
              <a:latin typeface="+mj-ea"/>
              <a:ea typeface="+mj-ea"/>
            </a:endParaRPr>
          </a:p>
          <a:p>
            <a:pPr marL="342900" lvl="1" indent="-342900">
              <a:lnSpc>
                <a:spcPct val="125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j-ea"/>
                <a:ea typeface="+mj-ea"/>
              </a:rPr>
              <a:t>探索性方向：以初的方向为出发点，经过最大范围地获取相关信息，来进一步缩小和聚焦探索的方向。 </a:t>
            </a:r>
            <a:endParaRPr lang="en-US" altLang="zh-CN" sz="20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266646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8A4FE4F-5B20-452D-8E19-5BB3EEE0347C}"/>
              </a:ext>
            </a:extLst>
          </p:cNvPr>
          <p:cNvSpPr/>
          <p:nvPr/>
        </p:nvSpPr>
        <p:spPr>
          <a:xfrm>
            <a:off x="391886" y="1066425"/>
            <a:ext cx="10946674" cy="4104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b="1" dirty="0">
                <a:latin typeface="+mj-ea"/>
                <a:ea typeface="+mj-ea"/>
              </a:rPr>
              <a:t>3</a:t>
            </a:r>
            <a:r>
              <a:rPr lang="zh-CN" altLang="en-US" sz="2000" b="1" dirty="0">
                <a:latin typeface="+mj-ea"/>
                <a:ea typeface="+mj-ea"/>
              </a:rPr>
              <a:t>、筛选假设方向</a:t>
            </a:r>
            <a:r>
              <a:rPr lang="zh-CN" altLang="en-US" sz="2000" dirty="0">
                <a:latin typeface="+mj-ea"/>
                <a:ea typeface="+mj-ea"/>
              </a:rPr>
              <a:t>：</a:t>
            </a:r>
            <a:endParaRPr lang="en-US" altLang="zh-CN" sz="2000" dirty="0">
              <a:latin typeface="+mj-ea"/>
              <a:ea typeface="+mj-ea"/>
            </a:endParaRPr>
          </a:p>
          <a:p>
            <a:pPr marL="342900" lvl="1" indent="-342900">
              <a:lnSpc>
                <a:spcPct val="125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j-ea"/>
                <a:ea typeface="+mj-ea"/>
              </a:rPr>
              <a:t>问题的重要性。</a:t>
            </a:r>
            <a:endParaRPr lang="en-US" altLang="zh-CN" sz="2000" dirty="0">
              <a:latin typeface="+mj-ea"/>
              <a:ea typeface="+mj-ea"/>
            </a:endParaRPr>
          </a:p>
          <a:p>
            <a:pPr marL="1257300" lvl="2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j-ea"/>
                <a:ea typeface="+mj-ea"/>
              </a:rPr>
              <a:t>抓主要矛盾，先分析关键性的问题</a:t>
            </a:r>
            <a:endParaRPr lang="en-US" altLang="zh-CN" sz="2000" dirty="0">
              <a:latin typeface="+mj-ea"/>
              <a:ea typeface="+mj-ea"/>
            </a:endParaRPr>
          </a:p>
          <a:p>
            <a:pPr marL="1257300" lvl="2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j-ea"/>
                <a:ea typeface="+mj-ea"/>
              </a:rPr>
              <a:t>重点关注有助于分析整体问题的假设方向</a:t>
            </a:r>
            <a:endParaRPr lang="en-US" altLang="zh-CN" sz="2000" dirty="0">
              <a:latin typeface="+mj-ea"/>
              <a:ea typeface="+mj-ea"/>
            </a:endParaRPr>
          </a:p>
          <a:p>
            <a:pPr marL="342900" lvl="1" indent="-342900">
              <a:lnSpc>
                <a:spcPct val="125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j-ea"/>
                <a:ea typeface="+mj-ea"/>
              </a:rPr>
              <a:t>依据已有的理论和经验。</a:t>
            </a:r>
            <a:endParaRPr lang="en-US" altLang="zh-CN" sz="2000" dirty="0">
              <a:latin typeface="+mj-ea"/>
              <a:ea typeface="+mj-ea"/>
            </a:endParaRPr>
          </a:p>
          <a:p>
            <a:pPr marL="1257300" lvl="2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j-ea"/>
                <a:ea typeface="+mj-ea"/>
              </a:rPr>
              <a:t>理论是抽象层面的推演过程；</a:t>
            </a:r>
            <a:endParaRPr lang="en-US" altLang="zh-CN" sz="2000" dirty="0">
              <a:latin typeface="+mj-ea"/>
              <a:ea typeface="+mj-ea"/>
            </a:endParaRPr>
          </a:p>
          <a:p>
            <a:pPr marL="1257300" lvl="2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j-ea"/>
                <a:ea typeface="+mj-ea"/>
              </a:rPr>
              <a:t>有正面和负面的经验。 </a:t>
            </a:r>
          </a:p>
          <a:p>
            <a:pPr marL="342900" lvl="1" indent="-342900">
              <a:lnSpc>
                <a:spcPct val="125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j-ea"/>
                <a:ea typeface="+mj-ea"/>
              </a:rPr>
              <a:t>依据与已有问题的相似性。 </a:t>
            </a:r>
          </a:p>
          <a:p>
            <a:pPr marL="342900" lvl="1" indent="-342900">
              <a:lnSpc>
                <a:spcPct val="125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j-ea"/>
                <a:ea typeface="+mj-ea"/>
              </a:rPr>
              <a:t>数据的可获得性，当数据短期内可获得，可先期进行筛选。 </a:t>
            </a:r>
          </a:p>
          <a:p>
            <a:pPr marL="342900" lvl="1" indent="-342900">
              <a:lnSpc>
                <a:spcPct val="125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j-ea"/>
                <a:ea typeface="+mj-ea"/>
              </a:rPr>
              <a:t>直觉方面。 </a:t>
            </a:r>
            <a:endParaRPr lang="en-US" altLang="zh-CN" sz="2000" dirty="0">
              <a:latin typeface="+mj-ea"/>
              <a:ea typeface="+mj-ea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258F940B-BB39-4247-B44C-B7FAF0BD1DF4}"/>
              </a:ext>
            </a:extLst>
          </p:cNvPr>
          <p:cNvSpPr txBox="1">
            <a:spLocks noChangeArrowheads="1"/>
          </p:cNvSpPr>
          <p:nvPr/>
        </p:nvSpPr>
        <p:spPr>
          <a:xfrm>
            <a:off x="1700679" y="475536"/>
            <a:ext cx="5829300" cy="4868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/>
              <a:t>二、</a:t>
            </a:r>
            <a:r>
              <a:rPr lang="zh-CN" altLang="zh-CN" sz="3600" b="1" dirty="0"/>
              <a:t>确定假设方向</a:t>
            </a:r>
            <a:endParaRPr lang="zh-CN" altLang="en-US" sz="3600" b="1" dirty="0"/>
          </a:p>
          <a:p>
            <a:endParaRPr lang="zh-CN" altLang="en-US" sz="3300" b="1" dirty="0">
              <a:latin typeface="+mj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BFA1DF2-0B1E-40E5-A757-E2DC263EF316}"/>
              </a:ext>
            </a:extLst>
          </p:cNvPr>
          <p:cNvSpPr/>
          <p:nvPr/>
        </p:nvSpPr>
        <p:spPr>
          <a:xfrm>
            <a:off x="3163389" y="4822079"/>
            <a:ext cx="8175171" cy="193899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+mj-ea"/>
                <a:ea typeface="+mj-ea"/>
              </a:rPr>
              <a:t>案例：</a:t>
            </a:r>
            <a:endParaRPr lang="en-US" altLang="zh-CN" sz="2000" b="1" dirty="0">
              <a:solidFill>
                <a:srgbClr val="FF0000"/>
              </a:solidFill>
              <a:latin typeface="+mj-ea"/>
              <a:ea typeface="+mj-ea"/>
            </a:endParaRPr>
          </a:p>
          <a:p>
            <a:r>
              <a:rPr lang="zh-CN" altLang="en-US" sz="2000" dirty="0">
                <a:solidFill>
                  <a:srgbClr val="000000"/>
                </a:solidFill>
                <a:latin typeface="+mj-ea"/>
                <a:ea typeface="+mj-ea"/>
              </a:rPr>
              <a:t>某大厦振动事件在对原因分析时，从四大原因展开验证和排除</a:t>
            </a:r>
            <a:endParaRPr lang="en-US" altLang="zh-CN" sz="2000" dirty="0">
              <a:solidFill>
                <a:srgbClr val="000000"/>
              </a:solidFill>
              <a:latin typeface="+mj-ea"/>
              <a:ea typeface="+mj-ea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sz="2000" dirty="0">
                <a:solidFill>
                  <a:srgbClr val="000000"/>
                </a:solidFill>
                <a:latin typeface="+mj-ea"/>
                <a:ea typeface="+mj-ea"/>
              </a:rPr>
              <a:t>外部原因的地下振动源</a:t>
            </a:r>
            <a:endParaRPr lang="en-US" altLang="zh-CN" sz="2000" dirty="0">
              <a:solidFill>
                <a:srgbClr val="000000"/>
              </a:solidFill>
              <a:latin typeface="+mj-ea"/>
              <a:ea typeface="+mj-ea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sz="2000" dirty="0">
                <a:solidFill>
                  <a:srgbClr val="000000"/>
                </a:solidFill>
                <a:latin typeface="+mj-ea"/>
                <a:ea typeface="+mj-ea"/>
              </a:rPr>
              <a:t>大楼运营使用时振动</a:t>
            </a:r>
            <a:endParaRPr lang="en-US" altLang="zh-CN" sz="2000" dirty="0">
              <a:solidFill>
                <a:srgbClr val="000000"/>
              </a:solidFill>
              <a:latin typeface="+mj-ea"/>
              <a:ea typeface="+mj-ea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sz="2000" dirty="0">
                <a:solidFill>
                  <a:srgbClr val="000000"/>
                </a:solidFill>
                <a:latin typeface="+mj-ea"/>
                <a:ea typeface="+mj-ea"/>
              </a:rPr>
              <a:t>风致振动</a:t>
            </a:r>
            <a:endParaRPr lang="en-US" altLang="zh-CN" sz="2000" dirty="0">
              <a:solidFill>
                <a:srgbClr val="000000"/>
              </a:solidFill>
              <a:latin typeface="+mj-ea"/>
              <a:ea typeface="+mj-ea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sz="2000" dirty="0">
                <a:solidFill>
                  <a:srgbClr val="000000"/>
                </a:solidFill>
                <a:latin typeface="+mj-ea"/>
                <a:ea typeface="+mj-ea"/>
              </a:rPr>
              <a:t>以及内部原因的结构累积损伤约束条件变化</a:t>
            </a:r>
            <a:endParaRPr lang="zh-CN" altLang="en-US" sz="16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487086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5DBB2972-0B9B-49F2-83D3-92D9FC4F37A1}"/>
              </a:ext>
            </a:extLst>
          </p:cNvPr>
          <p:cNvSpPr txBox="1">
            <a:spLocks noChangeArrowheads="1"/>
          </p:cNvSpPr>
          <p:nvPr/>
        </p:nvSpPr>
        <p:spPr>
          <a:xfrm>
            <a:off x="1642489" y="425659"/>
            <a:ext cx="5829300" cy="4868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/>
              <a:t>二、</a:t>
            </a:r>
            <a:r>
              <a:rPr lang="zh-CN" altLang="zh-CN" sz="3600" b="1" dirty="0"/>
              <a:t>确定假设方向</a:t>
            </a:r>
            <a:endParaRPr lang="zh-CN" altLang="en-US" sz="3600" b="1" dirty="0"/>
          </a:p>
          <a:p>
            <a:endParaRPr lang="zh-CN" altLang="en-US" sz="3300" b="1" dirty="0">
              <a:latin typeface="+mj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1A9037F-F8C9-4530-B3FF-6B397A459D68}"/>
              </a:ext>
            </a:extLst>
          </p:cNvPr>
          <p:cNvSpPr/>
          <p:nvPr/>
        </p:nvSpPr>
        <p:spPr>
          <a:xfrm>
            <a:off x="456408" y="1352421"/>
            <a:ext cx="10766763" cy="34778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+mj-ea"/>
                <a:ea typeface="+mj-ea"/>
              </a:rPr>
              <a:t>案例：</a:t>
            </a:r>
            <a:endParaRPr lang="en-US" altLang="zh-CN" sz="2000" b="1" dirty="0">
              <a:solidFill>
                <a:srgbClr val="FF0000"/>
              </a:solidFill>
              <a:latin typeface="+mj-ea"/>
              <a:ea typeface="+mj-ea"/>
            </a:endParaRPr>
          </a:p>
          <a:p>
            <a:r>
              <a:rPr lang="zh-CN" altLang="zh-CN" sz="2000" dirty="0">
                <a:latin typeface="+mj-ea"/>
                <a:ea typeface="+mj-ea"/>
              </a:rPr>
              <a:t>如某工程的招标工作，调查问卷</a:t>
            </a:r>
            <a:r>
              <a:rPr lang="zh-CN" altLang="en-US" sz="2000" dirty="0">
                <a:latin typeface="+mj-ea"/>
                <a:ea typeface="+mj-ea"/>
              </a:rPr>
              <a:t>内容包括</a:t>
            </a:r>
            <a:r>
              <a:rPr lang="zh-CN" altLang="zh-CN" sz="2000" dirty="0">
                <a:latin typeface="+mj-ea"/>
                <a:ea typeface="+mj-ea"/>
              </a:rPr>
              <a:t>： 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zh-CN" sz="2000" dirty="0">
                <a:latin typeface="+mj-ea"/>
                <a:ea typeface="+mj-ea"/>
              </a:rPr>
              <a:t>调研对象对本次招标模式、标段划分、边界条件等的看法，提出优缺点；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zh-CN" sz="2000" dirty="0">
                <a:latin typeface="+mj-ea"/>
                <a:ea typeface="+mj-ea"/>
              </a:rPr>
              <a:t>对本次招标项目设计方案的看法；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zh-CN" sz="2000" dirty="0">
                <a:latin typeface="+mj-ea"/>
                <a:ea typeface="+mj-ea"/>
              </a:rPr>
              <a:t>对本次招标项目的标段划分、工期安排建议；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zh-CN" sz="2000" dirty="0">
                <a:latin typeface="+mj-ea"/>
                <a:ea typeface="+mj-ea"/>
              </a:rPr>
              <a:t>对主要原材料和设备的取得途径、采购方式和供货保障措施；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zh-CN" sz="2000" dirty="0">
                <a:latin typeface="+mj-ea"/>
                <a:ea typeface="+mj-ea"/>
              </a:rPr>
              <a:t>对大型或特殊施工机械设备的取得途径和保障措施；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zh-CN" sz="2000" dirty="0">
                <a:latin typeface="+mj-ea"/>
                <a:ea typeface="+mj-ea"/>
              </a:rPr>
              <a:t>对合同管理机制、施工界面划分、工作面交接的看法和建议；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zh-CN" sz="2000" dirty="0">
                <a:latin typeface="+mj-ea"/>
                <a:ea typeface="+mj-ea"/>
              </a:rPr>
              <a:t>针对项目特点，提出有关计量支付、预付款、材料调差等方面的合理化建议；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zh-CN" sz="2000" dirty="0">
                <a:latin typeface="+mj-ea"/>
                <a:ea typeface="+mj-ea"/>
              </a:rPr>
              <a:t>就项目外部环境、面临的特殊状况等提出应对措施与协调方案；</a:t>
            </a:r>
            <a:endParaRPr lang="en-US" altLang="zh-CN" sz="2000" dirty="0">
              <a:latin typeface="+mj-ea"/>
              <a:ea typeface="+mj-ea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zh-CN" sz="2000" dirty="0">
                <a:latin typeface="+mj-ea"/>
                <a:ea typeface="+mj-ea"/>
              </a:rPr>
              <a:t>有关造价信息方面的探讨意见。</a:t>
            </a:r>
          </a:p>
        </p:txBody>
      </p:sp>
    </p:spTree>
    <p:extLst>
      <p:ext uri="{BB962C8B-B14F-4D97-AF65-F5344CB8AC3E}">
        <p14:creationId xmlns:p14="http://schemas.microsoft.com/office/powerpoint/2010/main" val="15445748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5DBB2972-0B9B-49F2-83D3-92D9FC4F37A1}"/>
              </a:ext>
            </a:extLst>
          </p:cNvPr>
          <p:cNvSpPr txBox="1">
            <a:spLocks noChangeArrowheads="1"/>
          </p:cNvSpPr>
          <p:nvPr/>
        </p:nvSpPr>
        <p:spPr>
          <a:xfrm>
            <a:off x="1675741" y="466647"/>
            <a:ext cx="5829300" cy="4868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/>
              <a:t>三、</a:t>
            </a:r>
            <a:r>
              <a:rPr lang="zh-CN" altLang="zh-CN" sz="3600" b="1" dirty="0"/>
              <a:t>调研：获得信息</a:t>
            </a:r>
            <a:endParaRPr lang="zh-CN" altLang="en-US" sz="3600" b="1" dirty="0"/>
          </a:p>
          <a:p>
            <a:endParaRPr lang="zh-CN" altLang="en-US" sz="3300" b="1" dirty="0">
              <a:latin typeface="+mj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6526E9-7CC1-4141-B8DA-CB21C63FEF16}"/>
              </a:ext>
            </a:extLst>
          </p:cNvPr>
          <p:cNvSpPr/>
          <p:nvPr/>
        </p:nvSpPr>
        <p:spPr>
          <a:xfrm>
            <a:off x="407324" y="1142066"/>
            <a:ext cx="10856422" cy="2950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zh-CN" sz="2000" b="1" dirty="0">
                <a:latin typeface="+mj-ea"/>
                <a:ea typeface="+mj-ea"/>
              </a:rPr>
              <a:t>问题</a:t>
            </a:r>
            <a:r>
              <a:rPr lang="zh-CN" altLang="en-US" sz="2000" b="1" dirty="0">
                <a:latin typeface="+mj-ea"/>
                <a:ea typeface="+mj-ea"/>
              </a:rPr>
              <a:t>分析的挑战</a:t>
            </a:r>
            <a:r>
              <a:rPr lang="zh-CN" altLang="en-US" sz="2000" dirty="0">
                <a:latin typeface="+mj-ea"/>
                <a:ea typeface="+mj-ea"/>
              </a:rPr>
              <a:t>：</a:t>
            </a:r>
            <a:endParaRPr lang="en-US" altLang="zh-CN" sz="2000" dirty="0">
              <a:latin typeface="+mj-ea"/>
              <a:ea typeface="+mj-ea"/>
            </a:endParaRPr>
          </a:p>
          <a:p>
            <a:pPr marL="342900" lvl="1" indent="-342900">
              <a:lnSpc>
                <a:spcPct val="125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zh-CN" sz="2000" dirty="0">
                <a:latin typeface="+mj-ea"/>
                <a:ea typeface="+mj-ea"/>
              </a:rPr>
              <a:t>缺少信息</a:t>
            </a:r>
            <a:endParaRPr lang="en-US" altLang="zh-CN" sz="2000" dirty="0">
              <a:latin typeface="+mj-ea"/>
              <a:ea typeface="+mj-ea"/>
            </a:endParaRPr>
          </a:p>
          <a:p>
            <a:pPr marL="342900" lvl="1" indent="-342900">
              <a:lnSpc>
                <a:spcPct val="125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zh-CN" sz="2000" dirty="0">
                <a:latin typeface="+mj-ea"/>
                <a:ea typeface="+mj-ea"/>
              </a:rPr>
              <a:t>信息过载</a:t>
            </a:r>
            <a:endParaRPr lang="en-US" altLang="zh-CN" sz="2000" dirty="0">
              <a:latin typeface="+mj-ea"/>
              <a:ea typeface="+mj-ea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zh-CN" sz="2000" b="1" dirty="0">
                <a:latin typeface="+mj-ea"/>
                <a:ea typeface="+mj-ea"/>
              </a:rPr>
              <a:t>调研</a:t>
            </a:r>
            <a:r>
              <a:rPr lang="zh-CN" altLang="en-US" sz="2000" dirty="0">
                <a:latin typeface="+mj-ea"/>
                <a:ea typeface="+mj-ea"/>
              </a:rPr>
              <a:t>：</a:t>
            </a:r>
            <a:endParaRPr lang="en-US" altLang="zh-CN" sz="2000" dirty="0">
              <a:latin typeface="+mj-ea"/>
              <a:ea typeface="+mj-ea"/>
            </a:endParaRPr>
          </a:p>
          <a:p>
            <a:pPr marL="342900" lvl="1" indent="-342900">
              <a:lnSpc>
                <a:spcPct val="125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j-ea"/>
                <a:ea typeface="+mj-ea"/>
              </a:rPr>
              <a:t>分析和定义问题：</a:t>
            </a:r>
            <a:r>
              <a:rPr lang="zh-CN" altLang="zh-CN" sz="2000" dirty="0">
                <a:latin typeface="+mj-ea"/>
                <a:ea typeface="+mj-ea"/>
              </a:rPr>
              <a:t>获取充分、准确的信息是定义一个问题的重要前提，通过信息的补足减少主观性的判断，尽可能的全面、准确地呈现所面临的问题。</a:t>
            </a:r>
          </a:p>
          <a:p>
            <a:pPr marL="342900" lvl="1" indent="-342900">
              <a:lnSpc>
                <a:spcPct val="125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zh-CN" sz="2000" dirty="0">
                <a:latin typeface="+mj-ea"/>
                <a:ea typeface="+mj-ea"/>
              </a:rPr>
              <a:t>促进对研究者认知的提高</a:t>
            </a:r>
            <a:r>
              <a:rPr lang="zh-CN" altLang="en-US" sz="2000" dirty="0">
                <a:latin typeface="+mj-ea"/>
                <a:ea typeface="+mj-ea"/>
              </a:rPr>
              <a:t>：</a:t>
            </a:r>
            <a:r>
              <a:rPr lang="zh-CN" altLang="zh-CN" sz="2000" dirty="0">
                <a:latin typeface="+mj-ea"/>
                <a:ea typeface="+mj-ea"/>
              </a:rPr>
              <a:t>提升对问题的认识，特别是对问题体系的认识。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6946DF2-77AE-47E8-B1FE-E1EB47308866}"/>
              </a:ext>
            </a:extLst>
          </p:cNvPr>
          <p:cNvSpPr/>
          <p:nvPr/>
        </p:nvSpPr>
        <p:spPr>
          <a:xfrm>
            <a:off x="1972582" y="5423546"/>
            <a:ext cx="6740948" cy="5847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 sz="3200" dirty="0">
                <a:latin typeface="宋体蕻醴.錄."/>
              </a:rPr>
              <a:t>“调查就是解决问题” （毛选，</a:t>
            </a:r>
            <a:r>
              <a:rPr lang="en-US" altLang="zh-CN" sz="3200" dirty="0">
                <a:latin typeface="宋体蕻醴.錄."/>
              </a:rPr>
              <a:t>P110</a:t>
            </a:r>
            <a:r>
              <a:rPr lang="zh-CN" altLang="en-US" sz="3200" dirty="0">
                <a:latin typeface="宋体蕻醴.錄."/>
              </a:rPr>
              <a:t>）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4663335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1CC218DF-DDF2-46ED-BB01-70611489E256}"/>
              </a:ext>
            </a:extLst>
          </p:cNvPr>
          <p:cNvSpPr/>
          <p:nvPr/>
        </p:nvSpPr>
        <p:spPr>
          <a:xfrm>
            <a:off x="390699" y="1143425"/>
            <a:ext cx="10922923" cy="37580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25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+mj-ea"/>
                <a:ea typeface="+mj-ea"/>
              </a:rPr>
              <a:t>验证性方向：</a:t>
            </a:r>
            <a:r>
              <a:rPr lang="zh-CN" altLang="en-US" sz="2000" dirty="0">
                <a:latin typeface="+mj-ea"/>
                <a:ea typeface="+mj-ea"/>
              </a:rPr>
              <a:t>在肯定阶段，搜集关于现有某种现象的一切已知实例；</a:t>
            </a:r>
            <a:endParaRPr lang="en-US" altLang="zh-CN" sz="2000" dirty="0">
              <a:latin typeface="+mj-ea"/>
              <a:ea typeface="+mj-ea"/>
            </a:endParaRPr>
          </a:p>
          <a:p>
            <a:pPr marL="342900" indent="-342900">
              <a:lnSpc>
                <a:spcPct val="125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+mj-ea"/>
                <a:ea typeface="+mj-ea"/>
              </a:rPr>
              <a:t>排除性方向</a:t>
            </a:r>
            <a:r>
              <a:rPr lang="zh-CN" altLang="en-US" sz="2000" dirty="0">
                <a:latin typeface="+mj-ea"/>
                <a:ea typeface="+mj-ea"/>
              </a:rPr>
              <a:t>：则研究否定事例，找到相对应的反例来进行证明；</a:t>
            </a:r>
            <a:endParaRPr lang="en-US" altLang="zh-CN" sz="2000" dirty="0">
              <a:latin typeface="+mj-ea"/>
              <a:ea typeface="+mj-ea"/>
            </a:endParaRPr>
          </a:p>
          <a:p>
            <a:pPr marL="342900" indent="-342900">
              <a:lnSpc>
                <a:spcPct val="125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+mj-ea"/>
                <a:ea typeface="+mj-ea"/>
              </a:rPr>
              <a:t>探索性方向</a:t>
            </a:r>
            <a:r>
              <a:rPr lang="zh-CN" altLang="en-US" sz="2000" dirty="0">
                <a:latin typeface="+mj-ea"/>
                <a:ea typeface="+mj-ea"/>
              </a:rPr>
              <a:t>：以粗的方向为出发点，经过最大范围地获取相关信息，来进一步缩小和聚焦探索的方向。 </a:t>
            </a:r>
            <a:endParaRPr lang="en-US" altLang="zh-CN" sz="2000" dirty="0">
              <a:latin typeface="+mj-ea"/>
              <a:ea typeface="+mj-ea"/>
            </a:endParaRPr>
          </a:p>
          <a:p>
            <a:pPr marL="342900" indent="-342900">
              <a:lnSpc>
                <a:spcPct val="125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zh-CN" sz="2000" dirty="0">
              <a:latin typeface="+mj-ea"/>
              <a:ea typeface="+mj-ea"/>
            </a:endParaRPr>
          </a:p>
          <a:p>
            <a:pPr marL="342900" indent="-342900">
              <a:lnSpc>
                <a:spcPct val="125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+mj-ea"/>
                <a:ea typeface="+mj-ea"/>
              </a:rPr>
              <a:t>针对假设方向确定信息获取策略</a:t>
            </a:r>
            <a:endParaRPr lang="en-US" altLang="zh-CN" sz="2000" b="1" dirty="0">
              <a:latin typeface="+mj-ea"/>
              <a:ea typeface="+mj-ea"/>
            </a:endParaRPr>
          </a:p>
          <a:p>
            <a:pPr marL="800100" lvl="2" indent="-342900">
              <a:lnSpc>
                <a:spcPct val="125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j-ea"/>
                <a:ea typeface="+mj-ea"/>
              </a:rPr>
              <a:t>对缺少信息的问题，补足相关信息即可。如医生看病需要测量体温，通过体温计测量补足相关信息即可</a:t>
            </a:r>
            <a:endParaRPr lang="en-US" altLang="zh-CN" sz="2000" dirty="0">
              <a:latin typeface="+mj-ea"/>
              <a:ea typeface="+mj-ea"/>
            </a:endParaRPr>
          </a:p>
          <a:p>
            <a:pPr marL="800100" lvl="2" indent="-342900">
              <a:lnSpc>
                <a:spcPct val="125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j-ea"/>
                <a:ea typeface="+mj-ea"/>
              </a:rPr>
              <a:t>对于模糊问题，需要组织多科专家进行会诊。 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1972BC97-33B6-4E1A-986C-CF4681957E56}"/>
              </a:ext>
            </a:extLst>
          </p:cNvPr>
          <p:cNvSpPr txBox="1">
            <a:spLocks noChangeArrowheads="1"/>
          </p:cNvSpPr>
          <p:nvPr/>
        </p:nvSpPr>
        <p:spPr>
          <a:xfrm>
            <a:off x="1675741" y="466647"/>
            <a:ext cx="5829300" cy="4868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/>
              <a:t>三、</a:t>
            </a:r>
            <a:r>
              <a:rPr lang="zh-CN" altLang="zh-CN" sz="3600" b="1" dirty="0"/>
              <a:t>调研：获得信息</a:t>
            </a:r>
            <a:endParaRPr lang="zh-CN" altLang="en-US" sz="3600" b="1" dirty="0"/>
          </a:p>
          <a:p>
            <a:endParaRPr lang="zh-CN" altLang="en-US" sz="330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823344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DB738E1-FA8D-4D8D-9C4C-CB736F0DB110}"/>
              </a:ext>
            </a:extLst>
          </p:cNvPr>
          <p:cNvSpPr/>
          <p:nvPr/>
        </p:nvSpPr>
        <p:spPr>
          <a:xfrm>
            <a:off x="399010" y="1144861"/>
            <a:ext cx="10823172" cy="4620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+mj-ea"/>
                <a:ea typeface="+mj-ea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+mj-ea"/>
                <a:ea typeface="+mj-ea"/>
                <a:cs typeface="Times New Roman" panose="02020603050405020304" pitchFamily="18" charset="0"/>
              </a:rPr>
              <a:t>、</a:t>
            </a:r>
            <a:r>
              <a:rPr lang="zh-CN" altLang="zh-CN" dirty="0">
                <a:latin typeface="+mj-ea"/>
                <a:ea typeface="+mj-ea"/>
                <a:cs typeface="Times New Roman" panose="02020603050405020304" pitchFamily="18" charset="0"/>
              </a:rPr>
              <a:t>问题研究的分析框架与预期结果的分析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dirty="0">
                <a:latin typeface="+mj-ea"/>
                <a:ea typeface="+mj-ea"/>
                <a:cs typeface="Times New Roman" panose="02020603050405020304" pitchFamily="18" charset="0"/>
              </a:rPr>
              <a:t>探索性分析框架。探索性分析框架是有一个初步的方向，需要通过调研予以补足。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dirty="0">
                <a:latin typeface="+mj-ea"/>
                <a:ea typeface="+mj-ea"/>
                <a:cs typeface="Times New Roman" panose="02020603050405020304" pitchFamily="18" charset="0"/>
              </a:rPr>
              <a:t>验证性分析框架。验证性分析框架是形成了较为明确的框架。调研的目的是为了量化分析框架中因素的重要性程度，或者对框架进行一定程度的简化。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j-ea"/>
                <a:ea typeface="+mj-ea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+mj-ea"/>
                <a:ea typeface="+mj-ea"/>
                <a:cs typeface="Times New Roman" panose="02020603050405020304" pitchFamily="18" charset="0"/>
              </a:rPr>
              <a:t>、</a:t>
            </a:r>
            <a:r>
              <a:rPr lang="zh-CN" altLang="zh-CN" dirty="0">
                <a:latin typeface="+mj-ea"/>
                <a:ea typeface="+mj-ea"/>
                <a:cs typeface="Times New Roman" panose="02020603050405020304" pitchFamily="18" charset="0"/>
              </a:rPr>
              <a:t>选择研究方法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dirty="0">
                <a:latin typeface="+mj-ea"/>
                <a:ea typeface="+mj-ea"/>
                <a:cs typeface="Times New Roman" panose="02020603050405020304" pitchFamily="18" charset="0"/>
              </a:rPr>
              <a:t>对于症状描述部分的研究方法。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dirty="0">
                <a:latin typeface="+mj-ea"/>
                <a:ea typeface="+mj-ea"/>
                <a:cs typeface="Times New Roman" panose="02020603050405020304" pitchFamily="18" charset="0"/>
              </a:rPr>
              <a:t>初步原因分析的方法。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dirty="0">
                <a:latin typeface="+mj-ea"/>
                <a:ea typeface="+mj-ea"/>
                <a:cs typeface="Times New Roman" panose="02020603050405020304" pitchFamily="18" charset="0"/>
              </a:rPr>
              <a:t>确定关键原因的方法。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j-ea"/>
                <a:ea typeface="+mj-ea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+mj-ea"/>
                <a:ea typeface="+mj-ea"/>
                <a:cs typeface="Times New Roman" panose="02020603050405020304" pitchFamily="18" charset="0"/>
              </a:rPr>
              <a:t>、</a:t>
            </a:r>
            <a:r>
              <a:rPr lang="zh-CN" altLang="zh-CN" dirty="0">
                <a:latin typeface="+mj-ea"/>
                <a:ea typeface="+mj-ea"/>
                <a:cs typeface="Times New Roman" panose="02020603050405020304" pitchFamily="18" charset="0"/>
              </a:rPr>
              <a:t>数据收集工具和方法</a:t>
            </a:r>
          </a:p>
          <a:p>
            <a:pPr>
              <a:lnSpc>
                <a:spcPct val="150000"/>
              </a:lnSpc>
            </a:pPr>
            <a:r>
              <a:rPr lang="zh-CN" altLang="zh-CN" dirty="0">
                <a:latin typeface="+mj-ea"/>
                <a:ea typeface="+mj-ea"/>
                <a:cs typeface="Times New Roman" panose="02020603050405020304" pitchFamily="18" charset="0"/>
              </a:rPr>
              <a:t>根据选定的研究方法，设计数据收集工具。</a:t>
            </a:r>
            <a:endParaRPr lang="en-US" altLang="zh-CN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zh-CN" altLang="zh-CN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C0B6D60-10C6-4DEE-983E-33501756E32E}"/>
              </a:ext>
            </a:extLst>
          </p:cNvPr>
          <p:cNvSpPr/>
          <p:nvPr/>
        </p:nvSpPr>
        <p:spPr>
          <a:xfrm>
            <a:off x="1684020" y="417399"/>
            <a:ext cx="7908175" cy="5493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3300" dirty="0">
                <a:latin typeface="+mn-ea"/>
                <a:cs typeface="+mj-cs"/>
              </a:rPr>
              <a:t>问题研究阶段的研究方案</a:t>
            </a:r>
          </a:p>
        </p:txBody>
      </p:sp>
    </p:spTree>
    <p:extLst>
      <p:ext uri="{BB962C8B-B14F-4D97-AF65-F5344CB8AC3E}">
        <p14:creationId xmlns:p14="http://schemas.microsoft.com/office/powerpoint/2010/main" val="40255554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DB738E1-FA8D-4D8D-9C4C-CB736F0DB110}"/>
              </a:ext>
            </a:extLst>
          </p:cNvPr>
          <p:cNvSpPr/>
          <p:nvPr/>
        </p:nvSpPr>
        <p:spPr>
          <a:xfrm>
            <a:off x="399010" y="1144861"/>
            <a:ext cx="10823172" cy="4205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+mj-ea"/>
                <a:ea typeface="+mj-ea"/>
                <a:cs typeface="Times New Roman" panose="02020603050405020304" pitchFamily="18" charset="0"/>
              </a:rPr>
              <a:t>4</a:t>
            </a:r>
            <a:r>
              <a:rPr lang="zh-CN" altLang="en-US" dirty="0">
                <a:latin typeface="+mj-ea"/>
                <a:ea typeface="+mj-ea"/>
                <a:cs typeface="Times New Roman" panose="02020603050405020304" pitchFamily="18" charset="0"/>
              </a:rPr>
              <a:t>、</a:t>
            </a:r>
            <a:r>
              <a:rPr lang="zh-CN" altLang="zh-CN" dirty="0">
                <a:latin typeface="+mj-ea"/>
                <a:ea typeface="+mj-ea"/>
                <a:cs typeface="Times New Roman" panose="02020603050405020304" pitchFamily="18" charset="0"/>
              </a:rPr>
              <a:t>调查对象选择</a:t>
            </a:r>
          </a:p>
          <a:p>
            <a:pPr>
              <a:lnSpc>
                <a:spcPct val="150000"/>
              </a:lnSpc>
            </a:pPr>
            <a:r>
              <a:rPr lang="zh-CN" altLang="zh-CN" dirty="0">
                <a:latin typeface="+mj-ea"/>
                <a:ea typeface="+mj-ea"/>
                <a:cs typeface="Times New Roman" panose="02020603050405020304" pitchFamily="18" charset="0"/>
              </a:rPr>
              <a:t>在问题研究阶段调研对象选择需要重点考虑：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dirty="0">
                <a:latin typeface="+mj-ea"/>
                <a:ea typeface="+mj-ea"/>
                <a:cs typeface="Times New Roman" panose="02020603050405020304" pitchFamily="18" charset="0"/>
              </a:rPr>
              <a:t>调研最有可能拥有相关信息的对象。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dirty="0">
                <a:latin typeface="+mj-ea"/>
                <a:ea typeface="+mj-ea"/>
                <a:cs typeface="Times New Roman" panose="02020603050405020304" pitchFamily="18" charset="0"/>
              </a:rPr>
              <a:t>针对关键利益相关者，充分暴露不同利益相关者的潜在利益诉求，有助于形成对问题全面的认识。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dirty="0">
                <a:latin typeface="+mj-ea"/>
                <a:ea typeface="+mj-ea"/>
                <a:cs typeface="Times New Roman" panose="02020603050405020304" pitchFamily="18" charset="0"/>
              </a:rPr>
              <a:t>如一线员工的感受，直接调研一线员工，而非通过调研领导来谈他们的猜想和看法。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dirty="0">
                <a:latin typeface="+mj-ea"/>
                <a:ea typeface="+mj-ea"/>
                <a:cs typeface="Times New Roman" panose="02020603050405020304" pitchFamily="18" charset="0"/>
              </a:rPr>
              <a:t>多角度数据来源的验证，如通过访谈和文档资料的结合。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j-ea"/>
                <a:ea typeface="+mj-ea"/>
                <a:cs typeface="Times New Roman" panose="02020603050405020304" pitchFamily="18" charset="0"/>
              </a:rPr>
              <a:t>5</a:t>
            </a:r>
            <a:r>
              <a:rPr lang="zh-CN" altLang="en-US" dirty="0">
                <a:latin typeface="+mj-ea"/>
                <a:ea typeface="+mj-ea"/>
                <a:cs typeface="Times New Roman" panose="02020603050405020304" pitchFamily="18" charset="0"/>
              </a:rPr>
              <a:t>、</a:t>
            </a:r>
            <a:r>
              <a:rPr lang="zh-CN" altLang="zh-CN" dirty="0">
                <a:latin typeface="+mj-ea"/>
                <a:ea typeface="+mj-ea"/>
                <a:cs typeface="Times New Roman" panose="02020603050405020304" pitchFamily="18" charset="0"/>
              </a:rPr>
              <a:t>数据分析方法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dirty="0">
                <a:latin typeface="+mj-ea"/>
                <a:ea typeface="+mj-ea"/>
                <a:cs typeface="Times New Roman" panose="02020603050405020304" pitchFamily="18" charset="0"/>
              </a:rPr>
              <a:t>数据分析方法的选择主要是依据预期的目标。包括定性或定量数据分析方法。</a:t>
            </a:r>
          </a:p>
          <a:p>
            <a:pPr>
              <a:lnSpc>
                <a:spcPct val="150000"/>
              </a:lnSpc>
            </a:pPr>
            <a:endParaRPr lang="zh-CN" altLang="zh-CN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zh-CN" altLang="zh-CN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C0B6D60-10C6-4DEE-983E-33501756E32E}"/>
              </a:ext>
            </a:extLst>
          </p:cNvPr>
          <p:cNvSpPr/>
          <p:nvPr/>
        </p:nvSpPr>
        <p:spPr>
          <a:xfrm>
            <a:off x="1684020" y="417399"/>
            <a:ext cx="7908175" cy="5493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3300" dirty="0">
                <a:latin typeface="+mn-ea"/>
                <a:cs typeface="+mj-cs"/>
              </a:rPr>
              <a:t>问题研究阶段的研究方案</a:t>
            </a:r>
          </a:p>
        </p:txBody>
      </p:sp>
    </p:spTree>
    <p:extLst>
      <p:ext uri="{BB962C8B-B14F-4D97-AF65-F5344CB8AC3E}">
        <p14:creationId xmlns:p14="http://schemas.microsoft.com/office/powerpoint/2010/main" val="7155937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0745BCA-AA41-4138-87C0-DB6ABF6B31FC}"/>
              </a:ext>
            </a:extLst>
          </p:cNvPr>
          <p:cNvSpPr/>
          <p:nvPr/>
        </p:nvSpPr>
        <p:spPr>
          <a:xfrm>
            <a:off x="174568" y="306378"/>
            <a:ext cx="5070544" cy="522546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zh-CN" sz="1600" b="1" kern="100" dirty="0">
                <a:solidFill>
                  <a:srgbClr val="000000"/>
                </a:solidFill>
                <a:highlight>
                  <a:srgbClr val="FFFF00"/>
                </a:highlight>
                <a:latin typeface="+mj-ea"/>
                <a:ea typeface="+mj-ea"/>
                <a:cs typeface="Times New Roman" panose="02020603050405020304" pitchFamily="18" charset="0"/>
              </a:rPr>
              <a:t>问题研究阶段的研究方案</a:t>
            </a:r>
            <a:endParaRPr lang="zh-CN" altLang="zh-CN" sz="1600" b="1" kern="100" dirty="0">
              <a:highlight>
                <a:srgbClr val="FFFF00"/>
              </a:highlight>
              <a:latin typeface="+mj-ea"/>
              <a:ea typeface="+mj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600" b="1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第一步：问题症状调研</a:t>
            </a:r>
            <a:endParaRPr lang="en-US" altLang="zh-CN" sz="1600" b="1" kern="100" dirty="0">
              <a:solidFill>
                <a:srgbClr val="000000"/>
              </a:solidFill>
              <a:latin typeface="+mj-ea"/>
              <a:ea typeface="+mj-ea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确定最大的问题是</a:t>
            </a:r>
            <a:r>
              <a:rPr lang="zh-CN" altLang="en-US" sz="1600" kern="100" dirty="0">
                <a:solidFill>
                  <a:srgbClr val="000000"/>
                </a:solidFill>
                <a:highlight>
                  <a:srgbClr val="00FF00"/>
                </a:highlight>
                <a:latin typeface="+mj-ea"/>
                <a:ea typeface="+mj-ea"/>
                <a:cs typeface="Times New Roman" panose="02020603050405020304" pitchFamily="18" charset="0"/>
              </a:rPr>
              <a:t>开发效率低和质量问题</a:t>
            </a:r>
            <a:endParaRPr lang="zh-CN" altLang="zh-CN" sz="1600" kern="100" dirty="0">
              <a:highlight>
                <a:srgbClr val="00FF00"/>
              </a:highlight>
              <a:latin typeface="+mj-ea"/>
              <a:ea typeface="+mj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600" b="1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第二步：问题诊断和呈现</a:t>
            </a:r>
            <a:endParaRPr lang="zh-CN" altLang="zh-CN" sz="1600" b="1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zh-CN" sz="16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针对开发效率低和质量问题症状，五大因素人、机、料、法、环出发，对原因进行分析</a:t>
            </a:r>
            <a:r>
              <a:rPr lang="zh-CN" altLang="en-US" sz="16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，得出</a:t>
            </a:r>
            <a:r>
              <a:rPr lang="zh-CN" altLang="zh-CN" sz="16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有</a:t>
            </a:r>
            <a:r>
              <a:rPr lang="zh-CN" altLang="zh-CN" sz="1600" kern="100" dirty="0">
                <a:solidFill>
                  <a:srgbClr val="000000"/>
                </a:solidFill>
                <a:highlight>
                  <a:srgbClr val="00FF00"/>
                </a:highlight>
                <a:latin typeface="+mj-ea"/>
                <a:ea typeface="+mj-ea"/>
                <a:cs typeface="Times New Roman" panose="02020603050405020304" pitchFamily="18" charset="0"/>
              </a:rPr>
              <a:t>流程问题、人员问题、机器问题</a:t>
            </a:r>
            <a:r>
              <a:rPr lang="en-US" altLang="zh-CN" sz="1600" kern="100" dirty="0">
                <a:solidFill>
                  <a:srgbClr val="000000"/>
                </a:solidFill>
                <a:highlight>
                  <a:srgbClr val="00FF00"/>
                </a:highlight>
                <a:latin typeface="+mj-ea"/>
                <a:ea typeface="+mj-ea"/>
                <a:cs typeface="Times New Roman" panose="02020603050405020304" pitchFamily="18" charset="0"/>
              </a:rPr>
              <a:t>3</a:t>
            </a:r>
            <a:r>
              <a:rPr lang="zh-CN" altLang="zh-CN" sz="1600" kern="100" dirty="0">
                <a:solidFill>
                  <a:srgbClr val="000000"/>
                </a:solidFill>
                <a:highlight>
                  <a:srgbClr val="00FF00"/>
                </a:highlight>
                <a:latin typeface="+mj-ea"/>
                <a:ea typeface="+mj-ea"/>
                <a:cs typeface="Times New Roman" panose="02020603050405020304" pitchFamily="18" charset="0"/>
              </a:rPr>
              <a:t>大类</a:t>
            </a:r>
            <a:r>
              <a:rPr lang="zh-CN" altLang="en-US" sz="16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。</a:t>
            </a:r>
            <a:endParaRPr lang="en-US" altLang="zh-CN" sz="1600" kern="100" dirty="0">
              <a:solidFill>
                <a:srgbClr val="000000"/>
              </a:solidFill>
              <a:latin typeface="+mj-ea"/>
              <a:ea typeface="+mj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600" b="1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第三步：关键问题诊断</a:t>
            </a:r>
            <a:endParaRPr lang="zh-CN" altLang="zh-CN" sz="1600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zh-CN" sz="16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分析得出</a:t>
            </a:r>
            <a:r>
              <a:rPr lang="en-US" altLang="zh-CN" sz="16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3</a:t>
            </a:r>
            <a:r>
              <a:rPr lang="zh-CN" altLang="zh-CN" sz="16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大类原因要素后，利用层次分析法分析得出</a:t>
            </a:r>
            <a:r>
              <a:rPr lang="zh-CN" altLang="zh-CN" sz="1600" kern="100" dirty="0">
                <a:solidFill>
                  <a:srgbClr val="000000"/>
                </a:solidFill>
                <a:highlight>
                  <a:srgbClr val="00FF00"/>
                </a:highlight>
                <a:latin typeface="+mj-ea"/>
                <a:ea typeface="+mj-ea"/>
                <a:cs typeface="Times New Roman" panose="02020603050405020304" pitchFamily="18" charset="0"/>
              </a:rPr>
              <a:t>主要原因</a:t>
            </a:r>
            <a:r>
              <a:rPr lang="zh-CN" altLang="en-US" sz="1600" kern="100" dirty="0">
                <a:solidFill>
                  <a:srgbClr val="000000"/>
                </a:solidFill>
                <a:highlight>
                  <a:srgbClr val="00FF00"/>
                </a:highlight>
                <a:latin typeface="+mj-ea"/>
                <a:ea typeface="+mj-ea"/>
                <a:cs typeface="Times New Roman" panose="02020603050405020304" pitchFamily="18" charset="0"/>
              </a:rPr>
              <a:t>是流程问题</a:t>
            </a:r>
            <a:r>
              <a:rPr lang="zh-CN" altLang="zh-CN" sz="16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。</a:t>
            </a:r>
            <a:endParaRPr lang="en-US" altLang="zh-CN" sz="1600" kern="100" dirty="0">
              <a:solidFill>
                <a:srgbClr val="000000"/>
              </a:solidFill>
              <a:latin typeface="+mj-ea"/>
              <a:ea typeface="+mj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600" b="1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第四步：流程问题的呈现</a:t>
            </a:r>
            <a:endParaRPr lang="zh-CN" altLang="zh-CN" sz="1600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zh-CN" sz="16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分析得出关键问题为流程问题以后，根据</a:t>
            </a:r>
            <a:r>
              <a:rPr lang="en-US" altLang="zh-CN" sz="16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CMMI</a:t>
            </a:r>
            <a:r>
              <a:rPr lang="zh-CN" altLang="zh-CN" sz="16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的推进方法</a:t>
            </a:r>
            <a:r>
              <a:rPr lang="en-US" altLang="zh-CN" sz="16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IDEAL</a:t>
            </a:r>
            <a:r>
              <a:rPr lang="zh-CN" altLang="zh-CN" sz="16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模型中</a:t>
            </a:r>
            <a:r>
              <a:rPr lang="en-US" altLang="zh-CN" sz="16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I</a:t>
            </a:r>
            <a:r>
              <a:rPr lang="zh-CN" altLang="zh-CN" sz="16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初始化和</a:t>
            </a:r>
            <a:r>
              <a:rPr lang="en-US" altLang="zh-CN" sz="16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D</a:t>
            </a:r>
            <a:r>
              <a:rPr lang="zh-CN" altLang="zh-CN" sz="16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诊断的阶段，确定</a:t>
            </a:r>
            <a:r>
              <a:rPr lang="zh-CN" altLang="zh-CN" sz="1600" kern="100" dirty="0">
                <a:solidFill>
                  <a:srgbClr val="000000"/>
                </a:solidFill>
                <a:highlight>
                  <a:srgbClr val="00FF00"/>
                </a:highlight>
                <a:latin typeface="+mj-ea"/>
                <a:ea typeface="+mj-ea"/>
                <a:cs typeface="Times New Roman" panose="02020603050405020304" pitchFamily="18" charset="0"/>
              </a:rPr>
              <a:t>具体的流程问题</a:t>
            </a:r>
            <a:r>
              <a:rPr lang="zh-CN" altLang="zh-CN" sz="16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。</a:t>
            </a:r>
            <a:endParaRPr lang="zh-CN" altLang="zh-CN" sz="1600" kern="100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E266377-AAF4-43B0-99A6-DD6066F3920F}"/>
              </a:ext>
            </a:extLst>
          </p:cNvPr>
          <p:cNvSpPr/>
          <p:nvPr/>
        </p:nvSpPr>
        <p:spPr>
          <a:xfrm>
            <a:off x="5645728" y="306378"/>
            <a:ext cx="6096000" cy="16158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按照以下步骤进行问题症状的调研：</a:t>
            </a:r>
            <a:endParaRPr lang="zh-CN" altLang="zh-CN" sz="1100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zh-CN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（</a:t>
            </a:r>
            <a:r>
              <a:rPr lang="en-US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1</a:t>
            </a:r>
            <a:r>
              <a:rPr lang="zh-CN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）成立调查小组。调查小组共计</a:t>
            </a:r>
            <a:r>
              <a:rPr lang="en-US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10</a:t>
            </a:r>
            <a:r>
              <a:rPr lang="zh-CN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人，其中高层</a:t>
            </a:r>
            <a:r>
              <a:rPr lang="en-US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3</a:t>
            </a:r>
            <a:r>
              <a:rPr lang="zh-CN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人，开发部门资深员工</a:t>
            </a:r>
            <a:r>
              <a:rPr lang="en-US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5</a:t>
            </a:r>
            <a:r>
              <a:rPr lang="zh-CN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人，监查部门</a:t>
            </a:r>
            <a:r>
              <a:rPr lang="en-US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2</a:t>
            </a:r>
            <a:r>
              <a:rPr lang="zh-CN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人。</a:t>
            </a:r>
            <a:endParaRPr lang="zh-CN" altLang="zh-CN" sz="1100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zh-CN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（</a:t>
            </a:r>
            <a:r>
              <a:rPr lang="en-US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2</a:t>
            </a:r>
            <a:r>
              <a:rPr lang="zh-CN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）影响客户因素的调查。设计了包括开发效率、开发质量、开发技术、管理水平、工作态度、沟通技巧、性价比、其他</a:t>
            </a:r>
            <a:r>
              <a:rPr lang="en-US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(</a:t>
            </a:r>
            <a:r>
              <a:rPr lang="zh-CN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调查者补充</a:t>
            </a:r>
            <a:r>
              <a:rPr lang="en-US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)8</a:t>
            </a:r>
            <a:r>
              <a:rPr lang="zh-CN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个因素的问卷。选取</a:t>
            </a:r>
            <a:r>
              <a:rPr lang="en-US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10</a:t>
            </a:r>
            <a:r>
              <a:rPr lang="zh-CN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人做了问卷测试，然后全公司内总发送问卷</a:t>
            </a:r>
            <a:r>
              <a:rPr lang="en-US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382</a:t>
            </a:r>
            <a:r>
              <a:rPr lang="zh-CN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份，收回有效问卷</a:t>
            </a:r>
            <a:r>
              <a:rPr lang="en-US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289</a:t>
            </a:r>
            <a:r>
              <a:rPr lang="zh-CN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份。分析得到，开发质量和开发效率得分分别为</a:t>
            </a:r>
            <a:r>
              <a:rPr lang="en-US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4.2</a:t>
            </a:r>
            <a:r>
              <a:rPr lang="zh-CN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分与</a:t>
            </a:r>
            <a:r>
              <a:rPr lang="en-US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3</a:t>
            </a:r>
            <a:r>
              <a:rPr lang="zh-CN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分，位居第一和第二。</a:t>
            </a:r>
            <a:endParaRPr lang="zh-CN" altLang="zh-CN" sz="1100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zh-CN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（</a:t>
            </a:r>
            <a:r>
              <a:rPr lang="en-US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3</a:t>
            </a:r>
            <a:r>
              <a:rPr lang="zh-CN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）整理客户反馈的问题。整理并分析了</a:t>
            </a:r>
            <a:r>
              <a:rPr lang="en-US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2015</a:t>
            </a:r>
            <a:r>
              <a:rPr lang="zh-CN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年到</a:t>
            </a:r>
            <a:r>
              <a:rPr lang="en-US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2018</a:t>
            </a:r>
            <a:r>
              <a:rPr lang="zh-CN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年期间客户反馈的问题</a:t>
            </a:r>
            <a:r>
              <a:rPr lang="en-US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160</a:t>
            </a:r>
            <a:r>
              <a:rPr lang="zh-CN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件，其中开发效率和质量问题件数占全体的</a:t>
            </a:r>
            <a:r>
              <a:rPr lang="en-US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68.13%</a:t>
            </a:r>
            <a:r>
              <a:rPr lang="zh-CN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，且有逐年增长的趋势，由此可见开发效率和质量问题突出。</a:t>
            </a:r>
            <a:endParaRPr lang="zh-CN" altLang="zh-CN" sz="1100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zh-CN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（</a:t>
            </a:r>
            <a:r>
              <a:rPr lang="en-US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4</a:t>
            </a:r>
            <a:r>
              <a:rPr lang="zh-CN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）症状分析。最大的问题是开发效率低和质量问题。</a:t>
            </a:r>
            <a:endParaRPr lang="zh-CN" altLang="zh-CN" kern="100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98304FC-5400-43F9-B975-81CE1D8DE7E6}"/>
              </a:ext>
            </a:extLst>
          </p:cNvPr>
          <p:cNvSpPr/>
          <p:nvPr/>
        </p:nvSpPr>
        <p:spPr>
          <a:xfrm>
            <a:off x="5645728" y="2133690"/>
            <a:ext cx="6096000" cy="212365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algn="just"/>
            <a:r>
              <a:rPr lang="zh-CN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利用头脑风暴按以下步骤分析原因要素。</a:t>
            </a:r>
          </a:p>
          <a:p>
            <a:pPr algn="just"/>
            <a:r>
              <a:rPr lang="zh-CN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（</a:t>
            </a:r>
            <a:r>
              <a:rPr lang="en-US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1</a:t>
            </a:r>
            <a:r>
              <a:rPr lang="zh-CN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）讨论问题的确定。影响部内开发效率和质量的因素有哪些？</a:t>
            </a:r>
          </a:p>
          <a:p>
            <a:pPr algn="just"/>
            <a:r>
              <a:rPr lang="zh-CN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（</a:t>
            </a:r>
            <a:r>
              <a:rPr lang="en-US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2</a:t>
            </a:r>
            <a:r>
              <a:rPr lang="zh-CN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）讨论会的前期宣传。设定了一个月的宣传期，做成广告版在公司内进行宣传，并要求各个项目经理在项目内进行宣传。同时指定一位负责人收集部门内人员反馈的所有意见，并反馈给参会的人员。</a:t>
            </a:r>
          </a:p>
          <a:p>
            <a:pPr algn="just"/>
            <a:r>
              <a:rPr lang="zh-CN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（</a:t>
            </a:r>
            <a:r>
              <a:rPr lang="en-US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3</a:t>
            </a:r>
            <a:r>
              <a:rPr lang="zh-CN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）参加讨论会议人员的选择。为了尽可能多的收集到来自不同专业、不同工作年限、不同职位的人员的想法。</a:t>
            </a:r>
          </a:p>
          <a:p>
            <a:pPr algn="just"/>
            <a:r>
              <a:rPr lang="zh-CN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（</a:t>
            </a:r>
            <a:r>
              <a:rPr lang="en-US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4</a:t>
            </a:r>
            <a:r>
              <a:rPr lang="zh-CN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）头脑风暴会议的实施。会议一共举行</a:t>
            </a:r>
            <a:r>
              <a:rPr lang="en-US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2</a:t>
            </a:r>
            <a:r>
              <a:rPr lang="zh-CN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次，第一次时长</a:t>
            </a:r>
            <a:r>
              <a:rPr lang="en-US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1</a:t>
            </a:r>
            <a:r>
              <a:rPr lang="zh-CN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个小时</a:t>
            </a:r>
            <a:r>
              <a:rPr lang="en-US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10</a:t>
            </a:r>
            <a:r>
              <a:rPr lang="zh-CN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分钟，平均</a:t>
            </a:r>
            <a:r>
              <a:rPr lang="en-US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1</a:t>
            </a:r>
            <a:r>
              <a:rPr lang="zh-CN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人</a:t>
            </a:r>
            <a:r>
              <a:rPr lang="en-US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5</a:t>
            </a:r>
            <a:r>
              <a:rPr lang="zh-CN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分钟，总共提出</a:t>
            </a:r>
            <a:r>
              <a:rPr lang="en-US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48</a:t>
            </a:r>
            <a:r>
              <a:rPr lang="zh-CN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条原因，将重复的部分删除整理后有</a:t>
            </a:r>
            <a:r>
              <a:rPr lang="en-US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22</a:t>
            </a:r>
            <a:r>
              <a:rPr lang="zh-CN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条。第二次会议</a:t>
            </a:r>
            <a:r>
              <a:rPr lang="en-US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30</a:t>
            </a:r>
            <a:r>
              <a:rPr lang="zh-CN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分钟，第一次会议提出的原因要素进行补充和确认，根据全面质量管理理论的</a:t>
            </a:r>
            <a:r>
              <a:rPr lang="en-US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5</a:t>
            </a:r>
            <a:r>
              <a:rPr lang="zh-CN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大要人、机、料、法、环对原因进行归类。</a:t>
            </a:r>
          </a:p>
          <a:p>
            <a:pPr algn="just"/>
            <a:r>
              <a:rPr lang="zh-CN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（</a:t>
            </a:r>
            <a:r>
              <a:rPr lang="en-US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5</a:t>
            </a:r>
            <a:r>
              <a:rPr lang="zh-CN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）数据分析。收集到的原因要素归类后，以鱼骨图的形式表示。有流程问题、人员问题、机器问题</a:t>
            </a:r>
            <a:r>
              <a:rPr lang="en-US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3</a:t>
            </a:r>
            <a:r>
              <a:rPr lang="zh-CN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大类。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9FB2166-F911-4638-9EBC-70A5A3341EAC}"/>
              </a:ext>
            </a:extLst>
          </p:cNvPr>
          <p:cNvSpPr/>
          <p:nvPr/>
        </p:nvSpPr>
        <p:spPr>
          <a:xfrm>
            <a:off x="5645728" y="4570368"/>
            <a:ext cx="6096000" cy="53860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按照层次分析法的建议，本次选取</a:t>
            </a:r>
            <a:r>
              <a:rPr lang="en-US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10</a:t>
            </a:r>
            <a:r>
              <a:rPr lang="zh-CN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名专家分析。得出各原因权重占比为流程问题</a:t>
            </a:r>
            <a:r>
              <a:rPr lang="en-US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&gt;</a:t>
            </a:r>
            <a:r>
              <a:rPr lang="zh-CN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人员问题</a:t>
            </a:r>
            <a:r>
              <a:rPr lang="en-US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&gt;</a:t>
            </a:r>
            <a:r>
              <a:rPr lang="zh-CN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机器问题。流程问题分别占比</a:t>
            </a:r>
            <a:r>
              <a:rPr lang="en-US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72.57%</a:t>
            </a:r>
            <a:r>
              <a:rPr lang="zh-CN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，为主要原因。综合判断需要解决的关键问题为流程问题</a:t>
            </a:r>
            <a:r>
              <a:rPr lang="zh-CN" altLang="zh-CN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。</a:t>
            </a:r>
            <a:endParaRPr lang="zh-CN" altLang="zh-CN" kern="100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3D1324C-2844-44F3-B2F6-6E72BF126703}"/>
              </a:ext>
            </a:extLst>
          </p:cNvPr>
          <p:cNvSpPr/>
          <p:nvPr/>
        </p:nvSpPr>
        <p:spPr>
          <a:xfrm>
            <a:off x="5645728" y="5421997"/>
            <a:ext cx="6096000" cy="43088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zh-CN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首先组织建立管理指导、软件过程改进小组、评估工作组，并设定一名质量保证人员，对流程改进全称进行监督。对照</a:t>
            </a:r>
            <a:r>
              <a:rPr lang="en-US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CMMI2.0</a:t>
            </a:r>
            <a:r>
              <a:rPr lang="zh-CN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体系</a:t>
            </a:r>
            <a:r>
              <a:rPr lang="en-US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5</a:t>
            </a:r>
            <a:r>
              <a:rPr lang="zh-CN" altLang="zh-CN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级，对内部流程进行评估</a:t>
            </a:r>
            <a:r>
              <a:rPr lang="zh-CN" altLang="en-US" sz="1100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AD63DC6-6308-49D3-B7AD-AA1C1A7BED40}"/>
              </a:ext>
            </a:extLst>
          </p:cNvPr>
          <p:cNvSpPr/>
          <p:nvPr/>
        </p:nvSpPr>
        <p:spPr>
          <a:xfrm>
            <a:off x="5186923" y="567998"/>
            <a:ext cx="61728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1</a:t>
            </a:r>
            <a:endParaRPr lang="zh-CN" altLang="en-US" sz="5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71D0354-5194-4D08-9182-1C109A466319}"/>
              </a:ext>
            </a:extLst>
          </p:cNvPr>
          <p:cNvSpPr/>
          <p:nvPr/>
        </p:nvSpPr>
        <p:spPr>
          <a:xfrm>
            <a:off x="5186922" y="2596304"/>
            <a:ext cx="61728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2</a:t>
            </a:r>
            <a:endParaRPr lang="zh-CN" altLang="en-US" sz="5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6B86CAF-0F6D-4386-9CF1-607EE7247545}"/>
              </a:ext>
            </a:extLst>
          </p:cNvPr>
          <p:cNvSpPr/>
          <p:nvPr/>
        </p:nvSpPr>
        <p:spPr>
          <a:xfrm>
            <a:off x="5136731" y="4319818"/>
            <a:ext cx="61728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3</a:t>
            </a:r>
            <a:endParaRPr lang="zh-CN" altLang="en-US" sz="5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064224D-2A40-459E-9747-969902F36F59}"/>
              </a:ext>
            </a:extLst>
          </p:cNvPr>
          <p:cNvSpPr/>
          <p:nvPr/>
        </p:nvSpPr>
        <p:spPr>
          <a:xfrm>
            <a:off x="5136730" y="5094503"/>
            <a:ext cx="61728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4</a:t>
            </a:r>
            <a:endParaRPr lang="zh-CN" altLang="en-US" sz="5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DD4BCB2-ECD1-425C-8E1A-4C69FC508192}"/>
              </a:ext>
            </a:extLst>
          </p:cNvPr>
          <p:cNvSpPr/>
          <p:nvPr/>
        </p:nvSpPr>
        <p:spPr>
          <a:xfrm>
            <a:off x="1816282" y="6121866"/>
            <a:ext cx="88088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en-US" sz="2400" kern="100" dirty="0">
                <a:solidFill>
                  <a:srgbClr val="000000"/>
                </a:solidFill>
                <a:highlight>
                  <a:srgbClr val="FFFF00"/>
                </a:highlight>
                <a:latin typeface="+mj-ea"/>
                <a:cs typeface="Times New Roman" panose="02020603050405020304" pitchFamily="18" charset="0"/>
              </a:rPr>
              <a:t>题目：</a:t>
            </a:r>
            <a:r>
              <a:rPr lang="zh-CN" altLang="zh-CN" sz="2400" kern="100" dirty="0">
                <a:solidFill>
                  <a:srgbClr val="000000"/>
                </a:solidFill>
                <a:highlight>
                  <a:srgbClr val="FFFF00"/>
                </a:highlight>
                <a:latin typeface="+mj-ea"/>
                <a:cs typeface="Times New Roman" panose="02020603050405020304" pitchFamily="18" charset="0"/>
              </a:rPr>
              <a:t>基于</a:t>
            </a:r>
            <a:r>
              <a:rPr lang="en-US" altLang="zh-CN" sz="2400" kern="100" dirty="0">
                <a:solidFill>
                  <a:srgbClr val="000000"/>
                </a:solidFill>
                <a:highlight>
                  <a:srgbClr val="FFFF00"/>
                </a:highlight>
                <a:latin typeface="+mj-ea"/>
                <a:cs typeface="Times New Roman" panose="02020603050405020304" pitchFamily="18" charset="0"/>
              </a:rPr>
              <a:t>CMMI</a:t>
            </a:r>
            <a:r>
              <a:rPr lang="zh-CN" altLang="zh-CN" sz="2400" kern="100" dirty="0">
                <a:solidFill>
                  <a:srgbClr val="000000"/>
                </a:solidFill>
                <a:highlight>
                  <a:srgbClr val="FFFF00"/>
                </a:highlight>
                <a:latin typeface="+mj-ea"/>
                <a:cs typeface="Times New Roman" panose="02020603050405020304" pitchFamily="18" charset="0"/>
              </a:rPr>
              <a:t>的汽车软件开发流程改进研究</a:t>
            </a:r>
            <a:r>
              <a:rPr lang="en-US" altLang="zh-CN" sz="2400" kern="100" dirty="0">
                <a:solidFill>
                  <a:srgbClr val="000000"/>
                </a:solidFill>
                <a:highlight>
                  <a:srgbClr val="FFFF00"/>
                </a:highlight>
                <a:latin typeface="+mj-ea"/>
                <a:cs typeface="Times New Roman" panose="02020603050405020304" pitchFamily="18" charset="0"/>
              </a:rPr>
              <a:t>—</a:t>
            </a:r>
            <a:r>
              <a:rPr lang="zh-CN" altLang="zh-CN" sz="2400" kern="100" dirty="0">
                <a:solidFill>
                  <a:srgbClr val="000000"/>
                </a:solidFill>
                <a:highlight>
                  <a:srgbClr val="FFFF00"/>
                </a:highlight>
                <a:latin typeface="+mj-ea"/>
                <a:cs typeface="Times New Roman" panose="02020603050405020304" pitchFamily="18" charset="0"/>
              </a:rPr>
              <a:t>以</a:t>
            </a:r>
            <a:r>
              <a:rPr lang="en-US" altLang="zh-CN" sz="2400" kern="100" dirty="0">
                <a:solidFill>
                  <a:srgbClr val="000000"/>
                </a:solidFill>
                <a:highlight>
                  <a:srgbClr val="FFFF00"/>
                </a:highlight>
                <a:latin typeface="+mj-ea"/>
                <a:cs typeface="Times New Roman" panose="02020603050405020304" pitchFamily="18" charset="0"/>
              </a:rPr>
              <a:t>T</a:t>
            </a:r>
            <a:r>
              <a:rPr lang="zh-CN" altLang="zh-CN" sz="2400" kern="100" dirty="0">
                <a:solidFill>
                  <a:srgbClr val="000000"/>
                </a:solidFill>
                <a:highlight>
                  <a:srgbClr val="FFFF00"/>
                </a:highlight>
                <a:latin typeface="+mj-ea"/>
                <a:cs typeface="Times New Roman" panose="02020603050405020304" pitchFamily="18" charset="0"/>
              </a:rPr>
              <a:t>公司为例。</a:t>
            </a:r>
            <a:endParaRPr lang="zh-CN" altLang="zh-CN" sz="2400" kern="100" dirty="0">
              <a:highlight>
                <a:srgbClr val="FFFF00"/>
              </a:highlight>
              <a:latin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54644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DCD85921-CDFC-4C7C-936D-5DA5232ADA49}"/>
              </a:ext>
            </a:extLst>
          </p:cNvPr>
          <p:cNvGraphicFramePr>
            <a:graphicFrameLocks noGrp="1"/>
          </p:cNvGraphicFramePr>
          <p:nvPr/>
        </p:nvGraphicFramePr>
        <p:xfrm>
          <a:off x="218497" y="1213461"/>
          <a:ext cx="11755006" cy="49377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21440">
                  <a:extLst>
                    <a:ext uri="{9D8B030D-6E8A-4147-A177-3AD203B41FA5}">
                      <a16:colId xmlns:a16="http://schemas.microsoft.com/office/drawing/2014/main" val="2014698161"/>
                    </a:ext>
                  </a:extLst>
                </a:gridCol>
                <a:gridCol w="1546806">
                  <a:extLst>
                    <a:ext uri="{9D8B030D-6E8A-4147-A177-3AD203B41FA5}">
                      <a16:colId xmlns:a16="http://schemas.microsoft.com/office/drawing/2014/main" val="3669247364"/>
                    </a:ext>
                  </a:extLst>
                </a:gridCol>
                <a:gridCol w="1338943">
                  <a:extLst>
                    <a:ext uri="{9D8B030D-6E8A-4147-A177-3AD203B41FA5}">
                      <a16:colId xmlns:a16="http://schemas.microsoft.com/office/drawing/2014/main" val="1697672819"/>
                    </a:ext>
                  </a:extLst>
                </a:gridCol>
                <a:gridCol w="3955239">
                  <a:extLst>
                    <a:ext uri="{9D8B030D-6E8A-4147-A177-3AD203B41FA5}">
                      <a16:colId xmlns:a16="http://schemas.microsoft.com/office/drawing/2014/main" val="1981349045"/>
                    </a:ext>
                  </a:extLst>
                </a:gridCol>
                <a:gridCol w="3892578">
                  <a:extLst>
                    <a:ext uri="{9D8B030D-6E8A-4147-A177-3AD203B41FA5}">
                      <a16:colId xmlns:a16="http://schemas.microsoft.com/office/drawing/2014/main" val="452530437"/>
                    </a:ext>
                  </a:extLst>
                </a:gridCol>
              </a:tblGrid>
              <a:tr h="33659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方式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描述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适合的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问题类型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优势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劣势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51041298"/>
                  </a:ext>
                </a:extLst>
              </a:tr>
              <a:tr h="50488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问卷调查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采用问卷进行抽样调查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是什么，怎么样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范围宽；时间成本相对较低；可形成量化的结论。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问题相对结构化、多轮的反复深入的成本较高。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49814674"/>
                  </a:ext>
                </a:extLst>
              </a:tr>
              <a:tr h="67318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案例调查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对案例发展过程进行深入剖析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为什么、怎样、什么时候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弹性比较大；信息量丰富；情境因素考虑完整。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样本较小；费时；数据结构低；归纳难度大。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5047651"/>
                  </a:ext>
                </a:extLst>
              </a:tr>
              <a:tr h="50488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访谈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对主题深入的信息和评论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为什么、怎么样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采用结构化、半结构化、非结构化的提问方式；弹性较大，可根据访谈过程调整；数据丰富，如语言、肢体等表达；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回忆的失准；访谈者可能提供偏见性答案；费时。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68536727"/>
                  </a:ext>
                </a:extLst>
              </a:tr>
              <a:tr h="50488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小组讨论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多人就某主题的小组讨论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为什么、怎么样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不同人（如不同专业）的观点交织和汇集；信息多样化。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费时；可能出现某人主导观点。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98034634"/>
                  </a:ext>
                </a:extLst>
              </a:tr>
              <a:tr h="41892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观察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参加项目会议等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是什么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能获得一手资料和深入理解；形成更丰富的感性认知。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较难获得；费时；存在客观评估的偏见；时间成本高。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96183056"/>
                  </a:ext>
                </a:extLst>
              </a:tr>
              <a:tr h="67318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文档资料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项目资料、文献资料等档案资料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是什么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不是专为研究而形成；准确和一致性较高；存储时间长；可以不受干扰地获得。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针对性较差；可能较难获得；需要进行加工和整理。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25675435"/>
                  </a:ext>
                </a:extLst>
              </a:tr>
            </a:tbl>
          </a:graphicData>
        </a:graphic>
      </p:graphicFrame>
      <p:sp>
        <p:nvSpPr>
          <p:cNvPr id="4" name="标题 1">
            <a:extLst>
              <a:ext uri="{FF2B5EF4-FFF2-40B4-BE49-F238E27FC236}">
                <a16:creationId xmlns:a16="http://schemas.microsoft.com/office/drawing/2014/main" id="{4E8844EA-6A4F-46C2-BE94-540C8825333B}"/>
              </a:ext>
            </a:extLst>
          </p:cNvPr>
          <p:cNvSpPr txBox="1">
            <a:spLocks noChangeArrowheads="1"/>
          </p:cNvSpPr>
          <p:nvPr/>
        </p:nvSpPr>
        <p:spPr>
          <a:xfrm>
            <a:off x="1675741" y="466647"/>
            <a:ext cx="5829300" cy="4868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/>
              <a:t>三、</a:t>
            </a:r>
            <a:r>
              <a:rPr lang="zh-CN" altLang="zh-CN" sz="3600" b="1" dirty="0"/>
              <a:t>调研：获得信息</a:t>
            </a:r>
            <a:endParaRPr lang="zh-CN" altLang="en-US" sz="3600" b="1" dirty="0"/>
          </a:p>
          <a:p>
            <a:endParaRPr lang="zh-CN" altLang="en-US" sz="330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4735245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5DBB2972-0B9B-49F2-83D3-92D9FC4F37A1}"/>
              </a:ext>
            </a:extLst>
          </p:cNvPr>
          <p:cNvSpPr txBox="1">
            <a:spLocks noChangeArrowheads="1"/>
          </p:cNvSpPr>
          <p:nvPr/>
        </p:nvSpPr>
        <p:spPr>
          <a:xfrm>
            <a:off x="1738086" y="446857"/>
            <a:ext cx="5829300" cy="4868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/>
              <a:t>四、分析</a:t>
            </a:r>
            <a:r>
              <a:rPr lang="zh-CN" altLang="zh-CN" sz="3600" b="1" dirty="0"/>
              <a:t>问题</a:t>
            </a:r>
            <a:endParaRPr lang="zh-CN" altLang="en-US" sz="3300" b="1" dirty="0">
              <a:latin typeface="+mj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505B623-FE6A-43E3-877C-0E651EB1EEE8}"/>
              </a:ext>
            </a:extLst>
          </p:cNvPr>
          <p:cNvSpPr/>
          <p:nvPr/>
        </p:nvSpPr>
        <p:spPr>
          <a:xfrm>
            <a:off x="393032" y="1131166"/>
            <a:ext cx="10804357" cy="4873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125000"/>
              </a:lnSpc>
              <a:spcBef>
                <a:spcPts val="600"/>
              </a:spcBef>
            </a:pPr>
            <a:r>
              <a:rPr lang="en-US" altLang="zh-CN" sz="2000" b="1" dirty="0">
                <a:latin typeface="+mj-ea"/>
                <a:ea typeface="+mj-ea"/>
              </a:rPr>
              <a:t>1</a:t>
            </a:r>
            <a:r>
              <a:rPr lang="zh-CN" altLang="en-US" sz="2000" b="1" dirty="0">
                <a:latin typeface="+mj-ea"/>
                <a:ea typeface="+mj-ea"/>
              </a:rPr>
              <a:t>、</a:t>
            </a:r>
            <a:r>
              <a:rPr lang="zh-CN" altLang="zh-CN" sz="2000" b="1" dirty="0">
                <a:latin typeface="+mj-ea"/>
                <a:ea typeface="+mj-ea"/>
              </a:rPr>
              <a:t>原因识别</a:t>
            </a:r>
            <a:endParaRPr lang="en-US" altLang="zh-CN" sz="2000" b="1" dirty="0">
              <a:latin typeface="+mj-ea"/>
              <a:ea typeface="+mj-ea"/>
            </a:endParaRPr>
          </a:p>
          <a:p>
            <a:pPr marL="0" lvl="1" indent="-342900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j-ea"/>
                <a:ea typeface="+mj-ea"/>
              </a:rPr>
              <a:t>识别问题产生的原因</a:t>
            </a:r>
            <a:endParaRPr lang="en-US" altLang="zh-CN" sz="2000" dirty="0">
              <a:latin typeface="+mj-ea"/>
              <a:ea typeface="+mj-ea"/>
            </a:endParaRPr>
          </a:p>
          <a:p>
            <a:pPr marL="0" lvl="1">
              <a:lnSpc>
                <a:spcPct val="125000"/>
              </a:lnSpc>
              <a:spcBef>
                <a:spcPts val="600"/>
              </a:spcBef>
            </a:pPr>
            <a:r>
              <a:rPr lang="en-US" altLang="zh-CN" sz="2000" b="1" dirty="0">
                <a:latin typeface="+mj-ea"/>
                <a:ea typeface="+mj-ea"/>
              </a:rPr>
              <a:t>2</a:t>
            </a:r>
            <a:r>
              <a:rPr lang="zh-CN" altLang="en-US" sz="2000" b="1" dirty="0">
                <a:latin typeface="+mj-ea"/>
                <a:ea typeface="+mj-ea"/>
              </a:rPr>
              <a:t>、</a:t>
            </a:r>
            <a:r>
              <a:rPr lang="zh-CN" altLang="zh-CN" sz="2000" b="1" dirty="0">
                <a:latin typeface="+mj-ea"/>
                <a:ea typeface="+mj-ea"/>
              </a:rPr>
              <a:t>问题程度</a:t>
            </a:r>
            <a:endParaRPr lang="en-US" altLang="zh-CN" sz="2000" b="1" dirty="0">
              <a:latin typeface="+mj-ea"/>
              <a:ea typeface="+mj-ea"/>
            </a:endParaRPr>
          </a:p>
          <a:p>
            <a:pPr marL="0" lvl="1" indent="-342900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sz="2000" dirty="0">
                <a:latin typeface="+mj-ea"/>
                <a:ea typeface="+mj-ea"/>
              </a:rPr>
              <a:t>针对不同的问题程度（或许需求的重要性程度），即便是同一个原因，采用的解决方案也会存在差异。</a:t>
            </a:r>
            <a:endParaRPr lang="en-US" altLang="zh-CN" sz="2000" dirty="0">
              <a:latin typeface="+mj-ea"/>
              <a:ea typeface="+mj-ea"/>
            </a:endParaRPr>
          </a:p>
          <a:p>
            <a:pPr marL="0" lvl="1" indent="-342900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sz="2000" dirty="0">
                <a:latin typeface="+mj-ea"/>
                <a:ea typeface="+mj-ea"/>
              </a:rPr>
              <a:t>以重要性程度高的问题作为核心问题和需要首要解决的问题。</a:t>
            </a:r>
          </a:p>
          <a:p>
            <a:pPr marL="0" lvl="1">
              <a:lnSpc>
                <a:spcPct val="125000"/>
              </a:lnSpc>
              <a:spcBef>
                <a:spcPts val="600"/>
              </a:spcBef>
            </a:pPr>
            <a:r>
              <a:rPr lang="en-US" altLang="zh-CN" sz="2000" b="1" dirty="0">
                <a:latin typeface="+mj-ea"/>
                <a:ea typeface="+mj-ea"/>
              </a:rPr>
              <a:t>3</a:t>
            </a:r>
            <a:r>
              <a:rPr lang="zh-CN" altLang="en-US" sz="2000" b="1" dirty="0">
                <a:latin typeface="+mj-ea"/>
                <a:ea typeface="+mj-ea"/>
              </a:rPr>
              <a:t>、</a:t>
            </a:r>
            <a:r>
              <a:rPr lang="zh-CN" altLang="zh-CN" sz="2000" b="1" dirty="0">
                <a:latin typeface="+mj-ea"/>
                <a:ea typeface="+mj-ea"/>
              </a:rPr>
              <a:t>原因重要性分析</a:t>
            </a:r>
            <a:endParaRPr lang="en-US" altLang="zh-CN" sz="2000" b="1" dirty="0">
              <a:latin typeface="+mj-ea"/>
              <a:ea typeface="+mj-ea"/>
            </a:endParaRPr>
          </a:p>
          <a:p>
            <a:pPr marL="0" lvl="1" indent="-342900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sz="2000" dirty="0">
                <a:latin typeface="+mj-ea"/>
                <a:ea typeface="+mj-ea"/>
              </a:rPr>
              <a:t>通过比较不同因素的解释力度，从而找识别最具解释力的因素</a:t>
            </a:r>
            <a:endParaRPr lang="en-US" altLang="zh-CN" sz="2000" dirty="0">
              <a:latin typeface="+mj-ea"/>
              <a:ea typeface="+mj-ea"/>
            </a:endParaRPr>
          </a:p>
          <a:p>
            <a:pPr marL="0" lvl="1">
              <a:lnSpc>
                <a:spcPct val="125000"/>
              </a:lnSpc>
              <a:spcBef>
                <a:spcPts val="600"/>
              </a:spcBef>
            </a:pPr>
            <a:r>
              <a:rPr lang="en-US" altLang="zh-CN" sz="2000" b="1" dirty="0">
                <a:latin typeface="+mj-ea"/>
                <a:ea typeface="+mj-ea"/>
              </a:rPr>
              <a:t>4</a:t>
            </a:r>
            <a:r>
              <a:rPr lang="zh-CN" altLang="en-US" sz="2000" b="1" dirty="0">
                <a:latin typeface="+mj-ea"/>
                <a:ea typeface="+mj-ea"/>
              </a:rPr>
              <a:t>、</a:t>
            </a:r>
            <a:r>
              <a:rPr lang="zh-CN" altLang="zh-CN" sz="2000" b="1" dirty="0">
                <a:latin typeface="+mj-ea"/>
                <a:ea typeface="+mj-ea"/>
              </a:rPr>
              <a:t>问题的再解读</a:t>
            </a:r>
            <a:endParaRPr lang="en-US" altLang="zh-CN" sz="2000" b="1" dirty="0">
              <a:latin typeface="+mj-ea"/>
              <a:ea typeface="+mj-ea"/>
            </a:endParaRPr>
          </a:p>
          <a:p>
            <a:pPr marL="0" lvl="1" indent="-342900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sz="2000" dirty="0">
                <a:latin typeface="+mj-ea"/>
                <a:ea typeface="+mj-ea"/>
              </a:rPr>
              <a:t>可以修正问题的假设或定义，对问题进行重新定义。如对需求和目的进行扩展，通过强调需求和目的，设计者可打破常规思维，寻求更多的思路。</a:t>
            </a:r>
            <a:endParaRPr lang="en-US" altLang="zh-CN" sz="20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872774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5DBB2972-0B9B-49F2-83D3-92D9FC4F37A1}"/>
              </a:ext>
            </a:extLst>
          </p:cNvPr>
          <p:cNvSpPr txBox="1">
            <a:spLocks noChangeArrowheads="1"/>
          </p:cNvSpPr>
          <p:nvPr/>
        </p:nvSpPr>
        <p:spPr>
          <a:xfrm>
            <a:off x="1738086" y="446857"/>
            <a:ext cx="5829300" cy="4868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/>
              <a:t>四、分析</a:t>
            </a:r>
            <a:r>
              <a:rPr lang="zh-CN" altLang="zh-CN" sz="3600" b="1" dirty="0"/>
              <a:t>问题</a:t>
            </a:r>
            <a:endParaRPr lang="zh-CN" altLang="en-US" sz="3300" b="1" dirty="0">
              <a:latin typeface="+mj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505B623-FE6A-43E3-877C-0E651EB1EEE8}"/>
              </a:ext>
            </a:extLst>
          </p:cNvPr>
          <p:cNvSpPr/>
          <p:nvPr/>
        </p:nvSpPr>
        <p:spPr>
          <a:xfrm>
            <a:off x="540327" y="1251482"/>
            <a:ext cx="9919893" cy="3219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altLang="zh-CN" sz="2000" b="1" dirty="0">
                <a:latin typeface="+mj-ea"/>
                <a:ea typeface="+mj-ea"/>
              </a:rPr>
              <a:t>1</a:t>
            </a:r>
            <a:r>
              <a:rPr lang="zh-CN" altLang="en-US" sz="2000" b="1" dirty="0">
                <a:latin typeface="+mj-ea"/>
                <a:ea typeface="+mj-ea"/>
              </a:rPr>
              <a:t>、问题的类别和构成</a:t>
            </a:r>
            <a:endParaRPr lang="en-US" altLang="zh-CN" sz="2000" b="1" dirty="0">
              <a:latin typeface="+mj-ea"/>
              <a:ea typeface="+mj-ea"/>
            </a:endParaRPr>
          </a:p>
          <a:p>
            <a:pPr marL="0" lvl="1" indent="-342900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sz="2000" dirty="0">
                <a:latin typeface="+mj-ea"/>
                <a:ea typeface="+mj-ea"/>
              </a:rPr>
              <a:t>厘清有哪些</a:t>
            </a:r>
            <a:r>
              <a:rPr lang="zh-CN" altLang="en-US" sz="2000" dirty="0">
                <a:latin typeface="+mj-ea"/>
                <a:ea typeface="+mj-ea"/>
              </a:rPr>
              <a:t>症状、症状之间的关联</a:t>
            </a:r>
            <a:endParaRPr lang="en-US" altLang="zh-CN" sz="2000" dirty="0">
              <a:latin typeface="+mj-ea"/>
              <a:ea typeface="+mj-ea"/>
            </a:endParaRPr>
          </a:p>
          <a:p>
            <a:pPr marL="0" lvl="1" indent="-342900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sz="2000" dirty="0">
                <a:latin typeface="+mj-ea"/>
                <a:ea typeface="+mj-ea"/>
              </a:rPr>
              <a:t>找出重要</a:t>
            </a:r>
            <a:r>
              <a:rPr lang="zh-CN" altLang="en-US" sz="2000" dirty="0">
                <a:latin typeface="+mj-ea"/>
                <a:ea typeface="+mj-ea"/>
              </a:rPr>
              <a:t>问题</a:t>
            </a:r>
            <a:r>
              <a:rPr lang="zh-CN" altLang="zh-CN" sz="2000" dirty="0">
                <a:latin typeface="+mj-ea"/>
                <a:ea typeface="+mj-ea"/>
              </a:rPr>
              <a:t>、关键</a:t>
            </a:r>
            <a:r>
              <a:rPr lang="zh-CN" altLang="en-US" sz="2000" dirty="0">
                <a:latin typeface="+mj-ea"/>
                <a:ea typeface="+mj-ea"/>
              </a:rPr>
              <a:t>问题</a:t>
            </a:r>
            <a:endParaRPr lang="zh-CN" altLang="zh-CN" sz="2000" dirty="0">
              <a:latin typeface="+mj-ea"/>
              <a:ea typeface="+mj-ea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altLang="zh-CN" sz="2000" b="1" dirty="0">
                <a:latin typeface="+mj-ea"/>
                <a:ea typeface="+mj-ea"/>
              </a:rPr>
              <a:t>2</a:t>
            </a:r>
            <a:r>
              <a:rPr lang="zh-CN" altLang="en-US" sz="2000" b="1" dirty="0">
                <a:latin typeface="+mj-ea"/>
                <a:ea typeface="+mj-ea"/>
              </a:rPr>
              <a:t>、问题的现状和预期状态</a:t>
            </a:r>
            <a:endParaRPr lang="en-US" altLang="zh-CN" sz="2000" b="1" dirty="0">
              <a:latin typeface="+mj-ea"/>
              <a:ea typeface="+mj-ea"/>
            </a:endParaRPr>
          </a:p>
          <a:p>
            <a:pPr marL="0" lvl="1" indent="-342900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sz="2000" dirty="0">
                <a:latin typeface="+mj-ea"/>
                <a:ea typeface="+mj-ea"/>
              </a:rPr>
              <a:t>确定解决的问题要</a:t>
            </a:r>
            <a:r>
              <a:rPr lang="zh-CN" altLang="en-US" sz="2000" dirty="0">
                <a:latin typeface="+mj-ea"/>
                <a:ea typeface="+mj-ea"/>
              </a:rPr>
              <a:t>达到的预期状态，分析当前的状态</a:t>
            </a:r>
            <a:endParaRPr lang="en-US" altLang="zh-CN" sz="2000" dirty="0">
              <a:latin typeface="+mj-ea"/>
              <a:ea typeface="+mj-ea"/>
            </a:endParaRPr>
          </a:p>
          <a:p>
            <a:pPr marL="0" lvl="1" indent="-342900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j-ea"/>
                <a:ea typeface="+mj-ea"/>
              </a:rPr>
              <a:t>实现预期状态</a:t>
            </a:r>
            <a:r>
              <a:rPr lang="zh-CN" altLang="zh-CN" sz="2000" dirty="0">
                <a:latin typeface="+mj-ea"/>
                <a:ea typeface="+mj-ea"/>
              </a:rPr>
              <a:t>所须具备的条件</a:t>
            </a:r>
            <a:r>
              <a:rPr lang="zh-CN" altLang="en-US" sz="2000" dirty="0">
                <a:latin typeface="+mj-ea"/>
                <a:ea typeface="+mj-ea"/>
              </a:rPr>
              <a:t>和路径</a:t>
            </a:r>
            <a:endParaRPr lang="en-US" altLang="zh-CN" sz="2000" dirty="0">
              <a:latin typeface="+mj-ea"/>
              <a:ea typeface="+mj-ea"/>
            </a:endParaRPr>
          </a:p>
          <a:p>
            <a:pPr marL="0" lvl="1" indent="-342900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sz="2000" dirty="0">
                <a:latin typeface="+mj-ea"/>
                <a:ea typeface="+mj-ea"/>
              </a:rPr>
              <a:t>其间的关系和已具有哪些条件</a:t>
            </a:r>
            <a:endParaRPr lang="en-US" altLang="zh-CN" sz="2000" dirty="0">
              <a:latin typeface="+mj-ea"/>
              <a:ea typeface="+mj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5A688D-35A7-4B93-8623-2D9AAAD2CADF}"/>
              </a:ext>
            </a:extLst>
          </p:cNvPr>
          <p:cNvSpPr/>
          <p:nvPr/>
        </p:nvSpPr>
        <p:spPr>
          <a:xfrm>
            <a:off x="2151270" y="6041811"/>
            <a:ext cx="6265888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zh-CN" altLang="zh-CN" kern="100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中医</a:t>
            </a: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：思外揣内、见微知著、以常衡变、因发知受。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2D386C5-6FBA-4C7A-8F34-8ABBC1420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0992" y="3368178"/>
            <a:ext cx="2851144" cy="2080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4676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73A46B4-7637-4AAB-83BB-8613A2E24B36}"/>
              </a:ext>
            </a:extLst>
          </p:cNvPr>
          <p:cNvSpPr/>
          <p:nvPr/>
        </p:nvSpPr>
        <p:spPr>
          <a:xfrm>
            <a:off x="432263" y="1232654"/>
            <a:ext cx="5746866" cy="3103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b="1" dirty="0">
                <a:latin typeface="+mj-ea"/>
                <a:ea typeface="+mj-ea"/>
              </a:rPr>
              <a:t>1</a:t>
            </a:r>
            <a:r>
              <a:rPr lang="zh-CN" altLang="en-US" sz="2000" b="1" dirty="0">
                <a:latin typeface="+mj-ea"/>
                <a:ea typeface="+mj-ea"/>
              </a:rPr>
              <a:t>、从理论到具体的演绎推理</a:t>
            </a:r>
            <a:endParaRPr lang="en-US" altLang="zh-CN" sz="2000" b="1" dirty="0">
              <a:latin typeface="+mj-ea"/>
              <a:ea typeface="+mj-ea"/>
            </a:endParaRPr>
          </a:p>
          <a:p>
            <a:pPr marL="800100" lvl="1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zh-CN" sz="2000" dirty="0">
                <a:latin typeface="+mj-ea"/>
                <a:ea typeface="+mj-ea"/>
              </a:rPr>
              <a:t>选择理论</a:t>
            </a:r>
            <a:endParaRPr lang="en-US" altLang="zh-CN" sz="2000" dirty="0">
              <a:latin typeface="+mj-ea"/>
              <a:ea typeface="+mj-ea"/>
            </a:endParaRPr>
          </a:p>
          <a:p>
            <a:pPr marL="800100" lvl="1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zh-CN" sz="2000" dirty="0">
                <a:latin typeface="+mj-ea"/>
                <a:ea typeface="+mj-ea"/>
              </a:rPr>
              <a:t>确定问题的理论类别</a:t>
            </a:r>
            <a:endParaRPr lang="en-US" altLang="zh-CN" sz="2000" dirty="0">
              <a:latin typeface="+mj-ea"/>
              <a:ea typeface="+mj-ea"/>
            </a:endParaRPr>
          </a:p>
          <a:p>
            <a:pPr marL="800100" lvl="1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zh-CN" sz="2000" dirty="0">
                <a:latin typeface="+mj-ea"/>
                <a:ea typeface="+mj-ea"/>
              </a:rPr>
              <a:t>理论层面的推演</a:t>
            </a:r>
            <a:endParaRPr lang="en-US" altLang="zh-CN" sz="2000" dirty="0">
              <a:latin typeface="+mj-ea"/>
              <a:ea typeface="+mj-ea"/>
            </a:endParaRPr>
          </a:p>
          <a:p>
            <a:pPr marL="800100" lvl="1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zh-CN" sz="2000" dirty="0">
                <a:latin typeface="+mj-ea"/>
                <a:ea typeface="+mj-ea"/>
              </a:rPr>
              <a:t>再</a:t>
            </a:r>
            <a:r>
              <a:rPr lang="zh-CN" altLang="en-US" sz="2000" dirty="0">
                <a:latin typeface="+mj-ea"/>
                <a:ea typeface="+mj-ea"/>
              </a:rPr>
              <a:t>比较现实的一致性</a:t>
            </a:r>
            <a:endParaRPr lang="en-US" altLang="zh-CN" sz="2000" dirty="0">
              <a:latin typeface="+mj-ea"/>
              <a:ea typeface="+mj-ea"/>
            </a:endParaRPr>
          </a:p>
          <a:p>
            <a:pPr>
              <a:lnSpc>
                <a:spcPct val="125000"/>
              </a:lnSpc>
            </a:pPr>
            <a:r>
              <a:rPr lang="en-US" altLang="zh-CN" dirty="0">
                <a:solidFill>
                  <a:srgbClr val="000000"/>
                </a:solidFill>
                <a:latin typeface="宋体殜.胧.."/>
              </a:rPr>
              <a:t>2</a:t>
            </a:r>
            <a:r>
              <a:rPr lang="zh-CN" altLang="en-US" dirty="0">
                <a:solidFill>
                  <a:srgbClr val="000000"/>
                </a:solidFill>
                <a:latin typeface="宋体殜.胧.."/>
              </a:rPr>
              <a:t>、从具体到一般的归纳推理</a:t>
            </a:r>
            <a:endParaRPr lang="en-US" altLang="zh-CN" dirty="0">
              <a:solidFill>
                <a:srgbClr val="000000"/>
              </a:solidFill>
              <a:latin typeface="宋体殜.胧.."/>
            </a:endParaRPr>
          </a:p>
          <a:p>
            <a:pPr marL="800100" lvl="1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j-ea"/>
                <a:ea typeface="+mj-ea"/>
              </a:rPr>
              <a:t>收集数据</a:t>
            </a:r>
            <a:endParaRPr lang="en-US" altLang="zh-CN" sz="2000" dirty="0">
              <a:latin typeface="+mj-ea"/>
              <a:ea typeface="+mj-ea"/>
            </a:endParaRPr>
          </a:p>
          <a:p>
            <a:pPr marL="800100" lvl="1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j-ea"/>
                <a:ea typeface="+mj-ea"/>
              </a:rPr>
              <a:t>从数据中归纳形成类别</a:t>
            </a: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A11263CF-D8C2-41F0-82D5-A906B5A50C86}"/>
              </a:ext>
            </a:extLst>
          </p:cNvPr>
          <p:cNvSpPr txBox="1">
            <a:spLocks noChangeArrowheads="1"/>
          </p:cNvSpPr>
          <p:nvPr/>
        </p:nvSpPr>
        <p:spPr>
          <a:xfrm>
            <a:off x="1738086" y="446857"/>
            <a:ext cx="5829300" cy="4868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/>
              <a:t>四、分析</a:t>
            </a:r>
            <a:r>
              <a:rPr lang="zh-CN" altLang="zh-CN" sz="3600" b="1" dirty="0"/>
              <a:t>问题</a:t>
            </a:r>
            <a:endParaRPr lang="zh-CN" altLang="en-US" sz="3300" b="1" dirty="0">
              <a:latin typeface="+mj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F79D9BA-99A4-45BE-AC90-DE7C0AFA769E}"/>
              </a:ext>
            </a:extLst>
          </p:cNvPr>
          <p:cNvSpPr txBox="1"/>
          <p:nvPr/>
        </p:nvSpPr>
        <p:spPr>
          <a:xfrm>
            <a:off x="5610275" y="3313347"/>
            <a:ext cx="485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a1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E3135B4-89F4-43B6-ABA1-79A98C7F350E}"/>
              </a:ext>
            </a:extLst>
          </p:cNvPr>
          <p:cNvSpPr txBox="1"/>
          <p:nvPr/>
        </p:nvSpPr>
        <p:spPr>
          <a:xfrm>
            <a:off x="5610276" y="3840912"/>
            <a:ext cx="485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a2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80C79FF-13EF-48D2-89C6-84A2083359CB}"/>
              </a:ext>
            </a:extLst>
          </p:cNvPr>
          <p:cNvSpPr txBox="1"/>
          <p:nvPr/>
        </p:nvSpPr>
        <p:spPr>
          <a:xfrm>
            <a:off x="5610275" y="4448237"/>
            <a:ext cx="485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a3</a:t>
            </a:r>
            <a:endParaRPr lang="zh-CN" altLang="en-US" dirty="0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7F36E6F7-9904-47AC-B6F1-E5B6AE9D7A54}"/>
              </a:ext>
            </a:extLst>
          </p:cNvPr>
          <p:cNvCxnSpPr>
            <a:stCxn id="2" idx="3"/>
          </p:cNvCxnSpPr>
          <p:nvPr/>
        </p:nvCxnSpPr>
        <p:spPr>
          <a:xfrm>
            <a:off x="6095998" y="3498013"/>
            <a:ext cx="899888" cy="4281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F6D63E27-DD95-4282-9CB2-93A632685749}"/>
              </a:ext>
            </a:extLst>
          </p:cNvPr>
          <p:cNvSpPr txBox="1"/>
          <p:nvPr/>
        </p:nvSpPr>
        <p:spPr>
          <a:xfrm>
            <a:off x="6995886" y="3840912"/>
            <a:ext cx="485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C369806D-80E9-416F-8597-EEFD56738020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6012867" y="4025578"/>
            <a:ext cx="983019" cy="4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F644ACF5-0C3E-4026-A551-E00AEC7832EE}"/>
              </a:ext>
            </a:extLst>
          </p:cNvPr>
          <p:cNvCxnSpPr>
            <a:cxnSpLocks/>
          </p:cNvCxnSpPr>
          <p:nvPr/>
        </p:nvCxnSpPr>
        <p:spPr>
          <a:xfrm flipV="1">
            <a:off x="5925781" y="4141190"/>
            <a:ext cx="1128162" cy="4678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CDEA1CF9-2C27-4B41-9065-8140AE12F0F3}"/>
              </a:ext>
            </a:extLst>
          </p:cNvPr>
          <p:cNvSpPr txBox="1"/>
          <p:nvPr/>
        </p:nvSpPr>
        <p:spPr>
          <a:xfrm>
            <a:off x="5610275" y="1428557"/>
            <a:ext cx="485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a1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EE02888-17CA-46C5-8C2B-0C76D7E72499}"/>
              </a:ext>
            </a:extLst>
          </p:cNvPr>
          <p:cNvSpPr txBox="1"/>
          <p:nvPr/>
        </p:nvSpPr>
        <p:spPr>
          <a:xfrm>
            <a:off x="5610276" y="1956122"/>
            <a:ext cx="485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a2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F658CCA-E1B8-40F3-AB62-DC4493FE75CE}"/>
              </a:ext>
            </a:extLst>
          </p:cNvPr>
          <p:cNvSpPr txBox="1"/>
          <p:nvPr/>
        </p:nvSpPr>
        <p:spPr>
          <a:xfrm>
            <a:off x="5610275" y="2563447"/>
            <a:ext cx="485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a3</a:t>
            </a:r>
            <a:endParaRPr lang="zh-CN" altLang="en-US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916F1DA2-3347-435F-9152-0FD840DD84D1}"/>
              </a:ext>
            </a:extLst>
          </p:cNvPr>
          <p:cNvCxnSpPr>
            <a:cxnSpLocks/>
          </p:cNvCxnSpPr>
          <p:nvPr/>
        </p:nvCxnSpPr>
        <p:spPr>
          <a:xfrm flipH="1" flipV="1">
            <a:off x="5956136" y="1577155"/>
            <a:ext cx="1097807" cy="4587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4B741183-68BD-4A8A-964B-1697BA37E8CF}"/>
              </a:ext>
            </a:extLst>
          </p:cNvPr>
          <p:cNvSpPr txBox="1"/>
          <p:nvPr/>
        </p:nvSpPr>
        <p:spPr>
          <a:xfrm>
            <a:off x="6995886" y="1956122"/>
            <a:ext cx="485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43B3D5E5-65DC-4C54-9373-0D8667C2C869}"/>
              </a:ext>
            </a:extLst>
          </p:cNvPr>
          <p:cNvCxnSpPr>
            <a:cxnSpLocks/>
            <a:stCxn id="19" idx="1"/>
            <a:endCxn id="16" idx="3"/>
          </p:cNvCxnSpPr>
          <p:nvPr/>
        </p:nvCxnSpPr>
        <p:spPr>
          <a:xfrm flipH="1">
            <a:off x="6095999" y="2140788"/>
            <a:ext cx="8998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445ED36D-7128-4DCD-AA40-CF623C1C4AC6}"/>
              </a:ext>
            </a:extLst>
          </p:cNvPr>
          <p:cNvCxnSpPr>
            <a:cxnSpLocks/>
          </p:cNvCxnSpPr>
          <p:nvPr/>
        </p:nvCxnSpPr>
        <p:spPr>
          <a:xfrm flipH="1">
            <a:off x="5956136" y="2250958"/>
            <a:ext cx="1036952" cy="4894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75D7D35E-E89C-4349-8419-D9A284DFCDFA}"/>
              </a:ext>
            </a:extLst>
          </p:cNvPr>
          <p:cNvSpPr/>
          <p:nvPr/>
        </p:nvSpPr>
        <p:spPr>
          <a:xfrm>
            <a:off x="4395753" y="6041811"/>
            <a:ext cx="3293520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kern="100" dirty="0">
                <a:latin typeface="+mj-ea"/>
                <a:ea typeface="+mj-ea"/>
                <a:cs typeface="Times New Roman" panose="02020603050405020304" pitchFamily="18" charset="0"/>
              </a:rPr>
              <a:t>有一定的理论知识储备</a:t>
            </a:r>
            <a:endParaRPr lang="zh-CN" altLang="zh-CN" kern="100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43112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5DBB2972-0B9B-49F2-83D3-92D9FC4F37A1}"/>
              </a:ext>
            </a:extLst>
          </p:cNvPr>
          <p:cNvSpPr txBox="1">
            <a:spLocks noChangeArrowheads="1"/>
          </p:cNvSpPr>
          <p:nvPr/>
        </p:nvSpPr>
        <p:spPr>
          <a:xfrm>
            <a:off x="1748972" y="433972"/>
            <a:ext cx="6350000" cy="50219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/>
              <a:t>四、分析</a:t>
            </a:r>
            <a:r>
              <a:rPr lang="zh-CN" altLang="zh-CN" sz="3600" b="1" dirty="0"/>
              <a:t>问题</a:t>
            </a:r>
            <a:r>
              <a:rPr lang="zh-CN" altLang="en-US" sz="3600" b="1" dirty="0"/>
              <a:t>：定性数据分析</a:t>
            </a:r>
            <a:endParaRPr lang="zh-CN" altLang="en-US" sz="3300" b="1" dirty="0">
              <a:latin typeface="+mj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505B623-FE6A-43E3-877C-0E651EB1EEE8}"/>
              </a:ext>
            </a:extLst>
          </p:cNvPr>
          <p:cNvSpPr/>
          <p:nvPr/>
        </p:nvSpPr>
        <p:spPr>
          <a:xfrm>
            <a:off x="448887" y="1251482"/>
            <a:ext cx="9938377" cy="36810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altLang="zh-CN" sz="2000" b="1" dirty="0">
                <a:latin typeface="+mj-ea"/>
                <a:ea typeface="+mj-ea"/>
              </a:rPr>
              <a:t>1</a:t>
            </a:r>
            <a:r>
              <a:rPr lang="zh-CN" altLang="en-US" sz="2000" b="1" dirty="0">
                <a:latin typeface="+mj-ea"/>
                <a:ea typeface="+mj-ea"/>
              </a:rPr>
              <a:t>、初步形成类别</a:t>
            </a:r>
            <a:endParaRPr lang="en-US" altLang="zh-CN" sz="2000" b="1" dirty="0">
              <a:latin typeface="+mj-ea"/>
              <a:ea typeface="+mj-ea"/>
            </a:endParaRPr>
          </a:p>
          <a:p>
            <a:pPr marL="742950" lvl="1" indent="-285750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j-ea"/>
                <a:ea typeface="+mj-ea"/>
              </a:rPr>
              <a:t>通过收集的数据，识别初步的类别</a:t>
            </a:r>
            <a:endParaRPr lang="en-US" altLang="zh-CN" sz="2000" dirty="0">
              <a:latin typeface="+mj-ea"/>
              <a:ea typeface="+mj-ea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altLang="zh-CN" sz="2000" b="1" dirty="0">
                <a:latin typeface="+mj-ea"/>
                <a:ea typeface="+mj-ea"/>
              </a:rPr>
              <a:t>2</a:t>
            </a:r>
            <a:r>
              <a:rPr lang="zh-CN" altLang="en-US" sz="2000" b="1" dirty="0">
                <a:latin typeface="+mj-ea"/>
                <a:ea typeface="+mj-ea"/>
              </a:rPr>
              <a:t>、修正和调整类别</a:t>
            </a:r>
            <a:endParaRPr lang="en-US" altLang="zh-CN" sz="2000" b="1" dirty="0">
              <a:latin typeface="+mj-ea"/>
              <a:ea typeface="+mj-ea"/>
            </a:endParaRPr>
          </a:p>
          <a:p>
            <a:pPr marL="742950" lvl="1" indent="-285750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j-ea"/>
                <a:ea typeface="+mj-ea"/>
              </a:rPr>
              <a:t>进一步分析类别</a:t>
            </a:r>
            <a:endParaRPr lang="en-US" altLang="zh-CN" sz="2000" dirty="0">
              <a:latin typeface="+mj-ea"/>
              <a:ea typeface="+mj-ea"/>
            </a:endParaRPr>
          </a:p>
          <a:p>
            <a:pPr marL="742950" lvl="1" indent="-285750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j-ea"/>
                <a:ea typeface="+mj-ea"/>
              </a:rPr>
              <a:t>在需要的情况下，进一步收集数据</a:t>
            </a:r>
            <a:endParaRPr lang="en-US" altLang="zh-CN" sz="2000" dirty="0">
              <a:latin typeface="+mj-ea"/>
              <a:ea typeface="+mj-ea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altLang="zh-CN" sz="2000" b="1" dirty="0">
                <a:latin typeface="+mj-ea"/>
                <a:ea typeface="+mj-ea"/>
              </a:rPr>
              <a:t>3</a:t>
            </a:r>
            <a:r>
              <a:rPr lang="zh-CN" altLang="en-US" sz="2000" b="1" dirty="0">
                <a:latin typeface="+mj-ea"/>
                <a:ea typeface="+mj-ea"/>
              </a:rPr>
              <a:t>、稳定类别：</a:t>
            </a:r>
            <a:endParaRPr lang="en-US" altLang="zh-CN" sz="2000" b="1" dirty="0">
              <a:latin typeface="+mj-ea"/>
              <a:ea typeface="+mj-ea"/>
            </a:endParaRPr>
          </a:p>
          <a:p>
            <a:pPr marL="742950" lvl="1" indent="-285750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j-ea"/>
                <a:ea typeface="+mj-ea"/>
              </a:rPr>
              <a:t>再分析类别</a:t>
            </a:r>
            <a:endParaRPr lang="en-US" altLang="zh-CN" sz="2000" dirty="0">
              <a:latin typeface="+mj-ea"/>
              <a:ea typeface="+mj-ea"/>
            </a:endParaRPr>
          </a:p>
          <a:p>
            <a:pPr marL="742950" lvl="1" indent="-285750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j-ea"/>
                <a:ea typeface="+mj-ea"/>
              </a:rPr>
              <a:t>对类别与症状的关系进行解释</a:t>
            </a:r>
            <a:endParaRPr lang="en-US" altLang="zh-CN" sz="2000" dirty="0">
              <a:latin typeface="+mj-ea"/>
              <a:ea typeface="+mj-ea"/>
            </a:endParaRPr>
          </a:p>
        </p:txBody>
      </p:sp>
      <p:pic>
        <p:nvPicPr>
          <p:cNvPr id="2050" name="Picture 2" descr="https://gimg2.baidu.com/image_search/src=http%3A%2F%2Fupload-images.jianshu.io%2Fupload_images%2F1719125-a2c2803305903772.jpg&amp;refer=http%3A%2F%2Fupload-images.jianshu.io&amp;app=2002&amp;size=f9999,10000&amp;q=a80&amp;n=0&amp;g=0n&amp;fmt=auto?sec=1670135888&amp;t=0ef788f07b8f51aac8f5e34ecc4fddde">
            <a:extLst>
              <a:ext uri="{FF2B5EF4-FFF2-40B4-BE49-F238E27FC236}">
                <a16:creationId xmlns:a16="http://schemas.microsoft.com/office/drawing/2014/main" id="{0524DFC9-CEC7-4EC0-B8C4-7DA62D7870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360824"/>
            <a:ext cx="4135664" cy="2250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46508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A51D742-906B-4E2F-83E5-404FC33EA6C0}"/>
              </a:ext>
            </a:extLst>
          </p:cNvPr>
          <p:cNvSpPr/>
          <p:nvPr/>
        </p:nvSpPr>
        <p:spPr>
          <a:xfrm>
            <a:off x="402770" y="1224002"/>
            <a:ext cx="10798629" cy="36810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zh-CN" altLang="en-US" sz="2000" b="1" kern="100" dirty="0">
                <a:latin typeface="+mj-ea"/>
                <a:ea typeface="+mj-ea"/>
                <a:cs typeface="Times New Roman" panose="02020603050405020304" pitchFamily="18" charset="0"/>
              </a:rPr>
              <a:t>类别划分</a:t>
            </a:r>
            <a:r>
              <a:rPr lang="zh-CN" altLang="zh-CN" sz="2000" b="1" kern="100" dirty="0">
                <a:latin typeface="+mj-ea"/>
                <a:ea typeface="+mj-ea"/>
                <a:cs typeface="Times New Roman" panose="02020603050405020304" pitchFamily="18" charset="0"/>
              </a:rPr>
              <a:t>：</a:t>
            </a:r>
          </a:p>
          <a:p>
            <a:pPr marL="285750" indent="-285750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sz="2000" kern="100" dirty="0">
                <a:latin typeface="+mj-ea"/>
                <a:ea typeface="+mj-ea"/>
                <a:cs typeface="Times New Roman" panose="02020603050405020304" pitchFamily="18" charset="0"/>
              </a:rPr>
              <a:t>同一级的描述特征和逻辑一致。</a:t>
            </a:r>
            <a:endParaRPr lang="en-US" altLang="zh-CN" sz="2000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sz="2000" kern="100" dirty="0">
                <a:latin typeface="+mj-ea"/>
                <a:ea typeface="+mj-ea"/>
                <a:cs typeface="Times New Roman" panose="02020603050405020304" pitchFamily="18" charset="0"/>
              </a:rPr>
              <a:t>如对事件的特征描述中，特征描述方向是一致的；</a:t>
            </a:r>
            <a:endParaRPr lang="en-US" altLang="zh-CN" sz="2000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sz="2000" kern="100" dirty="0">
                <a:latin typeface="+mj-ea"/>
                <a:ea typeface="+mj-ea"/>
                <a:cs typeface="Times New Roman" panose="02020603050405020304" pitchFamily="18" charset="0"/>
              </a:rPr>
              <a:t>对某一个阶段的事件描述时，遵循的是发生时间一致性原则。</a:t>
            </a:r>
          </a:p>
          <a:p>
            <a:pPr marL="285750" indent="-285750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sz="2000" kern="100" dirty="0">
                <a:latin typeface="+mj-ea"/>
                <a:ea typeface="+mj-ea"/>
                <a:cs typeface="Times New Roman" panose="02020603050405020304" pitchFamily="18" charset="0"/>
              </a:rPr>
              <a:t>同一级排序具有一定的规律和逻辑</a:t>
            </a:r>
            <a:r>
              <a:rPr lang="zh-CN" altLang="en-US" sz="2000" kern="100" dirty="0">
                <a:latin typeface="+mj-ea"/>
                <a:ea typeface="+mj-ea"/>
                <a:cs typeface="Times New Roman" panose="02020603050405020304" pitchFamily="18" charset="0"/>
              </a:rPr>
              <a:t>：</a:t>
            </a:r>
            <a:endParaRPr lang="en-US" altLang="zh-CN" sz="2000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sz="2000" kern="100" dirty="0">
                <a:latin typeface="+mj-ea"/>
                <a:ea typeface="+mj-ea"/>
                <a:cs typeface="Times New Roman" panose="02020603050405020304" pitchFamily="18" charset="0"/>
              </a:rPr>
              <a:t>如重要性的差别等。</a:t>
            </a:r>
          </a:p>
          <a:p>
            <a:pPr marL="285750" indent="-285750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sz="2000" kern="100" dirty="0">
                <a:latin typeface="+mj-ea"/>
                <a:ea typeface="+mj-ea"/>
                <a:cs typeface="Times New Roman" panose="02020603050405020304" pitchFamily="18" charset="0"/>
              </a:rPr>
              <a:t>不同层级的描述存在逻辑关系</a:t>
            </a:r>
            <a:endParaRPr lang="en-US" altLang="zh-CN" sz="2000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sz="2000" kern="100" dirty="0">
                <a:latin typeface="+mj-ea"/>
                <a:ea typeface="+mj-ea"/>
                <a:cs typeface="Times New Roman" panose="02020603050405020304" pitchFamily="18" charset="0"/>
              </a:rPr>
              <a:t>如上一层是下一层级的汇总。</a:t>
            </a: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E3FEC31F-8021-4DDC-8685-664E2C788A59}"/>
              </a:ext>
            </a:extLst>
          </p:cNvPr>
          <p:cNvSpPr txBox="1">
            <a:spLocks noChangeArrowheads="1"/>
          </p:cNvSpPr>
          <p:nvPr/>
        </p:nvSpPr>
        <p:spPr>
          <a:xfrm>
            <a:off x="1738086" y="390430"/>
            <a:ext cx="6382657" cy="46954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/>
              <a:t>四、分析</a:t>
            </a:r>
            <a:r>
              <a:rPr lang="zh-CN" altLang="zh-CN" sz="3600" b="1" dirty="0"/>
              <a:t>问题</a:t>
            </a:r>
            <a:r>
              <a:rPr lang="zh-CN" altLang="en-US" sz="3600" b="1" dirty="0"/>
              <a:t>：定性数据分析</a:t>
            </a:r>
            <a:endParaRPr lang="zh-CN" altLang="en-US" sz="330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31660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8BD0732-8876-469C-8501-B572C0A09824}"/>
              </a:ext>
            </a:extLst>
          </p:cNvPr>
          <p:cNvSpPr/>
          <p:nvPr/>
        </p:nvSpPr>
        <p:spPr>
          <a:xfrm>
            <a:off x="326571" y="1230476"/>
            <a:ext cx="9535887" cy="22960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000000"/>
                </a:solidFill>
                <a:latin typeface="+mj-ea"/>
                <a:ea typeface="+mj-ea"/>
              </a:rPr>
              <a:t>充分必要条件</a:t>
            </a:r>
            <a:endParaRPr lang="en-US" altLang="zh-CN" sz="2000" b="1" dirty="0">
              <a:solidFill>
                <a:srgbClr val="000000"/>
              </a:solidFill>
              <a:latin typeface="+mj-ea"/>
              <a:ea typeface="+mj-ea"/>
            </a:endParaRPr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j-ea"/>
                <a:ea typeface="+mj-ea"/>
              </a:rPr>
              <a:t>由</a:t>
            </a:r>
            <a:r>
              <a:rPr lang="en-US" altLang="zh-CN" sz="2000" dirty="0">
                <a:latin typeface="+mj-ea"/>
                <a:ea typeface="+mj-ea"/>
              </a:rPr>
              <a:t>A</a:t>
            </a:r>
            <a:r>
              <a:rPr lang="zh-CN" altLang="en-US" sz="2000" dirty="0">
                <a:latin typeface="+mj-ea"/>
                <a:ea typeface="+mj-ea"/>
              </a:rPr>
              <a:t>可以推出</a:t>
            </a:r>
            <a:r>
              <a:rPr lang="en-US" altLang="zh-CN" sz="2000" dirty="0">
                <a:latin typeface="+mj-ea"/>
                <a:ea typeface="+mj-ea"/>
              </a:rPr>
              <a:t>B</a:t>
            </a:r>
            <a:r>
              <a:rPr lang="zh-CN" altLang="en-US" sz="2000" dirty="0">
                <a:latin typeface="+mj-ea"/>
                <a:ea typeface="+mj-ea"/>
              </a:rPr>
              <a:t>，由</a:t>
            </a:r>
            <a:r>
              <a:rPr lang="en-US" altLang="zh-CN" sz="2000" dirty="0">
                <a:latin typeface="+mj-ea"/>
                <a:ea typeface="+mj-ea"/>
              </a:rPr>
              <a:t>B</a:t>
            </a:r>
            <a:r>
              <a:rPr lang="zh-CN" altLang="en-US" sz="2000" dirty="0">
                <a:latin typeface="+mj-ea"/>
                <a:ea typeface="+mj-ea"/>
              </a:rPr>
              <a:t>可以推出</a:t>
            </a:r>
            <a:r>
              <a:rPr lang="en-US" altLang="zh-CN" sz="2000" dirty="0">
                <a:latin typeface="+mj-ea"/>
                <a:ea typeface="+mj-ea"/>
              </a:rPr>
              <a:t>A</a:t>
            </a:r>
            <a:r>
              <a:rPr lang="zh-CN" altLang="en-US" sz="2000" dirty="0">
                <a:latin typeface="+mj-ea"/>
                <a:ea typeface="+mj-ea"/>
              </a:rPr>
              <a:t>，则</a:t>
            </a:r>
            <a:r>
              <a:rPr lang="en-US" altLang="zh-CN" sz="2000" dirty="0">
                <a:latin typeface="+mj-ea"/>
                <a:ea typeface="+mj-ea"/>
              </a:rPr>
              <a:t>A</a:t>
            </a:r>
            <a:r>
              <a:rPr lang="zh-CN" altLang="en-US" sz="2000" dirty="0">
                <a:latin typeface="+mj-ea"/>
                <a:ea typeface="+mj-ea"/>
              </a:rPr>
              <a:t>是</a:t>
            </a:r>
            <a:r>
              <a:rPr lang="en-US" altLang="zh-CN" sz="2000" dirty="0">
                <a:latin typeface="+mj-ea"/>
                <a:ea typeface="+mj-ea"/>
              </a:rPr>
              <a:t>B</a:t>
            </a:r>
            <a:r>
              <a:rPr lang="zh-CN" altLang="en-US" sz="2000" dirty="0">
                <a:latin typeface="+mj-ea"/>
                <a:ea typeface="+mj-ea"/>
              </a:rPr>
              <a:t>的充分必要条件； </a:t>
            </a:r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j-ea"/>
                <a:ea typeface="+mj-ea"/>
              </a:rPr>
              <a:t>由</a:t>
            </a:r>
            <a:r>
              <a:rPr lang="en-US" altLang="zh-CN" sz="2000" dirty="0">
                <a:latin typeface="+mj-ea"/>
                <a:ea typeface="+mj-ea"/>
              </a:rPr>
              <a:t>A</a:t>
            </a:r>
            <a:r>
              <a:rPr lang="zh-CN" altLang="en-US" sz="2000" dirty="0">
                <a:latin typeface="+mj-ea"/>
                <a:ea typeface="+mj-ea"/>
              </a:rPr>
              <a:t>可以推出</a:t>
            </a:r>
            <a:r>
              <a:rPr lang="en-US" altLang="zh-CN" sz="2000" dirty="0">
                <a:latin typeface="+mj-ea"/>
                <a:ea typeface="+mj-ea"/>
              </a:rPr>
              <a:t>B</a:t>
            </a:r>
            <a:r>
              <a:rPr lang="zh-CN" altLang="en-US" sz="2000" dirty="0">
                <a:latin typeface="+mj-ea"/>
                <a:ea typeface="+mj-ea"/>
              </a:rPr>
              <a:t>，由</a:t>
            </a:r>
            <a:r>
              <a:rPr lang="en-US" altLang="zh-CN" sz="2000" dirty="0">
                <a:latin typeface="+mj-ea"/>
                <a:ea typeface="+mj-ea"/>
              </a:rPr>
              <a:t>B</a:t>
            </a:r>
            <a:r>
              <a:rPr lang="zh-CN" altLang="en-US" sz="2000" dirty="0">
                <a:latin typeface="+mj-ea"/>
                <a:ea typeface="+mj-ea"/>
              </a:rPr>
              <a:t>不可以推出</a:t>
            </a:r>
            <a:r>
              <a:rPr lang="en-US" altLang="zh-CN" sz="2000" dirty="0">
                <a:latin typeface="+mj-ea"/>
                <a:ea typeface="+mj-ea"/>
              </a:rPr>
              <a:t>A</a:t>
            </a:r>
            <a:r>
              <a:rPr lang="zh-CN" altLang="en-US" sz="2000" dirty="0">
                <a:latin typeface="+mj-ea"/>
                <a:ea typeface="+mj-ea"/>
              </a:rPr>
              <a:t>，则</a:t>
            </a:r>
            <a:r>
              <a:rPr lang="en-US" altLang="zh-CN" sz="2000" dirty="0">
                <a:latin typeface="+mj-ea"/>
                <a:ea typeface="+mj-ea"/>
              </a:rPr>
              <a:t>A</a:t>
            </a:r>
            <a:r>
              <a:rPr lang="zh-CN" altLang="en-US" sz="2000" dirty="0">
                <a:latin typeface="+mj-ea"/>
                <a:ea typeface="+mj-ea"/>
              </a:rPr>
              <a:t>是</a:t>
            </a:r>
            <a:r>
              <a:rPr lang="en-US" altLang="zh-CN" sz="2000" dirty="0">
                <a:latin typeface="+mj-ea"/>
                <a:ea typeface="+mj-ea"/>
              </a:rPr>
              <a:t>B</a:t>
            </a:r>
            <a:r>
              <a:rPr lang="zh-CN" altLang="en-US" sz="2000" dirty="0">
                <a:latin typeface="+mj-ea"/>
                <a:ea typeface="+mj-ea"/>
              </a:rPr>
              <a:t>的充分不必要条件； </a:t>
            </a:r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j-ea"/>
                <a:ea typeface="+mj-ea"/>
              </a:rPr>
              <a:t>由</a:t>
            </a:r>
            <a:r>
              <a:rPr lang="en-US" altLang="zh-CN" sz="2000" dirty="0">
                <a:latin typeface="+mj-ea"/>
                <a:ea typeface="+mj-ea"/>
              </a:rPr>
              <a:t>A</a:t>
            </a:r>
            <a:r>
              <a:rPr lang="zh-CN" altLang="en-US" sz="2000" dirty="0">
                <a:latin typeface="+mj-ea"/>
                <a:ea typeface="+mj-ea"/>
              </a:rPr>
              <a:t>不可以推出</a:t>
            </a:r>
            <a:r>
              <a:rPr lang="en-US" altLang="zh-CN" sz="2000" dirty="0">
                <a:latin typeface="+mj-ea"/>
                <a:ea typeface="+mj-ea"/>
              </a:rPr>
              <a:t>B</a:t>
            </a:r>
            <a:r>
              <a:rPr lang="zh-CN" altLang="en-US" sz="2000" dirty="0">
                <a:latin typeface="+mj-ea"/>
                <a:ea typeface="+mj-ea"/>
              </a:rPr>
              <a:t>，由</a:t>
            </a:r>
            <a:r>
              <a:rPr lang="en-US" altLang="zh-CN" sz="2000" dirty="0">
                <a:latin typeface="+mj-ea"/>
                <a:ea typeface="+mj-ea"/>
              </a:rPr>
              <a:t>B</a:t>
            </a:r>
            <a:r>
              <a:rPr lang="zh-CN" altLang="en-US" sz="2000" dirty="0">
                <a:latin typeface="+mj-ea"/>
                <a:ea typeface="+mj-ea"/>
              </a:rPr>
              <a:t>可以推出</a:t>
            </a:r>
            <a:r>
              <a:rPr lang="en-US" altLang="zh-CN" sz="2000" dirty="0">
                <a:latin typeface="+mj-ea"/>
                <a:ea typeface="+mj-ea"/>
              </a:rPr>
              <a:t>A</a:t>
            </a:r>
            <a:r>
              <a:rPr lang="zh-CN" altLang="en-US" sz="2000" dirty="0">
                <a:latin typeface="+mj-ea"/>
                <a:ea typeface="+mj-ea"/>
              </a:rPr>
              <a:t>，则</a:t>
            </a:r>
            <a:r>
              <a:rPr lang="en-US" altLang="zh-CN" sz="2000" dirty="0">
                <a:latin typeface="+mj-ea"/>
                <a:ea typeface="+mj-ea"/>
              </a:rPr>
              <a:t>A</a:t>
            </a:r>
            <a:r>
              <a:rPr lang="zh-CN" altLang="en-US" sz="2000" dirty="0">
                <a:latin typeface="+mj-ea"/>
                <a:ea typeface="+mj-ea"/>
              </a:rPr>
              <a:t>是</a:t>
            </a:r>
            <a:r>
              <a:rPr lang="en-US" altLang="zh-CN" sz="2000" dirty="0">
                <a:latin typeface="+mj-ea"/>
                <a:ea typeface="+mj-ea"/>
              </a:rPr>
              <a:t>B</a:t>
            </a:r>
            <a:r>
              <a:rPr lang="zh-CN" altLang="en-US" sz="2000" dirty="0">
                <a:latin typeface="+mj-ea"/>
                <a:ea typeface="+mj-ea"/>
              </a:rPr>
              <a:t>的必要不充分条件； </a:t>
            </a:r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j-ea"/>
                <a:ea typeface="+mj-ea"/>
              </a:rPr>
              <a:t>由</a:t>
            </a:r>
            <a:r>
              <a:rPr lang="en-US" altLang="zh-CN" sz="2000" dirty="0">
                <a:latin typeface="+mj-ea"/>
                <a:ea typeface="+mj-ea"/>
              </a:rPr>
              <a:t>A</a:t>
            </a:r>
            <a:r>
              <a:rPr lang="zh-CN" altLang="en-US" sz="2000" dirty="0">
                <a:latin typeface="+mj-ea"/>
                <a:ea typeface="+mj-ea"/>
              </a:rPr>
              <a:t>不可以推出</a:t>
            </a:r>
            <a:r>
              <a:rPr lang="en-US" altLang="zh-CN" sz="2000" dirty="0">
                <a:latin typeface="+mj-ea"/>
                <a:ea typeface="+mj-ea"/>
              </a:rPr>
              <a:t>B</a:t>
            </a:r>
            <a:r>
              <a:rPr lang="zh-CN" altLang="en-US" sz="2000" dirty="0">
                <a:latin typeface="+mj-ea"/>
                <a:ea typeface="+mj-ea"/>
              </a:rPr>
              <a:t>，由</a:t>
            </a:r>
            <a:r>
              <a:rPr lang="en-US" altLang="zh-CN" sz="2000" dirty="0">
                <a:latin typeface="+mj-ea"/>
                <a:ea typeface="+mj-ea"/>
              </a:rPr>
              <a:t>B</a:t>
            </a:r>
            <a:r>
              <a:rPr lang="zh-CN" altLang="en-US" sz="2000" dirty="0">
                <a:latin typeface="+mj-ea"/>
                <a:ea typeface="+mj-ea"/>
              </a:rPr>
              <a:t>不可以推出</a:t>
            </a:r>
            <a:r>
              <a:rPr lang="en-US" altLang="zh-CN" sz="2000" dirty="0">
                <a:latin typeface="+mj-ea"/>
                <a:ea typeface="+mj-ea"/>
              </a:rPr>
              <a:t>A</a:t>
            </a:r>
            <a:r>
              <a:rPr lang="zh-CN" altLang="en-US" sz="2000" dirty="0">
                <a:latin typeface="+mj-ea"/>
                <a:ea typeface="+mj-ea"/>
              </a:rPr>
              <a:t>，则</a:t>
            </a:r>
            <a:r>
              <a:rPr lang="en-US" altLang="zh-CN" sz="2000" dirty="0">
                <a:latin typeface="+mj-ea"/>
                <a:ea typeface="+mj-ea"/>
              </a:rPr>
              <a:t>A</a:t>
            </a:r>
            <a:r>
              <a:rPr lang="zh-CN" altLang="en-US" sz="2000" dirty="0">
                <a:latin typeface="+mj-ea"/>
                <a:ea typeface="+mj-ea"/>
              </a:rPr>
              <a:t>是</a:t>
            </a:r>
            <a:r>
              <a:rPr lang="en-US" altLang="zh-CN" sz="2000" dirty="0">
                <a:latin typeface="+mj-ea"/>
                <a:ea typeface="+mj-ea"/>
              </a:rPr>
              <a:t>B</a:t>
            </a:r>
            <a:r>
              <a:rPr lang="zh-CN" altLang="en-US" sz="2000" dirty="0">
                <a:latin typeface="+mj-ea"/>
                <a:ea typeface="+mj-ea"/>
              </a:rPr>
              <a:t>的既不充分也不必要条件。 </a:t>
            </a:r>
            <a:r>
              <a:rPr lang="zh-CN" altLang="en-US" sz="2000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endParaRPr lang="zh-CN" altLang="en-US" sz="2000" dirty="0">
              <a:latin typeface="+mj-ea"/>
              <a:ea typeface="+mj-ea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4B940438-B292-449D-AD57-578D81823AF3}"/>
              </a:ext>
            </a:extLst>
          </p:cNvPr>
          <p:cNvSpPr txBox="1">
            <a:spLocks noChangeArrowheads="1"/>
          </p:cNvSpPr>
          <p:nvPr/>
        </p:nvSpPr>
        <p:spPr>
          <a:xfrm>
            <a:off x="1716314" y="477514"/>
            <a:ext cx="8146143" cy="5130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/>
              <a:t>四、分析问题的逻辑：充分必要条件</a:t>
            </a:r>
          </a:p>
          <a:p>
            <a:endParaRPr lang="zh-CN" altLang="en-US" sz="330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1776471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7E00F9-D10F-4AF8-BC03-9AE1BF47EF1D}"/>
              </a:ext>
            </a:extLst>
          </p:cNvPr>
          <p:cNvSpPr txBox="1">
            <a:spLocks noChangeArrowheads="1"/>
          </p:cNvSpPr>
          <p:nvPr/>
        </p:nvSpPr>
        <p:spPr>
          <a:xfrm>
            <a:off x="1672772" y="464100"/>
            <a:ext cx="7329714" cy="5027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/>
              <a:t>四、定量数据分析：统计分析</a:t>
            </a:r>
          </a:p>
          <a:p>
            <a:endParaRPr lang="zh-CN" altLang="en-US" sz="3300" b="1" dirty="0">
              <a:latin typeface="+mj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D3A11C5-4C5C-4A3D-B3FF-628EA51978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026"/>
          <a:stretch/>
        </p:blipFill>
        <p:spPr>
          <a:xfrm>
            <a:off x="1859343" y="3636375"/>
            <a:ext cx="6234818" cy="1468581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75449CD3-183D-4E71-A968-998D5D7803BF}"/>
              </a:ext>
            </a:extLst>
          </p:cNvPr>
          <p:cNvSpPr/>
          <p:nvPr/>
        </p:nvSpPr>
        <p:spPr>
          <a:xfrm>
            <a:off x="489857" y="1188912"/>
            <a:ext cx="9331038" cy="16035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+mj-ea"/>
                <a:ea typeface="+mj-ea"/>
              </a:rPr>
              <a:t>1</a:t>
            </a:r>
            <a:r>
              <a:rPr lang="zh-CN" altLang="en-US" sz="2000" b="1" dirty="0">
                <a:solidFill>
                  <a:srgbClr val="000000"/>
                </a:solidFill>
                <a:latin typeface="+mj-ea"/>
                <a:ea typeface="+mj-ea"/>
              </a:rPr>
              <a:t>、定量分析方法：</a:t>
            </a:r>
            <a:endParaRPr lang="en-US" altLang="zh-CN" sz="2000" b="1" dirty="0">
              <a:solidFill>
                <a:srgbClr val="000000"/>
              </a:solidFill>
              <a:latin typeface="+mj-ea"/>
              <a:ea typeface="+mj-ea"/>
            </a:endParaRPr>
          </a:p>
          <a:p>
            <a:pPr marL="457200" indent="-4572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zh-CN" sz="2000" dirty="0">
                <a:solidFill>
                  <a:srgbClr val="000000"/>
                </a:solidFill>
                <a:latin typeface="+mj-ea"/>
                <a:ea typeface="+mj-ea"/>
              </a:rPr>
              <a:t>探索性因子分析</a:t>
            </a:r>
          </a:p>
          <a:p>
            <a:pPr marL="457200" indent="-4572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zh-CN" sz="2000" dirty="0">
                <a:solidFill>
                  <a:srgbClr val="000000"/>
                </a:solidFill>
                <a:latin typeface="+mj-ea"/>
                <a:ea typeface="+mj-ea"/>
              </a:rPr>
              <a:t>聚类分析</a:t>
            </a:r>
          </a:p>
          <a:p>
            <a:pPr marL="457200" indent="-4572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zh-CN" sz="2000" dirty="0">
                <a:solidFill>
                  <a:srgbClr val="000000"/>
                </a:solidFill>
                <a:latin typeface="+mj-ea"/>
                <a:ea typeface="+mj-ea"/>
              </a:rPr>
              <a:t>因果和预测分析</a:t>
            </a:r>
            <a:r>
              <a:rPr lang="zh-CN" altLang="en-US" sz="2000" dirty="0">
                <a:solidFill>
                  <a:srgbClr val="000000"/>
                </a:solidFill>
                <a:latin typeface="+mj-ea"/>
                <a:ea typeface="+mj-ea"/>
              </a:rPr>
              <a:t>，</a:t>
            </a:r>
            <a:r>
              <a:rPr lang="zh-CN" altLang="zh-CN" sz="2000" dirty="0">
                <a:solidFill>
                  <a:srgbClr val="000000"/>
                </a:solidFill>
                <a:latin typeface="+mj-ea"/>
                <a:ea typeface="+mj-ea"/>
              </a:rPr>
              <a:t>如回归分析、结构方程模型等</a:t>
            </a:r>
          </a:p>
        </p:txBody>
      </p:sp>
    </p:spTree>
    <p:extLst>
      <p:ext uri="{BB962C8B-B14F-4D97-AF65-F5344CB8AC3E}">
        <p14:creationId xmlns:p14="http://schemas.microsoft.com/office/powerpoint/2010/main" val="5426666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5DBB2972-0B9B-49F2-83D3-92D9FC4F37A1}"/>
              </a:ext>
            </a:extLst>
          </p:cNvPr>
          <p:cNvSpPr txBox="1">
            <a:spLocks noChangeArrowheads="1"/>
          </p:cNvSpPr>
          <p:nvPr/>
        </p:nvSpPr>
        <p:spPr>
          <a:xfrm>
            <a:off x="1672771" y="395337"/>
            <a:ext cx="5829300" cy="4868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/>
              <a:t>五、分析</a:t>
            </a:r>
            <a:r>
              <a:rPr lang="zh-CN" altLang="zh-CN" sz="3600" b="1" dirty="0"/>
              <a:t>问题</a:t>
            </a:r>
            <a:r>
              <a:rPr lang="zh-CN" altLang="en-US" sz="3600" b="1" dirty="0"/>
              <a:t>的工具和方法</a:t>
            </a:r>
            <a:endParaRPr lang="zh-CN" altLang="en-US" sz="3300" b="1" dirty="0">
              <a:latin typeface="+mj-ea"/>
            </a:endParaRPr>
          </a:p>
          <a:p>
            <a:endParaRPr lang="zh-CN" altLang="en-US" sz="3300" b="1" dirty="0">
              <a:latin typeface="+mj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3277611-8094-41AF-AAC7-DCAD0DF9CD7A}"/>
              </a:ext>
            </a:extLst>
          </p:cNvPr>
          <p:cNvSpPr/>
          <p:nvPr/>
        </p:nvSpPr>
        <p:spPr>
          <a:xfrm>
            <a:off x="447265" y="1251482"/>
            <a:ext cx="8728440" cy="14388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zh-CN" sz="2000" dirty="0">
                <a:latin typeface="+mj-ea"/>
                <a:ea typeface="+mj-ea"/>
              </a:rPr>
              <a:t>鱼骨图</a:t>
            </a:r>
            <a:endParaRPr lang="en-US" altLang="zh-CN" sz="2000" dirty="0">
              <a:latin typeface="+mj-ea"/>
              <a:ea typeface="+mj-ea"/>
            </a:endParaRPr>
          </a:p>
          <a:p>
            <a:pPr marL="342900" indent="-3429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zh-CN" sz="2000" dirty="0">
                <a:latin typeface="+mj-ea"/>
                <a:ea typeface="+mj-ea"/>
              </a:rPr>
              <a:t>事故分析树</a:t>
            </a:r>
            <a:endParaRPr lang="en-US" altLang="zh-CN" sz="2000" dirty="0">
              <a:latin typeface="+mj-ea"/>
              <a:ea typeface="+mj-ea"/>
            </a:endParaRPr>
          </a:p>
          <a:p>
            <a:pPr marL="342900" indent="-3429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zh-CN" sz="2000" dirty="0">
                <a:latin typeface="+mj-ea"/>
                <a:ea typeface="+mj-ea"/>
              </a:rPr>
              <a:t>五个</a:t>
            </a:r>
            <a:r>
              <a:rPr lang="en-US" altLang="zh-CN" sz="2000" dirty="0">
                <a:latin typeface="+mj-ea"/>
                <a:ea typeface="+mj-ea"/>
              </a:rPr>
              <a:t>why</a:t>
            </a:r>
          </a:p>
          <a:p>
            <a:pPr>
              <a:spcBef>
                <a:spcPts val="300"/>
              </a:spcBef>
            </a:pPr>
            <a:endParaRPr lang="en-US" altLang="zh-CN" sz="2000" b="1" dirty="0">
              <a:latin typeface="+mj-ea"/>
              <a:ea typeface="+mj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2592DFF-BC24-451F-9641-8924D5CE33D3}"/>
              </a:ext>
            </a:extLst>
          </p:cNvPr>
          <p:cNvSpPr/>
          <p:nvPr/>
        </p:nvSpPr>
        <p:spPr>
          <a:xfrm>
            <a:off x="338471" y="3377040"/>
            <a:ext cx="4969509" cy="286232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latin typeface="+mj-ea"/>
                <a:ea typeface="+mj-ea"/>
              </a:rPr>
              <a:t>1</a:t>
            </a:r>
            <a:r>
              <a:rPr lang="zh-CN" altLang="en-US" dirty="0">
                <a:latin typeface="+mj-ea"/>
                <a:ea typeface="+mj-ea"/>
              </a:rPr>
              <a:t>、“为什么机器停了？”</a:t>
            </a:r>
          </a:p>
          <a:p>
            <a:r>
              <a:rPr lang="zh-CN" altLang="en-US" dirty="0">
                <a:latin typeface="+mj-ea"/>
                <a:ea typeface="+mj-ea"/>
              </a:rPr>
              <a:t>         “因为超负荷保险丝断了。”</a:t>
            </a:r>
          </a:p>
          <a:p>
            <a:r>
              <a:rPr lang="en-US" altLang="zh-CN" dirty="0">
                <a:latin typeface="+mj-ea"/>
                <a:ea typeface="+mj-ea"/>
              </a:rPr>
              <a:t>2</a:t>
            </a:r>
            <a:r>
              <a:rPr lang="zh-CN" altLang="en-US" dirty="0">
                <a:latin typeface="+mj-ea"/>
                <a:ea typeface="+mj-ea"/>
              </a:rPr>
              <a:t>、“为什么超负荷了呢？”</a:t>
            </a:r>
          </a:p>
          <a:p>
            <a:r>
              <a:rPr lang="zh-CN" altLang="en-US" dirty="0">
                <a:latin typeface="+mj-ea"/>
                <a:ea typeface="+mj-ea"/>
              </a:rPr>
              <a:t>          “因为轴承部分的润滑不够。”</a:t>
            </a:r>
          </a:p>
          <a:p>
            <a:r>
              <a:rPr lang="en-US" altLang="zh-CN" dirty="0">
                <a:latin typeface="+mj-ea"/>
                <a:ea typeface="+mj-ea"/>
              </a:rPr>
              <a:t>3</a:t>
            </a:r>
            <a:r>
              <a:rPr lang="zh-CN" altLang="en-US" dirty="0">
                <a:latin typeface="+mj-ea"/>
                <a:ea typeface="+mj-ea"/>
              </a:rPr>
              <a:t>、“为什么润滑不够？”</a:t>
            </a:r>
          </a:p>
          <a:p>
            <a:r>
              <a:rPr lang="zh-CN" altLang="en-US" dirty="0">
                <a:latin typeface="+mj-ea"/>
                <a:ea typeface="+mj-ea"/>
              </a:rPr>
              <a:t>          “因为润滑泵吸不上油来。</a:t>
            </a:r>
          </a:p>
          <a:p>
            <a:r>
              <a:rPr lang="en-US" altLang="zh-CN" dirty="0">
                <a:latin typeface="+mj-ea"/>
                <a:ea typeface="+mj-ea"/>
              </a:rPr>
              <a:t>4</a:t>
            </a:r>
            <a:r>
              <a:rPr lang="zh-CN" altLang="en-US" dirty="0">
                <a:latin typeface="+mj-ea"/>
                <a:ea typeface="+mj-ea"/>
              </a:rPr>
              <a:t>、“为什么吸不上油来呢？”</a:t>
            </a:r>
          </a:p>
          <a:p>
            <a:r>
              <a:rPr lang="zh-CN" altLang="en-US" dirty="0">
                <a:latin typeface="+mj-ea"/>
                <a:ea typeface="+mj-ea"/>
              </a:rPr>
              <a:t>           “因为油泵轴磨损松动了。”</a:t>
            </a:r>
          </a:p>
          <a:p>
            <a:r>
              <a:rPr lang="en-US" altLang="zh-CN" dirty="0">
                <a:latin typeface="+mj-ea"/>
                <a:ea typeface="+mj-ea"/>
              </a:rPr>
              <a:t>5</a:t>
            </a:r>
            <a:r>
              <a:rPr lang="zh-CN" altLang="en-US" dirty="0">
                <a:latin typeface="+mj-ea"/>
                <a:ea typeface="+mj-ea"/>
              </a:rPr>
              <a:t>、“为什么磨损了呢？”</a:t>
            </a:r>
          </a:p>
          <a:p>
            <a:r>
              <a:rPr lang="zh-CN" altLang="en-US" dirty="0">
                <a:latin typeface="+mj-ea"/>
                <a:ea typeface="+mj-ea"/>
              </a:rPr>
              <a:t>          “因为没有安装过滤器，混进了铁屑。</a:t>
            </a:r>
            <a:r>
              <a:rPr lang="zh-CN" altLang="en-US" dirty="0"/>
              <a:t>”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4A1455B-18E7-441C-AB28-B0319EE247C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053036" y="1251482"/>
            <a:ext cx="3476171" cy="479008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BE969D8-992A-48B7-ACD6-E13F1F592424}"/>
              </a:ext>
            </a:extLst>
          </p:cNvPr>
          <p:cNvSpPr txBox="1"/>
          <p:nvPr/>
        </p:nvSpPr>
        <p:spPr>
          <a:xfrm>
            <a:off x="7699829" y="6239362"/>
            <a:ext cx="2564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图片和案例来自网络</a:t>
            </a:r>
          </a:p>
        </p:txBody>
      </p:sp>
    </p:spTree>
    <p:extLst>
      <p:ext uri="{BB962C8B-B14F-4D97-AF65-F5344CB8AC3E}">
        <p14:creationId xmlns:p14="http://schemas.microsoft.com/office/powerpoint/2010/main" val="15351399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5DBB2972-0B9B-49F2-83D3-92D9FC4F37A1}"/>
              </a:ext>
            </a:extLst>
          </p:cNvPr>
          <p:cNvSpPr txBox="1">
            <a:spLocks noChangeArrowheads="1"/>
          </p:cNvSpPr>
          <p:nvPr/>
        </p:nvSpPr>
        <p:spPr>
          <a:xfrm>
            <a:off x="1763247" y="410915"/>
            <a:ext cx="5829300" cy="4868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/>
              <a:t>六、</a:t>
            </a:r>
            <a:r>
              <a:rPr lang="zh-CN" altLang="zh-CN" sz="3600" b="1" dirty="0"/>
              <a:t>问题的呈现</a:t>
            </a:r>
            <a:endParaRPr lang="zh-CN" altLang="en-US" sz="3600" b="1" dirty="0"/>
          </a:p>
          <a:p>
            <a:endParaRPr lang="zh-CN" altLang="en-US" sz="3300" b="1" dirty="0">
              <a:latin typeface="+mj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505B623-FE6A-43E3-877C-0E651EB1EEE8}"/>
              </a:ext>
            </a:extLst>
          </p:cNvPr>
          <p:cNvSpPr/>
          <p:nvPr/>
        </p:nvSpPr>
        <p:spPr>
          <a:xfrm>
            <a:off x="390698" y="1251481"/>
            <a:ext cx="10069522" cy="22852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zh-CN" sz="2000" b="1" dirty="0">
                <a:latin typeface="+mj-ea"/>
                <a:ea typeface="+mj-ea"/>
              </a:rPr>
              <a:t>问题呈现的原则</a:t>
            </a:r>
            <a:endParaRPr lang="en-US" altLang="zh-CN" sz="2000" b="1" dirty="0">
              <a:latin typeface="+mj-ea"/>
              <a:ea typeface="+mj-ea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sz="2000" b="1" dirty="0">
                <a:latin typeface="+mj-ea"/>
                <a:ea typeface="+mj-ea"/>
              </a:rPr>
              <a:t>通用性</a:t>
            </a:r>
            <a:r>
              <a:rPr lang="zh-CN" altLang="en-US" sz="2000" b="1" dirty="0">
                <a:latin typeface="+mj-ea"/>
                <a:ea typeface="+mj-ea"/>
              </a:rPr>
              <a:t>：</a:t>
            </a:r>
            <a:r>
              <a:rPr lang="zh-CN" altLang="zh-CN" sz="2000" dirty="0">
                <a:latin typeface="+mj-ea"/>
                <a:ea typeface="+mj-ea"/>
              </a:rPr>
              <a:t>通用情境的任务，也可以是某个具体情境中呈现出的一个通用性的任务</a:t>
            </a:r>
            <a:endParaRPr lang="en-US" altLang="zh-CN" sz="2000" dirty="0">
              <a:latin typeface="+mj-ea"/>
              <a:ea typeface="+mj-ea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sz="2000" b="1" dirty="0">
                <a:latin typeface="+mj-ea"/>
                <a:ea typeface="+mj-ea"/>
              </a:rPr>
              <a:t>症状的可解释性</a:t>
            </a:r>
            <a:r>
              <a:rPr lang="zh-CN" altLang="en-US" sz="2000" b="1" dirty="0">
                <a:latin typeface="+mj-ea"/>
                <a:ea typeface="+mj-ea"/>
              </a:rPr>
              <a:t>：</a:t>
            </a:r>
            <a:r>
              <a:rPr lang="zh-CN" altLang="zh-CN" sz="2000" dirty="0">
                <a:latin typeface="+mj-ea"/>
                <a:ea typeface="+mj-ea"/>
              </a:rPr>
              <a:t>问题的呈现能全面覆盖，呈现的问题能覆盖和解释相关的问题症状</a:t>
            </a:r>
            <a:endParaRPr lang="en-US" altLang="zh-CN" sz="2000" dirty="0">
              <a:latin typeface="+mj-ea"/>
              <a:ea typeface="+mj-ea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sz="2000" b="1" dirty="0">
                <a:latin typeface="+mj-ea"/>
                <a:ea typeface="+mj-ea"/>
              </a:rPr>
              <a:t>适度的简化</a:t>
            </a:r>
            <a:r>
              <a:rPr lang="zh-CN" altLang="en-US" sz="2000" b="1" dirty="0">
                <a:latin typeface="+mj-ea"/>
                <a:ea typeface="+mj-ea"/>
              </a:rPr>
              <a:t>：</a:t>
            </a:r>
            <a:endParaRPr lang="en-US" altLang="zh-CN" sz="2000" b="1" dirty="0">
              <a:latin typeface="+mj-ea"/>
              <a:ea typeface="+mj-ea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sz="2000" b="1" dirty="0">
                <a:latin typeface="+mj-ea"/>
                <a:ea typeface="+mj-ea"/>
              </a:rPr>
              <a:t>数据链</a:t>
            </a:r>
            <a:r>
              <a:rPr lang="zh-CN" altLang="en-US" sz="2000" b="1" dirty="0">
                <a:latin typeface="+mj-ea"/>
                <a:ea typeface="+mj-ea"/>
              </a:rPr>
              <a:t>清晰</a:t>
            </a:r>
            <a:r>
              <a:rPr lang="zh-CN" altLang="en-US" sz="2000" dirty="0">
                <a:latin typeface="+mj-ea"/>
                <a:ea typeface="+mj-ea"/>
              </a:rPr>
              <a:t>：</a:t>
            </a:r>
            <a:endParaRPr lang="en-US" altLang="zh-CN" sz="2000" b="1" dirty="0">
              <a:latin typeface="+mj-ea"/>
              <a:ea typeface="+mj-ea"/>
            </a:endParaRPr>
          </a:p>
          <a:p>
            <a:pPr>
              <a:spcBef>
                <a:spcPts val="300"/>
              </a:spcBef>
            </a:pPr>
            <a:endParaRPr lang="en-US" altLang="zh-CN" sz="2000" b="1" dirty="0">
              <a:latin typeface="+mj-ea"/>
              <a:ea typeface="+mj-ea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FA31AFB-A3A3-4CC4-B613-EBA3E17E5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3294" y="3536722"/>
            <a:ext cx="3333781" cy="264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84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5DBB2972-0B9B-49F2-83D3-92D9FC4F37A1}"/>
              </a:ext>
            </a:extLst>
          </p:cNvPr>
          <p:cNvSpPr txBox="1">
            <a:spLocks noChangeArrowheads="1"/>
          </p:cNvSpPr>
          <p:nvPr/>
        </p:nvSpPr>
        <p:spPr>
          <a:xfrm>
            <a:off x="1669702" y="394895"/>
            <a:ext cx="5829300" cy="4868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/>
              <a:t>六、</a:t>
            </a:r>
            <a:r>
              <a:rPr lang="zh-CN" altLang="zh-CN" sz="3600" b="1" dirty="0"/>
              <a:t>问题的呈现</a:t>
            </a:r>
            <a:r>
              <a:rPr lang="zh-CN" altLang="en-US" sz="3600" b="1" dirty="0"/>
              <a:t>中的问题</a:t>
            </a:r>
          </a:p>
          <a:p>
            <a:endParaRPr lang="zh-CN" altLang="en-US" sz="3300" b="1" dirty="0">
              <a:latin typeface="+mj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0024009-28D5-40F6-BF68-60E94D8103ED}"/>
              </a:ext>
            </a:extLst>
          </p:cNvPr>
          <p:cNvSpPr/>
          <p:nvPr/>
        </p:nvSpPr>
        <p:spPr>
          <a:xfrm>
            <a:off x="430924" y="1153040"/>
            <a:ext cx="10815145" cy="4296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zh-CN" sz="2000" b="1" dirty="0">
                <a:latin typeface="+mj-ea"/>
                <a:ea typeface="+mj-ea"/>
              </a:rPr>
              <a:t>忽视</a:t>
            </a:r>
            <a:r>
              <a:rPr lang="zh-CN" altLang="en-US" sz="2000" b="1" dirty="0">
                <a:latin typeface="+mj-ea"/>
                <a:ea typeface="+mj-ea"/>
              </a:rPr>
              <a:t>了问题呈现的重要性</a:t>
            </a:r>
            <a:r>
              <a:rPr lang="zh-CN" altLang="zh-CN" sz="2000" dirty="0">
                <a:latin typeface="+mj-ea"/>
                <a:ea typeface="+mj-ea"/>
              </a:rPr>
              <a:t>：没有充分地进行问题的陈述和分析，较快地进入到提出解决方案的阶段。</a:t>
            </a:r>
            <a:endParaRPr lang="en-US" altLang="zh-CN" sz="2000" dirty="0">
              <a:latin typeface="+mj-ea"/>
              <a:ea typeface="+mj-ea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zh-CN" sz="2000" b="1" dirty="0">
                <a:latin typeface="+mj-ea"/>
                <a:ea typeface="+mj-ea"/>
              </a:rPr>
              <a:t>泛化的归因</a:t>
            </a:r>
            <a:r>
              <a:rPr lang="zh-CN" altLang="zh-CN" sz="2000" dirty="0">
                <a:latin typeface="+mj-ea"/>
                <a:ea typeface="+mj-ea"/>
              </a:rPr>
              <a:t>：</a:t>
            </a:r>
            <a:r>
              <a:rPr lang="zh-CN" altLang="en-US" sz="2000" dirty="0">
                <a:latin typeface="+mj-ea"/>
                <a:ea typeface="+mj-ea"/>
              </a:rPr>
              <a:t>因果关联不清楚</a:t>
            </a:r>
            <a:r>
              <a:rPr lang="en-US" altLang="zh-CN" sz="2000" dirty="0">
                <a:latin typeface="+mj-ea"/>
                <a:ea typeface="+mj-ea"/>
              </a:rPr>
              <a:t>.</a:t>
            </a: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zh-CN" sz="2000" dirty="0">
                <a:latin typeface="+mj-ea"/>
                <a:ea typeface="+mj-ea"/>
              </a:rPr>
              <a:t>如我们没有数字化转型的能力、我们领导不支持等。</a:t>
            </a:r>
            <a:endParaRPr lang="en-US" altLang="zh-CN" sz="2000" dirty="0">
              <a:latin typeface="+mj-ea"/>
              <a:ea typeface="+mj-ea"/>
            </a:endParaRPr>
          </a:p>
          <a:p>
            <a:pPr marL="342900" lvl="1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zh-CN" sz="2000" b="1" dirty="0">
                <a:latin typeface="+mj-ea"/>
                <a:ea typeface="+mj-ea"/>
              </a:rPr>
              <a:t>容易产生时间维度、空间维度和对失败维度的近视情况</a:t>
            </a:r>
            <a:endParaRPr lang="en-US" altLang="zh-CN" sz="2000" b="1" dirty="0">
              <a:latin typeface="+mj-ea"/>
              <a:ea typeface="+mj-ea"/>
            </a:endParaRP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zh-CN" sz="2000" dirty="0">
                <a:latin typeface="+mj-ea"/>
                <a:ea typeface="+mj-ea"/>
              </a:rPr>
              <a:t>如过于关注近期，忽视长远、关注近距离忽视长远，关注成功忽视失败因素等。</a:t>
            </a:r>
            <a:endParaRPr lang="en-US" altLang="zh-CN" sz="2000" dirty="0">
              <a:latin typeface="+mj-ea"/>
              <a:ea typeface="+mj-ea"/>
            </a:endParaRPr>
          </a:p>
          <a:p>
            <a:pPr marL="342900" lvl="1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zh-CN" sz="2000" b="1" dirty="0">
                <a:latin typeface="+mj-ea"/>
                <a:ea typeface="+mj-ea"/>
              </a:rPr>
              <a:t>价值导向</a:t>
            </a:r>
            <a:r>
              <a:rPr lang="zh-CN" altLang="en-US" sz="2000" b="1" dirty="0">
                <a:latin typeface="+mj-ea"/>
                <a:ea typeface="+mj-ea"/>
              </a:rPr>
              <a:t>偏见性</a:t>
            </a:r>
            <a:endParaRPr lang="zh-CN" altLang="zh-CN" sz="2000" b="1" dirty="0">
              <a:latin typeface="+mj-ea"/>
              <a:ea typeface="+mj-ea"/>
            </a:endParaRP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zh-CN" sz="2000" dirty="0">
                <a:latin typeface="+mj-ea"/>
                <a:ea typeface="+mj-ea"/>
              </a:rPr>
              <a:t>如维护农名工工资的角度，在一定价值导向下，会尽可能地维护农名工的权益。</a:t>
            </a:r>
          </a:p>
          <a:p>
            <a:pPr marL="342900" lvl="1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zh-CN" sz="2000" b="1" dirty="0">
                <a:latin typeface="+mj-ea"/>
                <a:ea typeface="+mj-ea"/>
              </a:rPr>
              <a:t>组织层面</a:t>
            </a:r>
            <a:r>
              <a:rPr lang="zh-CN" altLang="en-US" sz="2000" b="1" dirty="0">
                <a:latin typeface="+mj-ea"/>
                <a:ea typeface="+mj-ea"/>
              </a:rPr>
              <a:t>利益</a:t>
            </a:r>
            <a:endParaRPr lang="zh-CN" altLang="zh-CN" sz="2000" b="1" dirty="0">
              <a:latin typeface="+mj-ea"/>
              <a:ea typeface="+mj-ea"/>
            </a:endParaRP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zh-CN" sz="2000" dirty="0">
                <a:latin typeface="+mj-ea"/>
                <a:ea typeface="+mj-ea"/>
              </a:rPr>
              <a:t>在小组进行问题呈现的时候，有利也有弊，如不利的因素有信息来源不同、认知结构不同、各自的目标不同。</a:t>
            </a:r>
          </a:p>
        </p:txBody>
      </p:sp>
    </p:spTree>
    <p:extLst>
      <p:ext uri="{BB962C8B-B14F-4D97-AF65-F5344CB8AC3E}">
        <p14:creationId xmlns:p14="http://schemas.microsoft.com/office/powerpoint/2010/main" val="4631653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5DBB2972-0B9B-49F2-83D3-92D9FC4F37A1}"/>
              </a:ext>
            </a:extLst>
          </p:cNvPr>
          <p:cNvSpPr txBox="1">
            <a:spLocks noChangeArrowheads="1"/>
          </p:cNvSpPr>
          <p:nvPr/>
        </p:nvSpPr>
        <p:spPr>
          <a:xfrm>
            <a:off x="1669702" y="394895"/>
            <a:ext cx="5829300" cy="4868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zh-CN" sz="3600" b="1" dirty="0"/>
              <a:t>问题研究研究方案的写作</a:t>
            </a:r>
            <a:endParaRPr lang="zh-CN" altLang="en-US" sz="3600" b="1" dirty="0"/>
          </a:p>
          <a:p>
            <a:endParaRPr lang="zh-CN" altLang="en-US" sz="3300" b="1" dirty="0">
              <a:latin typeface="+mj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0024009-28D5-40F6-BF68-60E94D8103ED}"/>
              </a:ext>
            </a:extLst>
          </p:cNvPr>
          <p:cNvSpPr/>
          <p:nvPr/>
        </p:nvSpPr>
        <p:spPr>
          <a:xfrm>
            <a:off x="430924" y="1153040"/>
            <a:ext cx="10815145" cy="35271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b="1" dirty="0">
                <a:latin typeface="+mj-ea"/>
                <a:ea typeface="+mj-ea"/>
              </a:rPr>
              <a:t>1</a:t>
            </a:r>
            <a:r>
              <a:rPr lang="zh-CN" altLang="en-US" sz="2000" b="1" dirty="0">
                <a:latin typeface="+mj-ea"/>
                <a:ea typeface="+mj-ea"/>
              </a:rPr>
              <a:t>、</a:t>
            </a:r>
            <a:r>
              <a:rPr lang="zh-CN" altLang="zh-CN" sz="2000" b="1" dirty="0">
                <a:latin typeface="+mj-ea"/>
                <a:ea typeface="+mj-ea"/>
              </a:rPr>
              <a:t>过程严谨</a:t>
            </a:r>
            <a:endParaRPr lang="en-US" altLang="zh-CN" sz="2000" b="1" dirty="0">
              <a:latin typeface="+mj-ea"/>
              <a:ea typeface="+mj-ea"/>
            </a:endParaRP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zh-CN" sz="2000" dirty="0">
                <a:latin typeface="+mj-ea"/>
                <a:ea typeface="+mj-ea"/>
              </a:rPr>
              <a:t>每一步骤的选择和设计都必须有充足的理由，如对于选择的调研对象、分析方法等都有明确的原因。</a:t>
            </a: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latin typeface="+mj-ea"/>
                <a:ea typeface="+mj-ea"/>
              </a:rPr>
              <a:t>2</a:t>
            </a:r>
            <a:r>
              <a:rPr lang="zh-CN" altLang="en-US" sz="2000" b="1" dirty="0">
                <a:latin typeface="+mj-ea"/>
                <a:ea typeface="+mj-ea"/>
              </a:rPr>
              <a:t>、</a:t>
            </a:r>
            <a:r>
              <a:rPr lang="zh-CN" altLang="zh-CN" sz="2000" b="1" dirty="0">
                <a:latin typeface="+mj-ea"/>
                <a:ea typeface="+mj-ea"/>
              </a:rPr>
              <a:t>清晰呈现</a:t>
            </a:r>
            <a:endParaRPr lang="en-US" altLang="zh-CN" sz="2000" b="1" dirty="0">
              <a:latin typeface="+mj-ea"/>
              <a:ea typeface="+mj-ea"/>
            </a:endParaRP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zh-CN" sz="2000" dirty="0">
                <a:latin typeface="+mj-ea"/>
                <a:ea typeface="+mj-ea"/>
              </a:rPr>
              <a:t>清晰呈现从症状、假设方向、数据收集、数据分析和结论的整个过程的透明。</a:t>
            </a: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latin typeface="+mj-ea"/>
                <a:ea typeface="+mj-ea"/>
              </a:rPr>
              <a:t>3</a:t>
            </a:r>
            <a:r>
              <a:rPr lang="zh-CN" altLang="en-US" sz="2000" b="1" dirty="0">
                <a:latin typeface="+mj-ea"/>
                <a:ea typeface="+mj-ea"/>
              </a:rPr>
              <a:t>、</a:t>
            </a:r>
            <a:r>
              <a:rPr lang="zh-CN" altLang="zh-CN" sz="2000" b="1" dirty="0">
                <a:latin typeface="+mj-ea"/>
                <a:ea typeface="+mj-ea"/>
              </a:rPr>
              <a:t>确定最有解释力的原因</a:t>
            </a:r>
            <a:endParaRPr lang="en-US" altLang="zh-CN" sz="2000" b="1" dirty="0">
              <a:latin typeface="+mj-ea"/>
              <a:ea typeface="+mj-ea"/>
            </a:endParaRP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zh-CN" sz="2000" dirty="0">
                <a:latin typeface="+mj-ea"/>
                <a:ea typeface="+mj-ea"/>
              </a:rPr>
              <a:t>问题研究是确定对症状最具解释力的原因，识别和确定的原因能覆盖和解释问题症状。注重根本问题和主要原因</a:t>
            </a:r>
            <a:r>
              <a:rPr lang="zh-CN" altLang="en-US" sz="2000" dirty="0">
                <a:latin typeface="+mj-ea"/>
                <a:ea typeface="+mj-ea"/>
              </a:rPr>
              <a:t>。</a:t>
            </a:r>
            <a:r>
              <a:rPr lang="zh-CN" altLang="zh-CN" sz="2000" dirty="0">
                <a:latin typeface="+mj-ea"/>
                <a:ea typeface="+mj-ea"/>
              </a:rPr>
              <a:t>陈述的原因与症状之间联系紧密。</a:t>
            </a: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zh-CN" altLang="zh-CN" sz="20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490598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1418</TotalTime>
  <Words>3582</Words>
  <Application>Microsoft Office PowerPoint</Application>
  <PresentationFormat>宽屏</PresentationFormat>
  <Paragraphs>318</Paragraphs>
  <Slides>31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3" baseType="lpstr">
      <vt:lpstr>等线</vt:lpstr>
      <vt:lpstr>等线 Light</vt:lpstr>
      <vt:lpstr>宋体</vt:lpstr>
      <vt:lpstr>宋体殜.胧..</vt:lpstr>
      <vt:lpstr>宋体蕻醴.錄.</vt:lpstr>
      <vt:lpstr>微软雅黑</vt:lpstr>
      <vt:lpstr>Arial</vt:lpstr>
      <vt:lpstr>Calibri</vt:lpstr>
      <vt:lpstr>Times New Roman</vt:lpstr>
      <vt:lpstr>Wingdings</vt:lpstr>
      <vt:lpstr>Office 主题​​</vt:lpstr>
      <vt:lpstr>Visio</vt:lpstr>
      <vt:lpstr>问题研究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Yan Ning</dc:creator>
  <cp:lastModifiedBy>Yan Ning</cp:lastModifiedBy>
  <cp:revision>390</cp:revision>
  <dcterms:created xsi:type="dcterms:W3CDTF">2023-02-21T01:12:16Z</dcterms:created>
  <dcterms:modified xsi:type="dcterms:W3CDTF">2025-02-28T01:55:10Z</dcterms:modified>
</cp:coreProperties>
</file>