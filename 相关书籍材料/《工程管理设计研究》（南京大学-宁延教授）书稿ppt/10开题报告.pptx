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623" r:id="rId2"/>
    <p:sldId id="644" r:id="rId3"/>
    <p:sldId id="1643" r:id="rId4"/>
    <p:sldId id="1649" r:id="rId5"/>
    <p:sldId id="1651" r:id="rId6"/>
    <p:sldId id="1652"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94558" autoAdjust="0"/>
  </p:normalViewPr>
  <p:slideViewPr>
    <p:cSldViewPr snapToGrid="0">
      <p:cViewPr varScale="1">
        <p:scale>
          <a:sx n="72" d="100"/>
          <a:sy n="72" d="100"/>
        </p:scale>
        <p:origin x="2270"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c5e2e04bbef42de" providerId="LiveId" clId="{229BA6A2-319A-44AE-8603-37B3631044F2}"/>
    <pc:docChg chg="custSel modSld">
      <pc:chgData name="" userId="6c5e2e04bbef42de" providerId="LiveId" clId="{229BA6A2-319A-44AE-8603-37B3631044F2}" dt="2025-02-28T02:01:53.711" v="3" actId="478"/>
      <pc:docMkLst>
        <pc:docMk/>
      </pc:docMkLst>
      <pc:sldChg chg="addSp delSp modSp">
        <pc:chgData name="" userId="6c5e2e04bbef42de" providerId="LiveId" clId="{229BA6A2-319A-44AE-8603-37B3631044F2}" dt="2025-02-28T02:01:53.711" v="3" actId="478"/>
        <pc:sldMkLst>
          <pc:docMk/>
          <pc:sldMk cId="0" sldId="623"/>
        </pc:sldMkLst>
        <pc:spChg chg="del">
          <ac:chgData name="" userId="6c5e2e04bbef42de" providerId="LiveId" clId="{229BA6A2-319A-44AE-8603-37B3631044F2}" dt="2025-02-28T02:01:51.502" v="2" actId="478"/>
          <ac:spMkLst>
            <pc:docMk/>
            <pc:sldMk cId="0" sldId="623"/>
            <ac:spMk id="3" creationId="{00000000-0000-0000-0000-000000000000}"/>
          </ac:spMkLst>
        </pc:spChg>
        <pc:spChg chg="add del mod">
          <ac:chgData name="" userId="6c5e2e04bbef42de" providerId="LiveId" clId="{229BA6A2-319A-44AE-8603-37B3631044F2}" dt="2025-02-28T02:01:53.711" v="3" actId="478"/>
          <ac:spMkLst>
            <pc:docMk/>
            <pc:sldMk cId="0" sldId="623"/>
            <ac:spMk id="5" creationId="{36A26353-B0F0-4976-8C15-A56CEFD365C1}"/>
          </ac:spMkLst>
        </pc:spChg>
        <pc:spChg chg="del">
          <ac:chgData name="" userId="6c5e2e04bbef42de" providerId="LiveId" clId="{229BA6A2-319A-44AE-8603-37B3631044F2}" dt="2025-02-28T02:01:50.328" v="1" actId="478"/>
          <ac:spMkLst>
            <pc:docMk/>
            <pc:sldMk cId="0" sldId="623"/>
            <ac:spMk id="10" creationId="{00000000-0000-0000-0000-000000000000}"/>
          </ac:spMkLst>
        </pc:spChg>
        <pc:picChg chg="del">
          <ac:chgData name="" userId="6c5e2e04bbef42de" providerId="LiveId" clId="{229BA6A2-319A-44AE-8603-37B3631044F2}" dt="2025-02-28T02:01:48.526" v="0" actId="478"/>
          <ac:picMkLst>
            <pc:docMk/>
            <pc:sldMk cId="0" sldId="623"/>
            <ac:picMk id="9" creationId="{00000000-0000-0000-0000-000000000000}"/>
          </ac:picMkLst>
        </pc:picChg>
      </pc:sldChg>
    </pc:docChg>
  </pc:docChgLst>
  <pc:docChgLst>
    <pc:chgData name=" " userId="1d39a4fa-c76e-4be0-a329-cd20bca6ab88" providerId="ADAL" clId="{FA88C26C-24BC-EA46-8AD2-6B682A55B08F}"/>
    <pc:docChg chg="undo custSel modSld">
      <pc:chgData name=" " userId="1d39a4fa-c76e-4be0-a329-cd20bca6ab88" providerId="ADAL" clId="{FA88C26C-24BC-EA46-8AD2-6B682A55B08F}" dt="2025-02-27T15:26:26.914" v="28" actId="20577"/>
      <pc:docMkLst>
        <pc:docMk/>
      </pc:docMkLst>
      <pc:sldChg chg="modSp mod">
        <pc:chgData name=" " userId="1d39a4fa-c76e-4be0-a329-cd20bca6ab88" providerId="ADAL" clId="{FA88C26C-24BC-EA46-8AD2-6B682A55B08F}" dt="2025-02-27T15:26:26.914" v="28" actId="20577"/>
        <pc:sldMkLst>
          <pc:docMk/>
          <pc:sldMk cId="0" sldId="623"/>
        </pc:sldMkLst>
        <pc:spChg chg="mod">
          <ac:chgData name=" " userId="1d39a4fa-c76e-4be0-a329-cd20bca6ab88" providerId="ADAL" clId="{FA88C26C-24BC-EA46-8AD2-6B682A55B08F}" dt="2025-02-27T15:26:26.914" v="28" actId="20577"/>
          <ac:spMkLst>
            <pc:docMk/>
            <pc:sldMk cId="0" sldId="623"/>
            <ac:spMk id="2" creationId="{00000000-0000-0000-0000-000000000000}"/>
          </ac:spMkLst>
        </pc:spChg>
      </pc:sldChg>
      <pc:sldChg chg="addSp modSp">
        <pc:chgData name=" " userId="1d39a4fa-c76e-4be0-a329-cd20bca6ab88" providerId="ADAL" clId="{FA88C26C-24BC-EA46-8AD2-6B682A55B08F}" dt="2025-02-27T15:25:56.550" v="0"/>
        <pc:sldMkLst>
          <pc:docMk/>
          <pc:sldMk cId="3861613803" sldId="1592"/>
        </pc:sldMkLst>
        <pc:spChg chg="add mod">
          <ac:chgData name=" " userId="1d39a4fa-c76e-4be0-a329-cd20bca6ab88" providerId="ADAL" clId="{FA88C26C-24BC-EA46-8AD2-6B682A55B08F}" dt="2025-02-27T15:25:56.550" v="0"/>
          <ac:spMkLst>
            <pc:docMk/>
            <pc:sldMk cId="3861613803" sldId="1592"/>
            <ac:spMk id="3" creationId="{7DE370BF-4FFC-DF48-ACFE-9B645678AA1E}"/>
          </ac:spMkLst>
        </pc:spChg>
      </pc:sldChg>
      <pc:sldChg chg="addSp modSp">
        <pc:chgData name=" " userId="1d39a4fa-c76e-4be0-a329-cd20bca6ab88" providerId="ADAL" clId="{FA88C26C-24BC-EA46-8AD2-6B682A55B08F}" dt="2025-02-27T15:25:59.203" v="1"/>
        <pc:sldMkLst>
          <pc:docMk/>
          <pc:sldMk cId="3078065049" sldId="1655"/>
        </pc:sldMkLst>
        <pc:spChg chg="add mod">
          <ac:chgData name=" " userId="1d39a4fa-c76e-4be0-a329-cd20bca6ab88" providerId="ADAL" clId="{FA88C26C-24BC-EA46-8AD2-6B682A55B08F}" dt="2025-02-27T15:25:59.203" v="1"/>
          <ac:spMkLst>
            <pc:docMk/>
            <pc:sldMk cId="3078065049" sldId="1655"/>
            <ac:spMk id="4" creationId="{7871E8D2-A4DE-F241-8E23-27E6361B16A8}"/>
          </ac:spMkLst>
        </pc:spChg>
      </pc:sldChg>
      <pc:sldChg chg="addSp modSp">
        <pc:chgData name=" " userId="1d39a4fa-c76e-4be0-a329-cd20bca6ab88" providerId="ADAL" clId="{FA88C26C-24BC-EA46-8AD2-6B682A55B08F}" dt="2025-02-27T15:26:00.754" v="2"/>
        <pc:sldMkLst>
          <pc:docMk/>
          <pc:sldMk cId="1024716014" sldId="1656"/>
        </pc:sldMkLst>
        <pc:spChg chg="add mod">
          <ac:chgData name=" " userId="1d39a4fa-c76e-4be0-a329-cd20bca6ab88" providerId="ADAL" clId="{FA88C26C-24BC-EA46-8AD2-6B682A55B08F}" dt="2025-02-27T15:26:00.754" v="2"/>
          <ac:spMkLst>
            <pc:docMk/>
            <pc:sldMk cId="1024716014" sldId="1656"/>
            <ac:spMk id="4" creationId="{A6A8AEF6-0FE4-4747-B084-785C3B72E147}"/>
          </ac:spMkLst>
        </pc:spChg>
      </pc:sldChg>
      <pc:sldChg chg="addSp modSp mod">
        <pc:chgData name=" " userId="1d39a4fa-c76e-4be0-a329-cd20bca6ab88" providerId="ADAL" clId="{FA88C26C-24BC-EA46-8AD2-6B682A55B08F}" dt="2025-02-27T15:26:03.936" v="5" actId="1036"/>
        <pc:sldMkLst>
          <pc:docMk/>
          <pc:sldMk cId="3473414369" sldId="1657"/>
        </pc:sldMkLst>
        <pc:spChg chg="add mod">
          <ac:chgData name=" " userId="1d39a4fa-c76e-4be0-a329-cd20bca6ab88" providerId="ADAL" clId="{FA88C26C-24BC-EA46-8AD2-6B682A55B08F}" dt="2025-02-27T15:26:03.936" v="5" actId="1036"/>
          <ac:spMkLst>
            <pc:docMk/>
            <pc:sldMk cId="3473414369" sldId="1657"/>
            <ac:spMk id="3" creationId="{49EF3C18-C2BF-9A48-9501-DE108108BD88}"/>
          </ac:spMkLst>
        </pc:spChg>
      </pc:sldChg>
      <pc:sldChg chg="addSp modSp">
        <pc:chgData name=" " userId="1d39a4fa-c76e-4be0-a329-cd20bca6ab88" providerId="ADAL" clId="{FA88C26C-24BC-EA46-8AD2-6B682A55B08F}" dt="2025-02-27T15:26:14.249" v="8"/>
        <pc:sldMkLst>
          <pc:docMk/>
          <pc:sldMk cId="4286226003" sldId="1658"/>
        </pc:sldMkLst>
        <pc:spChg chg="add mod">
          <ac:chgData name=" " userId="1d39a4fa-c76e-4be0-a329-cd20bca6ab88" providerId="ADAL" clId="{FA88C26C-24BC-EA46-8AD2-6B682A55B08F}" dt="2025-02-27T15:26:14.249" v="8"/>
          <ac:spMkLst>
            <pc:docMk/>
            <pc:sldMk cId="4286226003" sldId="1658"/>
            <ac:spMk id="3" creationId="{9192DFD0-0473-CB41-957B-A81DC0CFA0F1}"/>
          </ac:spMkLst>
        </pc:spChg>
      </pc:sldChg>
      <pc:sldChg chg="addSp modSp">
        <pc:chgData name=" " userId="1d39a4fa-c76e-4be0-a329-cd20bca6ab88" providerId="ADAL" clId="{FA88C26C-24BC-EA46-8AD2-6B682A55B08F}" dt="2025-02-27T15:26:07.639" v="6"/>
        <pc:sldMkLst>
          <pc:docMk/>
          <pc:sldMk cId="3907690" sldId="1659"/>
        </pc:sldMkLst>
        <pc:spChg chg="add mod">
          <ac:chgData name=" " userId="1d39a4fa-c76e-4be0-a329-cd20bca6ab88" providerId="ADAL" clId="{FA88C26C-24BC-EA46-8AD2-6B682A55B08F}" dt="2025-02-27T15:26:07.639" v="6"/>
          <ac:spMkLst>
            <pc:docMk/>
            <pc:sldMk cId="3907690" sldId="1659"/>
            <ac:spMk id="3" creationId="{3A42905B-11D8-8640-B48E-B82BBA6416A1}"/>
          </ac:spMkLst>
        </pc:spChg>
      </pc:sldChg>
      <pc:sldChg chg="addSp modSp">
        <pc:chgData name=" " userId="1d39a4fa-c76e-4be0-a329-cd20bca6ab88" providerId="ADAL" clId="{FA88C26C-24BC-EA46-8AD2-6B682A55B08F}" dt="2025-02-27T15:26:11.034" v="7"/>
        <pc:sldMkLst>
          <pc:docMk/>
          <pc:sldMk cId="1738964735" sldId="1660"/>
        </pc:sldMkLst>
        <pc:spChg chg="add mod">
          <ac:chgData name=" " userId="1d39a4fa-c76e-4be0-a329-cd20bca6ab88" providerId="ADAL" clId="{FA88C26C-24BC-EA46-8AD2-6B682A55B08F}" dt="2025-02-27T15:26:11.034" v="7"/>
          <ac:spMkLst>
            <pc:docMk/>
            <pc:sldMk cId="1738964735" sldId="1660"/>
            <ac:spMk id="3" creationId="{CD95D768-4189-C74C-95A9-74B9B52BB4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255C-18F3-4DDB-BBD7-6518A0AFC2C0}"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55024-9D59-46C3-A0DB-ED02D2144145}" type="slidenum">
              <a:rPr lang="zh-CN" altLang="en-US" smtClean="0"/>
              <a:t>‹#›</a:t>
            </a:fld>
            <a:endParaRPr lang="zh-CN" altLang="en-US"/>
          </a:p>
        </p:txBody>
      </p:sp>
    </p:spTree>
    <p:extLst>
      <p:ext uri="{BB962C8B-B14F-4D97-AF65-F5344CB8AC3E}">
        <p14:creationId xmlns:p14="http://schemas.microsoft.com/office/powerpoint/2010/main" val="35365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103FD-515C-42D9-AF72-56D52BA7B6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52415A-CA51-47E8-831A-9B7FA56563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AC152F-EA3D-466D-8166-2512400AB678}"/>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E9156A4-88C8-4661-8F3F-81808A5A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7E36A7-D454-414F-A7CB-CA9B6FB8FD8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043668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66BBD-445B-4307-8404-3C9E55B3C9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D068DA-3777-43E3-B7F5-87BD9F7DDE84}"/>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7E6E70B-04E4-4787-93CA-4EEA57185260}"/>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0C0E928D-BC94-4F2D-B53A-3180E1102B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CAB707-2271-4F55-B227-95FA6DE280F9}"/>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8447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B1197-E440-4AF4-BC8B-C4B1845650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FFCB6E-07BC-4035-87FE-67B6D5AE33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AB9FDF8-176C-413E-9AE9-D3DD2292988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E1E3DBA-C1DC-4FDE-B897-D715B0ED9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C9068-B7C5-4E02-8706-68F732E2522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21104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DC88F-1F41-4ABA-B8AE-64E8758BF9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1C596E-186D-4E06-BE39-819ECA4228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D0014C-9470-4359-8795-896B4457EDB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32816E-1329-4A7C-83F4-D211A908AC0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9A8283-12FB-42A2-B184-3820795762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4BA166-08CB-4F4C-A82A-6A54DDBC704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959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07D4A-718B-46FB-9811-CD73BEDD13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0F18E6-DD1F-4427-9E70-B443C1EE8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4CA2D10-8BE2-484B-BA12-2FDE393856D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A1C370B-FEA8-40FC-982D-1CFA1C5B5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0B43256-EAAE-489B-89B2-EB0EBD29855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2B2BF0-982E-4DCC-9CC1-5E73E8EA94A6}"/>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996C86D8-C38D-40EF-B7DC-513009258B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643910-70FD-48E3-BDE2-540CFB142A3B}"/>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0364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7AE02-50CD-4FB2-BD02-76F3E8B98D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F0A67C-4CAE-49DF-BA3A-4A627B6FE1F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C2F947EE-D3CC-4D0F-9EC9-EAA0F19235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704809-3C78-497A-82B1-CC426F67937A}"/>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18716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CF1B75-484E-4AFA-844B-6697E8473A93}"/>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61878834-27C0-417E-938E-4D9D4146DC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DEB67-743D-4873-85E6-5A9F3177ECED}"/>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74914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D83F-DB22-46D9-855F-6D5C57894A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1C7E-B5A2-476B-B1D7-7AEF7B33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5D8587-D98D-4514-B904-29CE95B85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E02B46D-9F74-4FD2-BC3B-AE943DF1086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2793ACDA-2B9C-40FD-A239-C52FDD9766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528C01-34A5-420B-A604-B4011101D956}"/>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67841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EE2D2-414A-4935-81A3-07ECCFF5EC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4B0647-724F-465D-AA4A-1AAA05CF3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28AC01-7925-49DD-826D-336FE3055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78FF29-AFCB-4793-AA26-1F2C84797BB2}"/>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EEC631CD-DD99-4AC5-8574-019DEED951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D9507-DDDB-4831-9B20-1DE84C9C372F}"/>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7580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657E-53E5-4008-9F21-BAFEA01D39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BB134A-EF2A-4612-BC2E-DCF53021909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533070-3ECC-4FFD-AFFC-4BB616032A27}"/>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E1B0E874-F2CB-4755-8443-A856D5218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F74974-6194-47AD-A321-333EF064BA8E}"/>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83597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43C0A9-02E0-4757-93E3-A84929FDED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227089F-D812-49A7-8AA6-82DB9C87A01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BF6DC3-3372-4FFF-A693-8DC10F2FB2C1}"/>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F0297473-017C-4371-AE98-6F8ECB38A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65BA15-09D9-4092-9CD2-72EE0EF73BA0}"/>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85449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01E131-1FE4-4CF8-BDA2-A6829A759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3B0D38-8EE9-4BBC-82CA-C5EFDBD0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C13A21-B67E-4186-B0F1-D945AA00F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B9385BAA-8800-4379-B9C9-AA88427CE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22A6E2-4DAD-4670-955D-2A6C7F14F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848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1395549"/>
          </a:xfrm>
        </p:spPr>
        <p:txBody>
          <a:bodyPr>
            <a:noAutofit/>
          </a:bodyPr>
          <a:lstStyle/>
          <a:p>
            <a:r>
              <a:rPr lang="zh-CN" altLang="en-US" b="1" dirty="0"/>
              <a:t>开题报告与绪论写作</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3078F0C-EEF0-431C-AF82-537A61C3223D}"/>
              </a:ext>
            </a:extLst>
          </p:cNvPr>
          <p:cNvSpPr/>
          <p:nvPr/>
        </p:nvSpPr>
        <p:spPr>
          <a:xfrm>
            <a:off x="228600" y="1066800"/>
            <a:ext cx="11658600" cy="3277116"/>
          </a:xfrm>
          <a:prstGeom prst="rect">
            <a:avLst/>
          </a:prstGeom>
          <a:solidFill>
            <a:srgbClr val="70AD47">
              <a:lumMod val="40000"/>
              <a:lumOff val="60000"/>
            </a:srgbClr>
          </a:solidFill>
        </p:spPr>
        <p:txBody>
          <a:bodyPr wrap="square">
            <a:spAutoFit/>
          </a:bodyPr>
          <a:lstStyle/>
          <a:p>
            <a:pPr>
              <a:lnSpc>
                <a:spcPct val="150000"/>
              </a:lnSpc>
            </a:pPr>
            <a:r>
              <a:rPr lang="zh-CN" altLang="en-US" sz="2000" b="1" kern="100" dirty="0">
                <a:highlight>
                  <a:srgbClr val="FFFF00"/>
                </a:highlight>
                <a:latin typeface="等线 Light" panose="02010600030101010101" pitchFamily="2" charset="-122"/>
                <a:ea typeface="等线 Light" panose="02010600030101010101" pitchFamily="2" charset="-122"/>
                <a:cs typeface="Times New Roman" panose="02020603050405020304" pitchFamily="18" charset="0"/>
              </a:rPr>
              <a:t>开题答辩总结：</a:t>
            </a:r>
            <a:r>
              <a:rPr lang="zh-CN" altLang="en-US" sz="2000" i="1" kern="100" dirty="0">
                <a:latin typeface="等线 Light" panose="02010600030101010101" pitchFamily="2" charset="-122"/>
                <a:ea typeface="等线 Light" panose="02010600030101010101" pitchFamily="2" charset="-122"/>
                <a:cs typeface="Times New Roman" panose="02020603050405020304" pitchFamily="18" charset="0"/>
              </a:rPr>
              <a:t> </a:t>
            </a:r>
            <a:r>
              <a:rPr lang="zh-CN" altLang="zh-CN" sz="2000" i="1" kern="100" dirty="0">
                <a:latin typeface="等线 Light" panose="02010600030101010101" pitchFamily="2" charset="-122"/>
                <a:ea typeface="等线 Light" panose="02010600030101010101" pitchFamily="2" charset="-122"/>
                <a:cs typeface="Times New Roman" panose="02020603050405020304" pitchFamily="18" charset="0"/>
              </a:rPr>
              <a:t>“开题答辩的目的是答辩专家给你指名写作思路，而不是提出批评，在这一阶段需要多问问老师应该怎么解决。回顾了一下老师提问的高频问题，主要包括：为什么会选择这个选题（研究背景</a:t>
            </a:r>
            <a:r>
              <a:rPr lang="en-US" altLang="zh-CN" sz="2000" i="1"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zh-CN" sz="2000" i="1" kern="100" dirty="0">
                <a:latin typeface="等线 Light" panose="02010600030101010101" pitchFamily="2" charset="-122"/>
                <a:ea typeface="等线 Light" panose="02010600030101010101" pitchFamily="2" charset="-122"/>
                <a:cs typeface="Times New Roman" panose="02020603050405020304" pitchFamily="18" charset="0"/>
              </a:rPr>
              <a:t>意义）；研究的这个选题与之前别人研究的有什么不同之处吗（创新点）；论文的研究数据是否有可靠来源；是否容易获得（可行性）；论文研究将采用什么样的研究方法（研究方法）；该选题的研究现状（国内外的文献综述）。总体而言，我们这一组在进行开题答辩时，答辩专家首先看的是论文题目，题目起得过大或者里面有些关键词没有界定清楚都会是一个大的问题。其次是研究问题的背景够不够新颖实用，研究目标是不是特别的明确，研究方案是不是环环相扣，能够切实地解决提出的研究问题等。”</a:t>
            </a:r>
            <a:endParaRPr lang="zh-CN" altLang="en-US" sz="2000" i="1" kern="100" dirty="0">
              <a:latin typeface="等线 Light" panose="02010600030101010101" pitchFamily="2" charset="-122"/>
              <a:ea typeface="等线 Light"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15839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60BF4C57-596C-42F5-A3B4-D8EF4D0EF176}"/>
              </a:ext>
            </a:extLst>
          </p:cNvPr>
          <p:cNvGraphicFramePr>
            <a:graphicFrameLocks noGrp="1"/>
          </p:cNvGraphicFramePr>
          <p:nvPr/>
        </p:nvGraphicFramePr>
        <p:xfrm>
          <a:off x="765810" y="537098"/>
          <a:ext cx="11167110" cy="4826023"/>
        </p:xfrm>
        <a:graphic>
          <a:graphicData uri="http://schemas.openxmlformats.org/drawingml/2006/table">
            <a:tbl>
              <a:tblPr firstRow="1" firstCol="1" bandRow="1">
                <a:tableStyleId>{5C22544A-7EE6-4342-B048-85BDC9FD1C3A}</a:tableStyleId>
              </a:tblPr>
              <a:tblGrid>
                <a:gridCol w="1668282">
                  <a:extLst>
                    <a:ext uri="{9D8B030D-6E8A-4147-A177-3AD203B41FA5}">
                      <a16:colId xmlns:a16="http://schemas.microsoft.com/office/drawing/2014/main" val="2566301280"/>
                    </a:ext>
                  </a:extLst>
                </a:gridCol>
                <a:gridCol w="9498828">
                  <a:extLst>
                    <a:ext uri="{9D8B030D-6E8A-4147-A177-3AD203B41FA5}">
                      <a16:colId xmlns:a16="http://schemas.microsoft.com/office/drawing/2014/main" val="3259436487"/>
                    </a:ext>
                  </a:extLst>
                </a:gridCol>
              </a:tblGrid>
              <a:tr h="311952">
                <a:tc>
                  <a:txBody>
                    <a:bodyPr/>
                    <a:lstStyle/>
                    <a:p>
                      <a:pPr algn="just">
                        <a:spcAft>
                          <a:spcPts val="0"/>
                        </a:spcAft>
                      </a:pPr>
                      <a:r>
                        <a:rPr lang="zh-CN" sz="1800" kern="0">
                          <a:effectLst/>
                          <a:latin typeface="+mj-ea"/>
                          <a:ea typeface="+mj-ea"/>
                        </a:rPr>
                        <a:t>组成</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zh-CN" sz="1800" kern="0">
                          <a:effectLst/>
                          <a:latin typeface="+mj-ea"/>
                          <a:ea typeface="+mj-ea"/>
                        </a:rPr>
                        <a:t>描述</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573889733"/>
                  </a:ext>
                </a:extLst>
              </a:tr>
              <a:tr h="623904">
                <a:tc>
                  <a:txBody>
                    <a:bodyPr/>
                    <a:lstStyle/>
                    <a:p>
                      <a:pPr algn="just">
                        <a:spcAft>
                          <a:spcPts val="0"/>
                        </a:spcAft>
                      </a:pPr>
                      <a:r>
                        <a:rPr lang="zh-CN" sz="1800" kern="0">
                          <a:effectLst/>
                          <a:latin typeface="+mj-ea"/>
                          <a:ea typeface="+mj-ea"/>
                        </a:rPr>
                        <a:t>背景</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0">
                          <a:effectLst/>
                          <a:latin typeface="+mj-ea"/>
                          <a:ea typeface="+mj-ea"/>
                        </a:rPr>
                        <a:t>1</a:t>
                      </a:r>
                      <a:r>
                        <a:rPr lang="zh-CN" sz="1800" kern="0">
                          <a:effectLst/>
                          <a:latin typeface="+mj-ea"/>
                          <a:ea typeface="+mj-ea"/>
                        </a:rPr>
                        <a:t>）问题的产生背景和情境</a:t>
                      </a:r>
                      <a:endParaRPr lang="zh-CN" sz="1800" kern="100">
                        <a:effectLst/>
                        <a:latin typeface="+mj-ea"/>
                        <a:ea typeface="+mj-ea"/>
                      </a:endParaRPr>
                    </a:p>
                    <a:p>
                      <a:pPr algn="l">
                        <a:spcAft>
                          <a:spcPts val="0"/>
                        </a:spcAft>
                      </a:pPr>
                      <a:r>
                        <a:rPr lang="en-US" sz="1800" kern="0">
                          <a:effectLst/>
                          <a:latin typeface="+mj-ea"/>
                          <a:ea typeface="+mj-ea"/>
                        </a:rPr>
                        <a:t>2</a:t>
                      </a:r>
                      <a:r>
                        <a:rPr lang="zh-CN" sz="1800" kern="0">
                          <a:effectLst/>
                          <a:latin typeface="+mj-ea"/>
                          <a:ea typeface="+mj-ea"/>
                        </a:rPr>
                        <a:t>）解决问题的重要性及解决的动机</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86021861"/>
                  </a:ext>
                </a:extLst>
              </a:tr>
              <a:tr h="1148326">
                <a:tc>
                  <a:txBody>
                    <a:bodyPr/>
                    <a:lstStyle/>
                    <a:p>
                      <a:pPr algn="just">
                        <a:spcAft>
                          <a:spcPts val="0"/>
                        </a:spcAft>
                      </a:pPr>
                      <a:r>
                        <a:rPr lang="zh-CN" sz="1800" kern="0">
                          <a:effectLst/>
                          <a:latin typeface="+mj-ea"/>
                          <a:ea typeface="+mj-ea"/>
                        </a:rPr>
                        <a:t>问题研究</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0" dirty="0">
                          <a:effectLst/>
                          <a:latin typeface="+mj-ea"/>
                          <a:ea typeface="+mj-ea"/>
                        </a:rPr>
                        <a:t>1</a:t>
                      </a:r>
                      <a:r>
                        <a:rPr lang="zh-CN" sz="1800" kern="0" dirty="0">
                          <a:effectLst/>
                          <a:latin typeface="+mj-ea"/>
                          <a:ea typeface="+mj-ea"/>
                        </a:rPr>
                        <a:t>）实践问题：呈现实践问题及问题的根因</a:t>
                      </a:r>
                      <a:endParaRPr lang="zh-CN" sz="1800" kern="100" dirty="0">
                        <a:effectLst/>
                        <a:latin typeface="+mj-ea"/>
                        <a:ea typeface="+mj-ea"/>
                      </a:endParaRPr>
                    </a:p>
                    <a:p>
                      <a:pPr algn="l">
                        <a:spcAft>
                          <a:spcPts val="0"/>
                        </a:spcAft>
                      </a:pPr>
                      <a:r>
                        <a:rPr lang="en-US" sz="1800" kern="0" dirty="0">
                          <a:effectLst/>
                          <a:latin typeface="+mj-ea"/>
                          <a:ea typeface="+mj-ea"/>
                        </a:rPr>
                        <a:t>2</a:t>
                      </a:r>
                      <a:r>
                        <a:rPr lang="zh-CN" sz="1800" kern="0" dirty="0">
                          <a:effectLst/>
                          <a:latin typeface="+mj-ea"/>
                          <a:ea typeface="+mj-ea"/>
                        </a:rPr>
                        <a:t>）研究问题和目标：已有研究在该问题解决中的不足，以及本研究拟弥补的研究目标</a:t>
                      </a:r>
                      <a:endParaRPr lang="zh-CN" sz="1800" kern="100" dirty="0">
                        <a:effectLst/>
                        <a:latin typeface="+mj-ea"/>
                        <a:ea typeface="+mj-ea"/>
                      </a:endParaRPr>
                    </a:p>
                    <a:p>
                      <a:pPr algn="l">
                        <a:spcAft>
                          <a:spcPts val="0"/>
                        </a:spcAft>
                      </a:pPr>
                      <a:r>
                        <a:rPr lang="en-US" sz="1800" kern="0" dirty="0">
                          <a:effectLst/>
                          <a:latin typeface="+mj-ea"/>
                          <a:ea typeface="+mj-ea"/>
                        </a:rPr>
                        <a:t>3</a:t>
                      </a:r>
                      <a:r>
                        <a:rPr lang="zh-CN" sz="1800" kern="0" dirty="0">
                          <a:effectLst/>
                          <a:latin typeface="+mj-ea"/>
                          <a:ea typeface="+mj-ea"/>
                        </a:rPr>
                        <a:t>）研究范围：界定研究的范围，问题对象的范围，解决方案的适用范围等</a:t>
                      </a:r>
                      <a:endParaRPr lang="zh-CN" sz="1800" kern="100" dirty="0">
                        <a:effectLst/>
                        <a:latin typeface="+mj-ea"/>
                        <a:ea typeface="+mj-ea"/>
                      </a:endParaRPr>
                    </a:p>
                    <a:p>
                      <a:pPr algn="l">
                        <a:spcAft>
                          <a:spcPts val="0"/>
                        </a:spcAft>
                      </a:pPr>
                      <a:r>
                        <a:rPr lang="en-US" sz="1800" kern="0" dirty="0">
                          <a:effectLst/>
                          <a:latin typeface="+mj-ea"/>
                          <a:ea typeface="+mj-ea"/>
                        </a:rPr>
                        <a:t>4</a:t>
                      </a:r>
                      <a:r>
                        <a:rPr lang="zh-CN" sz="1800" kern="0" dirty="0">
                          <a:effectLst/>
                          <a:latin typeface="+mj-ea"/>
                          <a:ea typeface="+mj-ea"/>
                        </a:rPr>
                        <a:t>）研究的理论和实践意义：研究形成的理论和实践意义</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967479493"/>
                  </a:ext>
                </a:extLst>
              </a:tr>
              <a:tr h="627691">
                <a:tc>
                  <a:txBody>
                    <a:bodyPr/>
                    <a:lstStyle/>
                    <a:p>
                      <a:pPr algn="just">
                        <a:spcAft>
                          <a:spcPts val="0"/>
                        </a:spcAft>
                      </a:pPr>
                      <a:r>
                        <a:rPr lang="zh-CN" sz="1800" kern="0">
                          <a:effectLst/>
                          <a:latin typeface="+mj-ea"/>
                          <a:ea typeface="+mj-ea"/>
                        </a:rPr>
                        <a:t>文献综述</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0" dirty="0">
                          <a:effectLst/>
                          <a:latin typeface="+mj-ea"/>
                          <a:ea typeface="+mj-ea"/>
                        </a:rPr>
                        <a:t>1</a:t>
                      </a:r>
                      <a:r>
                        <a:rPr lang="zh-CN" sz="1800" kern="0" dirty="0">
                          <a:effectLst/>
                          <a:latin typeface="+mj-ea"/>
                          <a:ea typeface="+mj-ea"/>
                        </a:rPr>
                        <a:t>）与本研究相关的研究综述：已有理论和实践以及其解决问题的适用性</a:t>
                      </a:r>
                      <a:endParaRPr lang="zh-CN" sz="1800" kern="100" dirty="0">
                        <a:effectLst/>
                        <a:latin typeface="+mj-ea"/>
                        <a:ea typeface="+mj-ea"/>
                      </a:endParaRPr>
                    </a:p>
                    <a:p>
                      <a:pPr algn="l">
                        <a:spcAft>
                          <a:spcPts val="0"/>
                        </a:spcAft>
                      </a:pPr>
                      <a:r>
                        <a:rPr lang="en-US" sz="1800" kern="0" dirty="0">
                          <a:effectLst/>
                          <a:latin typeface="+mj-ea"/>
                          <a:ea typeface="+mj-ea"/>
                        </a:rPr>
                        <a:t>2</a:t>
                      </a:r>
                      <a:r>
                        <a:rPr lang="zh-CN" sz="1800" kern="0" dirty="0">
                          <a:effectLst/>
                          <a:latin typeface="+mj-ea"/>
                          <a:ea typeface="+mj-ea"/>
                        </a:rPr>
                        <a:t>）关键概念：指导解决方案设计的关键概念和理论</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117475637"/>
                  </a:ext>
                </a:extLst>
              </a:tr>
              <a:tr h="311952">
                <a:tc>
                  <a:txBody>
                    <a:bodyPr/>
                    <a:lstStyle/>
                    <a:p>
                      <a:pPr algn="just">
                        <a:spcAft>
                          <a:spcPts val="0"/>
                        </a:spcAft>
                      </a:pPr>
                      <a:r>
                        <a:rPr lang="zh-CN" sz="1800" kern="100">
                          <a:effectLst/>
                          <a:latin typeface="+mj-ea"/>
                          <a:ea typeface="+mj-ea"/>
                        </a:rPr>
                        <a:t>研究内容</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100">
                          <a:effectLst/>
                          <a:latin typeface="+mj-ea"/>
                          <a:ea typeface="+mj-ea"/>
                        </a:rPr>
                        <a:t>1</a:t>
                      </a:r>
                      <a:r>
                        <a:rPr lang="zh-CN" sz="1800" kern="100">
                          <a:effectLst/>
                          <a:latin typeface="+mj-ea"/>
                          <a:ea typeface="+mj-ea"/>
                        </a:rPr>
                        <a:t>）研究内容的安排</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987217142"/>
                  </a:ext>
                </a:extLst>
              </a:tr>
              <a:tr h="311952">
                <a:tc>
                  <a:txBody>
                    <a:bodyPr/>
                    <a:lstStyle/>
                    <a:p>
                      <a:pPr algn="just">
                        <a:spcAft>
                          <a:spcPts val="0"/>
                        </a:spcAft>
                      </a:pPr>
                      <a:r>
                        <a:rPr lang="zh-CN" sz="1800" kern="0">
                          <a:effectLst/>
                          <a:latin typeface="+mj-ea"/>
                          <a:ea typeface="+mj-ea"/>
                        </a:rPr>
                        <a:t>研究</a:t>
                      </a:r>
                      <a:r>
                        <a:rPr lang="zh-CN" sz="1800" kern="100">
                          <a:effectLst/>
                          <a:latin typeface="+mj-ea"/>
                          <a:ea typeface="+mj-ea"/>
                        </a:rPr>
                        <a:t>方案</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0">
                          <a:effectLst/>
                          <a:latin typeface="+mj-ea"/>
                          <a:ea typeface="+mj-ea"/>
                        </a:rPr>
                        <a:t>1</a:t>
                      </a:r>
                      <a:r>
                        <a:rPr lang="zh-CN" sz="1800" kern="0">
                          <a:effectLst/>
                          <a:latin typeface="+mj-ea"/>
                          <a:ea typeface="+mj-ea"/>
                        </a:rPr>
                        <a:t>）研究方法与技术路线</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792057179"/>
                  </a:ext>
                </a:extLst>
              </a:tr>
              <a:tr h="311952">
                <a:tc>
                  <a:txBody>
                    <a:bodyPr/>
                    <a:lstStyle/>
                    <a:p>
                      <a:pPr algn="just">
                        <a:spcAft>
                          <a:spcPts val="0"/>
                        </a:spcAft>
                      </a:pPr>
                      <a:r>
                        <a:rPr lang="zh-CN" sz="1800" kern="0">
                          <a:effectLst/>
                          <a:latin typeface="+mj-ea"/>
                          <a:ea typeface="+mj-ea"/>
                        </a:rPr>
                        <a:t>预期成果</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0">
                          <a:effectLst/>
                          <a:latin typeface="+mj-ea"/>
                          <a:ea typeface="+mj-ea"/>
                        </a:rPr>
                        <a:t>1</a:t>
                      </a:r>
                      <a:r>
                        <a:rPr lang="zh-CN" sz="1800" kern="0">
                          <a:effectLst/>
                          <a:latin typeface="+mj-ea"/>
                          <a:ea typeface="+mj-ea"/>
                        </a:rPr>
                        <a:t>）预期的成果，及创新点</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766090726"/>
                  </a:ext>
                </a:extLst>
              </a:tr>
              <a:tr h="554390">
                <a:tc>
                  <a:txBody>
                    <a:bodyPr/>
                    <a:lstStyle/>
                    <a:p>
                      <a:pPr algn="just">
                        <a:spcAft>
                          <a:spcPts val="0"/>
                        </a:spcAft>
                      </a:pPr>
                      <a:r>
                        <a:rPr lang="zh-CN" sz="1800" kern="100">
                          <a:effectLst/>
                          <a:latin typeface="+mj-ea"/>
                          <a:ea typeface="+mj-ea"/>
                        </a:rPr>
                        <a:t>可行性分析</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100">
                          <a:effectLst/>
                          <a:latin typeface="+mj-ea"/>
                          <a:ea typeface="+mj-ea"/>
                        </a:rPr>
                        <a:t>1</a:t>
                      </a:r>
                      <a:r>
                        <a:rPr lang="zh-CN" sz="1800" kern="100">
                          <a:effectLst/>
                          <a:latin typeface="+mj-ea"/>
                          <a:ea typeface="+mj-ea"/>
                        </a:rPr>
                        <a:t>）研究内容完成和实施方案可操作性的评价</a:t>
                      </a:r>
                    </a:p>
                    <a:p>
                      <a:pPr algn="l">
                        <a:spcAft>
                          <a:spcPts val="0"/>
                        </a:spcAft>
                      </a:pPr>
                      <a:r>
                        <a:rPr lang="en-US" sz="1800" kern="100">
                          <a:effectLst/>
                          <a:latin typeface="+mj-ea"/>
                          <a:ea typeface="+mj-ea"/>
                        </a:rPr>
                        <a:t>2</a:t>
                      </a:r>
                      <a:r>
                        <a:rPr lang="zh-CN" sz="1800" kern="100">
                          <a:effectLst/>
                          <a:latin typeface="+mj-ea"/>
                          <a:ea typeface="+mj-ea"/>
                        </a:rPr>
                        <a:t>）</a:t>
                      </a:r>
                      <a:r>
                        <a:rPr lang="zh-CN" sz="1800" kern="0">
                          <a:effectLst/>
                          <a:latin typeface="+mj-ea"/>
                          <a:ea typeface="+mj-ea"/>
                        </a:rPr>
                        <a:t>难点和挑战，及</a:t>
                      </a:r>
                      <a:r>
                        <a:rPr lang="zh-CN" sz="1800" kern="100">
                          <a:effectLst/>
                          <a:latin typeface="+mj-ea"/>
                          <a:ea typeface="+mj-ea"/>
                        </a:rPr>
                        <a:t>应对措施</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960678687"/>
                  </a:ext>
                </a:extLst>
              </a:tr>
              <a:tr h="623904">
                <a:tc>
                  <a:txBody>
                    <a:bodyPr/>
                    <a:lstStyle/>
                    <a:p>
                      <a:pPr algn="just">
                        <a:spcAft>
                          <a:spcPts val="0"/>
                        </a:spcAft>
                      </a:pPr>
                      <a:r>
                        <a:rPr lang="zh-CN" sz="1800" kern="0">
                          <a:effectLst/>
                          <a:latin typeface="+mj-ea"/>
                          <a:ea typeface="+mj-ea"/>
                        </a:rPr>
                        <a:t>其它</a:t>
                      </a:r>
                      <a:endParaRPr lang="zh-CN" sz="1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en-US" sz="1800" kern="100" dirty="0">
                          <a:effectLst/>
                          <a:latin typeface="+mj-ea"/>
                          <a:ea typeface="+mj-ea"/>
                        </a:rPr>
                        <a:t>1</a:t>
                      </a:r>
                      <a:r>
                        <a:rPr lang="zh-CN" sz="1800" kern="100" dirty="0">
                          <a:effectLst/>
                          <a:latin typeface="+mj-ea"/>
                          <a:ea typeface="+mj-ea"/>
                        </a:rPr>
                        <a:t>）进度安排</a:t>
                      </a:r>
                    </a:p>
                    <a:p>
                      <a:pPr algn="l">
                        <a:spcAft>
                          <a:spcPts val="0"/>
                        </a:spcAft>
                      </a:pPr>
                      <a:r>
                        <a:rPr lang="en-US" sz="1800" kern="100" dirty="0">
                          <a:effectLst/>
                          <a:latin typeface="+mj-ea"/>
                          <a:ea typeface="+mj-ea"/>
                        </a:rPr>
                        <a:t>2</a:t>
                      </a:r>
                      <a:r>
                        <a:rPr lang="zh-CN" sz="1800" kern="100" dirty="0">
                          <a:effectLst/>
                          <a:latin typeface="+mj-ea"/>
                          <a:ea typeface="+mj-ea"/>
                        </a:rPr>
                        <a:t>）基础资料的准备等</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212403122"/>
                  </a:ext>
                </a:extLst>
              </a:tr>
            </a:tbl>
          </a:graphicData>
        </a:graphic>
      </p:graphicFrame>
      <p:sp>
        <p:nvSpPr>
          <p:cNvPr id="5" name="矩形 4">
            <a:extLst>
              <a:ext uri="{FF2B5EF4-FFF2-40B4-BE49-F238E27FC236}">
                <a16:creationId xmlns:a16="http://schemas.microsoft.com/office/drawing/2014/main" id="{BB4E6E8B-ED2B-4561-AC59-ABA6EDF92A41}"/>
              </a:ext>
            </a:extLst>
          </p:cNvPr>
          <p:cNvSpPr/>
          <p:nvPr/>
        </p:nvSpPr>
        <p:spPr>
          <a:xfrm>
            <a:off x="4351020" y="5595189"/>
            <a:ext cx="2011680" cy="725713"/>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kern="0" dirty="0">
                <a:solidFill>
                  <a:schemeClr val="tx1"/>
                </a:solidFill>
                <a:latin typeface="+mn-ea"/>
                <a:cs typeface="Times New Roman" panose="02020603050405020304" pitchFamily="18" charset="0"/>
              </a:rPr>
              <a:t>开题报告</a:t>
            </a:r>
            <a:endParaRPr lang="en-US" altLang="zh-CN" sz="2800" kern="0" dirty="0">
              <a:solidFill>
                <a:schemeClr val="tx1"/>
              </a:solidFill>
              <a:latin typeface="+mn-ea"/>
              <a:cs typeface="Times New Roman" panose="02020603050405020304" pitchFamily="18" charset="0"/>
            </a:endParaRPr>
          </a:p>
        </p:txBody>
      </p:sp>
    </p:spTree>
    <p:extLst>
      <p:ext uri="{BB962C8B-B14F-4D97-AF65-F5344CB8AC3E}">
        <p14:creationId xmlns:p14="http://schemas.microsoft.com/office/powerpoint/2010/main" val="343633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8C15C2-D18C-4818-9F9F-669424637AC8}"/>
              </a:ext>
            </a:extLst>
          </p:cNvPr>
          <p:cNvSpPr txBox="1">
            <a:spLocks/>
          </p:cNvSpPr>
          <p:nvPr/>
        </p:nvSpPr>
        <p:spPr>
          <a:xfrm>
            <a:off x="1745673" y="403860"/>
            <a:ext cx="942524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评审关注重点</a:t>
            </a:r>
          </a:p>
        </p:txBody>
      </p:sp>
      <p:sp>
        <p:nvSpPr>
          <p:cNvPr id="3" name="矩形 2">
            <a:extLst>
              <a:ext uri="{FF2B5EF4-FFF2-40B4-BE49-F238E27FC236}">
                <a16:creationId xmlns:a16="http://schemas.microsoft.com/office/drawing/2014/main" id="{B3A9B646-9D6C-4ECB-85A9-67B88E0129C1}"/>
              </a:ext>
            </a:extLst>
          </p:cNvPr>
          <p:cNvSpPr/>
          <p:nvPr/>
        </p:nvSpPr>
        <p:spPr>
          <a:xfrm>
            <a:off x="391885" y="1036320"/>
            <a:ext cx="10893335" cy="4205126"/>
          </a:xfrm>
          <a:prstGeom prst="rect">
            <a:avLst/>
          </a:prstGeom>
        </p:spPr>
        <p:txBody>
          <a:bodyPr wrap="square">
            <a:spAutoFit/>
          </a:bodyPr>
          <a:lstStyle/>
          <a:p>
            <a:pPr algn="just">
              <a:lnSpc>
                <a:spcPct val="150000"/>
              </a:lnSpc>
            </a:pPr>
            <a:r>
              <a:rPr lang="en-US" altLang="zh-CN" b="1" kern="100" dirty="0">
                <a:latin typeface="+mj-ea"/>
                <a:ea typeface="+mj-ea"/>
                <a:cs typeface="Times New Roman" panose="02020603050405020304" pitchFamily="18" charset="0"/>
              </a:rPr>
              <a:t>1</a:t>
            </a:r>
            <a:r>
              <a:rPr lang="zh-CN" altLang="en-US" b="1" kern="100" dirty="0">
                <a:latin typeface="+mj-ea"/>
                <a:ea typeface="+mj-ea"/>
                <a:cs typeface="Times New Roman" panose="02020603050405020304" pitchFamily="18" charset="0"/>
              </a:rPr>
              <a:t>、题名</a:t>
            </a:r>
            <a:endParaRPr lang="en-US" altLang="zh-CN" b="1"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latin typeface="+mj-ea"/>
                <a:ea typeface="+mj-ea"/>
                <a:cs typeface="Times New Roman" panose="02020603050405020304" pitchFamily="18" charset="0"/>
              </a:rPr>
              <a:t>题名是否存在关键性问题。</a:t>
            </a:r>
            <a:endParaRPr lang="en-US" altLang="zh-CN" kern="100" dirty="0">
              <a:latin typeface="+mj-ea"/>
              <a:ea typeface="+mj-ea"/>
              <a:cs typeface="Times New Roman" panose="02020603050405020304" pitchFamily="18" charset="0"/>
            </a:endParaRPr>
          </a:p>
          <a:p>
            <a:pPr algn="just">
              <a:lnSpc>
                <a:spcPct val="150000"/>
              </a:lnSpc>
            </a:pPr>
            <a:r>
              <a:rPr lang="en-US" altLang="zh-CN" b="1" kern="100" dirty="0">
                <a:latin typeface="+mj-ea"/>
                <a:ea typeface="+mj-ea"/>
                <a:cs typeface="Times New Roman" panose="02020603050405020304" pitchFamily="18" charset="0"/>
              </a:rPr>
              <a:t>2</a:t>
            </a:r>
            <a:r>
              <a:rPr lang="zh-CN" altLang="en-US" b="1" kern="100" dirty="0">
                <a:latin typeface="+mj-ea"/>
                <a:ea typeface="+mj-ea"/>
                <a:cs typeface="Times New Roman" panose="02020603050405020304" pitchFamily="18" charset="0"/>
              </a:rPr>
              <a:t>、</a:t>
            </a:r>
            <a:r>
              <a:rPr lang="zh-CN" altLang="zh-CN" b="1" kern="100" dirty="0">
                <a:latin typeface="+mj-ea"/>
                <a:ea typeface="+mj-ea"/>
                <a:cs typeface="Times New Roman" panose="02020603050405020304" pitchFamily="18" charset="0"/>
              </a:rPr>
              <a:t>选题的实践价值和理论价值</a:t>
            </a:r>
            <a:endParaRPr lang="en-US" altLang="zh-CN" b="1"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拟开展的研究是否解决实践中行业和社会发展所关切的问题，是否具有理论价值。</a:t>
            </a:r>
          </a:p>
          <a:p>
            <a:pPr algn="just">
              <a:lnSpc>
                <a:spcPct val="150000"/>
              </a:lnSpc>
            </a:pPr>
            <a:r>
              <a:rPr lang="en-US" altLang="zh-CN" b="1" kern="100" dirty="0">
                <a:latin typeface="+mj-ea"/>
                <a:ea typeface="+mj-ea"/>
                <a:cs typeface="Times New Roman" panose="02020603050405020304" pitchFamily="18" charset="0"/>
              </a:rPr>
              <a:t>3</a:t>
            </a:r>
            <a:r>
              <a:rPr lang="zh-CN" altLang="en-US" b="1" kern="100" dirty="0">
                <a:latin typeface="+mj-ea"/>
                <a:ea typeface="+mj-ea"/>
                <a:cs typeface="Times New Roman" panose="02020603050405020304" pitchFamily="18" charset="0"/>
              </a:rPr>
              <a:t>、</a:t>
            </a:r>
            <a:r>
              <a:rPr lang="zh-CN" altLang="zh-CN" b="1" kern="100" dirty="0">
                <a:latin typeface="+mj-ea"/>
                <a:ea typeface="+mj-ea"/>
                <a:cs typeface="Times New Roman" panose="02020603050405020304" pitchFamily="18" charset="0"/>
              </a:rPr>
              <a:t>内容的完整性</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实践问题识别的准确性。</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latin typeface="+mj-ea"/>
                <a:ea typeface="+mj-ea"/>
                <a:cs typeface="Times New Roman" panose="02020603050405020304" pitchFamily="18" charset="0"/>
              </a:rPr>
              <a:t>研究问题。</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提出解决方案的针对性和合理性。</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文献综述的完整性。</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研究方案的合理性与规范性。</a:t>
            </a:r>
          </a:p>
        </p:txBody>
      </p:sp>
    </p:spTree>
    <p:extLst>
      <p:ext uri="{BB962C8B-B14F-4D97-AF65-F5344CB8AC3E}">
        <p14:creationId xmlns:p14="http://schemas.microsoft.com/office/powerpoint/2010/main" val="2448298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8C15C2-D18C-4818-9F9F-669424637AC8}"/>
              </a:ext>
            </a:extLst>
          </p:cNvPr>
          <p:cNvSpPr txBox="1">
            <a:spLocks/>
          </p:cNvSpPr>
          <p:nvPr/>
        </p:nvSpPr>
        <p:spPr>
          <a:xfrm>
            <a:off x="1745673" y="403860"/>
            <a:ext cx="942524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评审关注重点</a:t>
            </a:r>
          </a:p>
        </p:txBody>
      </p:sp>
      <p:sp>
        <p:nvSpPr>
          <p:cNvPr id="3" name="矩形 2">
            <a:extLst>
              <a:ext uri="{FF2B5EF4-FFF2-40B4-BE49-F238E27FC236}">
                <a16:creationId xmlns:a16="http://schemas.microsoft.com/office/drawing/2014/main" id="{B3A9B646-9D6C-4ECB-85A9-67B88E0129C1}"/>
              </a:ext>
            </a:extLst>
          </p:cNvPr>
          <p:cNvSpPr/>
          <p:nvPr/>
        </p:nvSpPr>
        <p:spPr>
          <a:xfrm>
            <a:off x="391885" y="1036320"/>
            <a:ext cx="10893335" cy="4620624"/>
          </a:xfrm>
          <a:prstGeom prst="rect">
            <a:avLst/>
          </a:prstGeom>
        </p:spPr>
        <p:txBody>
          <a:bodyPr wrap="square">
            <a:spAutoFit/>
          </a:bodyPr>
          <a:lstStyle/>
          <a:p>
            <a:pPr algn="just">
              <a:lnSpc>
                <a:spcPct val="150000"/>
              </a:lnSpc>
            </a:pPr>
            <a:r>
              <a:rPr lang="en-US" altLang="zh-CN" b="1" kern="100" dirty="0">
                <a:latin typeface="+mj-ea"/>
                <a:ea typeface="+mj-ea"/>
                <a:cs typeface="Times New Roman" panose="02020603050405020304" pitchFamily="18" charset="0"/>
              </a:rPr>
              <a:t>4</a:t>
            </a:r>
            <a:r>
              <a:rPr lang="zh-CN" altLang="en-US" b="1" kern="100" dirty="0">
                <a:latin typeface="+mj-ea"/>
                <a:ea typeface="+mj-ea"/>
                <a:cs typeface="Times New Roman" panose="02020603050405020304" pitchFamily="18" charset="0"/>
              </a:rPr>
              <a:t>、</a:t>
            </a:r>
            <a:r>
              <a:rPr lang="zh-CN" altLang="zh-CN" b="1" kern="100" dirty="0">
                <a:latin typeface="+mj-ea"/>
                <a:ea typeface="+mj-ea"/>
                <a:cs typeface="Times New Roman" panose="02020603050405020304" pitchFamily="18" charset="0"/>
              </a:rPr>
              <a:t>格式的规范性</a:t>
            </a:r>
            <a:endParaRPr lang="en-US" altLang="zh-CN" b="1"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统一模板，统一的内容安排</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格式方面包括字号、行间距、首行缩进、段前段后间距控制得当，且全文一致等。</a:t>
            </a:r>
          </a:p>
          <a:p>
            <a:pPr algn="just">
              <a:lnSpc>
                <a:spcPct val="150000"/>
              </a:lnSpc>
            </a:pPr>
            <a:r>
              <a:rPr lang="en-US" altLang="zh-CN" b="1" kern="100" dirty="0">
                <a:latin typeface="+mj-ea"/>
                <a:ea typeface="+mj-ea"/>
                <a:cs typeface="Times New Roman" panose="02020603050405020304" pitchFamily="18" charset="0"/>
              </a:rPr>
              <a:t>5</a:t>
            </a:r>
            <a:r>
              <a:rPr lang="zh-CN" altLang="en-US" b="1" kern="100" dirty="0">
                <a:latin typeface="+mj-ea"/>
                <a:ea typeface="+mj-ea"/>
                <a:cs typeface="Times New Roman" panose="02020603050405020304" pitchFamily="18" charset="0"/>
              </a:rPr>
              <a:t>、</a:t>
            </a:r>
            <a:r>
              <a:rPr lang="zh-CN" altLang="zh-CN" b="1" kern="100" dirty="0">
                <a:latin typeface="+mj-ea"/>
                <a:ea typeface="+mj-ea"/>
                <a:cs typeface="Times New Roman" panose="02020603050405020304" pitchFamily="18" charset="0"/>
              </a:rPr>
              <a:t>研究的可行性。</a:t>
            </a:r>
            <a:endParaRPr lang="en-US" altLang="zh-CN" b="1"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研究数据是否可以获取。</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研究思路适合恰当。</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进度安排可行性。</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研究方案设计是否严谨。解决方案设计和评估的可行性，特别是针对数据收集和分析部分。</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研究中的重难点，以及拟采用的解决措施。</a:t>
            </a:r>
          </a:p>
          <a:p>
            <a:pPr algn="just">
              <a:lnSpc>
                <a:spcPct val="150000"/>
              </a:lnSpc>
            </a:pPr>
            <a:endParaRPr lang="zh-CN" altLang="zh-CN" kern="100" dirty="0">
              <a:latin typeface="+mj-ea"/>
              <a:ea typeface="+mj-ea"/>
              <a:cs typeface="Times New Roman" panose="02020603050405020304" pitchFamily="18" charset="0"/>
            </a:endParaRPr>
          </a:p>
          <a:p>
            <a:pPr algn="just">
              <a:lnSpc>
                <a:spcPct val="150000"/>
              </a:lnSpc>
              <a:spcAft>
                <a:spcPts val="0"/>
              </a:spcAft>
            </a:pPr>
            <a:endParaRPr lang="zh-CN" altLang="zh-CN"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1297976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8C15C2-D18C-4818-9F9F-669424637AC8}"/>
              </a:ext>
            </a:extLst>
          </p:cNvPr>
          <p:cNvSpPr txBox="1">
            <a:spLocks/>
          </p:cNvSpPr>
          <p:nvPr/>
        </p:nvSpPr>
        <p:spPr>
          <a:xfrm>
            <a:off x="1745673" y="403860"/>
            <a:ext cx="942524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评审关注重点</a:t>
            </a:r>
          </a:p>
        </p:txBody>
      </p:sp>
      <p:sp>
        <p:nvSpPr>
          <p:cNvPr id="3" name="矩形 2">
            <a:extLst>
              <a:ext uri="{FF2B5EF4-FFF2-40B4-BE49-F238E27FC236}">
                <a16:creationId xmlns:a16="http://schemas.microsoft.com/office/drawing/2014/main" id="{B3A9B646-9D6C-4ECB-85A9-67B88E0129C1}"/>
              </a:ext>
            </a:extLst>
          </p:cNvPr>
          <p:cNvSpPr/>
          <p:nvPr/>
        </p:nvSpPr>
        <p:spPr>
          <a:xfrm>
            <a:off x="391885" y="1036320"/>
            <a:ext cx="10893335" cy="3374129"/>
          </a:xfrm>
          <a:prstGeom prst="rect">
            <a:avLst/>
          </a:prstGeom>
        </p:spPr>
        <p:txBody>
          <a:bodyPr wrap="square">
            <a:spAutoFit/>
          </a:bodyPr>
          <a:lstStyle/>
          <a:p>
            <a:pPr algn="just">
              <a:lnSpc>
                <a:spcPct val="150000"/>
              </a:lnSpc>
            </a:pPr>
            <a:r>
              <a:rPr lang="en-US" altLang="zh-CN" b="1" kern="100" dirty="0">
                <a:latin typeface="+mj-ea"/>
                <a:ea typeface="+mj-ea"/>
                <a:cs typeface="Times New Roman" panose="02020603050405020304" pitchFamily="18" charset="0"/>
              </a:rPr>
              <a:t>5</a:t>
            </a:r>
            <a:r>
              <a:rPr lang="zh-CN" altLang="en-US" b="1" kern="100" dirty="0">
                <a:latin typeface="+mj-ea"/>
                <a:ea typeface="+mj-ea"/>
                <a:cs typeface="Times New Roman" panose="02020603050405020304" pitchFamily="18" charset="0"/>
              </a:rPr>
              <a:t>、</a:t>
            </a:r>
            <a:r>
              <a:rPr lang="zh-CN" altLang="zh-CN" b="1" kern="100" dirty="0">
                <a:latin typeface="+mj-ea"/>
                <a:ea typeface="+mj-ea"/>
                <a:cs typeface="Times New Roman" panose="02020603050405020304" pitchFamily="18" charset="0"/>
              </a:rPr>
              <a:t>逻辑的严谨。</a:t>
            </a:r>
            <a:r>
              <a:rPr lang="zh-CN" altLang="zh-CN" kern="100" dirty="0">
                <a:latin typeface="+mj-ea"/>
                <a:ea typeface="+mj-ea"/>
                <a:cs typeface="Times New Roman" panose="02020603050405020304" pitchFamily="18" charset="0"/>
              </a:rPr>
              <a:t>对研究目标、文献综述、研究内容、和实施方案的逻辑进行清晰的分析和界定</a:t>
            </a:r>
            <a:r>
              <a:rPr lang="zh-CN" altLang="en-US"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提供给评审委员完整的逻辑链条，供分析和评价。</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文献综述是否能够支撑研究问题，引出要研究的问题，对关键概念和理论的梳理是否完整。</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研究设计是否能有效回答研究目标，研究设计中对研究误差的控制是否合适。</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研究内容和研究目标是否具有较好的对应性。</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解决方案评估策略是否合适，是否存在偏见性等。</a:t>
            </a:r>
          </a:p>
          <a:p>
            <a:pPr algn="just">
              <a:lnSpc>
                <a:spcPct val="150000"/>
              </a:lnSpc>
            </a:pPr>
            <a:r>
              <a:rPr lang="zh-CN" altLang="zh-CN" kern="100" dirty="0">
                <a:latin typeface="+mj-ea"/>
                <a:ea typeface="+mj-ea"/>
                <a:cs typeface="Times New Roman" panose="02020603050405020304" pitchFamily="18" charset="0"/>
              </a:rPr>
              <a:t>在开题答辩环节，评审通常会提出针对性修改意见，学生需要针对意见和建议做修改和完善。</a:t>
            </a:r>
          </a:p>
          <a:p>
            <a:pPr algn="just">
              <a:lnSpc>
                <a:spcPct val="150000"/>
              </a:lnSpc>
              <a:spcAft>
                <a:spcPts val="0"/>
              </a:spcAft>
            </a:pPr>
            <a:endParaRPr lang="zh-CN" altLang="zh-CN"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40658115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1017</TotalTime>
  <Words>707</Words>
  <Application>Microsoft Office PowerPoint</Application>
  <PresentationFormat>宽屏</PresentationFormat>
  <Paragraphs>57</Paragraphs>
  <Slides>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vt:i4>
      </vt:variant>
    </vt:vector>
  </HeadingPairs>
  <TitlesOfParts>
    <vt:vector size="14" baseType="lpstr">
      <vt:lpstr>等线</vt:lpstr>
      <vt:lpstr>等线 Light</vt:lpstr>
      <vt:lpstr>宋体</vt:lpstr>
      <vt:lpstr>微软雅黑</vt:lpstr>
      <vt:lpstr>Arial</vt:lpstr>
      <vt:lpstr>Calibri</vt:lpstr>
      <vt:lpstr>Times New Roman</vt:lpstr>
      <vt:lpstr>Office 主题​​</vt:lpstr>
      <vt:lpstr>开题报告与绪论写作</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302</cp:revision>
  <dcterms:created xsi:type="dcterms:W3CDTF">2023-02-21T01:12:16Z</dcterms:created>
  <dcterms:modified xsi:type="dcterms:W3CDTF">2025-02-28T02:01:57Z</dcterms:modified>
</cp:coreProperties>
</file>