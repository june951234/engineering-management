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1615" r:id="rId2"/>
    <p:sldId id="497" r:id="rId3"/>
    <p:sldId id="1616" r:id="rId4"/>
    <p:sldId id="1617" r:id="rId5"/>
    <p:sldId id="1618" r:id="rId6"/>
    <p:sldId id="623" r:id="rId7"/>
    <p:sldId id="633" r:id="rId8"/>
    <p:sldId id="1601" r:id="rId9"/>
    <p:sldId id="1600" r:id="rId10"/>
    <p:sldId id="1619" r:id="rId11"/>
    <p:sldId id="1602" r:id="rId12"/>
    <p:sldId id="1444" r:id="rId13"/>
    <p:sldId id="1598" r:id="rId14"/>
    <p:sldId id="1604" r:id="rId15"/>
    <p:sldId id="1620" r:id="rId16"/>
    <p:sldId id="1597" r:id="rId17"/>
    <p:sldId id="1606" r:id="rId18"/>
    <p:sldId id="1607" r:id="rId19"/>
    <p:sldId id="1596" r:id="rId20"/>
    <p:sldId id="1472" r:id="rId21"/>
    <p:sldId id="1608" r:id="rId22"/>
    <p:sldId id="1609" r:id="rId23"/>
    <p:sldId id="1612" r:id="rId24"/>
    <p:sldId id="1613" r:id="rId25"/>
  </p:sldIdLst>
  <p:sldSz cx="12192000" cy="6858000"/>
  <p:notesSz cx="10234613" cy="710406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7" autoAdjust="0"/>
    <p:restoredTop sz="88698" autoAdjust="0"/>
  </p:normalViewPr>
  <p:slideViewPr>
    <p:cSldViewPr snapToGrid="0">
      <p:cViewPr varScale="1">
        <p:scale>
          <a:sx n="68" d="100"/>
          <a:sy n="68" d="100"/>
        </p:scale>
        <p:origin x="249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c5e2e04bbef42de" providerId="LiveId" clId="{683596B6-DA01-4EA8-A6B9-9EDC9CE10536}"/>
    <pc:docChg chg="custSel modSld">
      <pc:chgData name="" userId="6c5e2e04bbef42de" providerId="LiveId" clId="{683596B6-DA01-4EA8-A6B9-9EDC9CE10536}" dt="2025-02-28T02:03:48.003" v="0" actId="478"/>
      <pc:docMkLst>
        <pc:docMk/>
      </pc:docMkLst>
      <pc:sldChg chg="delSp">
        <pc:chgData name="" userId="6c5e2e04bbef42de" providerId="LiveId" clId="{683596B6-DA01-4EA8-A6B9-9EDC9CE10536}" dt="2025-02-28T02:03:48.003" v="0" actId="478"/>
        <pc:sldMkLst>
          <pc:docMk/>
          <pc:sldMk cId="1640959233" sldId="1615"/>
        </pc:sldMkLst>
        <pc:spChg chg="del">
          <ac:chgData name="" userId="6c5e2e04bbef42de" providerId="LiveId" clId="{683596B6-DA01-4EA8-A6B9-9EDC9CE10536}" dt="2025-02-28T02:03:48.003" v="0" actId="478"/>
          <ac:spMkLst>
            <pc:docMk/>
            <pc:sldMk cId="1640959233" sldId="1615"/>
            <ac:spMk id="5" creationId="{4725F3A9-F72A-41C6-9D3D-C60083E8A40A}"/>
          </ac:spMkLst>
        </pc:spChg>
      </pc:sldChg>
    </pc:docChg>
  </pc:docChgLst>
  <pc:docChgLst>
    <pc:chgData userId="6c5e2e04bbef42de" providerId="LiveId" clId="{F3EA5C8C-508B-487D-BAED-9E53E5291820}"/>
    <pc:docChg chg="custSel modSld">
      <pc:chgData name="" userId="6c5e2e04bbef42de" providerId="LiveId" clId="{F3EA5C8C-508B-487D-BAED-9E53E5291820}" dt="2025-02-28T01:52:21.556" v="8" actId="478"/>
      <pc:docMkLst>
        <pc:docMk/>
      </pc:docMkLst>
      <pc:sldChg chg="delSp modSp">
        <pc:chgData name="" userId="6c5e2e04bbef42de" providerId="LiveId" clId="{F3EA5C8C-508B-487D-BAED-9E53E5291820}" dt="2025-02-28T01:52:14.407" v="6" actId="478"/>
        <pc:sldMkLst>
          <pc:docMk/>
          <pc:sldMk cId="211262637" sldId="497"/>
        </pc:sldMkLst>
        <pc:spChg chg="del">
          <ac:chgData name="" userId="6c5e2e04bbef42de" providerId="LiveId" clId="{F3EA5C8C-508B-487D-BAED-9E53E5291820}" dt="2025-02-28T01:52:14.407" v="6" actId="478"/>
          <ac:spMkLst>
            <pc:docMk/>
            <pc:sldMk cId="211262637" sldId="497"/>
            <ac:spMk id="3" creationId="{B1807298-CCCD-4EE3-BA3B-D5C23D945426}"/>
          </ac:spMkLst>
        </pc:spChg>
        <pc:spChg chg="mod">
          <ac:chgData name="" userId="6c5e2e04bbef42de" providerId="LiveId" clId="{F3EA5C8C-508B-487D-BAED-9E53E5291820}" dt="2025-02-28T01:52:12.544" v="4" actId="6549"/>
          <ac:spMkLst>
            <pc:docMk/>
            <pc:sldMk cId="211262637" sldId="497"/>
            <ac:spMk id="4" creationId="{388334E7-D4E7-4886-9B94-FA03EE71E520}"/>
          </ac:spMkLst>
        </pc:spChg>
        <pc:picChg chg="del">
          <ac:chgData name="" userId="6c5e2e04bbef42de" providerId="LiveId" clId="{F3EA5C8C-508B-487D-BAED-9E53E5291820}" dt="2025-02-28T01:52:13.545" v="5" actId="478"/>
          <ac:picMkLst>
            <pc:docMk/>
            <pc:sldMk cId="211262637" sldId="497"/>
            <ac:picMk id="2" creationId="{C330BB27-EF42-46D0-B918-EFFBFBFD33E3}"/>
          </ac:picMkLst>
        </pc:picChg>
      </pc:sldChg>
      <pc:sldChg chg="addSp delSp modSp">
        <pc:chgData name="" userId="6c5e2e04bbef42de" providerId="LiveId" clId="{F3EA5C8C-508B-487D-BAED-9E53E5291820}" dt="2025-02-28T01:52:21.556" v="8" actId="478"/>
        <pc:sldMkLst>
          <pc:docMk/>
          <pc:sldMk cId="0" sldId="623"/>
        </pc:sldMkLst>
        <pc:spChg chg="del">
          <ac:chgData name="" userId="6c5e2e04bbef42de" providerId="LiveId" clId="{F3EA5C8C-508B-487D-BAED-9E53E5291820}" dt="2025-02-28T01:52:21.556" v="8" actId="478"/>
          <ac:spMkLst>
            <pc:docMk/>
            <pc:sldMk cId="0" sldId="623"/>
            <ac:spMk id="3" creationId="{00000000-0000-0000-0000-000000000000}"/>
          </ac:spMkLst>
        </pc:spChg>
        <pc:spChg chg="add mod">
          <ac:chgData name="" userId="6c5e2e04bbef42de" providerId="LiveId" clId="{F3EA5C8C-508B-487D-BAED-9E53E5291820}" dt="2025-02-28T01:52:21.556" v="8" actId="478"/>
          <ac:spMkLst>
            <pc:docMk/>
            <pc:sldMk cId="0" sldId="623"/>
            <ac:spMk id="5" creationId="{759ED282-3B9C-406B-9118-4CBC7AA7964B}"/>
          </ac:spMkLst>
        </pc:spChg>
        <pc:spChg chg="del">
          <ac:chgData name="" userId="6c5e2e04bbef42de" providerId="LiveId" clId="{F3EA5C8C-508B-487D-BAED-9E53E5291820}" dt="2025-02-28T01:52:19.287" v="7" actId="478"/>
          <ac:spMkLst>
            <pc:docMk/>
            <pc:sldMk cId="0" sldId="623"/>
            <ac:spMk id="10" creationId="{00000000-0000-0000-0000-000000000000}"/>
          </ac:spMkLst>
        </pc:spChg>
        <pc:picChg chg="del">
          <ac:chgData name="" userId="6c5e2e04bbef42de" providerId="LiveId" clId="{F3EA5C8C-508B-487D-BAED-9E53E5291820}" dt="2025-02-28T01:52:19.287" v="7" actId="478"/>
          <ac:picMkLst>
            <pc:docMk/>
            <pc:sldMk cId="0" sldId="623"/>
            <ac:picMk id="9" creationId="{00000000-0000-0000-0000-000000000000}"/>
          </ac:picMkLst>
        </pc:picChg>
      </pc:sldChg>
      <pc:sldChg chg="addSp delSp modSp">
        <pc:chgData name="" userId="6c5e2e04bbef42de" providerId="LiveId" clId="{F3EA5C8C-508B-487D-BAED-9E53E5291820}" dt="2025-02-28T01:52:05.312" v="2" actId="478"/>
        <pc:sldMkLst>
          <pc:docMk/>
          <pc:sldMk cId="1640959233" sldId="1615"/>
        </pc:sldMkLst>
        <pc:spChg chg="del">
          <ac:chgData name="" userId="6c5e2e04bbef42de" providerId="LiveId" clId="{F3EA5C8C-508B-487D-BAED-9E53E5291820}" dt="2025-02-28T01:52:05.312" v="2" actId="478"/>
          <ac:spMkLst>
            <pc:docMk/>
            <pc:sldMk cId="1640959233" sldId="1615"/>
            <ac:spMk id="3" creationId="{00000000-0000-0000-0000-000000000000}"/>
          </ac:spMkLst>
        </pc:spChg>
        <pc:spChg chg="add mod">
          <ac:chgData name="" userId="6c5e2e04bbef42de" providerId="LiveId" clId="{F3EA5C8C-508B-487D-BAED-9E53E5291820}" dt="2025-02-28T01:52:05.312" v="2" actId="478"/>
          <ac:spMkLst>
            <pc:docMk/>
            <pc:sldMk cId="1640959233" sldId="1615"/>
            <ac:spMk id="5" creationId="{4725F3A9-F72A-41C6-9D3D-C60083E8A40A}"/>
          </ac:spMkLst>
        </pc:spChg>
        <pc:spChg chg="del">
          <ac:chgData name="" userId="6c5e2e04bbef42de" providerId="LiveId" clId="{F3EA5C8C-508B-487D-BAED-9E53E5291820}" dt="2025-02-28T01:52:03.871" v="1" actId="478"/>
          <ac:spMkLst>
            <pc:docMk/>
            <pc:sldMk cId="1640959233" sldId="1615"/>
            <ac:spMk id="10" creationId="{00000000-0000-0000-0000-000000000000}"/>
          </ac:spMkLst>
        </pc:spChg>
        <pc:picChg chg="del">
          <ac:chgData name="" userId="6c5e2e04bbef42de" providerId="LiveId" clId="{F3EA5C8C-508B-487D-BAED-9E53E5291820}" dt="2025-02-28T01:51:59.162" v="0" actId="478"/>
          <ac:picMkLst>
            <pc:docMk/>
            <pc:sldMk cId="1640959233" sldId="1615"/>
            <ac:picMk id="9" creationId="{00000000-0000-0000-0000-000000000000}"/>
          </ac:picMkLst>
        </pc:picChg>
      </pc:sldChg>
    </pc:docChg>
  </pc:docChgLst>
  <pc:docChgLst>
    <pc:chgData name=" " userId="1d39a4fa-c76e-4be0-a329-cd20bca6ab88" providerId="ADAL" clId="{66A8133A-2EBB-2F41-816E-933775426044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9" cy="356437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248" y="0"/>
            <a:ext cx="4434999" cy="356437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r">
              <a:defRPr sz="1300"/>
            </a:lvl1pPr>
          </a:lstStyle>
          <a:p>
            <a:fld id="{2F45255C-18F3-4DDB-BBD7-6518A0AFC2C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889000"/>
            <a:ext cx="4257675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6" tIns="49518" rIns="99036" bIns="4951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3463" y="3418830"/>
            <a:ext cx="8187690" cy="2797225"/>
          </a:xfrm>
          <a:prstGeom prst="rect">
            <a:avLst/>
          </a:prstGeom>
        </p:spPr>
        <p:txBody>
          <a:bodyPr vert="horz" lIns="99036" tIns="49518" rIns="99036" bIns="4951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6747628"/>
            <a:ext cx="4434999" cy="356437"/>
          </a:xfrm>
          <a:prstGeom prst="rect">
            <a:avLst/>
          </a:prstGeom>
        </p:spPr>
        <p:txBody>
          <a:bodyPr vert="horz" lIns="99036" tIns="49518" rIns="99036" bIns="4951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248" y="6747628"/>
            <a:ext cx="4434999" cy="356437"/>
          </a:xfrm>
          <a:prstGeom prst="rect">
            <a:avLst/>
          </a:prstGeom>
        </p:spPr>
        <p:txBody>
          <a:bodyPr vert="horz" lIns="99036" tIns="49518" rIns="99036" bIns="49518" rtlCol="0" anchor="b"/>
          <a:lstStyle>
            <a:lvl1pPr algn="r">
              <a:defRPr sz="1300"/>
            </a:lvl1pPr>
          </a:lstStyle>
          <a:p>
            <a:fld id="{C1A55024-9D59-46C3-A0DB-ED02D21441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54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55024-9D59-46C3-A0DB-ED02D214414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883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103FD-515C-42D9-AF72-56D52BA7B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52415A-CA51-47E8-831A-9B7FA5656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C152F-EA3D-466D-8166-2512400A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9156A4-88C8-4661-8F3F-81808A5A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E36A7-D454-414F-A7CB-CA9B6FB8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66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66BBD-445B-4307-8404-3C9E55B3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068DA-3777-43E3-B7F5-87BD9F7DD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6E70B-04E4-4787-93CA-4EEA5718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0E928D-BC94-4F2D-B53A-3180E110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AB707-2271-4F55-B227-95FA6DE2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477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B1197-E440-4AF4-BC8B-C4B18456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FFCB6E-07BC-4035-87FE-67B6D5AE3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9FDF8-176C-413E-9AE9-D3DD2292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1E3DBA-C1DC-4FDE-B897-D715B0ED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5C9068-B7C5-4E02-8706-68F732E2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04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DC88F-1F41-4ABA-B8AE-64E8758B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C596E-186D-4E06-BE39-819ECA422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D0014C-9470-4359-8795-896B4457E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32816E-1329-4A7C-83F4-D211A908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9A8283-12FB-42A2-B184-38207957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BA166-08CB-4F4C-A82A-6A54DDBC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91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07D4A-718B-46FB-9811-CD73BEDD1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0F18E6-DD1F-4427-9E70-B443C1EE8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CA2D10-8BE2-484B-BA12-2FDE39385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1C370B-FEA8-40FC-982D-1CFA1C5B5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B43256-EAAE-489B-89B2-EB0EBD298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2B2BF0-982E-4DCC-9CC1-5E73E8EA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6C86D8-C38D-40EF-B7DC-51300925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643910-70FD-48E3-BDE2-540CFB14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4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7AE02-50CD-4FB2-BD02-76F3E8B9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F0A67C-4CAE-49DF-BA3A-4A627B6F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F947EE-D3CC-4D0F-9EC9-EAA0F192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04809-3C78-497A-82B1-CC426F67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16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CF1B75-484E-4AFA-844B-6697E847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878834-27C0-417E-938E-4D9D4146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7DEB67-743D-4873-85E6-5A9F3177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14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ED83F-DB22-46D9-855F-6D5C5789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01C7E-B5A2-476B-B1D7-7AEF7B33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5D8587-D98D-4514-B904-29CE95B85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2B46D-9F74-4FD2-BC3B-AE943DF10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93ACDA-2B9C-40FD-A239-C52FDD97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28C01-34A5-420B-A604-B4011101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1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EE2D2-414A-4935-81A3-07ECCFF5E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4B0647-724F-465D-AA4A-1AAA05CF3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28AC01-7925-49DD-826D-336FE3055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8FF29-AFCB-4793-AA26-1F2C8479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C631CD-DD99-4AC5-8574-019DEED9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D9507-DDDB-4831-9B20-1DE84C9C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04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5657E-53E5-4008-9F21-BAFEA01D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BB134A-EF2A-4612-BC2E-DCF530219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533070-3ECC-4FFD-AFFC-4BB61603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0E874-F2CB-4755-8443-A856D521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74974-6194-47AD-A321-333EF064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97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43C0A9-02E0-4757-93E3-A84929FDE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27089F-D812-49A7-8AA6-82DB9C87A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F6DC3-3372-4FFF-A693-8DC10F2F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297473-017C-4371-AE98-6F8ECB38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5BA15-09D9-4092-9CD2-72EE0EF7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490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6774180"/>
            <a:ext cx="12192000" cy="83820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>
            <a:noAutofit/>
          </a:bodyPr>
          <a:lstStyle/>
          <a:p>
            <a:pPr algn="ctr"/>
            <a:endParaRPr lang="zh-CN" altLang="en-US" sz="1200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0" t="18187" r="19659" b="49773"/>
          <a:stretch>
            <a:fillRect/>
          </a:stretch>
        </p:blipFill>
        <p:spPr>
          <a:xfrm>
            <a:off x="301112" y="342433"/>
            <a:ext cx="1447301" cy="682507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9968CE-9441-48AB-B411-308267690CDF}"/>
              </a:ext>
            </a:extLst>
          </p:cNvPr>
          <p:cNvCxnSpPr/>
          <p:nvPr userDrawn="1"/>
        </p:nvCxnSpPr>
        <p:spPr>
          <a:xfrm>
            <a:off x="1748413" y="1024934"/>
            <a:ext cx="9462064" cy="0"/>
          </a:xfrm>
          <a:prstGeom prst="line">
            <a:avLst/>
          </a:prstGeom>
          <a:ln w="28575">
            <a:solidFill>
              <a:srgbClr val="6306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137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0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采用正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5688" y="640080"/>
            <a:ext cx="11349366" cy="5588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lang="en-US" sz="3200" b="1" dirty="0">
                <a:gradFill>
                  <a:gsLst>
                    <a:gs pos="0">
                      <a:srgbClr val="0070C0"/>
                    </a:gs>
                    <a:gs pos="100000">
                      <a:srgbClr val="23A58D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3765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29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01E131-1FE4-4CF8-BDA2-A6829A75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B0D38-8EE9-4BBC-82CA-C5EFDBD0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13A21-B67E-4186-B0F1-D945AA00F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AC7F2-E5B9-4964-81B1-C6DC197C55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385BAA-8800-4379-B9C9-AA88427CE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2A6E2-4DAD-4670-955D-2A6C7F14F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DAAE0-8E33-4A7D-B129-507129852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67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-1329"/>
            <a:ext cx="12188826" cy="696320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1590" y="1155103"/>
            <a:ext cx="12192002" cy="5119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49086" y="1367374"/>
            <a:ext cx="10237915" cy="2061625"/>
          </a:xfrm>
        </p:spPr>
        <p:txBody>
          <a:bodyPr>
            <a:noAutofit/>
          </a:bodyPr>
          <a:lstStyle/>
          <a:p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工程管理设计研究与论文写作</a:t>
            </a:r>
          </a:p>
        </p:txBody>
      </p:sp>
    </p:spTree>
    <p:extLst>
      <p:ext uri="{BB962C8B-B14F-4D97-AF65-F5344CB8AC3E}">
        <p14:creationId xmlns:p14="http://schemas.microsoft.com/office/powerpoint/2010/main" val="1640959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88334E7-D4E7-4886-9B94-FA03EE71E520}"/>
              </a:ext>
            </a:extLst>
          </p:cNvPr>
          <p:cNvSpPr/>
          <p:nvPr/>
        </p:nvSpPr>
        <p:spPr>
          <a:xfrm>
            <a:off x="440574" y="3215884"/>
            <a:ext cx="5228953" cy="129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  <a:ea typeface="+mj-ea"/>
              </a:rPr>
              <a:t>联系方式</a:t>
            </a:r>
            <a:r>
              <a:rPr lang="zh-CN" altLang="en-US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  <a:ea typeface="+mj-ea"/>
              </a:rPr>
              <a:t>：</a:t>
            </a:r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  <a:ea typeface="+mj-ea"/>
              </a:rPr>
              <a:t>邮箱：</a:t>
            </a:r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  <a:ea typeface="+mj-ea"/>
              </a:rPr>
              <a:t>电话：</a:t>
            </a:r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2D2134-B0E3-4E71-9BD5-7EEA1C73F23E}"/>
              </a:ext>
            </a:extLst>
          </p:cNvPr>
          <p:cNvSpPr/>
          <p:nvPr/>
        </p:nvSpPr>
        <p:spPr>
          <a:xfrm>
            <a:off x="548640" y="1001123"/>
            <a:ext cx="9273540" cy="212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课程安排</a:t>
            </a:r>
            <a:r>
              <a:rPr lang="zh-CN" altLang="en-US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  <a:ea typeface="+mj-ea"/>
              </a:rPr>
              <a:t>：</a:t>
            </a:r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考核方式：考查。</a:t>
            </a:r>
            <a:endParaRPr lang="en-US" altLang="zh-CN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考勤</a:t>
            </a:r>
            <a:r>
              <a:rPr lang="en-US" altLang="zh-CN" dirty="0">
                <a:latin typeface="+mj-ea"/>
                <a:ea typeface="+mj-ea"/>
              </a:rPr>
              <a:t>20%</a:t>
            </a:r>
            <a:r>
              <a:rPr lang="zh-CN" altLang="en-US" dirty="0">
                <a:latin typeface="+mj-ea"/>
                <a:ea typeface="+mj-ea"/>
              </a:rPr>
              <a:t>，平时成绩</a:t>
            </a:r>
            <a:r>
              <a:rPr lang="en-US" altLang="zh-CN" dirty="0">
                <a:latin typeface="+mj-ea"/>
                <a:ea typeface="+mj-ea"/>
              </a:rPr>
              <a:t>20%</a:t>
            </a:r>
            <a:r>
              <a:rPr lang="zh-CN" altLang="en-US" dirty="0">
                <a:latin typeface="+mj-ea"/>
                <a:ea typeface="+mj-ea"/>
              </a:rPr>
              <a:t>，课程成绩</a:t>
            </a:r>
            <a:r>
              <a:rPr lang="en-US" altLang="zh-CN" dirty="0">
                <a:latin typeface="+mj-ea"/>
                <a:ea typeface="+mj-ea"/>
              </a:rPr>
              <a:t>60%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平时成绩：互动参与教学、拓展教学过程考核记录、研究报告。</a:t>
            </a:r>
            <a:endParaRPr lang="en-US" altLang="zh-CN" dirty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课程成绩：结课论文或调查报告成绩。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D4C86D-7459-47A6-80C2-83976C6B4A06}"/>
              </a:ext>
            </a:extLst>
          </p:cNvPr>
          <p:cNvSpPr/>
          <p:nvPr/>
        </p:nvSpPr>
        <p:spPr>
          <a:xfrm>
            <a:off x="440574" y="4858484"/>
            <a:ext cx="3854368" cy="465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  <a:ea typeface="+mj-ea"/>
              </a:rPr>
              <a:t>教学助理：</a:t>
            </a:r>
            <a:endParaRPr lang="en-US" altLang="zh-CN" b="1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126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5328F20-317B-48CC-A5F3-FF4BA2B95B70}"/>
              </a:ext>
            </a:extLst>
          </p:cNvPr>
          <p:cNvSpPr txBox="1">
            <a:spLocks/>
          </p:cNvSpPr>
          <p:nvPr/>
        </p:nvSpPr>
        <p:spPr>
          <a:xfrm>
            <a:off x="615354" y="1195611"/>
            <a:ext cx="8607799" cy="5020551"/>
          </a:xfrm>
          <a:prstGeom prst="rect">
            <a:avLst/>
          </a:prstGeom>
          <a:ln>
            <a:noFill/>
          </a:ln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en-US" altLang="zh-CN" sz="3600" b="1" dirty="0">
                <a:latin typeface="+mj-ea"/>
                <a:ea typeface="+mj-ea"/>
              </a:rPr>
              <a:t>1</a:t>
            </a:r>
            <a:r>
              <a:rPr lang="zh-CN" altLang="en-US" sz="3600" b="1" dirty="0">
                <a:latin typeface="+mj-ea"/>
                <a:ea typeface="+mj-ea"/>
              </a:rPr>
              <a:t>、</a:t>
            </a:r>
            <a:r>
              <a:rPr lang="zh-CN" altLang="zh-CN" sz="3600" b="1" dirty="0">
                <a:latin typeface="+mj-ea"/>
                <a:ea typeface="+mj-ea"/>
              </a:rPr>
              <a:t>培养工程管理科学研究的素养</a:t>
            </a:r>
            <a:endParaRPr lang="zh-CN" altLang="zh-CN" sz="3600" dirty="0">
              <a:latin typeface="+mj-ea"/>
              <a:ea typeface="+mj-ea"/>
            </a:endParaRPr>
          </a:p>
          <a:p>
            <a:pPr>
              <a:lnSpc>
                <a:spcPct val="170000"/>
              </a:lnSpc>
            </a:pPr>
            <a:r>
              <a:rPr lang="zh-CN" altLang="zh-CN" sz="3300" dirty="0">
                <a:latin typeface="+mj-ea"/>
                <a:ea typeface="+mj-ea"/>
              </a:rPr>
              <a:t>严谨的研究方案设计和论证</a:t>
            </a:r>
          </a:p>
          <a:p>
            <a:pPr>
              <a:lnSpc>
                <a:spcPct val="170000"/>
              </a:lnSpc>
            </a:pPr>
            <a:r>
              <a:rPr lang="zh-CN" altLang="zh-CN" sz="3300" dirty="0">
                <a:latin typeface="+mj-ea"/>
                <a:ea typeface="+mj-ea"/>
              </a:rPr>
              <a:t>科学规范的学位论文写作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3600" b="1" dirty="0">
                <a:latin typeface="+mj-ea"/>
                <a:ea typeface="+mj-ea"/>
              </a:rPr>
              <a:t>2</a:t>
            </a:r>
            <a:r>
              <a:rPr lang="zh-CN" altLang="en-US" sz="3600" b="1" dirty="0">
                <a:latin typeface="+mj-ea"/>
                <a:ea typeface="+mj-ea"/>
              </a:rPr>
              <a:t>、</a:t>
            </a:r>
            <a:r>
              <a:rPr lang="zh-CN" altLang="zh-CN" sz="3600" b="1" dirty="0">
                <a:latin typeface="+mj-ea"/>
                <a:ea typeface="+mj-ea"/>
              </a:rPr>
              <a:t>培养解决工程管理问题的能力</a:t>
            </a:r>
          </a:p>
          <a:p>
            <a:pPr>
              <a:lnSpc>
                <a:spcPct val="170000"/>
              </a:lnSpc>
            </a:pPr>
            <a:r>
              <a:rPr lang="zh-CN" altLang="zh-CN" sz="3400" dirty="0">
                <a:latin typeface="+mj-ea"/>
                <a:ea typeface="+mj-ea"/>
              </a:rPr>
              <a:t>通过科学研究解决实践问题</a:t>
            </a:r>
          </a:p>
          <a:p>
            <a:pPr>
              <a:lnSpc>
                <a:spcPct val="170000"/>
              </a:lnSpc>
            </a:pPr>
            <a:r>
              <a:rPr lang="zh-CN" altLang="zh-CN" sz="3400" dirty="0">
                <a:latin typeface="+mj-ea"/>
                <a:ea typeface="+mj-ea"/>
              </a:rPr>
              <a:t>培养解决问题过程中的思维和能力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3600" b="1" dirty="0">
                <a:latin typeface="+mj-ea"/>
                <a:ea typeface="+mj-ea"/>
              </a:rPr>
              <a:t>3</a:t>
            </a:r>
            <a:r>
              <a:rPr lang="zh-CN" altLang="en-US" sz="3600" b="1" dirty="0">
                <a:latin typeface="+mj-ea"/>
                <a:ea typeface="+mj-ea"/>
              </a:rPr>
              <a:t>、</a:t>
            </a:r>
            <a:r>
              <a:rPr lang="zh-CN" altLang="zh-CN" sz="3600" b="1" dirty="0">
                <a:latin typeface="+mj-ea"/>
                <a:ea typeface="+mj-ea"/>
              </a:rPr>
              <a:t>培养学位论文写作的能力</a:t>
            </a:r>
          </a:p>
          <a:p>
            <a:pPr>
              <a:lnSpc>
                <a:spcPct val="170000"/>
              </a:lnSpc>
            </a:pPr>
            <a:r>
              <a:rPr lang="zh-CN" altLang="zh-CN" sz="3400" dirty="0">
                <a:latin typeface="+mj-ea"/>
                <a:ea typeface="+mj-ea"/>
              </a:rPr>
              <a:t>论文架构和章节安排的能力</a:t>
            </a:r>
          </a:p>
          <a:p>
            <a:pPr>
              <a:lnSpc>
                <a:spcPct val="170000"/>
              </a:lnSpc>
            </a:pPr>
            <a:r>
              <a:rPr lang="zh-CN" altLang="zh-CN" sz="3400" dirty="0">
                <a:latin typeface="+mj-ea"/>
                <a:ea typeface="+mj-ea"/>
              </a:rPr>
              <a:t>规范的论文写作能力</a:t>
            </a:r>
            <a:endParaRPr lang="zh-CN" altLang="en-US" dirty="0">
              <a:latin typeface="+mn-ea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D9C3596B-3FAF-40EF-A97E-DE5549488A75}"/>
              </a:ext>
            </a:extLst>
          </p:cNvPr>
          <p:cNvSpPr txBox="1">
            <a:spLocks noChangeArrowheads="1"/>
          </p:cNvSpPr>
          <p:nvPr/>
        </p:nvSpPr>
        <p:spPr>
          <a:xfrm>
            <a:off x="1852386" y="395872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n-ea"/>
                <a:ea typeface="+mn-ea"/>
              </a:rPr>
              <a:t>课程目标</a:t>
            </a:r>
          </a:p>
        </p:txBody>
      </p:sp>
    </p:spTree>
    <p:extLst>
      <p:ext uri="{BB962C8B-B14F-4D97-AF65-F5344CB8AC3E}">
        <p14:creationId xmlns:p14="http://schemas.microsoft.com/office/powerpoint/2010/main" val="425922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19EC35-31C9-44D3-BA2C-0E8F286EBE06}"/>
              </a:ext>
            </a:extLst>
          </p:cNvPr>
          <p:cNvSpPr/>
          <p:nvPr/>
        </p:nvSpPr>
        <p:spPr>
          <a:xfrm>
            <a:off x="359229" y="1126688"/>
            <a:ext cx="3897085" cy="490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）工程管理、工程管理硕士的发展、培养要求及对学位论文的要求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）工程和工程管理概述。</a:t>
            </a:r>
            <a:endParaRPr lang="en-US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）工程管理硕士的发展和培养要求。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）工程管理设计研究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）工程管理研究的类型和比较。</a:t>
            </a:r>
            <a:endParaRPr lang="en-US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1400" kern="100" dirty="0">
                <a:latin typeface="+mj-ea"/>
                <a:ea typeface="+mj-ea"/>
                <a:cs typeface="Times New Roman" panose="02020603050405020304" pitchFamily="18" charset="0"/>
              </a:rPr>
              <a:t>）研究过程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）选题和研究问题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）实践问题理论化。</a:t>
            </a:r>
            <a:endParaRPr lang="en-US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）选题的流程。</a:t>
            </a:r>
            <a:endParaRPr lang="en-US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）研究问题的提出。</a:t>
            </a:r>
            <a:endParaRPr lang="en-US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）文献综述与写作规范性要求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）文献检索和整理。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）文献写作。</a:t>
            </a:r>
            <a:endParaRPr lang="en-US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）写作的格式规范性要求。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F611576-7A18-4905-AF33-CF035DF4E414}"/>
              </a:ext>
            </a:extLst>
          </p:cNvPr>
          <p:cNvSpPr txBox="1">
            <a:spLocks noChangeArrowheads="1"/>
          </p:cNvSpPr>
          <p:nvPr/>
        </p:nvSpPr>
        <p:spPr>
          <a:xfrm>
            <a:off x="1852386" y="395872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n-ea"/>
                <a:ea typeface="+mn-ea"/>
              </a:rPr>
              <a:t>课程内容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0EA5A3-0BB2-4DC5-A074-7679A6CEF22F}"/>
              </a:ext>
            </a:extLst>
          </p:cNvPr>
          <p:cNvSpPr/>
          <p:nvPr/>
        </p:nvSpPr>
        <p:spPr>
          <a:xfrm>
            <a:off x="4408714" y="1132147"/>
            <a:ext cx="3984172" cy="490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）研究方法介绍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）研究方法类型。</a:t>
            </a:r>
            <a:endParaRPr lang="en-US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）研究方法的选择与呈现。</a:t>
            </a:r>
            <a:endParaRPr lang="en-US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6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）研究方案设计（</a:t>
            </a: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）：问题</a:t>
            </a:r>
            <a:r>
              <a:rPr lang="zh-CN" altLang="en-US" sz="1400" b="1" kern="100" dirty="0">
                <a:latin typeface="+mj-ea"/>
                <a:ea typeface="+mj-ea"/>
                <a:cs typeface="Times New Roman" panose="02020603050405020304" pitchFamily="18" charset="0"/>
              </a:rPr>
              <a:t>研究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）问题研究的研究方案设计。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）问题研究的数据分析。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）问题研究写作。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7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）研究方案设计（</a:t>
            </a: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）：解决方案设计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）解决方案设计的研究方案设计。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）解决方案设计的数据分析和结果呈现。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）解决方案设计的写作。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8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）研究方案设计（</a:t>
            </a: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）：解决方案评估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）方案设计。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）数据分析。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）解决方案评估的写作。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5C8AC-3DE0-40AE-AA24-2877FF676E8E}"/>
              </a:ext>
            </a:extLst>
          </p:cNvPr>
          <p:cNvSpPr/>
          <p:nvPr/>
        </p:nvSpPr>
        <p:spPr>
          <a:xfrm>
            <a:off x="8545286" y="1126688"/>
            <a:ext cx="3287485" cy="199849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9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）开题报告撰写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）开题报告的要求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）开题报告的内容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10</a:t>
            </a:r>
            <a:r>
              <a:rPr lang="zh-CN" altLang="zh-CN" sz="1400" b="1" kern="100" dirty="0">
                <a:latin typeface="+mj-ea"/>
                <a:ea typeface="+mj-ea"/>
                <a:cs typeface="Times New Roman" panose="02020603050405020304" pitchFamily="18" charset="0"/>
              </a:rPr>
              <a:t>）论文章节安排</a:t>
            </a:r>
            <a:endParaRPr lang="zh-CN" altLang="zh-CN" sz="1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）章节安排要求和章节的逻辑关系。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latin typeface="+mj-ea"/>
                <a:ea typeface="+mj-ea"/>
                <a:cs typeface="Times New Roman" panose="02020603050405020304" pitchFamily="18" charset="0"/>
              </a:rPr>
              <a:t>）各章节写作的重难点。</a:t>
            </a:r>
          </a:p>
        </p:txBody>
      </p:sp>
    </p:spTree>
    <p:extLst>
      <p:ext uri="{BB962C8B-B14F-4D97-AF65-F5344CB8AC3E}">
        <p14:creationId xmlns:p14="http://schemas.microsoft.com/office/powerpoint/2010/main" val="729263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9151453-1BA7-47BD-94AF-B1B06C268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11120"/>
              </p:ext>
            </p:extLst>
          </p:nvPr>
        </p:nvGraphicFramePr>
        <p:xfrm>
          <a:off x="388280" y="1179324"/>
          <a:ext cx="10622280" cy="30737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2875518911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3650731777"/>
                    </a:ext>
                  </a:extLst>
                </a:gridCol>
              </a:tblGrid>
              <a:tr h="2855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课程内容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考核方式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8616924"/>
                  </a:ext>
                </a:extLst>
              </a:tr>
              <a:tr h="2855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）工程管理与</a:t>
                      </a: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MEM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培养要求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无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4356817"/>
                  </a:ext>
                </a:extLst>
              </a:tr>
              <a:tr h="2855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）工程管理设计研究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报告：文献分析报告</a:t>
                      </a:r>
                      <a:r>
                        <a:rPr lang="en-US" altLang="zh-CN" sz="1800" kern="1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*#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4684921"/>
                  </a:ext>
                </a:extLst>
              </a:tr>
              <a:tr h="2855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）选题和研究问题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报告：选题报告框架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726909"/>
                  </a:ext>
                </a:extLst>
              </a:tr>
              <a:tr h="2405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）文献综述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报告：文献综述报告</a:t>
                      </a: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*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432119"/>
                  </a:ext>
                </a:extLst>
              </a:tr>
              <a:tr h="2269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）研究方法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研讨：案例研讨形式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42203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6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）研究方案设计（</a:t>
                      </a: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）：问题研究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报告：问题研究的研究方案设计</a:t>
                      </a: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*#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72754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）研究方案设计（</a:t>
                      </a: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）：解决方案设计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报告：解决方案设计的研究方案设计</a:t>
                      </a: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*#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409679"/>
                  </a:ext>
                </a:extLst>
              </a:tr>
              <a:tr h="2443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8</a:t>
                      </a: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）研究方案设计（</a:t>
                      </a: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）：解决方案评估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报告：解决方案评价的研究方案设计</a:t>
                      </a: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*#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8730443"/>
                  </a:ext>
                </a:extLst>
              </a:tr>
              <a:tr h="2855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j-ea"/>
                          <a:ea typeface="+mj-ea"/>
                        </a:rPr>
                        <a:t>9</a:t>
                      </a: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）开题报告撰写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报告：开题报告文稿和</a:t>
                      </a: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PPT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3467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10</a:t>
                      </a: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）论文章节安排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研讨：典型章节安排的案例分析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5170337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C305405B-F0E5-4D5C-9556-2ABAA192C0E0}"/>
              </a:ext>
            </a:extLst>
          </p:cNvPr>
          <p:cNvSpPr/>
          <p:nvPr/>
        </p:nvSpPr>
        <p:spPr>
          <a:xfrm>
            <a:off x="265013" y="4365031"/>
            <a:ext cx="4362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ea"/>
                <a:ea typeface="+mj-ea"/>
                <a:cs typeface="Times New Roman" panose="02020603050405020304" pitchFamily="18" charset="0"/>
              </a:rPr>
              <a:t>*</a:t>
            </a: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表示可安排汇报；</a:t>
            </a:r>
            <a:r>
              <a:rPr lang="en-US" altLang="zh-CN" dirty="0">
                <a:latin typeface="+mj-ea"/>
                <a:ea typeface="+mj-ea"/>
                <a:cs typeface="Times New Roman" panose="02020603050405020304" pitchFamily="18" charset="0"/>
              </a:rPr>
              <a:t>#</a:t>
            </a:r>
            <a:r>
              <a:rPr lang="zh-CN" altLang="zh-CN" dirty="0">
                <a:latin typeface="+mj-ea"/>
                <a:ea typeface="+mj-ea"/>
                <a:cs typeface="Times New Roman" panose="02020603050405020304" pitchFamily="18" charset="0"/>
              </a:rPr>
              <a:t>表示可作为小组作业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653F509-A071-4C1C-B34B-15E4E2BBC21A}"/>
              </a:ext>
            </a:extLst>
          </p:cNvPr>
          <p:cNvSpPr txBox="1">
            <a:spLocks noChangeArrowheads="1"/>
          </p:cNvSpPr>
          <p:nvPr/>
        </p:nvSpPr>
        <p:spPr>
          <a:xfrm>
            <a:off x="1852386" y="395872"/>
            <a:ext cx="5829300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b="1" dirty="0">
                <a:latin typeface="+mn-ea"/>
                <a:ea typeface="+mn-ea"/>
              </a:rPr>
              <a:t>课程作业与考核</a:t>
            </a:r>
          </a:p>
        </p:txBody>
      </p:sp>
    </p:spTree>
    <p:extLst>
      <p:ext uri="{BB962C8B-B14F-4D97-AF65-F5344CB8AC3E}">
        <p14:creationId xmlns:p14="http://schemas.microsoft.com/office/powerpoint/2010/main" val="4012978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-1329"/>
            <a:ext cx="12188826" cy="696320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1590" y="1155103"/>
            <a:ext cx="12192002" cy="5119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69753" y="1621971"/>
            <a:ext cx="9541048" cy="2061625"/>
          </a:xfrm>
        </p:spPr>
        <p:txBody>
          <a:bodyPr>
            <a:noAutofit/>
          </a:bodyPr>
          <a:lstStyle/>
          <a:p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、工程与工程管理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759ED282-3B9C-406B-9118-4CBC7AA796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DA459-582E-4875-97CA-FFEC227C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316"/>
            <a:ext cx="10972800" cy="1143000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33B08-690A-47F3-AB13-7CE43E7A7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495798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工程的特征</a:t>
            </a: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定义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价值、人造物、过程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514350" lvl="1" indent="-514350">
              <a:lnSpc>
                <a:spcPct val="100000"/>
              </a:lnSpc>
              <a:buFont typeface="+mj-lt"/>
              <a:buAutoNum type="arabicPeriod" startAt="2"/>
            </a:pPr>
            <a:r>
              <a:rPr lang="zh-CN" altLang="en-US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工程管理</a:t>
            </a:r>
            <a:endParaRPr lang="en-US" altLang="zh-CN" b="1" dirty="0">
              <a:solidFill>
                <a:srgbClr val="7030A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价值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活动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组织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5128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A507C3-D3A4-46E0-A961-C56C51D8B25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73856" y="1253331"/>
            <a:ext cx="11520964" cy="325712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/>
              <a:t>涉及到采用判断和创造力来</a:t>
            </a:r>
            <a:r>
              <a:rPr lang="zh-CN" altLang="zh-CN" sz="2000" dirty="0">
                <a:highlight>
                  <a:srgbClr val="00FFFF"/>
                </a:highlight>
              </a:rPr>
              <a:t>应用</a:t>
            </a:r>
            <a:r>
              <a:rPr lang="zh-CN" altLang="zh-CN" sz="2000" dirty="0"/>
              <a:t>从研究、经验和实践获得的数学和自然科学知识，以</a:t>
            </a:r>
            <a:r>
              <a:rPr lang="zh-CN" altLang="zh-CN" sz="2000" dirty="0">
                <a:highlight>
                  <a:srgbClr val="FF00FF"/>
                </a:highlight>
              </a:rPr>
              <a:t>开发利用</a:t>
            </a:r>
            <a:r>
              <a:rPr lang="zh-CN" altLang="zh-CN" sz="2000" dirty="0"/>
              <a:t>材料和自然的力量来实现</a:t>
            </a:r>
            <a:r>
              <a:rPr lang="zh-CN" altLang="zh-CN" sz="2000" dirty="0">
                <a:highlight>
                  <a:srgbClr val="FFFF00"/>
                </a:highlight>
              </a:rPr>
              <a:t>人类的价值</a:t>
            </a:r>
            <a:r>
              <a:rPr lang="en-US" altLang="zh-CN" sz="1400" dirty="0"/>
              <a:t> (The International Technology and Engineering Educators Association, 2007)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zh-CN" sz="2000" dirty="0">
                <a:highlight>
                  <a:srgbClr val="00FFFF"/>
                </a:highlight>
              </a:rPr>
              <a:t>采用</a:t>
            </a:r>
            <a:r>
              <a:rPr lang="zh-CN" altLang="zh-CN" sz="2000" dirty="0"/>
              <a:t>系统的、迭代的方式来</a:t>
            </a:r>
            <a:r>
              <a:rPr lang="zh-CN" altLang="zh-CN" sz="2000" dirty="0">
                <a:highlight>
                  <a:srgbClr val="FF00FF"/>
                </a:highlight>
              </a:rPr>
              <a:t>设计</a:t>
            </a:r>
            <a:r>
              <a:rPr lang="zh-CN" altLang="zh-CN" sz="2000" dirty="0"/>
              <a:t>对象、过程、系统来满足</a:t>
            </a:r>
            <a:r>
              <a:rPr lang="zh-CN" altLang="zh-CN" sz="2000" dirty="0">
                <a:highlight>
                  <a:srgbClr val="FFFF00"/>
                </a:highlight>
              </a:rPr>
              <a:t>人类的需要和愿望</a:t>
            </a:r>
            <a:r>
              <a:rPr lang="zh-CN" altLang="zh-CN" sz="1400" dirty="0"/>
              <a:t>（</a:t>
            </a:r>
            <a:r>
              <a:rPr lang="en-US" altLang="zh-CN" sz="1400" dirty="0"/>
              <a:t>The National Assessment Governing Board, 2014</a:t>
            </a:r>
            <a:r>
              <a:rPr lang="zh-CN" altLang="zh-CN" sz="1400" dirty="0"/>
              <a:t>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zh-CN" sz="2000" dirty="0"/>
              <a:t>是人类为了改善生存、生活条件，并</a:t>
            </a:r>
            <a:r>
              <a:rPr lang="zh-CN" altLang="zh-CN" sz="2000" dirty="0">
                <a:highlight>
                  <a:srgbClr val="00FFFF"/>
                </a:highlight>
              </a:rPr>
              <a:t>根据</a:t>
            </a:r>
            <a:r>
              <a:rPr lang="zh-CN" altLang="zh-CN" sz="2000" dirty="0"/>
              <a:t>当时对自然规律的认识，而进行的一项</a:t>
            </a:r>
            <a:r>
              <a:rPr lang="zh-CN" altLang="zh-CN" sz="2000" dirty="0">
                <a:highlight>
                  <a:srgbClr val="FF00FF"/>
                </a:highlight>
              </a:rPr>
              <a:t>物化劳动</a:t>
            </a:r>
            <a:r>
              <a:rPr lang="zh-CN" altLang="zh-CN" sz="2000" dirty="0"/>
              <a:t>的过程</a:t>
            </a:r>
            <a:r>
              <a:rPr lang="zh-CN" altLang="zh-CN" sz="1400" dirty="0"/>
              <a:t>（吴启迪，</a:t>
            </a:r>
            <a:r>
              <a:rPr lang="en-US" altLang="zh-CN" sz="1400" dirty="0"/>
              <a:t>2007</a:t>
            </a:r>
            <a:r>
              <a:rPr lang="zh-CN" altLang="zh-CN" sz="1400" dirty="0"/>
              <a:t>）</a:t>
            </a:r>
            <a:endParaRPr lang="zh-CN" altLang="zh-CN" sz="2000" dirty="0"/>
          </a:p>
          <a:p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7E2B055-6B7F-4FA3-B6FB-444EE3D590FB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工程定义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5C1A29-17E0-4BF6-AEA2-EDE25D4052E6}"/>
              </a:ext>
            </a:extLst>
          </p:cNvPr>
          <p:cNvSpPr/>
          <p:nvPr/>
        </p:nvSpPr>
        <p:spPr>
          <a:xfrm>
            <a:off x="1509163" y="4817994"/>
            <a:ext cx="3154044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利用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依据</a:t>
            </a:r>
            <a:r>
              <a:rPr lang="en-US" altLang="zh-CN" sz="2000" dirty="0">
                <a:latin typeface="+mn-ea"/>
              </a:rPr>
              <a:t>XXX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设计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开发</a:t>
            </a:r>
            <a:r>
              <a:rPr lang="en-US" altLang="zh-CN" sz="2000" dirty="0">
                <a:latin typeface="+mn-ea"/>
              </a:rPr>
              <a:t>XXX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latin typeface="+mn-ea"/>
              </a:rPr>
              <a:t>价值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需要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E9EF9D-1456-486F-9F8D-E63E7DF73425}"/>
              </a:ext>
            </a:extLst>
          </p:cNvPr>
          <p:cNvSpPr/>
          <p:nvPr/>
        </p:nvSpPr>
        <p:spPr>
          <a:xfrm>
            <a:off x="6134338" y="4823356"/>
            <a:ext cx="3154044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zh-CN" sz="2000" dirty="0">
                <a:latin typeface="+mn-ea"/>
              </a:rPr>
              <a:t>价值</a:t>
            </a:r>
            <a:endParaRPr lang="en-US" altLang="zh-CN" sz="20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zh-CN" sz="2000" dirty="0">
                <a:latin typeface="+mn-ea"/>
              </a:rPr>
              <a:t>人造物</a:t>
            </a:r>
            <a:endParaRPr lang="en-US" altLang="zh-CN" sz="24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zh-CN" sz="2000" dirty="0">
                <a:latin typeface="+mn-ea"/>
              </a:rPr>
              <a:t>全寿命期过程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4E7B0BB7-A4B7-4DAD-89D0-9DC136EF2F5A}"/>
              </a:ext>
            </a:extLst>
          </p:cNvPr>
          <p:cNvSpPr/>
          <p:nvPr/>
        </p:nvSpPr>
        <p:spPr>
          <a:xfrm>
            <a:off x="4957614" y="5153372"/>
            <a:ext cx="882316" cy="34490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670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9133E6C-1944-48E5-B308-248E5E197EF9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工程的总体特征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2BD0CF5-0C80-423B-83CC-9EB8555625B2}"/>
              </a:ext>
            </a:extLst>
          </p:cNvPr>
          <p:cNvSpPr/>
          <p:nvPr/>
        </p:nvSpPr>
        <p:spPr>
          <a:xfrm>
            <a:off x="1134934" y="1398637"/>
            <a:ext cx="2871412" cy="18672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51DCEC8-68CF-4755-B9C9-9572C7D5AF0A}"/>
              </a:ext>
            </a:extLst>
          </p:cNvPr>
          <p:cNvSpPr/>
          <p:nvPr/>
        </p:nvSpPr>
        <p:spPr>
          <a:xfrm>
            <a:off x="1470125" y="2551240"/>
            <a:ext cx="952821" cy="55325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A7B02A-63C9-4F14-B6F2-DE4E2082304C}"/>
              </a:ext>
            </a:extLst>
          </p:cNvPr>
          <p:cNvSpPr txBox="1">
            <a:spLocks/>
          </p:cNvSpPr>
          <p:nvPr/>
        </p:nvSpPr>
        <p:spPr>
          <a:xfrm>
            <a:off x="4414000" y="1189383"/>
            <a:ext cx="6373189" cy="1867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100" b="1" dirty="0">
                <a:latin typeface="+mn-ea"/>
              </a:rPr>
              <a:t>工程：在已有系统中构建一个人造新系统</a:t>
            </a:r>
            <a:endParaRPr lang="en-US" altLang="zh-CN" sz="21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1600" dirty="0">
                <a:latin typeface="+mn-ea"/>
              </a:rPr>
              <a:t>构建的新系统需要与已有系统共生</a:t>
            </a:r>
            <a:endParaRPr lang="en-US" altLang="zh-CN" sz="1600" dirty="0">
              <a:latin typeface="+mn-ea"/>
            </a:endParaRPr>
          </a:p>
          <a:p>
            <a:pPr marL="800100" lvl="2" indent="-34290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600" dirty="0">
                <a:latin typeface="+mn-ea"/>
              </a:rPr>
              <a:t>新系统遵循内在运作规律</a:t>
            </a:r>
            <a:endParaRPr lang="en-US" altLang="zh-CN" sz="1600" dirty="0">
              <a:latin typeface="+mn-ea"/>
            </a:endParaRPr>
          </a:p>
          <a:p>
            <a:pPr marL="800100" lvl="2" indent="-34290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600" dirty="0">
                <a:latin typeface="+mn-ea"/>
              </a:rPr>
              <a:t>新系统作为一个整体，可满足上层系统要求</a:t>
            </a:r>
            <a:endParaRPr lang="en-US" altLang="zh-CN" sz="1600" dirty="0">
              <a:latin typeface="+mn-ea"/>
            </a:endParaRPr>
          </a:p>
          <a:p>
            <a:pPr marL="800100" lvl="2" indent="-342900">
              <a:lnSpc>
                <a:spcPct val="125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600" dirty="0">
                <a:latin typeface="+mn-ea"/>
              </a:rPr>
              <a:t>与已有系统和谐共处，如满足环境、资源等要求</a:t>
            </a:r>
            <a:endParaRPr lang="en-US" altLang="zh-CN" sz="1350" dirty="0">
              <a:latin typeface="+mn-e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37674-C556-4B95-A1F3-1B704E63B9BD}"/>
              </a:ext>
            </a:extLst>
          </p:cNvPr>
          <p:cNvSpPr txBox="1">
            <a:spLocks/>
          </p:cNvSpPr>
          <p:nvPr/>
        </p:nvSpPr>
        <p:spPr>
          <a:xfrm>
            <a:off x="1987353" y="1741827"/>
            <a:ext cx="1263334" cy="319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100" b="1" dirty="0">
                <a:latin typeface="+mn-ea"/>
              </a:rPr>
              <a:t>已有系统</a:t>
            </a:r>
            <a:endParaRPr lang="en-US" altLang="zh-CN" sz="1350" dirty="0">
              <a:latin typeface="+mn-ea"/>
            </a:endParaRPr>
          </a:p>
        </p:txBody>
      </p:sp>
      <p:sp>
        <p:nvSpPr>
          <p:cNvPr id="8" name="标注: 线形 7">
            <a:extLst>
              <a:ext uri="{FF2B5EF4-FFF2-40B4-BE49-F238E27FC236}">
                <a16:creationId xmlns:a16="http://schemas.microsoft.com/office/drawing/2014/main" id="{D550F626-35A2-4D3E-B1DC-BA879E3783A6}"/>
              </a:ext>
            </a:extLst>
          </p:cNvPr>
          <p:cNvSpPr/>
          <p:nvPr/>
        </p:nvSpPr>
        <p:spPr>
          <a:xfrm>
            <a:off x="1706446" y="3548534"/>
            <a:ext cx="947020" cy="262891"/>
          </a:xfrm>
          <a:prstGeom prst="borderCallout1">
            <a:avLst>
              <a:gd name="adj1" fmla="val 18750"/>
              <a:gd name="adj2" fmla="val -8333"/>
              <a:gd name="adj3" fmla="val -233759"/>
              <a:gd name="adj4" fmla="val 484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新系统</a:t>
            </a:r>
          </a:p>
        </p:txBody>
      </p:sp>
    </p:spTree>
    <p:extLst>
      <p:ext uri="{BB962C8B-B14F-4D97-AF65-F5344CB8AC3E}">
        <p14:creationId xmlns:p14="http://schemas.microsoft.com/office/powerpoint/2010/main" val="2479344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9133E6C-1944-48E5-B308-248E5E197EF9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工程的总体特征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7759D8-D0D6-4F71-9FCE-5E876C2272CF}"/>
              </a:ext>
            </a:extLst>
          </p:cNvPr>
          <p:cNvSpPr txBox="1"/>
          <p:nvPr/>
        </p:nvSpPr>
        <p:spPr>
          <a:xfrm>
            <a:off x="1437468" y="1557546"/>
            <a:ext cx="138431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</a:rPr>
              <a:t>工程</a:t>
            </a:r>
            <a:endParaRPr lang="en-US" altLang="zh-CN" b="1" dirty="0">
              <a:latin typeface="+mn-ea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B74F98FC-5BE4-4058-A839-082E25E40909}"/>
              </a:ext>
            </a:extLst>
          </p:cNvPr>
          <p:cNvSpPr txBox="1"/>
          <p:nvPr/>
        </p:nvSpPr>
        <p:spPr>
          <a:xfrm>
            <a:off x="3694133" y="1572800"/>
            <a:ext cx="120233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</a:rPr>
              <a:t>工程对象</a:t>
            </a:r>
            <a:endParaRPr lang="en-US" altLang="zh-CN" b="1" dirty="0">
              <a:latin typeface="+mn-ea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0CBDECE3-BCB7-4A7E-BEB2-E7FA9466632E}"/>
              </a:ext>
            </a:extLst>
          </p:cNvPr>
          <p:cNvSpPr txBox="1"/>
          <p:nvPr/>
        </p:nvSpPr>
        <p:spPr>
          <a:xfrm>
            <a:off x="5693191" y="1541928"/>
            <a:ext cx="347741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</a:rPr>
              <a:t>过程（策划、实施、运营）</a:t>
            </a:r>
            <a:endParaRPr lang="en-US" altLang="zh-CN" b="1" dirty="0">
              <a:latin typeface="+mn-ea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0FCE8C2-C69D-40DF-B4B0-DA41BBF9EC1E}"/>
              </a:ext>
            </a:extLst>
          </p:cNvPr>
          <p:cNvSpPr txBox="1"/>
          <p:nvPr/>
        </p:nvSpPr>
        <p:spPr>
          <a:xfrm>
            <a:off x="5287745" y="2529370"/>
            <a:ext cx="1583519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临时性活动（项目管理）</a:t>
            </a:r>
            <a:endParaRPr lang="en-US" altLang="zh-CN" dirty="0">
              <a:latin typeface="+mn-ea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CE04BB86-F190-480B-A8F4-EC15DC6BA1CC}"/>
              </a:ext>
            </a:extLst>
          </p:cNvPr>
          <p:cNvSpPr txBox="1"/>
          <p:nvPr/>
        </p:nvSpPr>
        <p:spPr>
          <a:xfrm>
            <a:off x="7663024" y="2529370"/>
            <a:ext cx="168487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非临时性活动（运营管理等）</a:t>
            </a:r>
            <a:endParaRPr lang="en-US" altLang="zh-CN" dirty="0">
              <a:latin typeface="+mn-ea"/>
            </a:endParaRPr>
          </a:p>
        </p:txBody>
      </p:sp>
      <p:pic>
        <p:nvPicPr>
          <p:cNvPr id="14" name="Picture 2" descr="等于号 的图像结果">
            <a:extLst>
              <a:ext uri="{FF2B5EF4-FFF2-40B4-BE49-F238E27FC236}">
                <a16:creationId xmlns:a16="http://schemas.microsoft.com/office/drawing/2014/main" id="{334CB74F-237D-45FF-9A37-EE79D1920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779" y="1557546"/>
            <a:ext cx="709011" cy="33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加号 的图像结果">
            <a:extLst>
              <a:ext uri="{FF2B5EF4-FFF2-40B4-BE49-F238E27FC236}">
                <a16:creationId xmlns:a16="http://schemas.microsoft.com/office/drawing/2014/main" id="{760CE0F5-0A75-4D8A-9CD0-A189629AF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812" y="1457221"/>
            <a:ext cx="670379" cy="55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A692B50-6547-4F5B-9AD5-C35612FD5E45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6079505" y="1911260"/>
            <a:ext cx="1352396" cy="61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DEA1885-58C3-46F0-AD96-B9E0B36F5AD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431901" y="1911260"/>
            <a:ext cx="1073559" cy="61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8">
            <a:extLst>
              <a:ext uri="{FF2B5EF4-FFF2-40B4-BE49-F238E27FC236}">
                <a16:creationId xmlns:a16="http://schemas.microsoft.com/office/drawing/2014/main" id="{BC7B0CE9-87D8-49A1-84AB-7370525A0F7C}"/>
              </a:ext>
            </a:extLst>
          </p:cNvPr>
          <p:cNvCxnSpPr>
            <a:cxnSpLocks/>
          </p:cNvCxnSpPr>
          <p:nvPr/>
        </p:nvCxnSpPr>
        <p:spPr>
          <a:xfrm>
            <a:off x="4253736" y="1942132"/>
            <a:ext cx="0" cy="587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8">
            <a:extLst>
              <a:ext uri="{FF2B5EF4-FFF2-40B4-BE49-F238E27FC236}">
                <a16:creationId xmlns:a16="http://schemas.microsoft.com/office/drawing/2014/main" id="{E0D915F2-50FF-42AA-BBB6-EB1F0671F4EF}"/>
              </a:ext>
            </a:extLst>
          </p:cNvPr>
          <p:cNvSpPr txBox="1"/>
          <p:nvPr/>
        </p:nvSpPr>
        <p:spPr>
          <a:xfrm>
            <a:off x="3284120" y="2544357"/>
            <a:ext cx="1867189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工程实体</a:t>
            </a:r>
            <a:r>
              <a:rPr lang="zh-CN" altLang="en-US" dirty="0">
                <a:latin typeface="+mn-ea"/>
              </a:rPr>
              <a:t>；</a:t>
            </a:r>
            <a:endParaRPr lang="en-US" altLang="zh-CN" dirty="0">
              <a:latin typeface="+mn-ea"/>
            </a:endParaRPr>
          </a:p>
          <a:p>
            <a:pPr algn="ctr"/>
            <a:r>
              <a:rPr lang="zh-CN" altLang="zh-CN" kern="0" dirty="0">
                <a:latin typeface="+mn-ea"/>
                <a:cs typeface="Times-Roman"/>
              </a:rPr>
              <a:t>过程性人造物</a:t>
            </a:r>
            <a:r>
              <a:rPr lang="zh-CN" altLang="en-US" dirty="0">
                <a:latin typeface="+mn-ea"/>
              </a:rPr>
              <a:t>；</a:t>
            </a:r>
            <a:endParaRPr lang="en-US" altLang="zh-CN" dirty="0">
              <a:latin typeface="+mn-ea"/>
            </a:endParaRPr>
          </a:p>
          <a:p>
            <a:pPr algn="ctr"/>
            <a:r>
              <a:rPr lang="zh-CN" altLang="zh-CN" kern="0" dirty="0">
                <a:latin typeface="+mn-ea"/>
                <a:cs typeface="Times-Roman"/>
              </a:rPr>
              <a:t>服务性人造物</a:t>
            </a:r>
            <a:endParaRPr lang="en-US" altLang="zh-CN" kern="0" dirty="0">
              <a:latin typeface="+mn-ea"/>
              <a:cs typeface="Times-Roman"/>
            </a:endParaRPr>
          </a:p>
          <a:p>
            <a:pPr algn="ctr"/>
            <a:r>
              <a:rPr lang="en-US" altLang="zh-CN" dirty="0">
                <a:latin typeface="+mn-ea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15273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E89D36-774E-490B-A055-8B348B3FEE36}"/>
              </a:ext>
            </a:extLst>
          </p:cNvPr>
          <p:cNvSpPr/>
          <p:nvPr/>
        </p:nvSpPr>
        <p:spPr>
          <a:xfrm>
            <a:off x="402771" y="1058119"/>
            <a:ext cx="10860974" cy="2543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zh-CN" b="1" dirty="0"/>
              <a:t>价值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工程效益和成本间的关系</a:t>
            </a:r>
            <a:endParaRPr lang="en-US" altLang="zh-CN" dirty="0"/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效益</a:t>
            </a:r>
            <a:r>
              <a:rPr lang="zh-CN" altLang="en-US" dirty="0"/>
              <a:t>：</a:t>
            </a:r>
            <a:r>
              <a:rPr lang="zh-CN" altLang="zh-CN" dirty="0"/>
              <a:t>经济、社会、生态等正面影响</a:t>
            </a:r>
            <a:endParaRPr lang="en-US" altLang="zh-CN" dirty="0"/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成本</a:t>
            </a:r>
            <a:r>
              <a:rPr lang="zh-CN" altLang="en-US" dirty="0"/>
              <a:t>：</a:t>
            </a:r>
            <a:r>
              <a:rPr lang="zh-CN" altLang="zh-CN" dirty="0"/>
              <a:t>实现工程整体性功能和获得效益所付出的代价，如投资、环境污染等方面。</a:t>
            </a:r>
            <a:endParaRPr lang="en-US" altLang="zh-CN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价值实现需要实现效益和成本之间的最优和平衡。</a:t>
            </a:r>
            <a:endParaRPr lang="en-US" altLang="zh-CN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价值工程</a:t>
            </a:r>
            <a:r>
              <a:rPr lang="zh-CN" altLang="en-US" dirty="0"/>
              <a:t>：</a:t>
            </a:r>
            <a:r>
              <a:rPr lang="zh-CN" altLang="zh-CN" dirty="0"/>
              <a:t>价值体现了功能和成本之间的关系。</a:t>
            </a:r>
            <a:endParaRPr lang="en-US" altLang="zh-CN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52D4368-EF64-4F88-B109-2E2B4DA52B99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工程：价值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398DD37-2895-4A2F-96A8-3531DDE0140E}"/>
              </a:ext>
            </a:extLst>
          </p:cNvPr>
          <p:cNvSpPr txBox="1"/>
          <p:nvPr/>
        </p:nvSpPr>
        <p:spPr>
          <a:xfrm>
            <a:off x="334222" y="4968884"/>
            <a:ext cx="11440683" cy="861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“工程的基本使命是为用户进行创造，工程愿景的规划要关注工程的使命就是解决</a:t>
            </a:r>
            <a:r>
              <a:rPr lang="zh-CN" altLang="en-US" sz="1600" dirty="0"/>
              <a:t>用户</a:t>
            </a:r>
            <a:r>
              <a:rPr lang="zh-CN" altLang="zh-CN" sz="1600" dirty="0"/>
              <a:t>——人和社会的需求”</a:t>
            </a:r>
            <a:r>
              <a:rPr lang="en-US" altLang="zh-CN" sz="1600" dirty="0"/>
              <a:t>——</a:t>
            </a:r>
            <a:r>
              <a:rPr lang="zh-CN" altLang="zh-CN" sz="1600" dirty="0"/>
              <a:t>美国国家工程院院士</a:t>
            </a:r>
            <a:r>
              <a:rPr lang="en-US" altLang="zh-CN" sz="1600" dirty="0"/>
              <a:t>Mote</a:t>
            </a:r>
            <a:r>
              <a:rPr lang="zh-CN" altLang="zh-CN" sz="1600" dirty="0"/>
              <a:t>（</a:t>
            </a:r>
            <a:r>
              <a:rPr lang="en-US" altLang="zh-CN" sz="1600" dirty="0"/>
              <a:t>2020</a:t>
            </a:r>
            <a:r>
              <a:rPr lang="zh-CN" altLang="zh-CN" sz="1600" dirty="0"/>
              <a:t>）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价值体系是工程的灵魂。</a:t>
            </a:r>
            <a:r>
              <a:rPr lang="en-US" altLang="zh-CN" dirty="0"/>
              <a:t> ——</a:t>
            </a:r>
            <a:r>
              <a:rPr lang="zh-CN" altLang="zh-CN" dirty="0"/>
              <a:t>成虎（</a:t>
            </a:r>
            <a:r>
              <a:rPr lang="en-US" altLang="zh-CN" dirty="0"/>
              <a:t>2018</a:t>
            </a:r>
            <a:r>
              <a:rPr lang="zh-CN" altLang="zh-CN" dirty="0"/>
              <a:t>）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5834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9968DE-FA4D-4A12-A0C3-5AAF78AF7059}"/>
              </a:ext>
            </a:extLst>
          </p:cNvPr>
          <p:cNvSpPr/>
          <p:nvPr/>
        </p:nvSpPr>
        <p:spPr>
          <a:xfrm>
            <a:off x="3773092" y="2109283"/>
            <a:ext cx="1191757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项目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07A761-CA55-48F7-8D05-DBF7890E459B}"/>
              </a:ext>
            </a:extLst>
          </p:cNvPr>
          <p:cNvSpPr/>
          <p:nvPr/>
        </p:nvSpPr>
        <p:spPr>
          <a:xfrm>
            <a:off x="5439275" y="2096970"/>
            <a:ext cx="3865814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任务</a:t>
            </a:r>
            <a:r>
              <a:rPr lang="en-US" altLang="zh-CN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交付物</a:t>
            </a:r>
            <a:r>
              <a:rPr lang="en-US" altLang="zh-CN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工程实体等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DD516BE-823C-43B6-9E01-36BC06AB656D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4964849" y="2327803"/>
            <a:ext cx="474426" cy="12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582F7CAE-F808-47BB-9757-73A43120C4CF}"/>
              </a:ext>
            </a:extLst>
          </p:cNvPr>
          <p:cNvSpPr/>
          <p:nvPr/>
        </p:nvSpPr>
        <p:spPr>
          <a:xfrm>
            <a:off x="5622168" y="2945330"/>
            <a:ext cx="3497435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形成产生成果的能力（</a:t>
            </a:r>
            <a:r>
              <a:rPr lang="en-US" altLang="zh-CN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capabilities</a:t>
            </a: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A15CC8-7197-4788-AB35-49B29FA4B4CA}"/>
              </a:ext>
            </a:extLst>
          </p:cNvPr>
          <p:cNvSpPr/>
          <p:nvPr/>
        </p:nvSpPr>
        <p:spPr>
          <a:xfrm>
            <a:off x="5746376" y="4337250"/>
            <a:ext cx="3283047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产生成果（</a:t>
            </a:r>
            <a:r>
              <a:rPr lang="en-US" altLang="zh-CN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outcomes</a:t>
            </a: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1CDB47-9F66-4E5F-B39F-A4504ADBCC0B}"/>
              </a:ext>
            </a:extLst>
          </p:cNvPr>
          <p:cNvSpPr/>
          <p:nvPr/>
        </p:nvSpPr>
        <p:spPr>
          <a:xfrm>
            <a:off x="5899037" y="5309151"/>
            <a:ext cx="2986329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形成效益（</a:t>
            </a:r>
            <a:r>
              <a:rPr lang="en-US" altLang="zh-CN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benefits</a:t>
            </a: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95FD8D-A309-484D-ADCD-724D08931B87}"/>
              </a:ext>
            </a:extLst>
          </p:cNvPr>
          <p:cNvSpPr/>
          <p:nvPr/>
        </p:nvSpPr>
        <p:spPr>
          <a:xfrm>
            <a:off x="6020912" y="6237046"/>
            <a:ext cx="2965449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转化成价值</a:t>
            </a:r>
            <a:r>
              <a:rPr lang="en-US" altLang="zh-CN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(Value)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F946F54-3DEB-487A-B3D0-6C1840FBF956}"/>
              </a:ext>
            </a:extLst>
          </p:cNvPr>
          <p:cNvCxnSpPr>
            <a:cxnSpLocks/>
          </p:cNvCxnSpPr>
          <p:nvPr/>
        </p:nvCxnSpPr>
        <p:spPr>
          <a:xfrm flipV="1">
            <a:off x="2410290" y="2590569"/>
            <a:ext cx="0" cy="3876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700234-D0B1-4198-86C4-78724FCFE880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410290" y="6467879"/>
            <a:ext cx="3610622" cy="13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264E97E-F640-4555-8E72-92B7BF5EE7D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7370886" y="2558635"/>
            <a:ext cx="1296" cy="386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590D2E2-6619-4947-993E-9A76CA884D6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7370886" y="3776327"/>
            <a:ext cx="17014" cy="560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EF09FA5-5B17-4FEC-974B-4354BD7831A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7387900" y="4798915"/>
            <a:ext cx="4302" cy="510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FAB1CBC-C697-4579-9DDD-7BBCE7335906}"/>
              </a:ext>
            </a:extLst>
          </p:cNvPr>
          <p:cNvCxnSpPr/>
          <p:nvPr/>
        </p:nvCxnSpPr>
        <p:spPr>
          <a:xfrm>
            <a:off x="7455016" y="5770816"/>
            <a:ext cx="0" cy="45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E25C4030-C31F-4A3A-9DEE-D6578E6A7BAE}"/>
              </a:ext>
            </a:extLst>
          </p:cNvPr>
          <p:cNvSpPr/>
          <p:nvPr/>
        </p:nvSpPr>
        <p:spPr>
          <a:xfrm>
            <a:off x="9470384" y="2082649"/>
            <a:ext cx="977846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大桥</a:t>
            </a:r>
            <a:endParaRPr lang="zh-CN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2724B3-97FE-4568-9E50-63A57649983D}"/>
              </a:ext>
            </a:extLst>
          </p:cNvPr>
          <p:cNvSpPr/>
          <p:nvPr/>
        </p:nvSpPr>
        <p:spPr>
          <a:xfrm>
            <a:off x="9326723" y="3184293"/>
            <a:ext cx="1265168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交通能力</a:t>
            </a:r>
            <a:endParaRPr lang="zh-CN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801CD1-64E4-4E4D-A326-3DFED8BA88A4}"/>
              </a:ext>
            </a:extLst>
          </p:cNvPr>
          <p:cNvSpPr/>
          <p:nvPr/>
        </p:nvSpPr>
        <p:spPr>
          <a:xfrm>
            <a:off x="9326723" y="4323074"/>
            <a:ext cx="130316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通行服务</a:t>
            </a:r>
            <a:endParaRPr lang="zh-CN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0729B4-6959-471A-9034-A6C27B3AD1AA}"/>
              </a:ext>
            </a:extLst>
          </p:cNvPr>
          <p:cNvSpPr/>
          <p:nvPr/>
        </p:nvSpPr>
        <p:spPr>
          <a:xfrm>
            <a:off x="9065460" y="5476611"/>
            <a:ext cx="1881176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收入</a:t>
            </a:r>
            <a:r>
              <a:rPr lang="en-US" altLang="zh-CN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社会效益</a:t>
            </a:r>
            <a:endParaRPr lang="zh-CN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2F97CC-DF02-4E9F-9646-582879FAE6EB}"/>
              </a:ext>
            </a:extLst>
          </p:cNvPr>
          <p:cNvSpPr/>
          <p:nvPr/>
        </p:nvSpPr>
        <p:spPr>
          <a:xfrm>
            <a:off x="9066026" y="6402320"/>
            <a:ext cx="188061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效益</a:t>
            </a:r>
            <a:r>
              <a:rPr lang="en-US" altLang="zh-CN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成本</a:t>
            </a:r>
            <a:endParaRPr lang="zh-CN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B6E320-7790-4562-812D-C8719ADCA377}"/>
              </a:ext>
            </a:extLst>
          </p:cNvPr>
          <p:cNvSpPr/>
          <p:nvPr/>
        </p:nvSpPr>
        <p:spPr>
          <a:xfrm>
            <a:off x="10166716" y="3718694"/>
            <a:ext cx="122998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运营管理</a:t>
            </a:r>
            <a:endParaRPr lang="en-US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52EEAC0-371E-47F9-816C-68BAE30AFA3F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9959307" y="2482759"/>
            <a:ext cx="0" cy="701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C1B61AD-E6D7-47E5-BBD9-37818C091199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9959307" y="3584403"/>
            <a:ext cx="18997" cy="738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F0F0118-80B4-42B0-838F-A6A711740058}"/>
              </a:ext>
            </a:extLst>
          </p:cNvPr>
          <p:cNvCxnSpPr/>
          <p:nvPr/>
        </p:nvCxnSpPr>
        <p:spPr>
          <a:xfrm>
            <a:off x="10006048" y="4750957"/>
            <a:ext cx="0" cy="72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35DC74C-7980-468D-980B-ADB6D4B465D4}"/>
              </a:ext>
            </a:extLst>
          </p:cNvPr>
          <p:cNvSpPr/>
          <p:nvPr/>
        </p:nvSpPr>
        <p:spPr>
          <a:xfrm>
            <a:off x="10133694" y="4858344"/>
            <a:ext cx="123348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用户使用</a:t>
            </a:r>
            <a:endParaRPr lang="en-US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9AC0DAC-0DE8-43EF-80CB-309B043C4E5B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10006048" y="5876721"/>
            <a:ext cx="283" cy="525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049C5D4-5AC9-4B64-9AAE-D8AF63468804}"/>
              </a:ext>
            </a:extLst>
          </p:cNvPr>
          <p:cNvSpPr/>
          <p:nvPr/>
        </p:nvSpPr>
        <p:spPr>
          <a:xfrm>
            <a:off x="10166716" y="5902658"/>
            <a:ext cx="128181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考虑成本</a:t>
            </a:r>
            <a:endParaRPr lang="en-US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F0A139B-4624-49DC-AB2A-132EB2FE51F6}"/>
              </a:ext>
            </a:extLst>
          </p:cNvPr>
          <p:cNvSpPr/>
          <p:nvPr/>
        </p:nvSpPr>
        <p:spPr>
          <a:xfrm>
            <a:off x="1557584" y="2110680"/>
            <a:ext cx="1665108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目标</a:t>
            </a:r>
            <a:r>
              <a:rPr lang="en-US" altLang="zh-CN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价值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3EDCB54-F9A8-47CB-9087-5D41F76C20BC}"/>
              </a:ext>
            </a:extLst>
          </p:cNvPr>
          <p:cNvSpPr/>
          <p:nvPr/>
        </p:nvSpPr>
        <p:spPr>
          <a:xfrm>
            <a:off x="283553" y="2109283"/>
            <a:ext cx="977846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需求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B1B8497-0BFF-4A0F-B3A9-0C3F0A0BFD9B}"/>
              </a:ext>
            </a:extLst>
          </p:cNvPr>
          <p:cNvCxnSpPr>
            <a:cxnSpLocks/>
            <a:stCxn id="29" idx="3"/>
            <a:endCxn id="3" idx="1"/>
          </p:cNvCxnSpPr>
          <p:nvPr/>
        </p:nvCxnSpPr>
        <p:spPr>
          <a:xfrm flipV="1">
            <a:off x="3222692" y="2340116"/>
            <a:ext cx="550400" cy="1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A033B87-F7F1-4E5A-AF09-DD35962E8955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>
          <a:xfrm>
            <a:off x="1261399" y="2340116"/>
            <a:ext cx="296185" cy="1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D0DB336B-CFD0-4F0D-AAD4-B9D274E9E7D2}"/>
              </a:ext>
            </a:extLst>
          </p:cNvPr>
          <p:cNvSpPr/>
          <p:nvPr/>
        </p:nvSpPr>
        <p:spPr>
          <a:xfrm>
            <a:off x="5333650" y="4859892"/>
            <a:ext cx="1233488" cy="40011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满足需求</a:t>
            </a:r>
            <a:endParaRPr lang="en-US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3D371AD6-7D8A-4419-91C7-F866E524D48A}"/>
              </a:ext>
            </a:extLst>
          </p:cNvPr>
          <p:cNvCxnSpPr>
            <a:cxnSpLocks/>
            <a:stCxn id="70" idx="1"/>
            <a:endCxn id="30" idx="2"/>
          </p:cNvCxnSpPr>
          <p:nvPr/>
        </p:nvCxnSpPr>
        <p:spPr>
          <a:xfrm flipH="1" flipV="1">
            <a:off x="772476" y="2570948"/>
            <a:ext cx="4561174" cy="2488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9C77086-A626-4F0C-A928-7E49DA8E9DD3}"/>
              </a:ext>
            </a:extLst>
          </p:cNvPr>
          <p:cNvCxnSpPr>
            <a:cxnSpLocks/>
          </p:cNvCxnSpPr>
          <p:nvPr/>
        </p:nvCxnSpPr>
        <p:spPr>
          <a:xfrm>
            <a:off x="3773092" y="1676728"/>
            <a:ext cx="0" cy="348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C4C6D3D-B118-47DD-9577-EBF7F4B65943}"/>
              </a:ext>
            </a:extLst>
          </p:cNvPr>
          <p:cNvCxnSpPr>
            <a:cxnSpLocks/>
          </p:cNvCxnSpPr>
          <p:nvPr/>
        </p:nvCxnSpPr>
        <p:spPr>
          <a:xfrm>
            <a:off x="4964849" y="1676728"/>
            <a:ext cx="0" cy="348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C4E08B8-CFA5-4FC1-8A67-564208951025}"/>
              </a:ext>
            </a:extLst>
          </p:cNvPr>
          <p:cNvCxnSpPr>
            <a:cxnSpLocks/>
          </p:cNvCxnSpPr>
          <p:nvPr/>
        </p:nvCxnSpPr>
        <p:spPr>
          <a:xfrm flipH="1">
            <a:off x="3773093" y="1929884"/>
            <a:ext cx="1191756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B69409B5-509B-4A34-9904-DDA43A54616A}"/>
              </a:ext>
            </a:extLst>
          </p:cNvPr>
          <p:cNvSpPr/>
          <p:nvPr/>
        </p:nvSpPr>
        <p:spPr>
          <a:xfrm>
            <a:off x="3394220" y="1256962"/>
            <a:ext cx="2045046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项目管理</a:t>
            </a:r>
            <a:endParaRPr lang="en-US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A08D8C0A-03CD-4C8D-8329-8475B7E130B8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工程：价值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482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A2998B1-31D4-431E-9577-B4685B21C6E6}"/>
              </a:ext>
            </a:extLst>
          </p:cNvPr>
          <p:cNvSpPr/>
          <p:nvPr/>
        </p:nvSpPr>
        <p:spPr>
          <a:xfrm>
            <a:off x="332510" y="1083726"/>
            <a:ext cx="11646130" cy="373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工程是人类通过创造人造物以</a:t>
            </a: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干预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已有系统。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+mn-ea"/>
                <a:cs typeface="Times New Roman" panose="02020603050405020304" pitchFamily="18" charset="0"/>
              </a:rPr>
              <a:t>典型的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人造物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285750" indent="-285750" algn="just" fontAlgn="base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工程实体，如大桥、高速公路、房屋等</a:t>
            </a:r>
            <a:endParaRPr lang="en-US" altLang="zh-CN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285750" indent="-285750" algn="just" fontAlgn="base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kern="0" dirty="0">
                <a:latin typeface="+mn-ea"/>
                <a:cs typeface="Times-Roman"/>
              </a:rPr>
              <a:t>产品：人们用来完成某一任务的技术，如软件产品</a:t>
            </a:r>
            <a:endParaRPr lang="en-US" altLang="zh-CN" kern="0" dirty="0">
              <a:latin typeface="+mn-ea"/>
              <a:cs typeface="Times-Roman"/>
            </a:endParaRPr>
          </a:p>
          <a:p>
            <a:pPr marL="285750" indent="-285750" algn="just" fontAlgn="base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kern="0" dirty="0">
                <a:latin typeface="+mn-ea"/>
                <a:cs typeface="Times-Roman"/>
              </a:rPr>
              <a:t>过程性人造物，用于指引人们怎么完成某一任务</a:t>
            </a:r>
            <a:r>
              <a:rPr lang="zh-CN" altLang="en-US" kern="0" dirty="0">
                <a:latin typeface="+mn-ea"/>
                <a:cs typeface="Times-Roman"/>
              </a:rPr>
              <a:t>，</a:t>
            </a:r>
            <a:r>
              <a:rPr lang="zh-CN" altLang="zh-CN" kern="0" dirty="0">
                <a:latin typeface="+mn-ea"/>
                <a:cs typeface="Times-Roman"/>
              </a:rPr>
              <a:t>如方法、流程、管理措施等，</a:t>
            </a:r>
            <a:endParaRPr lang="en-US" altLang="zh-CN" kern="0" dirty="0">
              <a:latin typeface="+mn-ea"/>
              <a:cs typeface="Times-Roman"/>
            </a:endParaRPr>
          </a:p>
          <a:p>
            <a:pPr marL="285750" indent="-285750" algn="just" fontAlgn="base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kern="0" dirty="0">
                <a:latin typeface="+mn-ea"/>
                <a:cs typeface="Times-Roman"/>
              </a:rPr>
              <a:t>服务性人造物</a:t>
            </a:r>
            <a:r>
              <a:rPr lang="zh-CN" altLang="en-US" kern="0" dirty="0">
                <a:latin typeface="+mn-ea"/>
                <a:cs typeface="Times-Roman"/>
              </a:rPr>
              <a:t>，</a:t>
            </a:r>
            <a:r>
              <a:rPr lang="zh-CN" altLang="zh-CN" kern="0" dirty="0">
                <a:latin typeface="+mn-ea"/>
                <a:cs typeface="Times-Roman"/>
              </a:rPr>
              <a:t>提供一些智力服务（如咨询服务），如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通过模型和算法等来解决社会经济问题</a:t>
            </a:r>
            <a:endParaRPr lang="en-US" altLang="zh-CN" kern="0" dirty="0">
              <a:latin typeface="+mn-ea"/>
              <a:cs typeface="Times-Roman"/>
            </a:endParaRPr>
          </a:p>
          <a:p>
            <a:pPr marL="285750" indent="-285750" algn="just" fontAlgn="base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kern="0" dirty="0">
                <a:latin typeface="+mn-ea"/>
                <a:cs typeface="Times-Roman"/>
              </a:rPr>
              <a:t>多种类型的组合，如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工程实体、产品、过程性人造物、服务性人造物共同发挥作用</a:t>
            </a:r>
          </a:p>
          <a:p>
            <a:pPr indent="266700" algn="just" fontAlgn="base">
              <a:lnSpc>
                <a:spcPct val="125000"/>
              </a:lnSpc>
              <a:spcAft>
                <a:spcPts val="0"/>
              </a:spcAft>
            </a:pP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6729C18-7050-41E7-A9DE-CBEC1E3E2E18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工程：人造物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2598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A2998B1-31D4-431E-9577-B4685B21C6E6}"/>
              </a:ext>
            </a:extLst>
          </p:cNvPr>
          <p:cNvSpPr/>
          <p:nvPr/>
        </p:nvSpPr>
        <p:spPr>
          <a:xfrm>
            <a:off x="332510" y="1083726"/>
            <a:ext cx="11646130" cy="337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zh-CN" altLang="en-US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人造物</a:t>
            </a:r>
            <a:r>
              <a:rPr lang="zh-CN" altLang="zh-CN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典型特征：</a:t>
            </a:r>
            <a:endParaRPr lang="zh-CN" altLang="zh-CN" b="1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人造物是为了实现某特定功能和价值目标，满足一定的价值诉求。</a:t>
            </a:r>
            <a:endParaRPr lang="en-US" altLang="zh-CN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这些功能、目标、价值诉求通常是上层系统所赋予的，以及受外部环境系统的约束。</a:t>
            </a:r>
            <a:endParaRPr lang="en-US" altLang="zh-CN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人造物是基于上层系统的需求和约束，主动干预已有系统的对象。</a:t>
            </a:r>
            <a:endParaRPr lang="en-US" altLang="zh-CN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人造物通过综合集成而成，具有整体性。</a:t>
            </a:r>
            <a:endParaRPr lang="en-US" altLang="zh-CN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742950" lvl="1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人造物处于更大的上层系统和外部环境系统中，受上层系统的约束，又是上层系统的组成部分。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人造物可通过模仿自然物，但在某些方面并非完全模仿（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Simon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1996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）。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人造物通过设计准则进行设计，通过设计的实施实现对已有系统的主动干预和改造。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6729C18-7050-41E7-A9DE-CBEC1E3E2E18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工程：人造物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817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06729C18-7050-41E7-A9DE-CBEC1E3E2E18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工程：全寿命期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15AE8A-240A-4EC8-9015-7024EE73461B}"/>
              </a:ext>
            </a:extLst>
          </p:cNvPr>
          <p:cNvSpPr/>
          <p:nvPr/>
        </p:nvSpPr>
        <p:spPr>
          <a:xfrm>
            <a:off x="1602843" y="2938792"/>
            <a:ext cx="977846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价值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E6B84D-2651-4C81-BE97-F6C58BFFD670}"/>
              </a:ext>
            </a:extLst>
          </p:cNvPr>
          <p:cNvSpPr/>
          <p:nvPr/>
        </p:nvSpPr>
        <p:spPr>
          <a:xfrm>
            <a:off x="3159500" y="2754126"/>
            <a:ext cx="1153362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工程整体性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C824BD-8C0B-4D0A-863E-6101CF8E4C97}"/>
              </a:ext>
            </a:extLst>
          </p:cNvPr>
          <p:cNvSpPr/>
          <p:nvPr/>
        </p:nvSpPr>
        <p:spPr>
          <a:xfrm>
            <a:off x="5053264" y="2738774"/>
            <a:ext cx="2002797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分阶段、分主体管理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68B98C-ACBE-423A-97E4-16EBC18D4505}"/>
              </a:ext>
            </a:extLst>
          </p:cNvPr>
          <p:cNvSpPr/>
          <p:nvPr/>
        </p:nvSpPr>
        <p:spPr>
          <a:xfrm>
            <a:off x="7950575" y="2754126"/>
            <a:ext cx="1010486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集成管理</a:t>
            </a:r>
            <a:endParaRPr lang="en-US" altLang="zh-CN" sz="24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B461FAB-1E1F-4A36-9C19-F008D4B1551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580689" y="3169625"/>
            <a:ext cx="578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5750C3C-F601-4DAC-8EFA-8BD2B75367E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312862" y="3150359"/>
            <a:ext cx="740402" cy="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ACEF716-2225-4C95-8CDB-6D1D9F2D9CA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056061" y="3154273"/>
            <a:ext cx="894514" cy="15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C54827-8BAD-4487-AE25-FD747AC5209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736181" y="2198915"/>
            <a:ext cx="0" cy="555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D5ED2C2-33E8-473B-8C3C-E0B42AC4EE7C}"/>
              </a:ext>
            </a:extLst>
          </p:cNvPr>
          <p:cNvCxnSpPr>
            <a:cxnSpLocks/>
          </p:cNvCxnSpPr>
          <p:nvPr/>
        </p:nvCxnSpPr>
        <p:spPr>
          <a:xfrm>
            <a:off x="3736181" y="2188105"/>
            <a:ext cx="4719637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0EAF34F-7474-45C1-995A-D34AF2F66B6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8455818" y="2188105"/>
            <a:ext cx="0" cy="566021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E8F6DE50-C9E5-4156-8FAA-F25CA9723EDE}"/>
              </a:ext>
            </a:extLst>
          </p:cNvPr>
          <p:cNvSpPr/>
          <p:nvPr/>
        </p:nvSpPr>
        <p:spPr>
          <a:xfrm>
            <a:off x="5322208" y="1712716"/>
            <a:ext cx="123348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回应</a:t>
            </a:r>
            <a:endParaRPr lang="en-US" altLang="zh-CN" sz="20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866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FD86459-79C3-403C-93FE-A0A76D873626}"/>
              </a:ext>
            </a:extLst>
          </p:cNvPr>
          <p:cNvSpPr/>
          <p:nvPr/>
        </p:nvSpPr>
        <p:spPr>
          <a:xfrm>
            <a:off x="326572" y="1136168"/>
            <a:ext cx="11277600" cy="3374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策划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对工程的文字性描述和构想，定义了工程的功能和目标，以及对设计、实施和运行的过程活动和管理活动的设计。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实施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包括设计和建造两个阶段。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设计是依据策划对工程的图像性呈现；建造是对设计的实现；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设计和建造的目标约束和上层规划工作源于策划的结果和要求。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实施阶段最终交付工程技术对象，用于使用。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运行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对工程技术对象的使用和维护，也可延伸到寿命期结束后的拆除和再利用的过程。相比较策划和实施阶段，运行维护针对重复性工作，两者的管理逻辑存在差异。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2C0E42E-980E-41C8-9159-D7C714B4F049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工程：全寿命期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E829491-14B5-4268-823F-B825F187042C}"/>
              </a:ext>
            </a:extLst>
          </p:cNvPr>
          <p:cNvGrpSpPr/>
          <p:nvPr/>
        </p:nvGrpSpPr>
        <p:grpSpPr>
          <a:xfrm>
            <a:off x="958195" y="5346407"/>
            <a:ext cx="10014353" cy="535453"/>
            <a:chOff x="1299533" y="2466641"/>
            <a:chExt cx="10014353" cy="535453"/>
          </a:xfrm>
        </p:grpSpPr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83C26ED1-089A-41C1-8FD2-346CF68FE7AC}"/>
                </a:ext>
              </a:extLst>
            </p:cNvPr>
            <p:cNvSpPr txBox="1"/>
            <p:nvPr/>
          </p:nvSpPr>
          <p:spPr>
            <a:xfrm>
              <a:off x="1299533" y="2678929"/>
              <a:ext cx="999847" cy="3231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b="1" dirty="0">
                  <a:latin typeface="+mj-ea"/>
                  <a:ea typeface="+mj-ea"/>
                </a:rPr>
                <a:t>策划</a:t>
              </a:r>
              <a:endParaRPr lang="en-US" altLang="zh-CN" sz="1500" b="1" dirty="0">
                <a:latin typeface="+mj-ea"/>
                <a:ea typeface="+mj-ea"/>
              </a:endParaRPr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120FEE41-C0D6-4FC3-8582-B296679E3CC5}"/>
                </a:ext>
              </a:extLst>
            </p:cNvPr>
            <p:cNvSpPr txBox="1"/>
            <p:nvPr/>
          </p:nvSpPr>
          <p:spPr>
            <a:xfrm>
              <a:off x="3731985" y="2678926"/>
              <a:ext cx="1215357" cy="3231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b="1" dirty="0">
                  <a:latin typeface="+mj-ea"/>
                  <a:ea typeface="+mj-ea"/>
                </a:rPr>
                <a:t>设计</a:t>
              </a:r>
              <a:endParaRPr lang="en-US" altLang="zh-CN" sz="1500" b="1" dirty="0">
                <a:latin typeface="+mj-ea"/>
                <a:ea typeface="+mj-ea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FCB9F98-A642-407A-9844-7EC2B00898E1}"/>
                </a:ext>
              </a:extLst>
            </p:cNvPr>
            <p:cNvSpPr txBox="1"/>
            <p:nvPr/>
          </p:nvSpPr>
          <p:spPr>
            <a:xfrm>
              <a:off x="9787067" y="2678928"/>
              <a:ext cx="999847" cy="3231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b="1" dirty="0">
                  <a:latin typeface="+mj-ea"/>
                  <a:ea typeface="+mj-ea"/>
                </a:rPr>
                <a:t>运行</a:t>
              </a:r>
              <a:endParaRPr lang="en-US" altLang="zh-CN" sz="1500" b="1" dirty="0">
                <a:latin typeface="+mj-ea"/>
                <a:ea typeface="+mj-ea"/>
              </a:endParaRPr>
            </a:p>
          </p:txBody>
        </p:sp>
        <p:sp>
          <p:nvSpPr>
            <p:cNvPr id="9" name="箭头: 右 36">
              <a:extLst>
                <a:ext uri="{FF2B5EF4-FFF2-40B4-BE49-F238E27FC236}">
                  <a16:creationId xmlns:a16="http://schemas.microsoft.com/office/drawing/2014/main" id="{FC5DC6AB-6EF6-498F-B5D2-EEDE2C9A66CE}"/>
                </a:ext>
              </a:extLst>
            </p:cNvPr>
            <p:cNvSpPr/>
            <p:nvPr/>
          </p:nvSpPr>
          <p:spPr>
            <a:xfrm>
              <a:off x="1299533" y="2466641"/>
              <a:ext cx="10014353" cy="212288"/>
            </a:xfrm>
            <a:prstGeom prst="rightArrow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+mj-ea"/>
                <a:ea typeface="+mj-ea"/>
              </a:endParaRP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DD7FA39A-BB61-41D4-BB4C-44315F0C485B}"/>
                </a:ext>
              </a:extLst>
            </p:cNvPr>
            <p:cNvSpPr txBox="1"/>
            <p:nvPr/>
          </p:nvSpPr>
          <p:spPr>
            <a:xfrm>
              <a:off x="6379948" y="2678927"/>
              <a:ext cx="1215357" cy="3231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500" b="1" dirty="0">
                  <a:latin typeface="+mj-ea"/>
                  <a:ea typeface="+mj-ea"/>
                </a:rPr>
                <a:t>建造</a:t>
              </a:r>
              <a:endParaRPr lang="en-US" altLang="zh-CN" sz="1500" b="1" dirty="0">
                <a:latin typeface="+mj-ea"/>
                <a:ea typeface="+mj-ea"/>
              </a:endParaRPr>
            </a:p>
          </p:txBody>
        </p: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E98D42C4-91E1-4EE9-8D8B-812877082BFB}"/>
                </a:ext>
              </a:extLst>
            </p:cNvPr>
            <p:cNvCxnSpPr>
              <a:cxnSpLocks/>
              <a:stCxn id="6" idx="2"/>
              <a:endCxn id="7" idx="2"/>
            </p:cNvCxnSpPr>
            <p:nvPr/>
          </p:nvCxnSpPr>
          <p:spPr>
            <a:xfrm rot="5400000" flipH="1" flipV="1">
              <a:off x="3069558" y="1731989"/>
              <a:ext cx="3" cy="2540207"/>
            </a:xfrm>
            <a:prstGeom prst="curvedConnector3">
              <a:avLst>
                <a:gd name="adj1" fmla="val -76200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连接符: 曲线 11">
              <a:extLst>
                <a:ext uri="{FF2B5EF4-FFF2-40B4-BE49-F238E27FC236}">
                  <a16:creationId xmlns:a16="http://schemas.microsoft.com/office/drawing/2014/main" id="{CFFB3B96-4AFF-4B88-8440-23616CAA3087}"/>
                </a:ext>
              </a:extLst>
            </p:cNvPr>
            <p:cNvCxnSpPr>
              <a:stCxn id="6" idx="2"/>
              <a:endCxn id="10" idx="2"/>
            </p:cNvCxnSpPr>
            <p:nvPr/>
          </p:nvCxnSpPr>
          <p:spPr>
            <a:xfrm rot="5400000" flipH="1" flipV="1">
              <a:off x="4393541" y="408008"/>
              <a:ext cx="2" cy="5188170"/>
            </a:xfrm>
            <a:prstGeom prst="curvedConnector3">
              <a:avLst>
                <a:gd name="adj1" fmla="val -114300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A1189662-D352-4617-BE22-143D8F717E1C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5400000" flipH="1" flipV="1">
              <a:off x="6043223" y="-1241673"/>
              <a:ext cx="1" cy="8487534"/>
            </a:xfrm>
            <a:prstGeom prst="curvedConnector3">
              <a:avLst>
                <a:gd name="adj1" fmla="val -228600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曲线 13">
              <a:extLst>
                <a:ext uri="{FF2B5EF4-FFF2-40B4-BE49-F238E27FC236}">
                  <a16:creationId xmlns:a16="http://schemas.microsoft.com/office/drawing/2014/main" id="{653E8351-1151-4EBF-8B21-13F51ECB90FA}"/>
                </a:ext>
              </a:extLst>
            </p:cNvPr>
            <p:cNvCxnSpPr>
              <a:stCxn id="7" idx="2"/>
              <a:endCxn id="10" idx="2"/>
            </p:cNvCxnSpPr>
            <p:nvPr/>
          </p:nvCxnSpPr>
          <p:spPr>
            <a:xfrm rot="16200000" flipH="1">
              <a:off x="5663645" y="1678109"/>
              <a:ext cx="1" cy="2647963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曲线 14">
              <a:extLst>
                <a:ext uri="{FF2B5EF4-FFF2-40B4-BE49-F238E27FC236}">
                  <a16:creationId xmlns:a16="http://schemas.microsoft.com/office/drawing/2014/main" id="{B09C4C08-D920-410D-8F73-2234159BF8BB}"/>
                </a:ext>
              </a:extLst>
            </p:cNvPr>
            <p:cNvCxnSpPr>
              <a:stCxn id="7" idx="2"/>
              <a:endCxn id="8" idx="2"/>
            </p:cNvCxnSpPr>
            <p:nvPr/>
          </p:nvCxnSpPr>
          <p:spPr>
            <a:xfrm rot="16200000" flipH="1">
              <a:off x="7313326" y="28428"/>
              <a:ext cx="2" cy="5947327"/>
            </a:xfrm>
            <a:prstGeom prst="curvedConnector3">
              <a:avLst>
                <a:gd name="adj1" fmla="val 114301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符: 曲线 15">
              <a:extLst>
                <a:ext uri="{FF2B5EF4-FFF2-40B4-BE49-F238E27FC236}">
                  <a16:creationId xmlns:a16="http://schemas.microsoft.com/office/drawing/2014/main" id="{5EFF9A78-7662-4764-8187-810B4CF025A2}"/>
                </a:ext>
              </a:extLst>
            </p:cNvPr>
            <p:cNvCxnSpPr>
              <a:stCxn id="10" idx="2"/>
              <a:endCxn id="8" idx="2"/>
            </p:cNvCxnSpPr>
            <p:nvPr/>
          </p:nvCxnSpPr>
          <p:spPr>
            <a:xfrm rot="16200000" flipH="1">
              <a:off x="8637309" y="1352410"/>
              <a:ext cx="1" cy="3299364"/>
            </a:xfrm>
            <a:prstGeom prst="curved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2326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C37308-6EDD-4C4A-BD95-2011848F0578}"/>
              </a:ext>
            </a:extLst>
          </p:cNvPr>
          <p:cNvSpPr/>
          <p:nvPr/>
        </p:nvSpPr>
        <p:spPr>
          <a:xfrm>
            <a:off x="400197" y="1159984"/>
            <a:ext cx="11038115" cy="5036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集成的原则</a:t>
            </a:r>
            <a:endParaRPr lang="zh-CN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跨</a:t>
            </a:r>
            <a:r>
              <a:rPr lang="zh-CN" altLang="zh-CN" b="1" kern="100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职能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集成：</a:t>
            </a:r>
            <a:endParaRPr lang="en-US" altLang="zh-CN" b="1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对各职能（如进度、成本、质量、安全等）进行集成化管理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进行综合计划和综合控制。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跨</a:t>
            </a:r>
            <a:r>
              <a:rPr lang="zh-CN" altLang="zh-CN" b="1" kern="100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阶段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集成：</a:t>
            </a:r>
            <a:endParaRPr lang="en-US" altLang="zh-CN" b="1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横贯策划、实施和运维工作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综合考虑全寿命期最优化，而非阶段性最优。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如强调全寿命期成本、全过程质量。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</a:pPr>
            <a:r>
              <a:rPr lang="en-US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b="1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跨</a:t>
            </a:r>
            <a:r>
              <a:rPr lang="zh-CN" altLang="zh-CN" b="1" kern="100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主体</a:t>
            </a: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集成：</a:t>
            </a:r>
            <a:endParaRPr lang="en-US" altLang="zh-CN" b="1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多主体的责任界面统一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12001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某个阶段的多主体（如建造阶段的业主、咨询、承包商等）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12001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跨阶段的多主体（如设计单位、施工单位、运营单位）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不同主体受统一的目标约束，责任界面统一连续。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5B7175C-1E6A-44D5-9D49-3D7C3CCF883A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工程：全寿命期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096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AC3FE1-E2A8-4BB5-B3AD-7FD96BECF712}"/>
              </a:ext>
            </a:extLst>
          </p:cNvPr>
          <p:cNvSpPr/>
          <p:nvPr/>
        </p:nvSpPr>
        <p:spPr>
          <a:xfrm>
            <a:off x="357448" y="1118688"/>
            <a:ext cx="11471564" cy="5036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+mj-ea"/>
                <a:ea typeface="+mj-ea"/>
                <a:cs typeface="Times New Roman" panose="02020603050405020304" pitchFamily="18" charset="0"/>
              </a:rPr>
              <a:t>集成的要求</a:t>
            </a:r>
            <a:endParaRPr lang="zh-CN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工程技术系统的集成。工程技术系统的协调和统一以实现总体的整体和功能要求。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技术系统的整体功能性：技术系统能实现其整体性的功能要求；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系统内部子系统的协同：技术系统内部不同的专业或子系统能集成；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技术系统在过程实现中的统一：技术系统在策划、实施和运营维护工作中技术系统能形成统一。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流程的集成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将策划、设计、实施、运行维护的全过程作为整体统一管理，形成具有连续性、系统、集成化的管理系统。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组织的集成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组织集成主要涉及组织界面的集成，形成一体化的界面体系，前后一致，避免出现责任盲区、责任错位。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数据的集成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数据的集成是能完整挖掘出各阶段、各管理职能、各主体之间信息的内在联系，实现最优化决策、计划、实施和监督。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2E30E1B-6A7B-4BE5-ABEF-93D0B1581A0E}"/>
              </a:ext>
            </a:extLst>
          </p:cNvPr>
          <p:cNvSpPr txBox="1">
            <a:spLocks noChangeArrowheads="1"/>
          </p:cNvSpPr>
          <p:nvPr/>
        </p:nvSpPr>
        <p:spPr>
          <a:xfrm>
            <a:off x="1728944" y="458977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工程：全寿命期</a:t>
            </a:r>
          </a:p>
          <a:p>
            <a:endParaRPr lang="zh-CN" altLang="en-US" sz="33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82367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ED6DCDD-8BCC-4B31-AB82-E136F144DB90}"/>
              </a:ext>
            </a:extLst>
          </p:cNvPr>
          <p:cNvSpPr txBox="1">
            <a:spLocks noChangeArrowheads="1"/>
          </p:cNvSpPr>
          <p:nvPr/>
        </p:nvSpPr>
        <p:spPr>
          <a:xfrm>
            <a:off x="1699461" y="492100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工程管理：总体模型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59965C-DA17-4159-825A-21EEC0446CAB}"/>
              </a:ext>
            </a:extLst>
          </p:cNvPr>
          <p:cNvSpPr/>
          <p:nvPr/>
        </p:nvSpPr>
        <p:spPr>
          <a:xfrm>
            <a:off x="1927328" y="2342026"/>
            <a:ext cx="1792225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目标</a:t>
            </a:r>
            <a:r>
              <a:rPr lang="en-US" altLang="zh-CN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价值</a:t>
            </a:r>
            <a:endParaRPr lang="en-US" altLang="zh-CN" sz="2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5EBE09-D9CA-4236-8218-00BC08FBF47D}"/>
              </a:ext>
            </a:extLst>
          </p:cNvPr>
          <p:cNvSpPr/>
          <p:nvPr/>
        </p:nvSpPr>
        <p:spPr>
          <a:xfrm>
            <a:off x="5193268" y="2326482"/>
            <a:ext cx="2221992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交付物对象</a:t>
            </a:r>
            <a:endParaRPr lang="en-US" altLang="zh-CN" sz="2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E688B-3F09-4208-9A1B-CD36BF0CF69D}"/>
              </a:ext>
            </a:extLst>
          </p:cNvPr>
          <p:cNvSpPr/>
          <p:nvPr/>
        </p:nvSpPr>
        <p:spPr>
          <a:xfrm>
            <a:off x="5899751" y="3774869"/>
            <a:ext cx="952708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实施</a:t>
            </a:r>
            <a:endParaRPr lang="en-US" altLang="zh-CN" sz="2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8ADC0D3-A6C9-4050-AAFF-04F48FEAC95B}"/>
              </a:ext>
            </a:extLst>
          </p:cNvPr>
          <p:cNvCxnSpPr>
            <a:stCxn id="6" idx="2"/>
          </p:cNvCxnSpPr>
          <p:nvPr/>
        </p:nvCxnSpPr>
        <p:spPr>
          <a:xfrm flipH="1">
            <a:off x="5193268" y="2849702"/>
            <a:ext cx="1110996" cy="909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60D3FE8-1DDA-4574-A80E-5C4B0A9DA52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304264" y="2849702"/>
            <a:ext cx="71841" cy="925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38117DD-1AC3-4690-BED4-DB1EB456B40D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6304264" y="2849702"/>
            <a:ext cx="1346730" cy="943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5F461A2-DFEF-4981-B020-8BA69A130F5D}"/>
              </a:ext>
            </a:extLst>
          </p:cNvPr>
          <p:cNvCxnSpPr>
            <a:cxnSpLocks/>
          </p:cNvCxnSpPr>
          <p:nvPr/>
        </p:nvCxnSpPr>
        <p:spPr>
          <a:xfrm>
            <a:off x="7650994" y="4316206"/>
            <a:ext cx="0" cy="263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9079E39-3BFA-4673-8A22-ADFC15D80182}"/>
              </a:ext>
            </a:extLst>
          </p:cNvPr>
          <p:cNvCxnSpPr>
            <a:cxnSpLocks/>
          </p:cNvCxnSpPr>
          <p:nvPr/>
        </p:nvCxnSpPr>
        <p:spPr>
          <a:xfrm flipH="1" flipV="1">
            <a:off x="2823439" y="4533832"/>
            <a:ext cx="4827554" cy="50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EE09971-8AE9-4F91-AC7F-6AD179E9906E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823440" y="2865247"/>
            <a:ext cx="0" cy="1668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EA0753F-8E4B-4B76-85FC-193EEFD754A5}"/>
              </a:ext>
            </a:extLst>
          </p:cNvPr>
          <p:cNvSpPr/>
          <p:nvPr/>
        </p:nvSpPr>
        <p:spPr>
          <a:xfrm>
            <a:off x="7090352" y="3792985"/>
            <a:ext cx="1121284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运行</a:t>
            </a:r>
            <a:endParaRPr lang="en-US" altLang="zh-CN" sz="2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F4DD0B-237B-4582-AEB3-BBEAB81E738F}"/>
              </a:ext>
            </a:extLst>
          </p:cNvPr>
          <p:cNvSpPr/>
          <p:nvPr/>
        </p:nvSpPr>
        <p:spPr>
          <a:xfrm>
            <a:off x="4517958" y="3774869"/>
            <a:ext cx="1143901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策划</a:t>
            </a:r>
            <a:endParaRPr lang="en-US" altLang="zh-CN" sz="2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CC1A4B9-EE1A-4CFC-934C-CFB7820E694A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719552" y="2588092"/>
            <a:ext cx="1473716" cy="1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9550188-9E55-45AB-AAA2-86B8FB85D02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57923" y="4036479"/>
            <a:ext cx="241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65FEF03-8062-4180-B7EB-3D701A9C6E1D}"/>
              </a:ext>
            </a:extLst>
          </p:cNvPr>
          <p:cNvCxnSpPr>
            <a:cxnSpLocks/>
          </p:cNvCxnSpPr>
          <p:nvPr/>
        </p:nvCxnSpPr>
        <p:spPr>
          <a:xfrm>
            <a:off x="6848524" y="4057422"/>
            <a:ext cx="241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6362C3D-6EEE-4BA7-997A-3DE26337EB61}"/>
              </a:ext>
            </a:extLst>
          </p:cNvPr>
          <p:cNvSpPr/>
          <p:nvPr/>
        </p:nvSpPr>
        <p:spPr>
          <a:xfrm>
            <a:off x="2586024" y="5107468"/>
            <a:ext cx="1389696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运营方</a:t>
            </a:r>
            <a:endParaRPr lang="en-US" altLang="zh-CN" sz="2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E1D8830B-F40F-46CC-AF36-D7AEA40C42BC}"/>
              </a:ext>
            </a:extLst>
          </p:cNvPr>
          <p:cNvSpPr/>
          <p:nvPr/>
        </p:nvSpPr>
        <p:spPr>
          <a:xfrm>
            <a:off x="6586712" y="5177361"/>
            <a:ext cx="397868" cy="372380"/>
          </a:xfrm>
          <a:prstGeom prst="chevr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6FF7F8-362E-4218-A783-FDC5ACF0071E}"/>
              </a:ext>
            </a:extLst>
          </p:cNvPr>
          <p:cNvSpPr/>
          <p:nvPr/>
        </p:nvSpPr>
        <p:spPr>
          <a:xfrm>
            <a:off x="4682803" y="5101941"/>
            <a:ext cx="1700332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交付方</a:t>
            </a:r>
            <a:endParaRPr lang="en-US" altLang="zh-CN" sz="2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箭头: V 形 21">
            <a:extLst>
              <a:ext uri="{FF2B5EF4-FFF2-40B4-BE49-F238E27FC236}">
                <a16:creationId xmlns:a16="http://schemas.microsoft.com/office/drawing/2014/main" id="{80B08802-8378-43DE-80D7-4FA86E7FFCFA}"/>
              </a:ext>
            </a:extLst>
          </p:cNvPr>
          <p:cNvSpPr/>
          <p:nvPr/>
        </p:nvSpPr>
        <p:spPr>
          <a:xfrm>
            <a:off x="4129093" y="5200168"/>
            <a:ext cx="397868" cy="372380"/>
          </a:xfrm>
          <a:prstGeom prst="chevr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B01249-8152-46C0-8371-2EF172B3F396}"/>
              </a:ext>
            </a:extLst>
          </p:cNvPr>
          <p:cNvSpPr/>
          <p:nvPr/>
        </p:nvSpPr>
        <p:spPr>
          <a:xfrm>
            <a:off x="7188158" y="5101941"/>
            <a:ext cx="1023479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8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分包</a:t>
            </a:r>
            <a:endParaRPr lang="en-US" altLang="zh-CN" sz="2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7FAAC1F-EF09-4552-8F02-EB0DFE94017A}"/>
              </a:ext>
            </a:extLst>
          </p:cNvPr>
          <p:cNvSpPr/>
          <p:nvPr/>
        </p:nvSpPr>
        <p:spPr>
          <a:xfrm>
            <a:off x="2037680" y="1569800"/>
            <a:ext cx="1587535" cy="6487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、价值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43AAB63-C9CF-4E2B-8C93-D29ACF56719E}"/>
              </a:ext>
            </a:extLst>
          </p:cNvPr>
          <p:cNvSpPr/>
          <p:nvPr/>
        </p:nvSpPr>
        <p:spPr>
          <a:xfrm>
            <a:off x="5661859" y="1635193"/>
            <a:ext cx="1788091" cy="6487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、工程技术系统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767AFBC-1E44-4CEF-8778-0F5F22FF03C4}"/>
              </a:ext>
            </a:extLst>
          </p:cNvPr>
          <p:cNvSpPr/>
          <p:nvPr/>
        </p:nvSpPr>
        <p:spPr>
          <a:xfrm>
            <a:off x="8449530" y="3649357"/>
            <a:ext cx="1525242" cy="6487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、过程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DC71BF8-9AA0-453D-BE17-3D1271B74A16}"/>
              </a:ext>
            </a:extLst>
          </p:cNvPr>
          <p:cNvSpPr/>
          <p:nvPr/>
        </p:nvSpPr>
        <p:spPr>
          <a:xfrm>
            <a:off x="8538518" y="5036264"/>
            <a:ext cx="1525242" cy="6487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、组织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66B9F439-AC39-43F4-A68F-0CB604D0948F}"/>
              </a:ext>
            </a:extLst>
          </p:cNvPr>
          <p:cNvSpPr/>
          <p:nvPr/>
        </p:nvSpPr>
        <p:spPr>
          <a:xfrm>
            <a:off x="4129093" y="1728229"/>
            <a:ext cx="1332369" cy="41326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A1163972-9974-4854-AC67-834DFA9F99E1}"/>
              </a:ext>
            </a:extLst>
          </p:cNvPr>
          <p:cNvSpPr/>
          <p:nvPr/>
        </p:nvSpPr>
        <p:spPr>
          <a:xfrm rot="2300780">
            <a:off x="7385734" y="2408570"/>
            <a:ext cx="1963987" cy="41326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D9A4A00E-08CB-46D2-8E18-0F206CD82D06}"/>
              </a:ext>
            </a:extLst>
          </p:cNvPr>
          <p:cNvSpPr/>
          <p:nvPr/>
        </p:nvSpPr>
        <p:spPr>
          <a:xfrm rot="5400000">
            <a:off x="8923254" y="4468478"/>
            <a:ext cx="648733" cy="41326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456523-0155-3F42-A289-9F092B04D932}"/>
              </a:ext>
            </a:extLst>
          </p:cNvPr>
          <p:cNvSpPr txBox="1"/>
          <p:nvPr/>
        </p:nvSpPr>
        <p:spPr>
          <a:xfrm>
            <a:off x="669551" y="6124443"/>
            <a:ext cx="10190953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工程管理是指工程的策划、实施、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运营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等全寿命期所涉及生产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与管理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活动的组织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+mj-ea"/>
                <a:ea typeface="+mj-ea"/>
                <a:cs typeface="Times New Roman" panose="02020603050405020304" pitchFamily="18" charset="0"/>
              </a:rPr>
              <a:t>organizing</a:t>
            </a:r>
            <a:r>
              <a:rPr lang="zh-CN" altLang="en-US" kern="100" dirty="0"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zh-CN" kern="100" dirty="0"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129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C25D617-1D90-4230-A2DF-9BCE573FF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815045"/>
              </p:ext>
            </p:extLst>
          </p:nvPr>
        </p:nvGraphicFramePr>
        <p:xfrm>
          <a:off x="370113" y="1267944"/>
          <a:ext cx="11680372" cy="4837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4872">
                  <a:extLst>
                    <a:ext uri="{9D8B030D-6E8A-4147-A177-3AD203B41FA5}">
                      <a16:colId xmlns:a16="http://schemas.microsoft.com/office/drawing/2014/main" val="1861595674"/>
                    </a:ext>
                  </a:extLst>
                </a:gridCol>
                <a:gridCol w="4619357">
                  <a:extLst>
                    <a:ext uri="{9D8B030D-6E8A-4147-A177-3AD203B41FA5}">
                      <a16:colId xmlns:a16="http://schemas.microsoft.com/office/drawing/2014/main" val="2915106321"/>
                    </a:ext>
                  </a:extLst>
                </a:gridCol>
                <a:gridCol w="5606143">
                  <a:extLst>
                    <a:ext uri="{9D8B030D-6E8A-4147-A177-3AD203B41FA5}">
                      <a16:colId xmlns:a16="http://schemas.microsoft.com/office/drawing/2014/main" val="1472166957"/>
                    </a:ext>
                  </a:extLst>
                </a:gridCol>
              </a:tblGrid>
              <a:tr h="32237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+mj-ea"/>
                          <a:ea typeface="+mj-ea"/>
                        </a:rPr>
                        <a:t>运营方</a:t>
                      </a:r>
                      <a:r>
                        <a:rPr lang="en-US" sz="2800" kern="100" dirty="0"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sz="2800" kern="100" dirty="0">
                          <a:effectLst/>
                          <a:latin typeface="+mj-ea"/>
                          <a:ea typeface="+mj-ea"/>
                        </a:rPr>
                        <a:t>投资方</a:t>
                      </a:r>
                      <a:endParaRPr lang="zh-CN" sz="2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effectLst/>
                          <a:latin typeface="+mj-ea"/>
                          <a:ea typeface="+mj-ea"/>
                        </a:rPr>
                        <a:t>交付方</a:t>
                      </a:r>
                      <a:endParaRPr lang="zh-CN" sz="2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2132219"/>
                  </a:ext>
                </a:extLst>
              </a:tr>
              <a:tr h="23142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价值诉求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客户主要是在运营阶段，购买运营方的服务或产品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客户提出定制化要求，通过项目交付获得价值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8630894"/>
                  </a:ext>
                </a:extLst>
              </a:tr>
              <a:tr h="32237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核心业务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运营资产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获取与交付项目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0345016"/>
                  </a:ext>
                </a:extLst>
              </a:tr>
              <a:tr h="64475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企业层面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发起和采购某个项目来提供给用户某种服务和产品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交付给委托方项目以实现战略和运营目标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3708447"/>
                  </a:ext>
                </a:extLst>
              </a:tr>
              <a:tr h="39859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阶段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前期策划、项目实施、运营维护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营销、项目实施、售后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1591113"/>
                  </a:ext>
                </a:extLst>
              </a:tr>
              <a:tr h="62975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项目团队层面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业主的项目管理团队，主要针对项目实施阶段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主要针对项目实施，与营销与售后存在搭接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5096795"/>
                  </a:ext>
                </a:extLst>
              </a:tr>
              <a:tr h="64475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项目治理目的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保持项目团队和企业利益一致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满足委托方的要求，保持项目团队和企业的目标一致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2532055"/>
                  </a:ext>
                </a:extLst>
              </a:tr>
              <a:tr h="32237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例子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j-ea"/>
                          <a:ea typeface="+mj-ea"/>
                        </a:rPr>
                        <a:t>电力公司、医院、通讯运营商等</a:t>
                      </a:r>
                      <a:endParaRPr lang="zh-CN" sz="1800" kern="1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设计院、施工企业、</a:t>
                      </a:r>
                      <a:r>
                        <a:rPr lang="en-US" sz="1800" kern="100" dirty="0">
                          <a:effectLst/>
                          <a:latin typeface="+mj-ea"/>
                          <a:ea typeface="+mj-ea"/>
                        </a:rPr>
                        <a:t>IS</a:t>
                      </a:r>
                      <a:r>
                        <a:rPr lang="zh-CN" sz="1800" kern="100" dirty="0">
                          <a:effectLst/>
                          <a:latin typeface="+mj-ea"/>
                          <a:ea typeface="+mj-ea"/>
                        </a:rPr>
                        <a:t>供应商等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7598377"/>
                  </a:ext>
                </a:extLst>
              </a:tr>
            </a:tbl>
          </a:graphicData>
        </a:graphic>
      </p:graphicFrame>
      <p:sp>
        <p:nvSpPr>
          <p:cNvPr id="3" name="标题 1">
            <a:extLst>
              <a:ext uri="{FF2B5EF4-FFF2-40B4-BE49-F238E27FC236}">
                <a16:creationId xmlns:a16="http://schemas.microsoft.com/office/drawing/2014/main" id="{3FEA5DBA-BA6F-4809-946E-DC29EED3D91A}"/>
              </a:ext>
            </a:extLst>
          </p:cNvPr>
          <p:cNvSpPr txBox="1">
            <a:spLocks noChangeArrowheads="1"/>
          </p:cNvSpPr>
          <p:nvPr/>
        </p:nvSpPr>
        <p:spPr>
          <a:xfrm>
            <a:off x="1699461" y="492100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工程管理：组织</a:t>
            </a:r>
          </a:p>
        </p:txBody>
      </p:sp>
    </p:spTree>
    <p:extLst>
      <p:ext uri="{BB962C8B-B14F-4D97-AF65-F5344CB8AC3E}">
        <p14:creationId xmlns:p14="http://schemas.microsoft.com/office/powerpoint/2010/main" val="1175951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393EFA2-4B3C-4081-BE8C-A305965A5A3A}"/>
              </a:ext>
            </a:extLst>
          </p:cNvPr>
          <p:cNvSpPr/>
          <p:nvPr/>
        </p:nvSpPr>
        <p:spPr>
          <a:xfrm>
            <a:off x="1791997" y="1974133"/>
            <a:ext cx="1257413" cy="838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工程全寿命期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9877F32-5EB5-46F2-9FDA-DA418F9EEE2E}"/>
              </a:ext>
            </a:extLst>
          </p:cNvPr>
          <p:cNvCxnSpPr>
            <a:cxnSpLocks/>
            <a:stCxn id="2" idx="4"/>
            <a:endCxn id="6" idx="0"/>
          </p:cNvCxnSpPr>
          <p:nvPr/>
        </p:nvCxnSpPr>
        <p:spPr>
          <a:xfrm flipH="1">
            <a:off x="1150689" y="2812333"/>
            <a:ext cx="1270015" cy="538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F67AF5A-D5FD-472E-96A5-42C87B3C9E67}"/>
              </a:ext>
            </a:extLst>
          </p:cNvPr>
          <p:cNvCxnSpPr>
            <a:cxnSpLocks/>
            <a:stCxn id="2" idx="4"/>
            <a:endCxn id="7" idx="0"/>
          </p:cNvCxnSpPr>
          <p:nvPr/>
        </p:nvCxnSpPr>
        <p:spPr>
          <a:xfrm>
            <a:off x="2420704" y="2812333"/>
            <a:ext cx="0" cy="538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3C974A0-5E68-46C9-949E-DE9A4844A556}"/>
              </a:ext>
            </a:extLst>
          </p:cNvPr>
          <p:cNvCxnSpPr>
            <a:cxnSpLocks/>
            <a:stCxn id="2" idx="4"/>
            <a:endCxn id="8" idx="0"/>
          </p:cNvCxnSpPr>
          <p:nvPr/>
        </p:nvCxnSpPr>
        <p:spPr>
          <a:xfrm>
            <a:off x="2420704" y="2812333"/>
            <a:ext cx="1313278" cy="5507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8">
            <a:extLst>
              <a:ext uri="{FF2B5EF4-FFF2-40B4-BE49-F238E27FC236}">
                <a16:creationId xmlns:a16="http://schemas.microsoft.com/office/drawing/2014/main" id="{0AC23B3F-D9AE-465E-9083-6B278A334D0B}"/>
              </a:ext>
            </a:extLst>
          </p:cNvPr>
          <p:cNvSpPr txBox="1"/>
          <p:nvPr/>
        </p:nvSpPr>
        <p:spPr>
          <a:xfrm>
            <a:off x="521982" y="3350573"/>
            <a:ext cx="1257414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j-ea"/>
                <a:ea typeface="+mj-ea"/>
              </a:rPr>
              <a:t>策划</a:t>
            </a:r>
            <a:endParaRPr lang="en-US" altLang="zh-CN" sz="2000" b="1" dirty="0">
              <a:latin typeface="+mj-ea"/>
              <a:ea typeface="+mj-ea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E6CC57BB-D2B9-41AC-A791-CC28DAA733DB}"/>
              </a:ext>
            </a:extLst>
          </p:cNvPr>
          <p:cNvSpPr txBox="1"/>
          <p:nvPr/>
        </p:nvSpPr>
        <p:spPr>
          <a:xfrm>
            <a:off x="1806828" y="3350573"/>
            <a:ext cx="1227752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j-ea"/>
                <a:ea typeface="+mj-ea"/>
              </a:rPr>
              <a:t>实施</a:t>
            </a:r>
            <a:endParaRPr lang="en-US" altLang="zh-CN" sz="2000" b="1" dirty="0">
              <a:latin typeface="+mj-ea"/>
              <a:ea typeface="+mj-ea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ED0454-6F62-4994-84D7-2333F30424FF}"/>
              </a:ext>
            </a:extLst>
          </p:cNvPr>
          <p:cNvSpPr txBox="1"/>
          <p:nvPr/>
        </p:nvSpPr>
        <p:spPr>
          <a:xfrm>
            <a:off x="3105275" y="3363079"/>
            <a:ext cx="1257413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j-ea"/>
                <a:ea typeface="+mj-ea"/>
              </a:rPr>
              <a:t>运行</a:t>
            </a:r>
            <a:endParaRPr lang="en-US" altLang="zh-CN" sz="2000" b="1" dirty="0">
              <a:latin typeface="+mj-ea"/>
              <a:ea typeface="+mj-ea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BFD2445-830D-431A-9A65-7BE66F21E89B}"/>
              </a:ext>
            </a:extLst>
          </p:cNvPr>
          <p:cNvSpPr txBox="1">
            <a:spLocks/>
          </p:cNvSpPr>
          <p:nvPr/>
        </p:nvSpPr>
        <p:spPr>
          <a:xfrm>
            <a:off x="4895083" y="2959906"/>
            <a:ext cx="7019925" cy="152896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+mj-ea"/>
                <a:ea typeface="+mj-ea"/>
              </a:rPr>
              <a:t>企业层面的主要工作</a:t>
            </a:r>
            <a:endParaRPr lang="en-SG" sz="1800" b="1" dirty="0">
              <a:latin typeface="+mj-ea"/>
              <a:ea typeface="+mj-ea"/>
            </a:endParaRPr>
          </a:p>
          <a:p>
            <a:r>
              <a:rPr lang="zh-CN" altLang="en-US" sz="1800" b="1" u="sng" dirty="0">
                <a:solidFill>
                  <a:srgbClr val="0070C0"/>
                </a:solidFill>
                <a:latin typeface="+mj-ea"/>
                <a:ea typeface="+mj-ea"/>
              </a:rPr>
              <a:t>策划</a:t>
            </a:r>
            <a:r>
              <a:rPr lang="zh-CN" altLang="en-US" sz="1800" dirty="0">
                <a:latin typeface="+mj-ea"/>
                <a:ea typeface="+mj-ea"/>
              </a:rPr>
              <a:t>：由于企业运营</a:t>
            </a:r>
            <a:r>
              <a:rPr lang="en-US" altLang="zh-CN" sz="1800" dirty="0">
                <a:latin typeface="+mj-ea"/>
                <a:ea typeface="+mj-ea"/>
              </a:rPr>
              <a:t>/</a:t>
            </a:r>
            <a:r>
              <a:rPr lang="zh-CN" altLang="en-US" sz="1800" dirty="0">
                <a:latin typeface="+mj-ea"/>
                <a:ea typeface="+mj-ea"/>
              </a:rPr>
              <a:t>战略需求提出项目需求</a:t>
            </a:r>
            <a:endParaRPr lang="en-US" altLang="zh-CN" sz="1800" dirty="0">
              <a:latin typeface="+mj-ea"/>
              <a:ea typeface="+mj-ea"/>
            </a:endParaRPr>
          </a:p>
          <a:p>
            <a:r>
              <a:rPr lang="zh-CN" altLang="en-US" sz="1800" b="1" u="sng" dirty="0">
                <a:solidFill>
                  <a:srgbClr val="0070C0"/>
                </a:solidFill>
                <a:latin typeface="+mj-ea"/>
                <a:ea typeface="+mj-ea"/>
              </a:rPr>
              <a:t>实施</a:t>
            </a:r>
            <a:r>
              <a:rPr lang="zh-CN" altLang="en-US" sz="1800" dirty="0">
                <a:latin typeface="+mj-ea"/>
                <a:ea typeface="+mj-ea"/>
              </a:rPr>
              <a:t>：项目建设不是核心业务</a:t>
            </a:r>
            <a:endParaRPr lang="en-US" altLang="zh-CN" sz="1800" dirty="0">
              <a:latin typeface="+mj-ea"/>
              <a:ea typeface="+mj-ea"/>
            </a:endParaRPr>
          </a:p>
          <a:p>
            <a:r>
              <a:rPr lang="zh-CN" altLang="en-US" sz="1800" b="1" u="sng" dirty="0">
                <a:solidFill>
                  <a:srgbClr val="0070C0"/>
                </a:solidFill>
                <a:latin typeface="+mj-ea"/>
                <a:ea typeface="+mj-ea"/>
              </a:rPr>
              <a:t>运行</a:t>
            </a:r>
            <a:r>
              <a:rPr lang="zh-CN" altLang="en-US" sz="1800" dirty="0">
                <a:latin typeface="+mj-ea"/>
                <a:ea typeface="+mj-ea"/>
              </a:rPr>
              <a:t>：运行是重点（如提供医疗服务）</a:t>
            </a:r>
            <a:endParaRPr lang="en-US" altLang="zh-CN" sz="1800" dirty="0">
              <a:latin typeface="+mj-ea"/>
              <a:ea typeface="+mj-ea"/>
            </a:endParaRPr>
          </a:p>
          <a:p>
            <a:pPr marL="914400" lvl="1" indent="-514350">
              <a:buFont typeface="+mj-lt"/>
              <a:buAutoNum type="arabicPeriod"/>
            </a:pPr>
            <a:endParaRPr lang="en-SG" altLang="zh-CN" sz="1800" dirty="0">
              <a:latin typeface="+mj-ea"/>
              <a:ea typeface="+mj-ea"/>
            </a:endParaRPr>
          </a:p>
          <a:p>
            <a:endParaRPr lang="en-US" altLang="zh-CN" sz="1800" dirty="0">
              <a:latin typeface="+mj-ea"/>
              <a:ea typeface="+mj-ea"/>
            </a:endParaRPr>
          </a:p>
          <a:p>
            <a:endParaRPr lang="en-US" altLang="zh-CN" sz="1800" dirty="0">
              <a:latin typeface="+mj-ea"/>
              <a:ea typeface="+mj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0A035D-E1E5-4689-AF8F-E2858AE705CF}"/>
              </a:ext>
            </a:extLst>
          </p:cNvPr>
          <p:cNvSpPr txBox="1"/>
          <p:nvPr/>
        </p:nvSpPr>
        <p:spPr>
          <a:xfrm>
            <a:off x="4895083" y="1974133"/>
            <a:ext cx="7019924" cy="685391"/>
          </a:xfrm>
          <a:prstGeom prst="rect">
            <a:avLst/>
          </a:prstGeom>
          <a:solidFill>
            <a:srgbClr val="9BBB59">
              <a:alpha val="83000"/>
            </a:srgbClr>
          </a:solidFill>
          <a:ln>
            <a:noFill/>
          </a:ln>
        </p:spPr>
        <p:txBody>
          <a:bodyPr wrap="square" lIns="18000" tIns="10800" rIns="18000" bIns="10800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3200" b="1" dirty="0">
                <a:latin typeface="+mj-ea"/>
                <a:ea typeface="+mj-ea"/>
                <a:sym typeface="+mn-ea"/>
              </a:rPr>
              <a:t>运营企业：</a:t>
            </a:r>
            <a:r>
              <a:rPr lang="zh-CN" altLang="en-US" sz="3200" dirty="0">
                <a:latin typeface="+mj-ea"/>
                <a:ea typeface="+mj-ea"/>
                <a:sym typeface="+mn-ea"/>
              </a:rPr>
              <a:t>地铁公司、医院、学校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3E9765-5303-4AFF-A4EC-B612F4D033E6}"/>
              </a:ext>
            </a:extLst>
          </p:cNvPr>
          <p:cNvSpPr txBox="1"/>
          <p:nvPr/>
        </p:nvSpPr>
        <p:spPr>
          <a:xfrm>
            <a:off x="521982" y="4051911"/>
            <a:ext cx="4235076" cy="685391"/>
          </a:xfrm>
          <a:prstGeom prst="rect">
            <a:avLst/>
          </a:prstGeom>
          <a:noFill/>
          <a:ln>
            <a:noFill/>
          </a:ln>
        </p:spPr>
        <p:txBody>
          <a:bodyPr wrap="square" lIns="18000" tIns="10800" rIns="18000" bIns="10800" rtlCol="0">
            <a:spAutoFit/>
          </a:bodyPr>
          <a:lstStyle/>
          <a:p>
            <a:pPr marL="0" lvl="1" algn="ctr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核心业务：“运营资产”</a:t>
            </a:r>
            <a:endParaRPr lang="zh-CN" altLang="en-US" sz="3200" b="1" dirty="0">
              <a:solidFill>
                <a:srgbClr val="FF0000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D618CB79-CF0F-437D-854B-0CB0D906E1BB}"/>
              </a:ext>
            </a:extLst>
          </p:cNvPr>
          <p:cNvSpPr txBox="1">
            <a:spLocks noChangeArrowheads="1"/>
          </p:cNvSpPr>
          <p:nvPr/>
        </p:nvSpPr>
        <p:spPr>
          <a:xfrm>
            <a:off x="1699461" y="492100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工程管理：组织</a:t>
            </a:r>
          </a:p>
        </p:txBody>
      </p:sp>
    </p:spTree>
    <p:extLst>
      <p:ext uri="{BB962C8B-B14F-4D97-AF65-F5344CB8AC3E}">
        <p14:creationId xmlns:p14="http://schemas.microsoft.com/office/powerpoint/2010/main" val="2190027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36581E7-D6DF-4E7C-B81F-92881F960FC2}"/>
              </a:ext>
            </a:extLst>
          </p:cNvPr>
          <p:cNvSpPr txBox="1">
            <a:spLocks/>
          </p:cNvSpPr>
          <p:nvPr/>
        </p:nvSpPr>
        <p:spPr>
          <a:xfrm>
            <a:off x="4033898" y="2728455"/>
            <a:ext cx="8020017" cy="17291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zh-CN" altLang="en-US" sz="1800" b="1" dirty="0">
                <a:latin typeface="+mj-ea"/>
                <a:ea typeface="+mj-ea"/>
              </a:rPr>
              <a:t>项目管理体系设计</a:t>
            </a:r>
            <a:endParaRPr lang="en-SG" altLang="zh-CN" sz="1800" b="1" dirty="0">
              <a:latin typeface="+mj-ea"/>
              <a:ea typeface="+mj-ea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1800" b="1" u="sng" dirty="0">
                <a:solidFill>
                  <a:srgbClr val="0070C0"/>
                </a:solidFill>
                <a:latin typeface="+mj-ea"/>
                <a:ea typeface="+mj-ea"/>
              </a:rPr>
              <a:t>营销</a:t>
            </a:r>
            <a:r>
              <a:rPr lang="zh-CN" altLang="en-US" sz="1800" dirty="0">
                <a:latin typeface="+mj-ea"/>
                <a:ea typeface="+mj-ea"/>
              </a:rPr>
              <a:t>：线索和机会识别，通过投标等方式获取项目</a:t>
            </a:r>
            <a:endParaRPr lang="en-SG" altLang="zh-CN" sz="1800" dirty="0">
              <a:latin typeface="+mj-ea"/>
              <a:ea typeface="+mj-ea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1800" b="1" u="sng" dirty="0">
                <a:solidFill>
                  <a:srgbClr val="0070C0"/>
                </a:solidFill>
                <a:latin typeface="+mj-ea"/>
                <a:ea typeface="+mj-ea"/>
              </a:rPr>
              <a:t>交付</a:t>
            </a:r>
            <a:r>
              <a:rPr lang="zh-CN" altLang="en-US" sz="1800" dirty="0">
                <a:latin typeface="+mj-ea"/>
                <a:ea typeface="+mj-ea"/>
              </a:rPr>
              <a:t>：依据合同，组织资源以交付项目</a:t>
            </a:r>
            <a:endParaRPr lang="en-US" altLang="zh-CN" sz="1800" dirty="0">
              <a:latin typeface="+mj-ea"/>
              <a:ea typeface="+mj-ea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1800" b="1" u="sng" dirty="0">
                <a:solidFill>
                  <a:srgbClr val="0070C0"/>
                </a:solidFill>
                <a:latin typeface="+mj-ea"/>
                <a:ea typeface="+mj-ea"/>
              </a:rPr>
              <a:t>售后</a:t>
            </a:r>
            <a:r>
              <a:rPr lang="zh-CN" altLang="en-US" sz="1800" dirty="0">
                <a:latin typeface="+mj-ea"/>
                <a:ea typeface="+mj-ea"/>
              </a:rPr>
              <a:t>：承担维保等服务</a:t>
            </a:r>
            <a:endParaRPr lang="en-US" altLang="zh-CN" sz="1800" dirty="0"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41BB44-B4B2-43C3-9E17-08DE7A8BCC54}"/>
              </a:ext>
            </a:extLst>
          </p:cNvPr>
          <p:cNvSpPr txBox="1"/>
          <p:nvPr/>
        </p:nvSpPr>
        <p:spPr>
          <a:xfrm>
            <a:off x="-456099" y="4022205"/>
            <a:ext cx="5305251" cy="685391"/>
          </a:xfrm>
          <a:prstGeom prst="rect">
            <a:avLst/>
          </a:prstGeom>
          <a:noFill/>
          <a:ln>
            <a:noFill/>
          </a:ln>
        </p:spPr>
        <p:txBody>
          <a:bodyPr wrap="square" lIns="18000" tIns="10800" rIns="18000" bIns="10800" rtlCol="0">
            <a:spAutoFit/>
          </a:bodyPr>
          <a:lstStyle/>
          <a:p>
            <a:pPr marL="0" lvl="1" algn="ctr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核心业务：“做项目”</a:t>
            </a:r>
            <a:endParaRPr lang="zh-CN" altLang="en-US" sz="3200" b="1" dirty="0">
              <a:solidFill>
                <a:srgbClr val="FF0000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D79A2B-AE1A-493B-8E9F-CF134B2591B4}"/>
              </a:ext>
            </a:extLst>
          </p:cNvPr>
          <p:cNvSpPr txBox="1"/>
          <p:nvPr/>
        </p:nvSpPr>
        <p:spPr>
          <a:xfrm>
            <a:off x="4041692" y="1893756"/>
            <a:ext cx="8012223" cy="685391"/>
          </a:xfrm>
          <a:prstGeom prst="rect">
            <a:avLst/>
          </a:prstGeom>
          <a:solidFill>
            <a:srgbClr val="9BBB59">
              <a:alpha val="83000"/>
            </a:srgbClr>
          </a:solidFill>
          <a:ln>
            <a:noFill/>
          </a:ln>
        </p:spPr>
        <p:txBody>
          <a:bodyPr wrap="square" lIns="18000" tIns="10800" rIns="18000" bIns="10800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3200" b="1" dirty="0">
                <a:latin typeface="+mj-ea"/>
                <a:ea typeface="+mj-ea"/>
                <a:sym typeface="+mn-ea"/>
              </a:rPr>
              <a:t>交付企业：</a:t>
            </a:r>
            <a:r>
              <a:rPr lang="zh-CN" altLang="en-US" sz="3200" dirty="0">
                <a:latin typeface="+mj-ea"/>
                <a:ea typeface="+mj-ea"/>
                <a:sym typeface="+mn-ea"/>
              </a:rPr>
              <a:t>施工企业、设计院、</a:t>
            </a:r>
            <a:r>
              <a:rPr lang="en-US" altLang="zh-CN" sz="3200" dirty="0">
                <a:latin typeface="+mj-ea"/>
                <a:ea typeface="+mj-ea"/>
                <a:sym typeface="+mn-ea"/>
              </a:rPr>
              <a:t>IT</a:t>
            </a:r>
            <a:r>
              <a:rPr lang="zh-CN" altLang="en-US" sz="3200" dirty="0">
                <a:latin typeface="+mj-ea"/>
                <a:ea typeface="+mj-ea"/>
                <a:sym typeface="+mn-ea"/>
              </a:rPr>
              <a:t>企业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F5E84E8-E70C-4081-B32A-1772BE09C7E1}"/>
              </a:ext>
            </a:extLst>
          </p:cNvPr>
          <p:cNvSpPr/>
          <p:nvPr/>
        </p:nvSpPr>
        <p:spPr>
          <a:xfrm>
            <a:off x="1400306" y="2131791"/>
            <a:ext cx="1257413" cy="8382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项目全寿命期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04682E8-784D-4A83-83DF-6C105374D92D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758998" y="2969991"/>
            <a:ext cx="1270015" cy="538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D74F5C5-08B2-41D1-A1AC-AA80204CC22A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029013" y="2969991"/>
            <a:ext cx="0" cy="538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6974393-AE41-4F74-95D8-9D4296A7FC5F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>
            <a:off x="2029013" y="2969991"/>
            <a:ext cx="1313278" cy="5507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8">
            <a:extLst>
              <a:ext uri="{FF2B5EF4-FFF2-40B4-BE49-F238E27FC236}">
                <a16:creationId xmlns:a16="http://schemas.microsoft.com/office/drawing/2014/main" id="{60E69D15-7033-4B13-A16E-B680114166EE}"/>
              </a:ext>
            </a:extLst>
          </p:cNvPr>
          <p:cNvSpPr txBox="1"/>
          <p:nvPr/>
        </p:nvSpPr>
        <p:spPr>
          <a:xfrm>
            <a:off x="130291" y="3508231"/>
            <a:ext cx="1257414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j-ea"/>
                <a:ea typeface="+mj-ea"/>
              </a:rPr>
              <a:t>营销</a:t>
            </a:r>
            <a:endParaRPr lang="en-US" altLang="zh-CN" sz="2000" b="1" dirty="0">
              <a:latin typeface="+mj-ea"/>
              <a:ea typeface="+mj-ea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18BFA83-ABC9-45E3-BD5E-819908115E36}"/>
              </a:ext>
            </a:extLst>
          </p:cNvPr>
          <p:cNvSpPr txBox="1"/>
          <p:nvPr/>
        </p:nvSpPr>
        <p:spPr>
          <a:xfrm>
            <a:off x="1415137" y="3508231"/>
            <a:ext cx="1227752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j-ea"/>
                <a:ea typeface="+mj-ea"/>
              </a:rPr>
              <a:t>交付</a:t>
            </a:r>
            <a:endParaRPr lang="en-US" altLang="zh-CN" sz="2000" b="1" dirty="0">
              <a:latin typeface="+mj-ea"/>
              <a:ea typeface="+mj-ea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BF3BCED9-C26E-47C8-B777-8E806CDA785A}"/>
              </a:ext>
            </a:extLst>
          </p:cNvPr>
          <p:cNvSpPr txBox="1"/>
          <p:nvPr/>
        </p:nvSpPr>
        <p:spPr>
          <a:xfrm>
            <a:off x="2713584" y="3520737"/>
            <a:ext cx="1257413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j-ea"/>
                <a:ea typeface="+mj-ea"/>
              </a:rPr>
              <a:t>售后</a:t>
            </a:r>
            <a:endParaRPr lang="en-US" altLang="zh-CN" sz="2000" b="1" dirty="0">
              <a:latin typeface="+mj-ea"/>
              <a:ea typeface="+mj-ea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544332A-25BA-4B67-AC87-8F5A6566CD7D}"/>
              </a:ext>
            </a:extLst>
          </p:cNvPr>
          <p:cNvSpPr txBox="1">
            <a:spLocks noChangeArrowheads="1"/>
          </p:cNvSpPr>
          <p:nvPr/>
        </p:nvSpPr>
        <p:spPr>
          <a:xfrm>
            <a:off x="1699461" y="492100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工程管理：组织</a:t>
            </a:r>
          </a:p>
        </p:txBody>
      </p:sp>
    </p:spTree>
    <p:extLst>
      <p:ext uri="{BB962C8B-B14F-4D97-AF65-F5344CB8AC3E}">
        <p14:creationId xmlns:p14="http://schemas.microsoft.com/office/powerpoint/2010/main" val="4164295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9EC837EF-A9E1-49D9-97DD-817698B85D3C}"/>
              </a:ext>
            </a:extLst>
          </p:cNvPr>
          <p:cNvSpPr/>
          <p:nvPr/>
        </p:nvSpPr>
        <p:spPr>
          <a:xfrm>
            <a:off x="2124673" y="1401119"/>
            <a:ext cx="1174573" cy="50354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运营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CFE4DE8-B5C8-4AE5-AF06-FCF1B6C912F5}"/>
              </a:ext>
            </a:extLst>
          </p:cNvPr>
          <p:cNvCxnSpPr>
            <a:cxnSpLocks/>
            <a:stCxn id="3" idx="4"/>
            <a:endCxn id="7" idx="0"/>
          </p:cNvCxnSpPr>
          <p:nvPr/>
        </p:nvCxnSpPr>
        <p:spPr>
          <a:xfrm flipH="1">
            <a:off x="1383898" y="1904665"/>
            <a:ext cx="1328062" cy="339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1DF0B39-2366-4FF2-81FD-C8171C96DB47}"/>
              </a:ext>
            </a:extLst>
          </p:cNvPr>
          <p:cNvCxnSpPr>
            <a:cxnSpLocks/>
            <a:stCxn id="3" idx="4"/>
            <a:endCxn id="8" idx="0"/>
          </p:cNvCxnSpPr>
          <p:nvPr/>
        </p:nvCxnSpPr>
        <p:spPr>
          <a:xfrm flipH="1">
            <a:off x="2701292" y="1904665"/>
            <a:ext cx="10668" cy="339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215000D-03E1-4F5A-A953-82E6DE69C17B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>
            <a:off x="2711960" y="1904665"/>
            <a:ext cx="1327952" cy="3423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>
            <a:extLst>
              <a:ext uri="{FF2B5EF4-FFF2-40B4-BE49-F238E27FC236}">
                <a16:creationId xmlns:a16="http://schemas.microsoft.com/office/drawing/2014/main" id="{E4AC8D43-C292-4B65-B53C-7F305F73E397}"/>
              </a:ext>
            </a:extLst>
          </p:cNvPr>
          <p:cNvSpPr txBox="1"/>
          <p:nvPr/>
        </p:nvSpPr>
        <p:spPr>
          <a:xfrm>
            <a:off x="777886" y="2243693"/>
            <a:ext cx="1212023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n-ea"/>
              </a:rPr>
              <a:t>策划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3CD2A2-7F7D-4D6C-AA34-22E10F44DB4E}"/>
              </a:ext>
            </a:extLst>
          </p:cNvPr>
          <p:cNvSpPr txBox="1"/>
          <p:nvPr/>
        </p:nvSpPr>
        <p:spPr>
          <a:xfrm>
            <a:off x="2124673" y="2243693"/>
            <a:ext cx="1153238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n-ea"/>
              </a:rPr>
              <a:t>实施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1CABA7-64A1-4CF8-A1E9-757A1EC3FE16}"/>
              </a:ext>
            </a:extLst>
          </p:cNvPr>
          <p:cNvSpPr txBox="1"/>
          <p:nvPr/>
        </p:nvSpPr>
        <p:spPr>
          <a:xfrm>
            <a:off x="3423343" y="2247064"/>
            <a:ext cx="1233138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+mn-ea"/>
              </a:rPr>
              <a:t>运行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2A421A1-ED94-43EF-B5A9-71F32397D330}"/>
              </a:ext>
            </a:extLst>
          </p:cNvPr>
          <p:cNvSpPr/>
          <p:nvPr/>
        </p:nvSpPr>
        <p:spPr>
          <a:xfrm>
            <a:off x="1743298" y="3319730"/>
            <a:ext cx="1930670" cy="62664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总承包商</a:t>
            </a:r>
          </a:p>
        </p:txBody>
      </p:sp>
      <p:sp>
        <p:nvSpPr>
          <p:cNvPr id="11" name="上箭头 2">
            <a:extLst>
              <a:ext uri="{FF2B5EF4-FFF2-40B4-BE49-F238E27FC236}">
                <a16:creationId xmlns:a16="http://schemas.microsoft.com/office/drawing/2014/main" id="{34932AE4-8B90-45E0-85E5-CA3D4E43E6D1}"/>
              </a:ext>
            </a:extLst>
          </p:cNvPr>
          <p:cNvSpPr/>
          <p:nvPr/>
        </p:nvSpPr>
        <p:spPr>
          <a:xfrm>
            <a:off x="2445251" y="2677601"/>
            <a:ext cx="533418" cy="516862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3F6959-A02F-4CBF-90F2-8CDFBE250633}"/>
              </a:ext>
            </a:extLst>
          </p:cNvPr>
          <p:cNvSpPr txBox="1">
            <a:spLocks/>
          </p:cNvSpPr>
          <p:nvPr/>
        </p:nvSpPr>
        <p:spPr>
          <a:xfrm>
            <a:off x="743422" y="5163148"/>
            <a:ext cx="4025339" cy="55807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797" indent="-342797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727" indent="-285664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400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+mn-ea"/>
              </a:rPr>
              <a:t>参与某一个或多个环节</a:t>
            </a:r>
            <a:endParaRPr lang="en-US" altLang="zh-CN" sz="1800" dirty="0">
              <a:latin typeface="+mn-ea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6A05381-6EAE-4854-8318-3AD9FE18654F}"/>
              </a:ext>
            </a:extLst>
          </p:cNvPr>
          <p:cNvSpPr/>
          <p:nvPr/>
        </p:nvSpPr>
        <p:spPr>
          <a:xfrm>
            <a:off x="344053" y="4123651"/>
            <a:ext cx="1552480" cy="521542"/>
          </a:xfrm>
          <a:prstGeom prst="ellipse">
            <a:avLst/>
          </a:prstGeom>
          <a:ln>
            <a:solidFill>
              <a:srgbClr val="FFD78D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设计单位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1D5D3EE-95E3-4370-BBDE-741A7AA9AE8F}"/>
              </a:ext>
            </a:extLst>
          </p:cNvPr>
          <p:cNvSpPr/>
          <p:nvPr/>
        </p:nvSpPr>
        <p:spPr>
          <a:xfrm>
            <a:off x="1932393" y="4123651"/>
            <a:ext cx="1552480" cy="521542"/>
          </a:xfrm>
          <a:prstGeom prst="ellipse">
            <a:avLst/>
          </a:prstGeom>
          <a:ln>
            <a:solidFill>
              <a:srgbClr val="FFD78D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分包商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ED47EFE-A803-4EDA-9156-DE931094A791}"/>
              </a:ext>
            </a:extLst>
          </p:cNvPr>
          <p:cNvSpPr/>
          <p:nvPr/>
        </p:nvSpPr>
        <p:spPr>
          <a:xfrm>
            <a:off x="3520733" y="4123651"/>
            <a:ext cx="1552480" cy="521542"/>
          </a:xfrm>
          <a:prstGeom prst="ellipse">
            <a:avLst/>
          </a:prstGeom>
          <a:ln>
            <a:solidFill>
              <a:srgbClr val="FFD89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供应商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9FF1620-6156-4F6B-8F95-728444101FA5}"/>
              </a:ext>
            </a:extLst>
          </p:cNvPr>
          <p:cNvSpPr/>
          <p:nvPr/>
        </p:nvSpPr>
        <p:spPr bwMode="auto">
          <a:xfrm>
            <a:off x="151700" y="3252448"/>
            <a:ext cx="5113866" cy="1849317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noFill/>
              <a:latin typeface="+mn-ea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597DC2A-8D9B-471F-BC74-20C4B3334ABE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 flipH="1">
            <a:off x="1120293" y="3946376"/>
            <a:ext cx="1588340" cy="17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1D53374-478A-426D-AD75-A19DEA888B29}"/>
              </a:ext>
            </a:extLst>
          </p:cNvPr>
          <p:cNvCxnSpPr>
            <a:stCxn id="10" idx="4"/>
            <a:endCxn id="14" idx="0"/>
          </p:cNvCxnSpPr>
          <p:nvPr/>
        </p:nvCxnSpPr>
        <p:spPr>
          <a:xfrm>
            <a:off x="2708633" y="3946376"/>
            <a:ext cx="0" cy="17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0BC2344-ABE0-412E-B878-508EFBE7C00E}"/>
              </a:ext>
            </a:extLst>
          </p:cNvPr>
          <p:cNvCxnSpPr>
            <a:stCxn id="10" idx="4"/>
            <a:endCxn id="15" idx="0"/>
          </p:cNvCxnSpPr>
          <p:nvPr/>
        </p:nvCxnSpPr>
        <p:spPr>
          <a:xfrm>
            <a:off x="2708633" y="3946376"/>
            <a:ext cx="1588340" cy="17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6949649-99B5-47E5-8A51-ED7BAD1E74F7}"/>
              </a:ext>
            </a:extLst>
          </p:cNvPr>
          <p:cNvSpPr/>
          <p:nvPr/>
        </p:nvSpPr>
        <p:spPr>
          <a:xfrm>
            <a:off x="3954570" y="369059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+mn-ea"/>
              </a:rPr>
              <a:t>交付方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4286D75E-21C3-430D-B80A-2BDD308F93FF}"/>
              </a:ext>
            </a:extLst>
          </p:cNvPr>
          <p:cNvSpPr txBox="1">
            <a:spLocks noChangeArrowheads="1"/>
          </p:cNvSpPr>
          <p:nvPr/>
        </p:nvSpPr>
        <p:spPr>
          <a:xfrm>
            <a:off x="1699461" y="492100"/>
            <a:ext cx="6524139" cy="486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300" dirty="0">
                <a:latin typeface="+mn-ea"/>
                <a:ea typeface="+mn-ea"/>
              </a:rPr>
              <a:t>工程管理：组织</a:t>
            </a: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0BA012AC-F35D-45AD-B720-B3F66F0B4442}"/>
              </a:ext>
            </a:extLst>
          </p:cNvPr>
          <p:cNvSpPr txBox="1">
            <a:spLocks/>
          </p:cNvSpPr>
          <p:nvPr/>
        </p:nvSpPr>
        <p:spPr>
          <a:xfrm>
            <a:off x="5475927" y="3539168"/>
            <a:ext cx="6336991" cy="20934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latin typeface="+mj-ea"/>
                <a:ea typeface="+mj-ea"/>
              </a:rPr>
              <a:t>运营方、交付方、分包三者之间的</a:t>
            </a: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集成关系</a:t>
            </a:r>
            <a:endParaRPr lang="en-US" altLang="zh-CN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algn="just"/>
            <a:r>
              <a:rPr lang="zh-CN" altLang="en-US" sz="2000" dirty="0">
                <a:latin typeface="+mj-ea"/>
                <a:ea typeface="+mj-ea"/>
              </a:rPr>
              <a:t>充分识别和满足业主的需求</a:t>
            </a:r>
            <a:endParaRPr lang="en-US" altLang="zh-CN" sz="2000" dirty="0">
              <a:latin typeface="+mj-ea"/>
              <a:ea typeface="+mj-ea"/>
            </a:endParaRPr>
          </a:p>
          <a:p>
            <a:pPr algn="just"/>
            <a:r>
              <a:rPr lang="zh-CN" altLang="en-US" sz="2000" dirty="0">
                <a:latin typeface="+mj-ea"/>
                <a:ea typeface="+mj-ea"/>
              </a:rPr>
              <a:t>站在业主的角度设计解决方案</a:t>
            </a:r>
            <a:endParaRPr lang="en-US" altLang="zh-CN" sz="2000" dirty="0">
              <a:latin typeface="+mj-ea"/>
              <a:ea typeface="+mj-ea"/>
            </a:endParaRPr>
          </a:p>
          <a:p>
            <a:pPr algn="just"/>
            <a:r>
              <a:rPr lang="zh-CN" altLang="en-US" sz="2000" dirty="0">
                <a:latin typeface="+mj-ea"/>
                <a:ea typeface="+mj-ea"/>
              </a:rPr>
              <a:t>项目管理的组织和流程与业主保持一致</a:t>
            </a:r>
            <a:endParaRPr lang="en-US" altLang="zh-CN" sz="2000" dirty="0">
              <a:latin typeface="+mj-ea"/>
              <a:ea typeface="+mj-ea"/>
            </a:endParaRPr>
          </a:p>
          <a:p>
            <a:pPr algn="just"/>
            <a:r>
              <a:rPr lang="zh-CN" altLang="en-US" sz="2000" dirty="0">
                <a:latin typeface="+mj-ea"/>
                <a:ea typeface="+mj-ea"/>
              </a:rPr>
              <a:t>要求分包与总包保持一致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0E0866F-B60B-4BEC-B4BA-5FA4536F8373}"/>
              </a:ext>
            </a:extLst>
          </p:cNvPr>
          <p:cNvSpPr txBox="1">
            <a:spLocks/>
          </p:cNvSpPr>
          <p:nvPr/>
        </p:nvSpPr>
        <p:spPr>
          <a:xfrm>
            <a:off x="5438178" y="1323619"/>
            <a:ext cx="6482546" cy="18708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跨组织</a:t>
            </a:r>
            <a:r>
              <a:rPr lang="zh-CN" altLang="en-US" sz="2000" b="1" dirty="0">
                <a:latin typeface="+mj-ea"/>
                <a:ea typeface="+mj-ea"/>
              </a:rPr>
              <a:t>项目管理</a:t>
            </a:r>
            <a:r>
              <a:rPr lang="en-US" altLang="zh-CN" sz="2000" b="1" dirty="0">
                <a:latin typeface="+mj-ea"/>
                <a:ea typeface="+mj-ea"/>
              </a:rPr>
              <a:t>/</a:t>
            </a:r>
            <a:r>
              <a:rPr lang="zh-CN" altLang="en-US" sz="2000" b="1" dirty="0">
                <a:latin typeface="+mj-ea"/>
                <a:ea typeface="+mj-ea"/>
              </a:rPr>
              <a:t>治理</a:t>
            </a:r>
          </a:p>
          <a:p>
            <a:pPr algn="just">
              <a:lnSpc>
                <a:spcPct val="100000"/>
              </a:lnSpc>
            </a:pPr>
            <a:r>
              <a:rPr lang="zh-CN" altLang="en-US" sz="2000" dirty="0">
                <a:latin typeface="+mj-ea"/>
                <a:ea typeface="+mj-ea"/>
              </a:rPr>
              <a:t>项目是相互依赖，但又独立的组织的纽带</a:t>
            </a:r>
          </a:p>
          <a:p>
            <a:pPr algn="just">
              <a:lnSpc>
                <a:spcPct val="100000"/>
              </a:lnSpc>
            </a:pPr>
            <a:r>
              <a:rPr lang="zh-CN" altLang="en-US" sz="2000" dirty="0">
                <a:latin typeface="+mj-ea"/>
                <a:ea typeface="+mj-ea"/>
              </a:rPr>
              <a:t>项目组织完成一个共同目标</a:t>
            </a:r>
          </a:p>
          <a:p>
            <a:pPr algn="just">
              <a:lnSpc>
                <a:spcPct val="100000"/>
              </a:lnSpc>
            </a:pPr>
            <a:r>
              <a:rPr lang="zh-CN" altLang="en-US" sz="2000" dirty="0">
                <a:latin typeface="+mj-ea"/>
                <a:ea typeface="+mj-ea"/>
              </a:rPr>
              <a:t>参与方的利益存在冲突</a:t>
            </a:r>
          </a:p>
        </p:txBody>
      </p:sp>
    </p:spTree>
    <p:extLst>
      <p:ext uri="{BB962C8B-B14F-4D97-AF65-F5344CB8AC3E}">
        <p14:creationId xmlns:p14="http://schemas.microsoft.com/office/powerpoint/2010/main" val="3375148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DA459-582E-4875-97CA-FFEC227C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3316"/>
            <a:ext cx="10972800" cy="1143000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133B08-690A-47F3-AB13-7CE43E7A7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495798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工程的特征</a:t>
            </a: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定义：造物对象与过程的统一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特征：价值、人造物、全寿命期过程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514350" lvl="1" indent="-514350">
              <a:lnSpc>
                <a:spcPct val="100000"/>
              </a:lnSpc>
              <a:buFont typeface="+mj-lt"/>
              <a:buAutoNum type="arabicPeriod" startAt="2"/>
            </a:pPr>
            <a:r>
              <a:rPr lang="zh-CN" altLang="en-US" b="1" dirty="0">
                <a:solidFill>
                  <a:srgbClr val="7030A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工程管理</a:t>
            </a:r>
            <a:endParaRPr lang="en-US" altLang="zh-CN" b="1" dirty="0">
              <a:solidFill>
                <a:srgbClr val="7030A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价值导向：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工程技术系统：人造物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过程和管理活动：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857250" lvl="1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等线 Light" panose="02010600030101010101" pitchFamily="2" charset="-122"/>
                <a:ea typeface="等线 Light" panose="02010600030101010101" pitchFamily="2" charset="-122"/>
              </a:rPr>
              <a:t>承担主体：组织</a:t>
            </a:r>
            <a:endParaRPr lang="en-US" altLang="zh-CN" sz="2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0063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2229</Words>
  <Application>Microsoft Office PowerPoint</Application>
  <PresentationFormat>宽屏</PresentationFormat>
  <Paragraphs>298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Times-Roman</vt:lpstr>
      <vt:lpstr>等线</vt:lpstr>
      <vt:lpstr>等线 Light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工程管理设计研究与论文写作</vt:lpstr>
      <vt:lpstr>PowerPoint 演示文稿</vt:lpstr>
      <vt:lpstr>PowerPoint 演示文稿</vt:lpstr>
      <vt:lpstr>PowerPoint 演示文稿</vt:lpstr>
      <vt:lpstr>PowerPoint 演示文稿</vt:lpstr>
      <vt:lpstr>1、工程与工程管理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 Ning</dc:creator>
  <cp:lastModifiedBy>Yan Ning</cp:lastModifiedBy>
  <cp:revision>361</cp:revision>
  <cp:lastPrinted>2024-09-20T05:14:39Z</cp:lastPrinted>
  <dcterms:created xsi:type="dcterms:W3CDTF">2023-02-21T01:12:16Z</dcterms:created>
  <dcterms:modified xsi:type="dcterms:W3CDTF">2025-02-28T02:04:26Z</dcterms:modified>
</cp:coreProperties>
</file>