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623" r:id="rId2"/>
    <p:sldId id="1636" r:id="rId3"/>
    <p:sldId id="1638" r:id="rId4"/>
    <p:sldId id="667" r:id="rId5"/>
    <p:sldId id="668" r:id="rId6"/>
    <p:sldId id="636" r:id="rId7"/>
    <p:sldId id="1620" r:id="rId8"/>
    <p:sldId id="1623" r:id="rId9"/>
    <p:sldId id="1621" r:id="rId10"/>
    <p:sldId id="1622" r:id="rId11"/>
    <p:sldId id="1639" r:id="rId12"/>
    <p:sldId id="640" r:id="rId13"/>
    <p:sldId id="676" r:id="rId14"/>
    <p:sldId id="1626" r:id="rId15"/>
    <p:sldId id="1628" r:id="rId16"/>
    <p:sldId id="678" r:id="rId17"/>
    <p:sldId id="1667" r:id="rId18"/>
    <p:sldId id="675" r:id="rId19"/>
    <p:sldId id="651" r:id="rId20"/>
    <p:sldId id="652" r:id="rId21"/>
    <p:sldId id="1630" r:id="rId22"/>
    <p:sldId id="679" r:id="rId23"/>
    <p:sldId id="680" r:id="rId24"/>
    <p:sldId id="1640"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44" autoAdjust="0"/>
    <p:restoredTop sz="94558" autoAdjust="0"/>
  </p:normalViewPr>
  <p:slideViewPr>
    <p:cSldViewPr snapToGrid="0">
      <p:cViewPr varScale="1">
        <p:scale>
          <a:sx n="72" d="100"/>
          <a:sy n="72" d="100"/>
        </p:scale>
        <p:origin x="2390"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1d39a4fa-c76e-4be0-a329-cd20bca6ab88" providerId="ADAL" clId="{CA596FA8-1C06-9F42-9DD5-0084678A5E25}"/>
  </pc:docChgLst>
  <pc:docChgLst>
    <pc:chgData name=" " userId="1d39a4fa-c76e-4be0-a329-cd20bca6ab88" providerId="ADAL" clId="{1F892388-2380-3340-AF35-B42E2B5623C4}"/>
    <pc:docChg chg="undo custSel addSld delSld modSld">
      <pc:chgData name=" " userId="1d39a4fa-c76e-4be0-a329-cd20bca6ab88" providerId="ADAL" clId="{1F892388-2380-3340-AF35-B42E2B5623C4}" dt="2025-02-27T15:22:19.802" v="281" actId="20577"/>
      <pc:docMkLst>
        <pc:docMk/>
      </pc:docMkLst>
      <pc:sldChg chg="modSp mod">
        <pc:chgData name=" " userId="1d39a4fa-c76e-4be0-a329-cd20bca6ab88" providerId="ADAL" clId="{1F892388-2380-3340-AF35-B42E2B5623C4}" dt="2025-02-17T13:38:05.158" v="84" actId="20577"/>
        <pc:sldMkLst>
          <pc:docMk/>
          <pc:sldMk cId="1301951598" sldId="636"/>
        </pc:sldMkLst>
        <pc:spChg chg="mod">
          <ac:chgData name=" " userId="1d39a4fa-c76e-4be0-a329-cd20bca6ab88" providerId="ADAL" clId="{1F892388-2380-3340-AF35-B42E2B5623C4}" dt="2025-02-17T13:38:05.158" v="84" actId="20577"/>
          <ac:spMkLst>
            <pc:docMk/>
            <pc:sldMk cId="1301951598" sldId="636"/>
            <ac:spMk id="3" creationId="{15FD57E7-A3DC-470D-9434-861FA8D52272}"/>
          </ac:spMkLst>
        </pc:spChg>
      </pc:sldChg>
      <pc:sldChg chg="modSp mod">
        <pc:chgData name=" " userId="1d39a4fa-c76e-4be0-a329-cd20bca6ab88" providerId="ADAL" clId="{1F892388-2380-3340-AF35-B42E2B5623C4}" dt="2025-02-17T14:04:21.344" v="217" actId="20577"/>
        <pc:sldMkLst>
          <pc:docMk/>
          <pc:sldMk cId="771288397" sldId="640"/>
        </pc:sldMkLst>
        <pc:spChg chg="mod">
          <ac:chgData name=" " userId="1d39a4fa-c76e-4be0-a329-cd20bca6ab88" providerId="ADAL" clId="{1F892388-2380-3340-AF35-B42E2B5623C4}" dt="2025-02-17T14:04:21.344" v="217" actId="20577"/>
          <ac:spMkLst>
            <pc:docMk/>
            <pc:sldMk cId="771288397" sldId="640"/>
            <ac:spMk id="2" creationId="{15FA92F6-D574-4FB2-8DD0-98DCECEC36F5}"/>
          </ac:spMkLst>
        </pc:spChg>
      </pc:sldChg>
      <pc:sldChg chg="modSp mod">
        <pc:chgData name=" " userId="1d39a4fa-c76e-4be0-a329-cd20bca6ab88" providerId="ADAL" clId="{1F892388-2380-3340-AF35-B42E2B5623C4}" dt="2025-02-17T13:37:55.007" v="68" actId="20577"/>
        <pc:sldMkLst>
          <pc:docMk/>
          <pc:sldMk cId="2313749032" sldId="667"/>
        </pc:sldMkLst>
        <pc:spChg chg="mod">
          <ac:chgData name=" " userId="1d39a4fa-c76e-4be0-a329-cd20bca6ab88" providerId="ADAL" clId="{1F892388-2380-3340-AF35-B42E2B5623C4}" dt="2025-02-17T13:37:55.007" v="68" actId="20577"/>
          <ac:spMkLst>
            <pc:docMk/>
            <pc:sldMk cId="2313749032" sldId="667"/>
            <ac:spMk id="3" creationId="{15FD57E7-A3DC-470D-9434-861FA8D52272}"/>
          </ac:spMkLst>
        </pc:spChg>
      </pc:sldChg>
      <pc:sldChg chg="modSp mod">
        <pc:chgData name=" " userId="1d39a4fa-c76e-4be0-a329-cd20bca6ab88" providerId="ADAL" clId="{1F892388-2380-3340-AF35-B42E2B5623C4}" dt="2025-02-17T14:04:26.724" v="223" actId="20577"/>
        <pc:sldMkLst>
          <pc:docMk/>
          <pc:sldMk cId="2867899398" sldId="676"/>
        </pc:sldMkLst>
        <pc:spChg chg="mod">
          <ac:chgData name=" " userId="1d39a4fa-c76e-4be0-a329-cd20bca6ab88" providerId="ADAL" clId="{1F892388-2380-3340-AF35-B42E2B5623C4}" dt="2025-02-17T14:04:26.724" v="223" actId="20577"/>
          <ac:spMkLst>
            <pc:docMk/>
            <pc:sldMk cId="2867899398" sldId="676"/>
            <ac:spMk id="2" creationId="{7E903643-8A08-412C-8C96-33E1473ACA31}"/>
          </ac:spMkLst>
        </pc:spChg>
      </pc:sldChg>
      <pc:sldChg chg="addSp delSp modSp">
        <pc:chgData name=" " userId="1d39a4fa-c76e-4be0-a329-cd20bca6ab88" providerId="ADAL" clId="{1F892388-2380-3340-AF35-B42E2B5623C4}" dt="2025-02-17T14:05:21.273" v="226"/>
        <pc:sldMkLst>
          <pc:docMk/>
          <pc:sldMk cId="2867041735" sldId="680"/>
        </pc:sldMkLst>
        <pc:spChg chg="add del mod">
          <ac:chgData name=" " userId="1d39a4fa-c76e-4be0-a329-cd20bca6ab88" providerId="ADAL" clId="{1F892388-2380-3340-AF35-B42E2B5623C4}" dt="2025-02-17T14:05:21.273" v="226"/>
          <ac:spMkLst>
            <pc:docMk/>
            <pc:sldMk cId="2867041735" sldId="680"/>
            <ac:spMk id="5" creationId="{6950E67E-4F19-8343-A18F-656640E987C1}"/>
          </ac:spMkLst>
        </pc:spChg>
      </pc:sldChg>
      <pc:sldChg chg="addSp delSp modSp mod">
        <pc:chgData name=" " userId="1d39a4fa-c76e-4be0-a329-cd20bca6ab88" providerId="ADAL" clId="{1F892388-2380-3340-AF35-B42E2B5623C4}" dt="2025-02-27T15:20:56.396" v="279" actId="20577"/>
        <pc:sldMkLst>
          <pc:docMk/>
          <pc:sldMk cId="2008087886" sldId="1623"/>
        </pc:sldMkLst>
        <pc:spChg chg="mod">
          <ac:chgData name=" " userId="1d39a4fa-c76e-4be0-a329-cd20bca6ab88" providerId="ADAL" clId="{1F892388-2380-3340-AF35-B42E2B5623C4}" dt="2025-02-27T15:20:56.396" v="279" actId="20577"/>
          <ac:spMkLst>
            <pc:docMk/>
            <pc:sldMk cId="2008087886" sldId="1623"/>
            <ac:spMk id="4" creationId="{5EACE0E6-9E74-4797-BFD5-D819D0A9A1DC}"/>
          </ac:spMkLst>
        </pc:spChg>
        <pc:spChg chg="del">
          <ac:chgData name=" " userId="1d39a4fa-c76e-4be0-a329-cd20bca6ab88" providerId="ADAL" clId="{1F892388-2380-3340-AF35-B42E2B5623C4}" dt="2025-02-27T15:20:46.080" v="277" actId="478"/>
          <ac:spMkLst>
            <pc:docMk/>
            <pc:sldMk cId="2008087886" sldId="1623"/>
            <ac:spMk id="5" creationId="{D80DE5F6-73B4-4418-9C25-BE59A20FBC10}"/>
          </ac:spMkLst>
        </pc:spChg>
        <pc:spChg chg="mod">
          <ac:chgData name=" " userId="1d39a4fa-c76e-4be0-a329-cd20bca6ab88" providerId="ADAL" clId="{1F892388-2380-3340-AF35-B42E2B5623C4}" dt="2025-02-27T15:16:24.092" v="275" actId="255"/>
          <ac:spMkLst>
            <pc:docMk/>
            <pc:sldMk cId="2008087886" sldId="1623"/>
            <ac:spMk id="6" creationId="{7220B0C6-FD7D-4B10-BD4A-FCF6A9C6F811}"/>
          </ac:spMkLst>
        </pc:spChg>
        <pc:spChg chg="add mod">
          <ac:chgData name=" " userId="1d39a4fa-c76e-4be0-a329-cd20bca6ab88" providerId="ADAL" clId="{1F892388-2380-3340-AF35-B42E2B5623C4}" dt="2025-02-27T15:20:46.751" v="278"/>
          <ac:spMkLst>
            <pc:docMk/>
            <pc:sldMk cId="2008087886" sldId="1623"/>
            <ac:spMk id="8" creationId="{7321384A-0ED3-4B4A-B109-C3BEB6F56453}"/>
          </ac:spMkLst>
        </pc:spChg>
        <pc:graphicFrameChg chg="mod">
          <ac:chgData name=" " userId="1d39a4fa-c76e-4be0-a329-cd20bca6ab88" providerId="ADAL" clId="{1F892388-2380-3340-AF35-B42E2B5623C4}" dt="2025-02-27T15:16:26.142" v="276" actId="1076"/>
          <ac:graphicFrameMkLst>
            <pc:docMk/>
            <pc:sldMk cId="2008087886" sldId="1623"/>
            <ac:graphicFrameMk id="7" creationId="{096A3B48-5FE2-46E4-BC23-07ECE4F206A4}"/>
          </ac:graphicFrameMkLst>
        </pc:graphicFrameChg>
      </pc:sldChg>
      <pc:sldChg chg="add del">
        <pc:chgData name=" " userId="1d39a4fa-c76e-4be0-a329-cd20bca6ab88" providerId="ADAL" clId="{1F892388-2380-3340-AF35-B42E2B5623C4}" dt="2025-02-17T13:35:32.924" v="3" actId="2696"/>
        <pc:sldMkLst>
          <pc:docMk/>
          <pc:sldMk cId="2054226370" sldId="1636"/>
        </pc:sldMkLst>
      </pc:sldChg>
      <pc:sldChg chg="addSp delSp modSp mod">
        <pc:chgData name=" " userId="1d39a4fa-c76e-4be0-a329-cd20bca6ab88" providerId="ADAL" clId="{1F892388-2380-3340-AF35-B42E2B5623C4}" dt="2025-02-17T13:37:48.364" v="67" actId="207"/>
        <pc:sldMkLst>
          <pc:docMk/>
          <pc:sldMk cId="1542605436" sldId="1638"/>
        </pc:sldMkLst>
        <pc:spChg chg="add mod">
          <ac:chgData name=" " userId="1d39a4fa-c76e-4be0-a329-cd20bca6ab88" providerId="ADAL" clId="{1F892388-2380-3340-AF35-B42E2B5623C4}" dt="2025-02-17T13:37:48.364" v="67" actId="207"/>
          <ac:spMkLst>
            <pc:docMk/>
            <pc:sldMk cId="1542605436" sldId="1638"/>
            <ac:spMk id="2" creationId="{734779E5-250E-C342-82FC-B83A05D1CF5F}"/>
          </ac:spMkLst>
        </pc:spChg>
        <pc:spChg chg="mod">
          <ac:chgData name=" " userId="1d39a4fa-c76e-4be0-a329-cd20bca6ab88" providerId="ADAL" clId="{1F892388-2380-3340-AF35-B42E2B5623C4}" dt="2025-02-17T13:36:40.362" v="40" actId="1076"/>
          <ac:spMkLst>
            <pc:docMk/>
            <pc:sldMk cId="1542605436" sldId="1638"/>
            <ac:spMk id="4" creationId="{5F06DF53-777F-4F9B-B7D9-823A492038DD}"/>
          </ac:spMkLst>
        </pc:spChg>
        <pc:spChg chg="mod">
          <ac:chgData name=" " userId="1d39a4fa-c76e-4be0-a329-cd20bca6ab88" providerId="ADAL" clId="{1F892388-2380-3340-AF35-B42E2B5623C4}" dt="2025-02-17T13:36:40.362" v="40" actId="1076"/>
          <ac:spMkLst>
            <pc:docMk/>
            <pc:sldMk cId="1542605436" sldId="1638"/>
            <ac:spMk id="5" creationId="{418FFF50-EA19-4A99-AAAD-2B3444305311}"/>
          </ac:spMkLst>
        </pc:spChg>
        <pc:spChg chg="mod">
          <ac:chgData name=" " userId="1d39a4fa-c76e-4be0-a329-cd20bca6ab88" providerId="ADAL" clId="{1F892388-2380-3340-AF35-B42E2B5623C4}" dt="2025-02-17T13:36:40.362" v="40" actId="1076"/>
          <ac:spMkLst>
            <pc:docMk/>
            <pc:sldMk cId="1542605436" sldId="1638"/>
            <ac:spMk id="6" creationId="{89E0F74A-6DA5-4F36-811C-42F93CA793C3}"/>
          </ac:spMkLst>
        </pc:spChg>
        <pc:spChg chg="mod">
          <ac:chgData name=" " userId="1d39a4fa-c76e-4be0-a329-cd20bca6ab88" providerId="ADAL" clId="{1F892388-2380-3340-AF35-B42E2B5623C4}" dt="2025-02-17T13:36:40.362" v="40" actId="1076"/>
          <ac:spMkLst>
            <pc:docMk/>
            <pc:sldMk cId="1542605436" sldId="1638"/>
            <ac:spMk id="7" creationId="{F50EB78D-4D61-42EB-A40A-C84C06CCA956}"/>
          </ac:spMkLst>
        </pc:spChg>
        <pc:spChg chg="add mod">
          <ac:chgData name=" " userId="1d39a4fa-c76e-4be0-a329-cd20bca6ab88" providerId="ADAL" clId="{1F892388-2380-3340-AF35-B42E2B5623C4}" dt="2025-02-17T13:37:10.858" v="61" actId="1076"/>
          <ac:spMkLst>
            <pc:docMk/>
            <pc:sldMk cId="1542605436" sldId="1638"/>
            <ac:spMk id="19" creationId="{D0E40805-66E2-5A41-BF7A-14AC3E1D796B}"/>
          </ac:spMkLst>
        </pc:spChg>
        <pc:spChg chg="del">
          <ac:chgData name=" " userId="1d39a4fa-c76e-4be0-a329-cd20bca6ab88" providerId="ADAL" clId="{1F892388-2380-3340-AF35-B42E2B5623C4}" dt="2025-02-17T13:35:53.716" v="11" actId="478"/>
          <ac:spMkLst>
            <pc:docMk/>
            <pc:sldMk cId="1542605436" sldId="1638"/>
            <ac:spMk id="20" creationId="{0057E471-DB07-4638-9C92-79BC63677441}"/>
          </ac:spMkLst>
        </pc:spChg>
        <pc:spChg chg="mod">
          <ac:chgData name=" " userId="1d39a4fa-c76e-4be0-a329-cd20bca6ab88" providerId="ADAL" clId="{1F892388-2380-3340-AF35-B42E2B5623C4}" dt="2025-02-17T13:36:10.510" v="18" actId="20577"/>
          <ac:spMkLst>
            <pc:docMk/>
            <pc:sldMk cId="1542605436" sldId="1638"/>
            <ac:spMk id="21" creationId="{CD589585-1B48-4014-9324-DFA5FD9985B3}"/>
          </ac:spMkLst>
        </pc:spChg>
        <pc:spChg chg="del">
          <ac:chgData name=" " userId="1d39a4fa-c76e-4be0-a329-cd20bca6ab88" providerId="ADAL" clId="{1F892388-2380-3340-AF35-B42E2B5623C4}" dt="2025-02-17T13:35:53.716" v="11" actId="478"/>
          <ac:spMkLst>
            <pc:docMk/>
            <pc:sldMk cId="1542605436" sldId="1638"/>
            <ac:spMk id="22" creationId="{7CBF2D84-69D2-4B0B-A178-E3B271586C46}"/>
          </ac:spMkLst>
        </pc:spChg>
        <pc:spChg chg="mod">
          <ac:chgData name=" " userId="1d39a4fa-c76e-4be0-a329-cd20bca6ab88" providerId="ADAL" clId="{1F892388-2380-3340-AF35-B42E2B5623C4}" dt="2025-02-17T13:35:39.704" v="10" actId="20577"/>
          <ac:spMkLst>
            <pc:docMk/>
            <pc:sldMk cId="1542605436" sldId="1638"/>
            <ac:spMk id="23" creationId="{06A86BAA-C17E-4F4E-9449-DD0D156DCFDC}"/>
          </ac:spMkLst>
        </pc:spChg>
        <pc:spChg chg="mod">
          <ac:chgData name=" " userId="1d39a4fa-c76e-4be0-a329-cd20bca6ab88" providerId="ADAL" clId="{1F892388-2380-3340-AF35-B42E2B5623C4}" dt="2025-02-17T13:36:26.556" v="39" actId="14100"/>
          <ac:spMkLst>
            <pc:docMk/>
            <pc:sldMk cId="1542605436" sldId="1638"/>
            <ac:spMk id="24" creationId="{0C008053-8BA3-44B6-A145-97016B3E4D23}"/>
          </ac:spMkLst>
        </pc:spChg>
        <pc:cxnChg chg="mod">
          <ac:chgData name=" " userId="1d39a4fa-c76e-4be0-a329-cd20bca6ab88" providerId="ADAL" clId="{1F892388-2380-3340-AF35-B42E2B5623C4}" dt="2025-02-17T13:36:40.362" v="40" actId="1076"/>
          <ac:cxnSpMkLst>
            <pc:docMk/>
            <pc:sldMk cId="1542605436" sldId="1638"/>
            <ac:cxnSpMk id="9" creationId="{47EC1939-2A56-4C35-B27F-917C1C751F07}"/>
          </ac:cxnSpMkLst>
        </pc:cxnChg>
        <pc:cxnChg chg="mod">
          <ac:chgData name=" " userId="1d39a4fa-c76e-4be0-a329-cd20bca6ab88" providerId="ADAL" clId="{1F892388-2380-3340-AF35-B42E2B5623C4}" dt="2025-02-17T13:36:40.362" v="40" actId="1076"/>
          <ac:cxnSpMkLst>
            <pc:docMk/>
            <pc:sldMk cId="1542605436" sldId="1638"/>
            <ac:cxnSpMk id="10" creationId="{577B1E5C-D23E-4540-A384-D886BA2ADFCA}"/>
          </ac:cxnSpMkLst>
        </pc:cxnChg>
        <pc:cxnChg chg="mod">
          <ac:chgData name=" " userId="1d39a4fa-c76e-4be0-a329-cd20bca6ab88" providerId="ADAL" clId="{1F892388-2380-3340-AF35-B42E2B5623C4}" dt="2025-02-17T13:36:40.362" v="40" actId="1076"/>
          <ac:cxnSpMkLst>
            <pc:docMk/>
            <pc:sldMk cId="1542605436" sldId="1638"/>
            <ac:cxnSpMk id="12" creationId="{ADF6C642-86CD-4C69-829B-8CA521E4391A}"/>
          </ac:cxnSpMkLst>
        </pc:cxnChg>
        <pc:cxnChg chg="mod">
          <ac:chgData name=" " userId="1d39a4fa-c76e-4be0-a329-cd20bca6ab88" providerId="ADAL" clId="{1F892388-2380-3340-AF35-B42E2B5623C4}" dt="2025-02-17T13:36:40.362" v="40" actId="1076"/>
          <ac:cxnSpMkLst>
            <pc:docMk/>
            <pc:sldMk cId="1542605436" sldId="1638"/>
            <ac:cxnSpMk id="14" creationId="{E016694B-A51D-4CC2-908C-9BA3A69AA894}"/>
          </ac:cxnSpMkLst>
        </pc:cxnChg>
        <pc:cxnChg chg="mod">
          <ac:chgData name=" " userId="1d39a4fa-c76e-4be0-a329-cd20bca6ab88" providerId="ADAL" clId="{1F892388-2380-3340-AF35-B42E2B5623C4}" dt="2025-02-17T13:36:40.362" v="40" actId="1076"/>
          <ac:cxnSpMkLst>
            <pc:docMk/>
            <pc:sldMk cId="1542605436" sldId="1638"/>
            <ac:cxnSpMk id="15" creationId="{336F72C2-164A-4274-8766-6DC926D03A95}"/>
          </ac:cxnSpMkLst>
        </pc:cxnChg>
      </pc:sldChg>
      <pc:sldChg chg="delSp modSp add mod">
        <pc:chgData name=" " userId="1d39a4fa-c76e-4be0-a329-cd20bca6ab88" providerId="ADAL" clId="{1F892388-2380-3340-AF35-B42E2B5623C4}" dt="2025-02-27T15:14:24.380" v="270" actId="20577"/>
        <pc:sldMkLst>
          <pc:docMk/>
          <pc:sldMk cId="1525517512" sldId="1639"/>
        </pc:sldMkLst>
        <pc:spChg chg="mod">
          <ac:chgData name=" " userId="1d39a4fa-c76e-4be0-a329-cd20bca6ab88" providerId="ADAL" clId="{1F892388-2380-3340-AF35-B42E2B5623C4}" dt="2025-02-17T14:04:12.582" v="208" actId="20577"/>
          <ac:spMkLst>
            <pc:docMk/>
            <pc:sldMk cId="1525517512" sldId="1639"/>
            <ac:spMk id="2" creationId="{15FA92F6-D574-4FB2-8DD0-98DCECEC36F5}"/>
          </ac:spMkLst>
        </pc:spChg>
        <pc:spChg chg="mod">
          <ac:chgData name=" " userId="1d39a4fa-c76e-4be0-a329-cd20bca6ab88" providerId="ADAL" clId="{1F892388-2380-3340-AF35-B42E2B5623C4}" dt="2025-02-27T15:14:24.380" v="270" actId="20577"/>
          <ac:spMkLst>
            <pc:docMk/>
            <pc:sldMk cId="1525517512" sldId="1639"/>
            <ac:spMk id="3" creationId="{15FD57E7-A3DC-470D-9434-861FA8D52272}"/>
          </ac:spMkLst>
        </pc:spChg>
        <pc:spChg chg="del">
          <ac:chgData name=" " userId="1d39a4fa-c76e-4be0-a329-cd20bca6ab88" providerId="ADAL" clId="{1F892388-2380-3340-AF35-B42E2B5623C4}" dt="2025-02-17T14:02:19.224" v="141" actId="478"/>
          <ac:spMkLst>
            <pc:docMk/>
            <pc:sldMk cId="1525517512" sldId="1639"/>
            <ac:spMk id="6" creationId="{1D91D3DA-1D9F-4008-8CDD-DE1FFE347E70}"/>
          </ac:spMkLst>
        </pc:spChg>
      </pc:sldChg>
      <pc:sldChg chg="addSp delSp modSp add mod">
        <pc:chgData name=" " userId="1d39a4fa-c76e-4be0-a329-cd20bca6ab88" providerId="ADAL" clId="{1F892388-2380-3340-AF35-B42E2B5623C4}" dt="2025-02-27T15:22:19.802" v="281" actId="20577"/>
        <pc:sldMkLst>
          <pc:docMk/>
          <pc:sldMk cId="2373430899" sldId="1640"/>
        </pc:sldMkLst>
        <pc:spChg chg="del">
          <ac:chgData name=" " userId="1d39a4fa-c76e-4be0-a329-cd20bca6ab88" providerId="ADAL" clId="{1F892388-2380-3340-AF35-B42E2B5623C4}" dt="2025-02-17T14:06:01.617" v="230" actId="478"/>
          <ac:spMkLst>
            <pc:docMk/>
            <pc:sldMk cId="2373430899" sldId="1640"/>
            <ac:spMk id="2" creationId="{A2216FAA-D0C3-4392-BB87-AFCD9843CF9D}"/>
          </ac:spMkLst>
        </pc:spChg>
        <pc:spChg chg="del">
          <ac:chgData name=" " userId="1d39a4fa-c76e-4be0-a329-cd20bca6ab88" providerId="ADAL" clId="{1F892388-2380-3340-AF35-B42E2B5623C4}" dt="2025-02-17T14:05:46.963" v="229" actId="478"/>
          <ac:spMkLst>
            <pc:docMk/>
            <pc:sldMk cId="2373430899" sldId="1640"/>
            <ac:spMk id="3" creationId="{A12A17B8-EC1A-4C67-98F0-9C05FD5B51A0}"/>
          </ac:spMkLst>
        </pc:spChg>
        <pc:spChg chg="mod">
          <ac:chgData name=" " userId="1d39a4fa-c76e-4be0-a329-cd20bca6ab88" providerId="ADAL" clId="{1F892388-2380-3340-AF35-B42E2B5623C4}" dt="2025-02-27T15:22:19.802" v="281" actId="20577"/>
          <ac:spMkLst>
            <pc:docMk/>
            <pc:sldMk cId="2373430899" sldId="1640"/>
            <ac:spMk id="4" creationId="{EC2F6390-75E8-49D1-8398-F5F94C712CCC}"/>
          </ac:spMkLst>
        </pc:spChg>
        <pc:graphicFrameChg chg="add mod modGraphic">
          <ac:chgData name=" " userId="1d39a4fa-c76e-4be0-a329-cd20bca6ab88" providerId="ADAL" clId="{1F892388-2380-3340-AF35-B42E2B5623C4}" dt="2025-02-17T14:06:41.292" v="253" actId="255"/>
          <ac:graphicFrameMkLst>
            <pc:docMk/>
            <pc:sldMk cId="2373430899" sldId="1640"/>
            <ac:graphicFrameMk id="5" creationId="{00F0506F-C9A6-E948-BDF0-95F529DD8B27}"/>
          </ac:graphicFrameMkLst>
        </pc:graphicFrameChg>
      </pc:sldChg>
      <pc:sldChg chg="add">
        <pc:chgData name=" " userId="1d39a4fa-c76e-4be0-a329-cd20bca6ab88" providerId="ADAL" clId="{1F892388-2380-3340-AF35-B42E2B5623C4}" dt="2025-02-27T15:21:15.109" v="280"/>
        <pc:sldMkLst>
          <pc:docMk/>
          <pc:sldMk cId="54558246" sldId="1667"/>
        </pc:sldMkLst>
      </pc:sldChg>
    </pc:docChg>
  </pc:docChgLst>
  <pc:docChgLst>
    <pc:chgData userId="6c5e2e04bbef42de" providerId="LiveId" clId="{E8A36418-C77A-49DF-B597-9F19230CFF77}"/>
    <pc:docChg chg="custSel delSld modSld">
      <pc:chgData name="" userId="6c5e2e04bbef42de" providerId="LiveId" clId="{E8A36418-C77A-49DF-B597-9F19230CFF77}" dt="2025-02-28T02:00:42.987" v="5" actId="2696"/>
      <pc:docMkLst>
        <pc:docMk/>
      </pc:docMkLst>
      <pc:sldChg chg="addSp delSp modSp">
        <pc:chgData name="" userId="6c5e2e04bbef42de" providerId="LiveId" clId="{E8A36418-C77A-49DF-B597-9F19230CFF77}" dt="2025-02-28T02:00:34.566" v="3" actId="478"/>
        <pc:sldMkLst>
          <pc:docMk/>
          <pc:sldMk cId="0" sldId="623"/>
        </pc:sldMkLst>
        <pc:spChg chg="del">
          <ac:chgData name="" userId="6c5e2e04bbef42de" providerId="LiveId" clId="{E8A36418-C77A-49DF-B597-9F19230CFF77}" dt="2025-02-28T02:00:29.710" v="0" actId="478"/>
          <ac:spMkLst>
            <pc:docMk/>
            <pc:sldMk cId="0" sldId="623"/>
            <ac:spMk id="3" creationId="{00000000-0000-0000-0000-000000000000}"/>
          </ac:spMkLst>
        </pc:spChg>
        <pc:spChg chg="add del mod">
          <ac:chgData name="" userId="6c5e2e04bbef42de" providerId="LiveId" clId="{E8A36418-C77A-49DF-B597-9F19230CFF77}" dt="2025-02-28T02:00:34.566" v="3" actId="478"/>
          <ac:spMkLst>
            <pc:docMk/>
            <pc:sldMk cId="0" sldId="623"/>
            <ac:spMk id="5" creationId="{C2939C85-E1F2-41DB-953A-DD18254CCA2B}"/>
          </ac:spMkLst>
        </pc:spChg>
        <pc:spChg chg="del">
          <ac:chgData name="" userId="6c5e2e04bbef42de" providerId="LiveId" clId="{E8A36418-C77A-49DF-B597-9F19230CFF77}" dt="2025-02-28T02:00:32.044" v="2" actId="478"/>
          <ac:spMkLst>
            <pc:docMk/>
            <pc:sldMk cId="0" sldId="623"/>
            <ac:spMk id="10" creationId="{00000000-0000-0000-0000-000000000000}"/>
          </ac:spMkLst>
        </pc:spChg>
        <pc:picChg chg="del">
          <ac:chgData name="" userId="6c5e2e04bbef42de" providerId="LiveId" clId="{E8A36418-C77A-49DF-B597-9F19230CFF77}" dt="2025-02-28T02:00:30.962" v="1" actId="478"/>
          <ac:picMkLst>
            <pc:docMk/>
            <pc:sldMk cId="0" sldId="623"/>
            <ac:picMk id="9" creationId="{00000000-0000-0000-0000-000000000000}"/>
          </ac:picMkLst>
        </pc:picChg>
      </pc:sldChg>
      <pc:sldChg chg="del">
        <pc:chgData name="" userId="6c5e2e04bbef42de" providerId="LiveId" clId="{E8A36418-C77A-49DF-B597-9F19230CFF77}" dt="2025-02-28T02:00:39.150" v="4" actId="2696"/>
        <pc:sldMkLst>
          <pc:docMk/>
          <pc:sldMk cId="1648760200" sldId="646"/>
        </pc:sldMkLst>
      </pc:sldChg>
      <pc:sldChg chg="del">
        <pc:chgData name="" userId="6c5e2e04bbef42de" providerId="LiveId" clId="{E8A36418-C77A-49DF-B597-9F19230CFF77}" dt="2025-02-28T02:00:42.987" v="5" actId="2696"/>
        <pc:sldMkLst>
          <pc:docMk/>
          <pc:sldMk cId="2675965935" sldId="1629"/>
        </pc:sldMkLst>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5255C-18F3-4DDB-BBD7-6518A0AFC2C0}" type="datetimeFigureOut">
              <a:rPr lang="zh-CN" altLang="en-US" smtClean="0"/>
              <a:t>2025/2/28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A55024-9D59-46C3-A0DB-ED02D2144145}" type="slidenum">
              <a:rPr lang="zh-CN" altLang="en-US" smtClean="0"/>
              <a:t>‹#›</a:t>
            </a:fld>
            <a:endParaRPr lang="zh-CN" altLang="en-US"/>
          </a:p>
        </p:txBody>
      </p:sp>
    </p:spTree>
    <p:extLst>
      <p:ext uri="{BB962C8B-B14F-4D97-AF65-F5344CB8AC3E}">
        <p14:creationId xmlns:p14="http://schemas.microsoft.com/office/powerpoint/2010/main" val="3536544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5E54D9-9C73-4B20-A770-06A213075666}" type="slidenum">
              <a:rPr lang="zh-CN" altLang="en-US" smtClean="0"/>
              <a:pPr/>
              <a:t>11</a:t>
            </a:fld>
            <a:endParaRPr lang="zh-CN" altLang="en-US"/>
          </a:p>
        </p:txBody>
      </p:sp>
    </p:spTree>
    <p:extLst>
      <p:ext uri="{BB962C8B-B14F-4D97-AF65-F5344CB8AC3E}">
        <p14:creationId xmlns:p14="http://schemas.microsoft.com/office/powerpoint/2010/main" val="1042819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5E54D9-9C73-4B20-A770-06A213075666}" type="slidenum">
              <a:rPr lang="zh-CN" altLang="en-US" smtClean="0"/>
              <a:pPr/>
              <a:t>12</a:t>
            </a:fld>
            <a:endParaRPr lang="zh-CN" altLang="en-US"/>
          </a:p>
        </p:txBody>
      </p:sp>
    </p:spTree>
    <p:extLst>
      <p:ext uri="{BB962C8B-B14F-4D97-AF65-F5344CB8AC3E}">
        <p14:creationId xmlns:p14="http://schemas.microsoft.com/office/powerpoint/2010/main" val="3027494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5E54D9-9C73-4B20-A770-06A213075666}" type="slidenum">
              <a:rPr lang="zh-CN" altLang="en-US" smtClean="0"/>
              <a:pPr/>
              <a:t>13</a:t>
            </a:fld>
            <a:endParaRPr lang="zh-CN" altLang="en-US"/>
          </a:p>
        </p:txBody>
      </p:sp>
    </p:spTree>
    <p:extLst>
      <p:ext uri="{BB962C8B-B14F-4D97-AF65-F5344CB8AC3E}">
        <p14:creationId xmlns:p14="http://schemas.microsoft.com/office/powerpoint/2010/main" val="4055675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742950" lvl="1" indent="-285750">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FE5ACBAC-C8EB-45CA-967B-DC24F1263EAE}" type="slidenum">
              <a:rPr lang="zh-CN" altLang="en-US" smtClean="0">
                <a:solidFill>
                  <a:prstClr val="black"/>
                </a:solidFill>
                <a:latin typeface="Calibri"/>
                <a:ea typeface="宋体" panose="02010600030101010101" pitchFamily="2" charset="-122"/>
              </a:rPr>
              <a:pPr/>
              <a:t>19</a:t>
            </a:fld>
            <a:endParaRPr lang="zh-CN" altLang="en-US">
              <a:solidFill>
                <a:prstClr val="black"/>
              </a:solidFill>
              <a:latin typeface="Calibri"/>
              <a:ea typeface="宋体" panose="02010600030101010101" pitchFamily="2" charset="-122"/>
            </a:endParaRPr>
          </a:p>
        </p:txBody>
      </p:sp>
    </p:spTree>
    <p:extLst>
      <p:ext uri="{BB962C8B-B14F-4D97-AF65-F5344CB8AC3E}">
        <p14:creationId xmlns:p14="http://schemas.microsoft.com/office/powerpoint/2010/main" val="28626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742950" lvl="1" indent="-285750">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FE5ACBAC-C8EB-45CA-967B-DC24F1263EAE}" type="slidenum">
              <a:rPr lang="zh-CN" altLang="en-US" smtClean="0">
                <a:solidFill>
                  <a:prstClr val="black"/>
                </a:solidFill>
                <a:latin typeface="Calibri"/>
                <a:ea typeface="宋体" panose="02010600030101010101" pitchFamily="2" charset="-122"/>
              </a:rPr>
              <a:pPr/>
              <a:t>20</a:t>
            </a:fld>
            <a:endParaRPr lang="zh-CN" altLang="en-US">
              <a:solidFill>
                <a:prstClr val="black"/>
              </a:solidFill>
              <a:latin typeface="Calibri"/>
              <a:ea typeface="宋体" panose="02010600030101010101" pitchFamily="2" charset="-122"/>
            </a:endParaRPr>
          </a:p>
        </p:txBody>
      </p:sp>
    </p:spTree>
    <p:extLst>
      <p:ext uri="{BB962C8B-B14F-4D97-AF65-F5344CB8AC3E}">
        <p14:creationId xmlns:p14="http://schemas.microsoft.com/office/powerpoint/2010/main" val="1438113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742950" lvl="1" indent="-285750">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FE5ACBAC-C8EB-45CA-967B-DC24F1263EAE}" type="slidenum">
              <a:rPr lang="zh-CN" altLang="en-US" smtClean="0">
                <a:solidFill>
                  <a:prstClr val="black"/>
                </a:solidFill>
                <a:latin typeface="Calibri"/>
                <a:ea typeface="宋体" panose="02010600030101010101" pitchFamily="2" charset="-122"/>
              </a:rPr>
              <a:pPr/>
              <a:t>21</a:t>
            </a:fld>
            <a:endParaRPr lang="zh-CN" altLang="en-US">
              <a:solidFill>
                <a:prstClr val="black"/>
              </a:solidFill>
              <a:latin typeface="Calibri"/>
              <a:ea typeface="宋体" panose="02010600030101010101" pitchFamily="2" charset="-122"/>
            </a:endParaRPr>
          </a:p>
        </p:txBody>
      </p:sp>
    </p:spTree>
    <p:extLst>
      <p:ext uri="{BB962C8B-B14F-4D97-AF65-F5344CB8AC3E}">
        <p14:creationId xmlns:p14="http://schemas.microsoft.com/office/powerpoint/2010/main" val="1202025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D103FD-515C-42D9-AF72-56D52BA7B65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752415A-CA51-47E8-831A-9B7FA56563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7AC152F-EA3D-466D-8166-2512400AB678}"/>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9E9156A4-88C8-4661-8F3F-81808A5A95B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7E36A7-D454-414F-A7CB-CA9B6FB8FD8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4043668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066BBD-445B-4307-8404-3C9E55B3C9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9D068DA-3777-43E3-B7F5-87BD9F7DDE84}"/>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7E6E70B-04E4-4787-93CA-4EEA57185260}"/>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0C0E928D-BC94-4F2D-B53A-3180E1102B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CAB707-2271-4F55-B227-95FA6DE280F9}"/>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584477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2B1197-E440-4AF4-BC8B-C4B1845650C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FFCB6E-07BC-4035-87FE-67B6D5AE33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FAB9FDF8-176C-413E-9AE9-D3DD22929885}"/>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8E1E3DBA-C1DC-4FDE-B897-D715B0ED94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95C9068-B7C5-4E02-8706-68F732E2522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211047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4DC88F-1F41-4ABA-B8AE-64E8758BF99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A1C596E-186D-4E06-BE39-819ECA4228F5}"/>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2DD0014C-9470-4359-8795-896B4457EDBE}"/>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4B32816E-1329-4A7C-83F4-D211A908AC0B}"/>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5E9A8283-12FB-42A2-B184-38207957625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24BA166-08CB-4F4C-A82A-6A54DDBC704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495916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907D4A-718B-46FB-9811-CD73BEDD13D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40F18E6-DD1F-4427-9E70-B443C1EE81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34CA2D10-8BE2-484B-BA12-2FDE393856D2}"/>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7A1C370B-FEA8-40FC-982D-1CFA1C5B5C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A0B43256-EAAE-489B-89B2-EB0EBD29855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EC2B2BF0-982E-4DCC-9CC1-5E73E8EA94A6}"/>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8" name="页脚占位符 7">
            <a:extLst>
              <a:ext uri="{FF2B5EF4-FFF2-40B4-BE49-F238E27FC236}">
                <a16:creationId xmlns:a16="http://schemas.microsoft.com/office/drawing/2014/main" id="{996C86D8-C38D-40EF-B7DC-513009258B8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F643910-70FD-48E3-BDE2-540CFB142A3B}"/>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503644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37AE02-50CD-4FB2-BD02-76F3E8B98D4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5F0A67C-4CAE-49DF-BA3A-4A627B6FE1F5}"/>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4" name="页脚占位符 3">
            <a:extLst>
              <a:ext uri="{FF2B5EF4-FFF2-40B4-BE49-F238E27FC236}">
                <a16:creationId xmlns:a16="http://schemas.microsoft.com/office/drawing/2014/main" id="{C2F947EE-D3CC-4D0F-9EC9-EAA0F192353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4704809-3C78-497A-82B1-CC426F67937A}"/>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3187168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9CF1B75-484E-4AFA-844B-6697E8473A93}"/>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3" name="页脚占位符 2">
            <a:extLst>
              <a:ext uri="{FF2B5EF4-FFF2-40B4-BE49-F238E27FC236}">
                <a16:creationId xmlns:a16="http://schemas.microsoft.com/office/drawing/2014/main" id="{61878834-27C0-417E-938E-4D9D4146DC3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07DEB67-743D-4873-85E6-5A9F3177ECED}"/>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2749142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FED83F-DB22-46D9-855F-6D5C57894A3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C601C7E-B5A2-476B-B1D7-7AEF7B33DF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5D5D8587-D98D-4514-B904-29CE95B859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E02B46D-9F74-4FD2-BC3B-AE943DF1086B}"/>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2793ACDA-2B9C-40FD-A239-C52FDD97663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2528C01-34A5-420B-A604-B4011101D956}"/>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678411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AEE2D2-414A-4935-81A3-07ECCFF5ECE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14B0647-724F-465D-AA4A-1AAA05CF3A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228AC01-7925-49DD-826D-336FE30552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078FF29-AFCB-4793-AA26-1F2C84797BB2}"/>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EEC631CD-DD99-4AC5-8574-019DEED9519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CDD9507-DDDB-4831-9B20-1DE84C9C372F}"/>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758040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05657E-53E5-4008-9F21-BAFEA01D392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CBB134A-EF2A-4612-BC2E-DCF53021909D}"/>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E533070-3ECC-4FFD-AFFC-4BB616032A27}"/>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E1B0E874-F2CB-4755-8443-A856D52183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AF74974-6194-47AD-A321-333EF064BA8E}"/>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83597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C43C0A9-02E0-4757-93E3-A84929FDED5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227089F-D812-49A7-8AA6-82DB9C87A012}"/>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CBF6DC3-3372-4FFF-A693-8DC10F2FB2C1}"/>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F0297473-017C-4371-AE98-6F8ECB38A1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A65BA15-09D9-4092-9CD2-72EE0EF73BA0}"/>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3854490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0_自定义版式">
    <p:spTree>
      <p:nvGrpSpPr>
        <p:cNvPr id="1" name=""/>
        <p:cNvGrpSpPr/>
        <p:nvPr/>
      </p:nvGrpSpPr>
      <p:grpSpPr>
        <a:xfrm>
          <a:off x="0" y="0"/>
          <a:ext cx="0" cy="0"/>
          <a:chOff x="0" y="0"/>
          <a:chExt cx="0" cy="0"/>
        </a:xfrm>
      </p:grpSpPr>
      <p:sp>
        <p:nvSpPr>
          <p:cNvPr id="10" name="任意多边形: 形状 9"/>
          <p:cNvSpPr/>
          <p:nvPr userDrawn="1"/>
        </p:nvSpPr>
        <p:spPr>
          <a:xfrm>
            <a:off x="0" y="6774180"/>
            <a:ext cx="12192000" cy="83820"/>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sz="1200" dirty="0"/>
          </a:p>
        </p:txBody>
      </p:sp>
      <p:pic>
        <p:nvPicPr>
          <p:cNvPr id="3" name="图片 2"/>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2400" t="18187" r="19659" b="49773"/>
          <a:stretch>
            <a:fillRect/>
          </a:stretch>
        </p:blipFill>
        <p:spPr>
          <a:xfrm>
            <a:off x="301112" y="342433"/>
            <a:ext cx="1447301" cy="682507"/>
          </a:xfrm>
          <a:prstGeom prst="rect">
            <a:avLst/>
          </a:prstGeom>
        </p:spPr>
      </p:pic>
      <p:cxnSp>
        <p:nvCxnSpPr>
          <p:cNvPr id="5" name="直接连接符 4">
            <a:extLst>
              <a:ext uri="{FF2B5EF4-FFF2-40B4-BE49-F238E27FC236}">
                <a16:creationId xmlns:a16="http://schemas.microsoft.com/office/drawing/2014/main" id="{449968CE-9441-48AB-B411-308267690CDF}"/>
              </a:ext>
            </a:extLst>
          </p:cNvPr>
          <p:cNvCxnSpPr/>
          <p:nvPr userDrawn="1"/>
        </p:nvCxnSpPr>
        <p:spPr>
          <a:xfrm>
            <a:off x="1748413" y="1024934"/>
            <a:ext cx="9462064" cy="0"/>
          </a:xfrm>
          <a:prstGeom prst="line">
            <a:avLst/>
          </a:prstGeom>
          <a:ln w="28575">
            <a:solidFill>
              <a:srgbClr val="63065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8137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301E131-1FE4-4CF8-BDA2-A6829A759D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13B0D38-8EE9-4BBC-82CA-C5EFDBD045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BC13A21-B67E-4186-B0F1-D945AA00F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B9385BAA-8800-4379-B9C9-AA88427CE5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A22A6E2-4DAD-4670-955D-2A6C7F14FB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2848675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Visio_Drawing2.vsdx"/><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Visio_Drawing4.vsdx"/><Relationship Id="rId2" Type="http://schemas.openxmlformats.org/officeDocument/2006/relationships/slideLayout" Target="../slideLayouts/slideLayout12.xml"/><Relationship Id="rId1" Type="http://schemas.openxmlformats.org/officeDocument/2006/relationships/vmlDrawing" Target="../drawings/vmlDrawing5.vml"/><Relationship Id="rId4" Type="http://schemas.openxmlformats.org/officeDocument/2006/relationships/image" Target="../media/image7.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Visio_Drawing5.vsdx"/><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8.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8" y="-1329"/>
            <a:ext cx="12188826" cy="6963204"/>
          </a:xfrm>
          <a:prstGeom prst="rect">
            <a:avLst/>
          </a:prstGeom>
        </p:spPr>
      </p:pic>
      <p:sp>
        <p:nvSpPr>
          <p:cNvPr id="7" name="矩形 6"/>
          <p:cNvSpPr/>
          <p:nvPr/>
        </p:nvSpPr>
        <p:spPr>
          <a:xfrm>
            <a:off x="-1590" y="1155103"/>
            <a:ext cx="12192002" cy="51192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rPr>
              <a:t>   </a:t>
            </a:r>
          </a:p>
        </p:txBody>
      </p:sp>
      <p:sp>
        <p:nvSpPr>
          <p:cNvPr id="2" name="标题 1"/>
          <p:cNvSpPr>
            <a:spLocks noGrp="1"/>
          </p:cNvSpPr>
          <p:nvPr>
            <p:ph type="ctrTitle"/>
          </p:nvPr>
        </p:nvSpPr>
        <p:spPr>
          <a:xfrm>
            <a:off x="1469753" y="1621971"/>
            <a:ext cx="9541048" cy="2061625"/>
          </a:xfrm>
        </p:spPr>
        <p:txBody>
          <a:bodyPr>
            <a:noAutofit/>
          </a:bodyPr>
          <a:lstStyle/>
          <a:p>
            <a:r>
              <a:rPr lang="zh-CN" altLang="en-US" b="1" dirty="0"/>
              <a:t>解决方案设计</a:t>
            </a:r>
            <a:endParaRPr lang="zh-CN" altLang="en-US" sz="60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0BED8D74-7BC2-4E0A-B9D1-0804D833C0D0}"/>
              </a:ext>
            </a:extLst>
          </p:cNvPr>
          <p:cNvGraphicFramePr>
            <a:graphicFrameLocks noChangeAspect="1"/>
          </p:cNvGraphicFramePr>
          <p:nvPr>
            <p:extLst>
              <p:ext uri="{D42A27DB-BD31-4B8C-83A1-F6EECF244321}">
                <p14:modId xmlns:p14="http://schemas.microsoft.com/office/powerpoint/2010/main" val="382611473"/>
              </p:ext>
            </p:extLst>
          </p:nvPr>
        </p:nvGraphicFramePr>
        <p:xfrm>
          <a:off x="3282535" y="991666"/>
          <a:ext cx="3864429" cy="5328557"/>
        </p:xfrm>
        <a:graphic>
          <a:graphicData uri="http://schemas.openxmlformats.org/presentationml/2006/ole">
            <mc:AlternateContent xmlns:mc="http://schemas.openxmlformats.org/markup-compatibility/2006">
              <mc:Choice xmlns:v="urn:schemas-microsoft-com:vml" Requires="v">
                <p:oleObj spid="_x0000_s1026" name="Visio" r:id="rId3" imgW="2111730" imgH="3265793" progId="Visio.Drawing.15">
                  <p:embed/>
                </p:oleObj>
              </mc:Choice>
              <mc:Fallback>
                <p:oleObj name="Visio" r:id="rId3" imgW="2111730" imgH="3265793" progId="Visio.Drawing.15">
                  <p:embed/>
                  <p:pic>
                    <p:nvPicPr>
                      <p:cNvPr id="3" name="对象 2">
                        <a:extLst>
                          <a:ext uri="{FF2B5EF4-FFF2-40B4-BE49-F238E27FC236}">
                            <a16:creationId xmlns:a16="http://schemas.microsoft.com/office/drawing/2014/main" id="{0BED8D74-7BC2-4E0A-B9D1-0804D833C0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2535" y="991666"/>
                        <a:ext cx="3864429" cy="5328557"/>
                      </a:xfrm>
                      <a:prstGeom prst="rect">
                        <a:avLst/>
                      </a:prstGeom>
                      <a:noFill/>
                    </p:spPr>
                  </p:pic>
                </p:oleObj>
              </mc:Fallback>
            </mc:AlternateContent>
          </a:graphicData>
        </a:graphic>
      </p:graphicFrame>
      <p:sp>
        <p:nvSpPr>
          <p:cNvPr id="4" name="标题 1">
            <a:extLst>
              <a:ext uri="{FF2B5EF4-FFF2-40B4-BE49-F238E27FC236}">
                <a16:creationId xmlns:a16="http://schemas.microsoft.com/office/drawing/2014/main" id="{128A7C94-F099-4A0A-AF19-917F61C033B3}"/>
              </a:ext>
            </a:extLst>
          </p:cNvPr>
          <p:cNvSpPr txBox="1">
            <a:spLocks noChangeArrowheads="1"/>
          </p:cNvSpPr>
          <p:nvPr/>
        </p:nvSpPr>
        <p:spPr>
          <a:xfrm>
            <a:off x="1748939" y="41803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工程管理设计研究的三个步骤</a:t>
            </a:r>
          </a:p>
        </p:txBody>
      </p:sp>
    </p:spTree>
    <p:extLst>
      <p:ext uri="{BB962C8B-B14F-4D97-AF65-F5344CB8AC3E}">
        <p14:creationId xmlns:p14="http://schemas.microsoft.com/office/powerpoint/2010/main" val="2054226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5F06DF53-777F-4F9B-B7D9-823A492038DD}"/>
              </a:ext>
            </a:extLst>
          </p:cNvPr>
          <p:cNvSpPr/>
          <p:nvPr/>
        </p:nvSpPr>
        <p:spPr>
          <a:xfrm>
            <a:off x="7477092" y="1121752"/>
            <a:ext cx="1005403" cy="584775"/>
          </a:xfrm>
          <a:prstGeom prst="rect">
            <a:avLst/>
          </a:prstGeom>
          <a:noFill/>
          <a:ln>
            <a:solidFill>
              <a:schemeClr val="accent1"/>
            </a:solidFill>
          </a:ln>
        </p:spPr>
        <p:txBody>
          <a:bodyPr wrap="square">
            <a:spAutoFit/>
          </a:bodyPr>
          <a:lstStyle/>
          <a:p>
            <a:r>
              <a:rPr lang="zh-CN" altLang="en-US" sz="3200" dirty="0">
                <a:latin typeface="宋体蕻醴.錄."/>
              </a:rPr>
              <a:t>目标</a:t>
            </a:r>
            <a:endParaRPr lang="zh-CN" altLang="en-US" sz="3200" dirty="0"/>
          </a:p>
        </p:txBody>
      </p:sp>
      <p:sp>
        <p:nvSpPr>
          <p:cNvPr id="5" name="矩形 4">
            <a:extLst>
              <a:ext uri="{FF2B5EF4-FFF2-40B4-BE49-F238E27FC236}">
                <a16:creationId xmlns:a16="http://schemas.microsoft.com/office/drawing/2014/main" id="{418FFF50-EA19-4A99-AAAD-2B3444305311}"/>
              </a:ext>
            </a:extLst>
          </p:cNvPr>
          <p:cNvSpPr/>
          <p:nvPr/>
        </p:nvSpPr>
        <p:spPr>
          <a:xfrm>
            <a:off x="6142323" y="2168363"/>
            <a:ext cx="3674942" cy="1077218"/>
          </a:xfrm>
          <a:prstGeom prst="rect">
            <a:avLst/>
          </a:prstGeom>
          <a:noFill/>
          <a:ln>
            <a:solidFill>
              <a:schemeClr val="accent1"/>
            </a:solidFill>
          </a:ln>
        </p:spPr>
        <p:txBody>
          <a:bodyPr wrap="square">
            <a:spAutoFit/>
          </a:bodyPr>
          <a:lstStyle/>
          <a:p>
            <a:pPr algn="ctr"/>
            <a:r>
              <a:rPr lang="zh-CN" altLang="en-US" sz="3200" dirty="0">
                <a:latin typeface="宋体蕻醴.錄."/>
              </a:rPr>
              <a:t>设计假设（理论基础与方法）</a:t>
            </a:r>
            <a:endParaRPr lang="zh-CN" altLang="en-US" sz="3200" dirty="0"/>
          </a:p>
        </p:txBody>
      </p:sp>
      <p:sp>
        <p:nvSpPr>
          <p:cNvPr id="6" name="矩形 5">
            <a:extLst>
              <a:ext uri="{FF2B5EF4-FFF2-40B4-BE49-F238E27FC236}">
                <a16:creationId xmlns:a16="http://schemas.microsoft.com/office/drawing/2014/main" id="{89E0F74A-6DA5-4F36-811C-42F93CA793C3}"/>
              </a:ext>
            </a:extLst>
          </p:cNvPr>
          <p:cNvSpPr/>
          <p:nvPr/>
        </p:nvSpPr>
        <p:spPr>
          <a:xfrm>
            <a:off x="5218496" y="4064604"/>
            <a:ext cx="1847654" cy="584775"/>
          </a:xfrm>
          <a:prstGeom prst="rect">
            <a:avLst/>
          </a:prstGeom>
          <a:noFill/>
          <a:ln>
            <a:solidFill>
              <a:schemeClr val="accent1"/>
            </a:solidFill>
          </a:ln>
        </p:spPr>
        <p:txBody>
          <a:bodyPr wrap="square">
            <a:spAutoFit/>
          </a:bodyPr>
          <a:lstStyle/>
          <a:p>
            <a:r>
              <a:rPr lang="zh-CN" altLang="en-US" sz="3200" dirty="0">
                <a:latin typeface="宋体蕻醴.錄."/>
              </a:rPr>
              <a:t>具体方案</a:t>
            </a:r>
            <a:endParaRPr lang="zh-CN" altLang="en-US" sz="3200" dirty="0"/>
          </a:p>
        </p:txBody>
      </p:sp>
      <p:sp>
        <p:nvSpPr>
          <p:cNvPr id="7" name="矩形 6">
            <a:extLst>
              <a:ext uri="{FF2B5EF4-FFF2-40B4-BE49-F238E27FC236}">
                <a16:creationId xmlns:a16="http://schemas.microsoft.com/office/drawing/2014/main" id="{F50EB78D-4D61-42EB-A40A-C84C06CCA956}"/>
              </a:ext>
            </a:extLst>
          </p:cNvPr>
          <p:cNvSpPr/>
          <p:nvPr/>
        </p:nvSpPr>
        <p:spPr>
          <a:xfrm>
            <a:off x="8913803" y="4087087"/>
            <a:ext cx="1847654" cy="584775"/>
          </a:xfrm>
          <a:prstGeom prst="rect">
            <a:avLst/>
          </a:prstGeom>
          <a:noFill/>
          <a:ln>
            <a:solidFill>
              <a:schemeClr val="accent1"/>
            </a:solidFill>
          </a:ln>
        </p:spPr>
        <p:txBody>
          <a:bodyPr wrap="square">
            <a:spAutoFit/>
          </a:bodyPr>
          <a:lstStyle/>
          <a:p>
            <a:r>
              <a:rPr lang="zh-CN" altLang="en-US" sz="3200" dirty="0">
                <a:latin typeface="宋体蕻醴.錄."/>
              </a:rPr>
              <a:t>实施方案</a:t>
            </a:r>
            <a:endParaRPr lang="zh-CN" altLang="en-US" sz="3200" dirty="0"/>
          </a:p>
        </p:txBody>
      </p:sp>
      <p:cxnSp>
        <p:nvCxnSpPr>
          <p:cNvPr id="9" name="直接箭头连接符 8">
            <a:extLst>
              <a:ext uri="{FF2B5EF4-FFF2-40B4-BE49-F238E27FC236}">
                <a16:creationId xmlns:a16="http://schemas.microsoft.com/office/drawing/2014/main" id="{47EC1939-2A56-4C35-B27F-917C1C751F07}"/>
              </a:ext>
            </a:extLst>
          </p:cNvPr>
          <p:cNvCxnSpPr>
            <a:cxnSpLocks/>
            <a:stCxn id="4" idx="2"/>
            <a:endCxn id="5" idx="0"/>
          </p:cNvCxnSpPr>
          <p:nvPr/>
        </p:nvCxnSpPr>
        <p:spPr>
          <a:xfrm>
            <a:off x="7979794" y="1706527"/>
            <a:ext cx="0" cy="461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577B1E5C-D23E-4540-A384-D886BA2ADFCA}"/>
              </a:ext>
            </a:extLst>
          </p:cNvPr>
          <p:cNvCxnSpPr>
            <a:cxnSpLocks/>
            <a:endCxn id="6" idx="0"/>
          </p:cNvCxnSpPr>
          <p:nvPr/>
        </p:nvCxnSpPr>
        <p:spPr>
          <a:xfrm>
            <a:off x="6142322" y="3648262"/>
            <a:ext cx="1" cy="4163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ADF6C642-86CD-4C69-829B-8CA521E4391A}"/>
              </a:ext>
            </a:extLst>
          </p:cNvPr>
          <p:cNvCxnSpPr>
            <a:cxnSpLocks/>
          </p:cNvCxnSpPr>
          <p:nvPr/>
        </p:nvCxnSpPr>
        <p:spPr>
          <a:xfrm>
            <a:off x="9882804" y="3648262"/>
            <a:ext cx="1" cy="453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016694B-A51D-4CC2-908C-9BA3A69AA894}"/>
              </a:ext>
            </a:extLst>
          </p:cNvPr>
          <p:cNvCxnSpPr/>
          <p:nvPr/>
        </p:nvCxnSpPr>
        <p:spPr>
          <a:xfrm flipV="1">
            <a:off x="6142323" y="3648262"/>
            <a:ext cx="3740481" cy="136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336F72C2-164A-4274-8766-6DC926D03A95}"/>
              </a:ext>
            </a:extLst>
          </p:cNvPr>
          <p:cNvCxnSpPr>
            <a:cxnSpLocks/>
            <a:stCxn id="5" idx="2"/>
          </p:cNvCxnSpPr>
          <p:nvPr/>
        </p:nvCxnSpPr>
        <p:spPr>
          <a:xfrm>
            <a:off x="7979794" y="3245581"/>
            <a:ext cx="0" cy="4163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标题 1">
            <a:extLst>
              <a:ext uri="{FF2B5EF4-FFF2-40B4-BE49-F238E27FC236}">
                <a16:creationId xmlns:a16="http://schemas.microsoft.com/office/drawing/2014/main" id="{06A86BAA-C17E-4F4E-9449-DD0D156DCFDC}"/>
              </a:ext>
            </a:extLst>
          </p:cNvPr>
          <p:cNvSpPr txBox="1">
            <a:spLocks noChangeArrowheads="1"/>
          </p:cNvSpPr>
          <p:nvPr/>
        </p:nvSpPr>
        <p:spPr>
          <a:xfrm>
            <a:off x="1748939" y="41803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解决方案设计</a:t>
            </a:r>
          </a:p>
        </p:txBody>
      </p:sp>
      <p:sp>
        <p:nvSpPr>
          <p:cNvPr id="16" name="矩形 15">
            <a:extLst>
              <a:ext uri="{FF2B5EF4-FFF2-40B4-BE49-F238E27FC236}">
                <a16:creationId xmlns:a16="http://schemas.microsoft.com/office/drawing/2014/main" id="{19D7F3EE-881B-42DE-BEB7-B5623DD7F7D1}"/>
              </a:ext>
            </a:extLst>
          </p:cNvPr>
          <p:cNvSpPr/>
          <p:nvPr/>
        </p:nvSpPr>
        <p:spPr>
          <a:xfrm>
            <a:off x="1032346" y="1706527"/>
            <a:ext cx="1005403" cy="584775"/>
          </a:xfrm>
          <a:prstGeom prst="rect">
            <a:avLst/>
          </a:prstGeom>
          <a:noFill/>
          <a:ln>
            <a:solidFill>
              <a:schemeClr val="accent1"/>
            </a:solidFill>
          </a:ln>
        </p:spPr>
        <p:txBody>
          <a:bodyPr wrap="square">
            <a:spAutoFit/>
          </a:bodyPr>
          <a:lstStyle/>
          <a:p>
            <a:r>
              <a:rPr lang="zh-CN" altLang="en-US" sz="3200" dirty="0">
                <a:latin typeface="宋体蕻醴.錄."/>
              </a:rPr>
              <a:t>目标</a:t>
            </a:r>
            <a:endParaRPr lang="zh-CN" altLang="en-US" sz="3200" dirty="0"/>
          </a:p>
        </p:txBody>
      </p:sp>
      <p:cxnSp>
        <p:nvCxnSpPr>
          <p:cNvPr id="17" name="直接箭头连接符 16">
            <a:extLst>
              <a:ext uri="{FF2B5EF4-FFF2-40B4-BE49-F238E27FC236}">
                <a16:creationId xmlns:a16="http://schemas.microsoft.com/office/drawing/2014/main" id="{F08CDC09-2D26-47CC-B5DB-2EF24723CA4B}"/>
              </a:ext>
            </a:extLst>
          </p:cNvPr>
          <p:cNvCxnSpPr>
            <a:cxnSpLocks/>
            <a:stCxn id="16" idx="2"/>
          </p:cNvCxnSpPr>
          <p:nvPr/>
        </p:nvCxnSpPr>
        <p:spPr>
          <a:xfrm>
            <a:off x="1535048" y="2291302"/>
            <a:ext cx="0" cy="461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CD589585-1B48-4014-9324-DFA5FD9985B3}"/>
              </a:ext>
            </a:extLst>
          </p:cNvPr>
          <p:cNvSpPr/>
          <p:nvPr/>
        </p:nvSpPr>
        <p:spPr>
          <a:xfrm>
            <a:off x="611220" y="2753138"/>
            <a:ext cx="1847654" cy="584775"/>
          </a:xfrm>
          <a:prstGeom prst="rect">
            <a:avLst/>
          </a:prstGeom>
          <a:noFill/>
          <a:ln>
            <a:solidFill>
              <a:schemeClr val="accent1"/>
            </a:solidFill>
          </a:ln>
        </p:spPr>
        <p:txBody>
          <a:bodyPr wrap="square">
            <a:spAutoFit/>
          </a:bodyPr>
          <a:lstStyle/>
          <a:p>
            <a:pPr algn="ctr"/>
            <a:r>
              <a:rPr lang="zh-CN" altLang="en-US" sz="3200" dirty="0">
                <a:latin typeface="宋体蕻醴.錄."/>
              </a:rPr>
              <a:t>策略</a:t>
            </a:r>
            <a:endParaRPr lang="zh-CN" altLang="en-US" sz="3200" dirty="0"/>
          </a:p>
        </p:txBody>
      </p:sp>
      <p:sp>
        <p:nvSpPr>
          <p:cNvPr id="24" name="矩形 23">
            <a:extLst>
              <a:ext uri="{FF2B5EF4-FFF2-40B4-BE49-F238E27FC236}">
                <a16:creationId xmlns:a16="http://schemas.microsoft.com/office/drawing/2014/main" id="{0C008053-8BA3-44B6-A145-97016B3E4D23}"/>
              </a:ext>
            </a:extLst>
          </p:cNvPr>
          <p:cNvSpPr/>
          <p:nvPr/>
        </p:nvSpPr>
        <p:spPr>
          <a:xfrm>
            <a:off x="244234" y="3799749"/>
            <a:ext cx="2892578" cy="584775"/>
          </a:xfrm>
          <a:prstGeom prst="rect">
            <a:avLst/>
          </a:prstGeom>
          <a:noFill/>
          <a:ln>
            <a:solidFill>
              <a:schemeClr val="accent1"/>
            </a:solidFill>
          </a:ln>
        </p:spPr>
        <p:txBody>
          <a:bodyPr wrap="square">
            <a:spAutoFit/>
          </a:bodyPr>
          <a:lstStyle/>
          <a:p>
            <a:pPr algn="ctr"/>
            <a:r>
              <a:rPr lang="zh-CN" altLang="en-US" sz="3200" dirty="0">
                <a:latin typeface="宋体蕻醴.錄."/>
              </a:rPr>
              <a:t>具体举措</a:t>
            </a:r>
            <a:endParaRPr lang="zh-CN" altLang="en-US" sz="3200" dirty="0"/>
          </a:p>
        </p:txBody>
      </p:sp>
      <p:cxnSp>
        <p:nvCxnSpPr>
          <p:cNvPr id="25" name="直接箭头连接符 24">
            <a:extLst>
              <a:ext uri="{FF2B5EF4-FFF2-40B4-BE49-F238E27FC236}">
                <a16:creationId xmlns:a16="http://schemas.microsoft.com/office/drawing/2014/main" id="{6417D9F5-018D-4B93-9815-FD894D9D1107}"/>
              </a:ext>
            </a:extLst>
          </p:cNvPr>
          <p:cNvCxnSpPr>
            <a:cxnSpLocks/>
          </p:cNvCxnSpPr>
          <p:nvPr/>
        </p:nvCxnSpPr>
        <p:spPr>
          <a:xfrm>
            <a:off x="1535047" y="3337913"/>
            <a:ext cx="0" cy="461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D0E40805-66E2-5A41-BF7A-14AC3E1D796B}"/>
              </a:ext>
            </a:extLst>
          </p:cNvPr>
          <p:cNvSpPr/>
          <p:nvPr/>
        </p:nvSpPr>
        <p:spPr>
          <a:xfrm>
            <a:off x="660593" y="4846360"/>
            <a:ext cx="1748908" cy="461665"/>
          </a:xfrm>
          <a:prstGeom prst="rect">
            <a:avLst/>
          </a:prstGeom>
          <a:solidFill>
            <a:schemeClr val="accent6">
              <a:lumMod val="40000"/>
              <a:lumOff val="60000"/>
            </a:schemeClr>
          </a:solidFill>
        </p:spPr>
        <p:txBody>
          <a:bodyPr wrap="square">
            <a:spAutoFit/>
          </a:bodyPr>
          <a:lstStyle/>
          <a:p>
            <a:pPr algn="ctr"/>
            <a:r>
              <a:rPr lang="zh-CN" altLang="en-US" sz="2400" dirty="0">
                <a:latin typeface="宋体テ...."/>
              </a:rPr>
              <a:t>实践</a:t>
            </a:r>
            <a:endParaRPr lang="zh-CN" altLang="en-US" sz="2400" dirty="0"/>
          </a:p>
        </p:txBody>
      </p:sp>
      <p:sp>
        <p:nvSpPr>
          <p:cNvPr id="2" name="右箭头 1">
            <a:extLst>
              <a:ext uri="{FF2B5EF4-FFF2-40B4-BE49-F238E27FC236}">
                <a16:creationId xmlns:a16="http://schemas.microsoft.com/office/drawing/2014/main" id="{734779E5-250E-C342-82FC-B83A05D1CF5F}"/>
              </a:ext>
            </a:extLst>
          </p:cNvPr>
          <p:cNvSpPr/>
          <p:nvPr/>
        </p:nvSpPr>
        <p:spPr>
          <a:xfrm>
            <a:off x="3384331" y="2575034"/>
            <a:ext cx="1429407" cy="853966"/>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542605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FA92F6-D574-4FB2-8DD0-98DCECEC36F5}"/>
              </a:ext>
            </a:extLst>
          </p:cNvPr>
          <p:cNvSpPr txBox="1">
            <a:spLocks noChangeArrowheads="1"/>
          </p:cNvSpPr>
          <p:nvPr/>
        </p:nvSpPr>
        <p:spPr>
          <a:xfrm>
            <a:off x="1944914" y="46662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一、目标设计：目标内涵</a:t>
            </a:r>
          </a:p>
          <a:p>
            <a:endParaRPr lang="zh-CN" altLang="en-US" sz="3300" b="1" dirty="0">
              <a:latin typeface="+mj-ea"/>
            </a:endParaRPr>
          </a:p>
        </p:txBody>
      </p:sp>
      <p:sp>
        <p:nvSpPr>
          <p:cNvPr id="3" name="矩形 2">
            <a:extLst>
              <a:ext uri="{FF2B5EF4-FFF2-40B4-BE49-F238E27FC236}">
                <a16:creationId xmlns:a16="http://schemas.microsoft.com/office/drawing/2014/main" id="{15FD57E7-A3DC-470D-9434-861FA8D52272}"/>
              </a:ext>
            </a:extLst>
          </p:cNvPr>
          <p:cNvSpPr/>
          <p:nvPr/>
        </p:nvSpPr>
        <p:spPr>
          <a:xfrm>
            <a:off x="391886" y="1259175"/>
            <a:ext cx="10024791" cy="2568139"/>
          </a:xfrm>
          <a:prstGeom prst="rect">
            <a:avLst/>
          </a:prstGeom>
        </p:spPr>
        <p:txBody>
          <a:bodyPr wrap="square">
            <a:spAutoFit/>
          </a:bodyPr>
          <a:lstStyle/>
          <a:p>
            <a:pPr algn="just">
              <a:lnSpc>
                <a:spcPct val="125000"/>
              </a:lnSpc>
              <a:spcBef>
                <a:spcPts val="600"/>
              </a:spcBef>
            </a:pPr>
            <a:r>
              <a:rPr lang="en-US" altLang="zh-CN" sz="2000" dirty="0"/>
              <a:t>1</a:t>
            </a:r>
            <a:r>
              <a:rPr lang="zh-CN" altLang="en-US" sz="2000" dirty="0"/>
              <a:t>、</a:t>
            </a:r>
            <a:r>
              <a:rPr lang="zh-CN" altLang="zh-CN" sz="2000" dirty="0"/>
              <a:t>设计目标</a:t>
            </a:r>
            <a:r>
              <a:rPr lang="zh-CN" altLang="en-US" sz="2000" dirty="0"/>
              <a:t>内涵</a:t>
            </a:r>
            <a:endParaRPr lang="en-US" altLang="zh-CN" sz="2000" dirty="0"/>
          </a:p>
          <a:p>
            <a:pPr marL="742950" lvl="1" indent="-285750">
              <a:lnSpc>
                <a:spcPct val="125000"/>
              </a:lnSpc>
              <a:spcBef>
                <a:spcPts val="600"/>
              </a:spcBef>
              <a:buFont typeface="Arial" panose="020B0604020202020204" pitchFamily="34" charset="0"/>
              <a:buChar char="•"/>
            </a:pPr>
            <a:r>
              <a:rPr lang="zh-CN" altLang="en-US" dirty="0">
                <a:latin typeface="+mj-ea"/>
                <a:ea typeface="+mj-ea"/>
              </a:rPr>
              <a:t>目标是一种预期的状态。</a:t>
            </a:r>
            <a:endParaRPr lang="en-US" altLang="zh-CN" dirty="0">
              <a:latin typeface="+mj-ea"/>
              <a:ea typeface="+mj-ea"/>
            </a:endParaRPr>
          </a:p>
          <a:p>
            <a:pPr marL="742950" lvl="1" indent="-285750">
              <a:lnSpc>
                <a:spcPct val="125000"/>
              </a:lnSpc>
              <a:spcBef>
                <a:spcPts val="600"/>
              </a:spcBef>
              <a:buFont typeface="Arial" panose="020B0604020202020204" pitchFamily="34" charset="0"/>
              <a:buChar char="•"/>
            </a:pPr>
            <a:r>
              <a:rPr lang="zh-CN" altLang="en-US" dirty="0">
                <a:latin typeface="+mj-ea"/>
                <a:ea typeface="+mj-ea"/>
              </a:rPr>
              <a:t>目标具有方向性和价值属性。</a:t>
            </a:r>
            <a:endParaRPr lang="en-US" altLang="zh-CN" dirty="0">
              <a:latin typeface="+mj-ea"/>
              <a:ea typeface="+mj-ea"/>
            </a:endParaRPr>
          </a:p>
          <a:p>
            <a:pPr marL="1200150" lvl="2" indent="-285750">
              <a:lnSpc>
                <a:spcPct val="125000"/>
              </a:lnSpc>
              <a:spcBef>
                <a:spcPts val="600"/>
              </a:spcBef>
              <a:buFont typeface="Arial" panose="020B0604020202020204" pitchFamily="34" charset="0"/>
              <a:buChar char="•"/>
            </a:pPr>
            <a:r>
              <a:rPr lang="zh-CN" altLang="en-US" dirty="0">
                <a:latin typeface="+mj-ea"/>
                <a:ea typeface="+mj-ea"/>
              </a:rPr>
              <a:t>薪酬制度设计的公平、效率、合法等目标为薪酬设计提供了基本的准则和实现的目标。</a:t>
            </a:r>
            <a:endParaRPr lang="en-US" altLang="zh-CN" dirty="0">
              <a:latin typeface="+mj-ea"/>
              <a:ea typeface="+mj-ea"/>
            </a:endParaRPr>
          </a:p>
          <a:p>
            <a:pPr marL="1200150" lvl="2" indent="-285750">
              <a:lnSpc>
                <a:spcPct val="125000"/>
              </a:lnSpc>
              <a:spcBef>
                <a:spcPts val="600"/>
              </a:spcBef>
              <a:buFont typeface="Arial" panose="020B0604020202020204" pitchFamily="34" charset="0"/>
              <a:buChar char="•"/>
            </a:pPr>
            <a:r>
              <a:rPr lang="zh-CN" altLang="en-US" dirty="0">
                <a:latin typeface="+mj-ea"/>
                <a:ea typeface="+mj-ea"/>
              </a:rPr>
              <a:t>对于招标制度的设计，是为了实现公平择优</a:t>
            </a:r>
            <a:endParaRPr lang="zh-CN" altLang="zh-CN" dirty="0">
              <a:latin typeface="+mj-ea"/>
              <a:ea typeface="+mj-ea"/>
            </a:endParaRPr>
          </a:p>
          <a:p>
            <a:pPr marL="742950" lvl="1" indent="-285750">
              <a:lnSpc>
                <a:spcPct val="125000"/>
              </a:lnSpc>
              <a:spcBef>
                <a:spcPts val="600"/>
              </a:spcBef>
              <a:buFont typeface="Arial" panose="020B0604020202020204" pitchFamily="34" charset="0"/>
              <a:buChar char="•"/>
            </a:pPr>
            <a:r>
              <a:rPr lang="zh-CN" altLang="en-US" dirty="0">
                <a:latin typeface="+mj-ea"/>
                <a:ea typeface="+mj-ea"/>
              </a:rPr>
              <a:t>目标会转化成组织责任。具有可指导性，引导大家的努力方向。</a:t>
            </a:r>
            <a:endParaRPr lang="en-US" altLang="zh-CN" dirty="0">
              <a:latin typeface="+mj-ea"/>
              <a:ea typeface="+mj-ea"/>
            </a:endParaRPr>
          </a:p>
        </p:txBody>
      </p:sp>
    </p:spTree>
    <p:extLst>
      <p:ext uri="{BB962C8B-B14F-4D97-AF65-F5344CB8AC3E}">
        <p14:creationId xmlns:p14="http://schemas.microsoft.com/office/powerpoint/2010/main" val="2313749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FA92F6-D574-4FB2-8DD0-98DCECEC36F5}"/>
              </a:ext>
            </a:extLst>
          </p:cNvPr>
          <p:cNvSpPr txBox="1">
            <a:spLocks noChangeArrowheads="1"/>
          </p:cNvSpPr>
          <p:nvPr/>
        </p:nvSpPr>
        <p:spPr>
          <a:xfrm>
            <a:off x="1694543" y="488400"/>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一、目标设计：目标内涵</a:t>
            </a:r>
          </a:p>
          <a:p>
            <a:endParaRPr lang="zh-CN" altLang="en-US" sz="3300" b="1" dirty="0">
              <a:latin typeface="+mj-ea"/>
            </a:endParaRPr>
          </a:p>
        </p:txBody>
      </p:sp>
      <p:sp>
        <p:nvSpPr>
          <p:cNvPr id="3" name="矩形 2">
            <a:extLst>
              <a:ext uri="{FF2B5EF4-FFF2-40B4-BE49-F238E27FC236}">
                <a16:creationId xmlns:a16="http://schemas.microsoft.com/office/drawing/2014/main" id="{15FD57E7-A3DC-470D-9434-861FA8D52272}"/>
              </a:ext>
            </a:extLst>
          </p:cNvPr>
          <p:cNvSpPr/>
          <p:nvPr/>
        </p:nvSpPr>
        <p:spPr>
          <a:xfrm>
            <a:off x="402771" y="1251481"/>
            <a:ext cx="10885715" cy="2798971"/>
          </a:xfrm>
          <a:prstGeom prst="rect">
            <a:avLst/>
          </a:prstGeom>
        </p:spPr>
        <p:txBody>
          <a:bodyPr wrap="square">
            <a:spAutoFit/>
          </a:bodyPr>
          <a:lstStyle/>
          <a:p>
            <a:pPr algn="just">
              <a:lnSpc>
                <a:spcPct val="125000"/>
              </a:lnSpc>
            </a:pPr>
            <a:r>
              <a:rPr lang="zh-CN" altLang="zh-CN" sz="2000" dirty="0"/>
              <a:t>目标</a:t>
            </a:r>
            <a:r>
              <a:rPr lang="zh-CN" altLang="en-US" sz="2000" dirty="0"/>
              <a:t>与问题的区别：</a:t>
            </a:r>
            <a:endParaRPr lang="en-US" altLang="zh-CN" sz="2000" dirty="0"/>
          </a:p>
          <a:p>
            <a:pPr marL="742950" lvl="1" indent="-285750">
              <a:lnSpc>
                <a:spcPct val="125000"/>
              </a:lnSpc>
              <a:spcBef>
                <a:spcPts val="600"/>
              </a:spcBef>
              <a:buFont typeface="Arial" panose="020B0604020202020204" pitchFamily="34" charset="0"/>
              <a:buChar char="•"/>
            </a:pPr>
            <a:r>
              <a:rPr lang="zh-CN" altLang="en-US" dirty="0">
                <a:latin typeface="+mj-ea"/>
                <a:ea typeface="+mj-ea"/>
              </a:rPr>
              <a:t>如治疗中，代价最小、收益最大是医患双方共同追求的目标。</a:t>
            </a:r>
            <a:endParaRPr lang="en-US" altLang="zh-CN" dirty="0">
              <a:latin typeface="+mj-ea"/>
              <a:ea typeface="+mj-ea"/>
            </a:endParaRPr>
          </a:p>
          <a:p>
            <a:pPr marL="742950" lvl="1" indent="-285750">
              <a:lnSpc>
                <a:spcPct val="125000"/>
              </a:lnSpc>
              <a:spcBef>
                <a:spcPts val="600"/>
              </a:spcBef>
              <a:buFont typeface="Arial" panose="020B0604020202020204" pitchFamily="34" charset="0"/>
              <a:buChar char="•"/>
            </a:pPr>
            <a:r>
              <a:rPr lang="zh-CN" altLang="en-US" dirty="0">
                <a:latin typeface="+mj-ea"/>
                <a:ea typeface="+mj-ea"/>
              </a:rPr>
              <a:t>如为解决两地交通流量的问题，可以通过架桥、新修路、拓宽老路等多种可能方案，不同方案的目标存在一定的差异性。</a:t>
            </a:r>
            <a:endParaRPr lang="en-US" altLang="zh-CN" dirty="0">
              <a:latin typeface="+mj-ea"/>
              <a:ea typeface="+mj-ea"/>
            </a:endParaRPr>
          </a:p>
          <a:p>
            <a:pPr algn="just">
              <a:lnSpc>
                <a:spcPct val="125000"/>
              </a:lnSpc>
            </a:pPr>
            <a:r>
              <a:rPr lang="zh-CN" altLang="en-US" sz="2000" dirty="0"/>
              <a:t>目标与需求的区别：</a:t>
            </a:r>
            <a:endParaRPr lang="en-US" altLang="zh-CN" sz="2000" dirty="0"/>
          </a:p>
          <a:p>
            <a:pPr marL="742950" lvl="1" indent="-285750">
              <a:lnSpc>
                <a:spcPct val="125000"/>
              </a:lnSpc>
              <a:spcBef>
                <a:spcPts val="600"/>
              </a:spcBef>
              <a:buFont typeface="Arial" panose="020B0604020202020204" pitchFamily="34" charset="0"/>
              <a:buChar char="•"/>
            </a:pPr>
            <a:r>
              <a:rPr lang="zh-CN" altLang="en-US" dirty="0">
                <a:latin typeface="+mj-ea"/>
                <a:ea typeface="+mj-ea"/>
              </a:rPr>
              <a:t>如满足医院对床位扩张的需求而制定的目标中，一方面包括需求转化而来的范围和质量方面的要求，同时还包括为实现需求所付出的时间、费用方面的约束性目标。</a:t>
            </a:r>
            <a:endParaRPr lang="en-US" altLang="zh-CN" dirty="0">
              <a:latin typeface="+mj-ea"/>
              <a:ea typeface="+mj-ea"/>
            </a:endParaRPr>
          </a:p>
        </p:txBody>
      </p:sp>
    </p:spTree>
    <p:extLst>
      <p:ext uri="{BB962C8B-B14F-4D97-AF65-F5344CB8AC3E}">
        <p14:creationId xmlns:p14="http://schemas.microsoft.com/office/powerpoint/2010/main" val="1142202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FA92F6-D574-4FB2-8DD0-98DCECEC36F5}"/>
              </a:ext>
            </a:extLst>
          </p:cNvPr>
          <p:cNvSpPr txBox="1">
            <a:spLocks noChangeArrowheads="1"/>
          </p:cNvSpPr>
          <p:nvPr/>
        </p:nvSpPr>
        <p:spPr>
          <a:xfrm>
            <a:off x="1738086" y="488400"/>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一、目标设计：目标内涵</a:t>
            </a:r>
          </a:p>
          <a:p>
            <a:endParaRPr lang="zh-CN" altLang="en-US" sz="3300" b="1" dirty="0">
              <a:latin typeface="+mj-ea"/>
            </a:endParaRPr>
          </a:p>
        </p:txBody>
      </p:sp>
      <p:sp>
        <p:nvSpPr>
          <p:cNvPr id="3" name="矩形 2">
            <a:extLst>
              <a:ext uri="{FF2B5EF4-FFF2-40B4-BE49-F238E27FC236}">
                <a16:creationId xmlns:a16="http://schemas.microsoft.com/office/drawing/2014/main" id="{15FD57E7-A3DC-470D-9434-861FA8D52272}"/>
              </a:ext>
            </a:extLst>
          </p:cNvPr>
          <p:cNvSpPr/>
          <p:nvPr/>
        </p:nvSpPr>
        <p:spPr>
          <a:xfrm>
            <a:off x="405543" y="1036861"/>
            <a:ext cx="10297886" cy="5055230"/>
          </a:xfrm>
          <a:prstGeom prst="rect">
            <a:avLst/>
          </a:prstGeom>
        </p:spPr>
        <p:txBody>
          <a:bodyPr wrap="square">
            <a:spAutoFit/>
          </a:bodyPr>
          <a:lstStyle/>
          <a:p>
            <a:pPr algn="just">
              <a:lnSpc>
                <a:spcPct val="125000"/>
              </a:lnSpc>
            </a:pPr>
            <a:r>
              <a:rPr lang="en-US" altLang="zh-CN" sz="2000" dirty="0"/>
              <a:t>2</a:t>
            </a:r>
            <a:r>
              <a:rPr lang="zh-CN" altLang="en-US" sz="2000" dirty="0"/>
              <a:t>、目标设计的</a:t>
            </a:r>
            <a:r>
              <a:rPr lang="zh-CN" altLang="zh-CN" sz="2000" dirty="0"/>
              <a:t>要求</a:t>
            </a:r>
            <a:r>
              <a:rPr lang="zh-CN" altLang="en-US" sz="2000" dirty="0"/>
              <a:t>：</a:t>
            </a:r>
            <a:endParaRPr lang="en-US" altLang="zh-CN" sz="2000" dirty="0"/>
          </a:p>
          <a:p>
            <a:pPr marL="342900" indent="-342900">
              <a:lnSpc>
                <a:spcPct val="125000"/>
              </a:lnSpc>
              <a:buFont typeface="Arial" panose="020B0604020202020204" pitchFamily="34" charset="0"/>
              <a:buChar char="•"/>
            </a:pPr>
            <a:r>
              <a:rPr lang="zh-CN" altLang="zh-CN" sz="2000" b="1" dirty="0">
                <a:latin typeface="+mj-ea"/>
                <a:ea typeface="+mj-ea"/>
              </a:rPr>
              <a:t>体现上层系统的要求</a:t>
            </a:r>
            <a:endParaRPr lang="en-US" altLang="zh-CN" sz="2000" b="1" dirty="0">
              <a:latin typeface="+mj-ea"/>
              <a:ea typeface="+mj-ea"/>
            </a:endParaRPr>
          </a:p>
          <a:p>
            <a:pPr marL="800100" lvl="2" indent="-342900">
              <a:lnSpc>
                <a:spcPct val="125000"/>
              </a:lnSpc>
              <a:buFont typeface="Wingdings" panose="05000000000000000000" pitchFamily="2" charset="2"/>
              <a:buChar char="ü"/>
            </a:pPr>
            <a:r>
              <a:rPr lang="zh-CN" altLang="zh-CN" dirty="0">
                <a:latin typeface="+mj-ea"/>
                <a:ea typeface="+mj-ea"/>
              </a:rPr>
              <a:t>问题的症状作为目标的重要输入</a:t>
            </a:r>
            <a:endParaRPr lang="en-US" altLang="zh-CN" dirty="0">
              <a:latin typeface="+mj-ea"/>
              <a:ea typeface="+mj-ea"/>
            </a:endParaRPr>
          </a:p>
          <a:p>
            <a:pPr marL="800100" lvl="2" indent="-342900">
              <a:lnSpc>
                <a:spcPct val="125000"/>
              </a:lnSpc>
              <a:buFont typeface="Wingdings" panose="05000000000000000000" pitchFamily="2" charset="2"/>
              <a:buChar char="ü"/>
            </a:pPr>
            <a:r>
              <a:rPr lang="zh-CN" altLang="zh-CN" dirty="0">
                <a:latin typeface="+mj-ea"/>
                <a:ea typeface="+mj-ea"/>
              </a:rPr>
              <a:t>上层系统的要求和约束</a:t>
            </a:r>
            <a:endParaRPr lang="en-US" altLang="zh-CN" dirty="0">
              <a:latin typeface="+mj-ea"/>
              <a:ea typeface="+mj-ea"/>
            </a:endParaRPr>
          </a:p>
          <a:p>
            <a:pPr marL="342900" indent="-342900">
              <a:lnSpc>
                <a:spcPct val="125000"/>
              </a:lnSpc>
              <a:buFont typeface="Arial" panose="020B0604020202020204" pitchFamily="34" charset="0"/>
              <a:buChar char="•"/>
            </a:pPr>
            <a:r>
              <a:rPr lang="zh-CN" altLang="zh-CN" sz="2000" b="1" dirty="0">
                <a:latin typeface="+mj-ea"/>
                <a:ea typeface="+mj-ea"/>
              </a:rPr>
              <a:t>理性、科学的价值导向要求</a:t>
            </a:r>
            <a:endParaRPr lang="en-US" altLang="zh-CN" sz="2000" b="1" dirty="0">
              <a:latin typeface="+mj-ea"/>
              <a:ea typeface="+mj-ea"/>
            </a:endParaRPr>
          </a:p>
          <a:p>
            <a:pPr marL="800100" lvl="2" indent="-342900">
              <a:lnSpc>
                <a:spcPct val="125000"/>
              </a:lnSpc>
              <a:buFont typeface="Wingdings" panose="05000000000000000000" pitchFamily="2" charset="2"/>
              <a:buChar char="ü"/>
            </a:pPr>
            <a:r>
              <a:rPr lang="zh-CN" altLang="zh-CN" dirty="0">
                <a:latin typeface="+mj-ea"/>
                <a:ea typeface="+mj-ea"/>
              </a:rPr>
              <a:t>主体差异性</a:t>
            </a:r>
            <a:endParaRPr lang="en-US" altLang="zh-CN" dirty="0">
              <a:latin typeface="+mj-ea"/>
              <a:ea typeface="+mj-ea"/>
            </a:endParaRPr>
          </a:p>
          <a:p>
            <a:pPr marL="800100" lvl="2" indent="-342900">
              <a:lnSpc>
                <a:spcPct val="125000"/>
              </a:lnSpc>
              <a:buFont typeface="Wingdings" panose="05000000000000000000" pitchFamily="2" charset="2"/>
              <a:buChar char="ü"/>
            </a:pPr>
            <a:r>
              <a:rPr lang="zh-CN" altLang="zh-CN" dirty="0">
                <a:latin typeface="+mj-ea"/>
                <a:ea typeface="+mj-ea"/>
              </a:rPr>
              <a:t>跨阶段性</a:t>
            </a:r>
            <a:endParaRPr lang="en-US" altLang="zh-CN" dirty="0">
              <a:latin typeface="+mj-ea"/>
              <a:ea typeface="+mj-ea"/>
            </a:endParaRPr>
          </a:p>
          <a:p>
            <a:pPr marL="800100" lvl="2" indent="-342900">
              <a:lnSpc>
                <a:spcPct val="125000"/>
              </a:lnSpc>
              <a:buFont typeface="Wingdings" panose="05000000000000000000" pitchFamily="2" charset="2"/>
              <a:buChar char="ü"/>
            </a:pPr>
            <a:r>
              <a:rPr lang="zh-CN" altLang="zh-CN" dirty="0">
                <a:latin typeface="+mj-ea"/>
                <a:ea typeface="+mj-ea"/>
              </a:rPr>
              <a:t>环境与可持续性要求</a:t>
            </a:r>
            <a:endParaRPr lang="en-US" altLang="zh-CN" dirty="0">
              <a:latin typeface="+mj-ea"/>
              <a:ea typeface="+mj-ea"/>
            </a:endParaRPr>
          </a:p>
          <a:p>
            <a:pPr marL="800100" lvl="2" indent="-342900">
              <a:lnSpc>
                <a:spcPct val="125000"/>
              </a:lnSpc>
              <a:buFont typeface="Wingdings" panose="05000000000000000000" pitchFamily="2" charset="2"/>
              <a:buChar char="ü"/>
            </a:pPr>
            <a:r>
              <a:rPr lang="zh-CN" altLang="zh-CN" dirty="0">
                <a:latin typeface="+mj-ea"/>
                <a:ea typeface="+mj-ea"/>
              </a:rPr>
              <a:t>处理不同目标之间的平衡</a:t>
            </a:r>
            <a:endParaRPr lang="en-US" altLang="zh-CN" dirty="0">
              <a:latin typeface="+mj-ea"/>
              <a:ea typeface="+mj-ea"/>
            </a:endParaRPr>
          </a:p>
          <a:p>
            <a:pPr marL="342900" indent="-342900">
              <a:lnSpc>
                <a:spcPct val="125000"/>
              </a:lnSpc>
              <a:buFont typeface="Arial" panose="020B0604020202020204" pitchFamily="34" charset="0"/>
              <a:buChar char="•"/>
            </a:pPr>
            <a:r>
              <a:rPr lang="zh-CN" altLang="zh-CN" sz="2000" b="1" dirty="0">
                <a:latin typeface="+mj-ea"/>
                <a:ea typeface="+mj-ea"/>
              </a:rPr>
              <a:t>目标的充分论证</a:t>
            </a:r>
            <a:endParaRPr lang="en-US" altLang="zh-CN" sz="2000" b="1" dirty="0">
              <a:latin typeface="+mj-ea"/>
              <a:ea typeface="+mj-ea"/>
            </a:endParaRPr>
          </a:p>
          <a:p>
            <a:pPr marL="800100" lvl="2" indent="-342900">
              <a:lnSpc>
                <a:spcPct val="125000"/>
              </a:lnSpc>
              <a:buFont typeface="Wingdings" panose="05000000000000000000" pitchFamily="2" charset="2"/>
              <a:buChar char="ü"/>
            </a:pPr>
            <a:r>
              <a:rPr lang="zh-CN" altLang="en-US" dirty="0">
                <a:latin typeface="+mj-ea"/>
                <a:ea typeface="+mj-ea"/>
              </a:rPr>
              <a:t>经历修改、调整和优化的渐进过程</a:t>
            </a:r>
            <a:endParaRPr lang="en-US" altLang="zh-CN" dirty="0">
              <a:latin typeface="+mj-ea"/>
              <a:ea typeface="+mj-ea"/>
            </a:endParaRPr>
          </a:p>
          <a:p>
            <a:pPr marL="800100" lvl="2" indent="-342900">
              <a:lnSpc>
                <a:spcPct val="125000"/>
              </a:lnSpc>
              <a:buFont typeface="Wingdings" panose="05000000000000000000" pitchFamily="2" charset="2"/>
              <a:buChar char="ü"/>
            </a:pPr>
            <a:r>
              <a:rPr lang="zh-CN" altLang="en-US" dirty="0">
                <a:latin typeface="+mj-ea"/>
                <a:ea typeface="+mj-ea"/>
              </a:rPr>
              <a:t>充分融合不同参与主体的观点和诉求</a:t>
            </a:r>
            <a:endParaRPr lang="en-US" altLang="zh-CN" dirty="0">
              <a:latin typeface="+mj-ea"/>
              <a:ea typeface="+mj-ea"/>
            </a:endParaRPr>
          </a:p>
          <a:p>
            <a:pPr marL="800100" lvl="2" indent="-342900">
              <a:lnSpc>
                <a:spcPct val="125000"/>
              </a:lnSpc>
              <a:buFont typeface="Wingdings" panose="05000000000000000000" pitchFamily="2" charset="2"/>
              <a:buChar char="ü"/>
            </a:pPr>
            <a:r>
              <a:rPr lang="zh-CN" altLang="en-US" dirty="0">
                <a:latin typeface="+mj-ea"/>
                <a:ea typeface="+mj-ea"/>
              </a:rPr>
              <a:t>充分考虑实施的可行性</a:t>
            </a:r>
            <a:endParaRPr lang="en-US" altLang="zh-CN" dirty="0">
              <a:latin typeface="+mj-ea"/>
              <a:ea typeface="+mj-ea"/>
            </a:endParaRPr>
          </a:p>
          <a:p>
            <a:pPr marL="800100" lvl="1" indent="-342900">
              <a:buFont typeface="Arial" panose="020B0604020202020204" pitchFamily="34" charset="0"/>
              <a:buChar char="•"/>
            </a:pPr>
            <a:endParaRPr lang="zh-CN" altLang="zh-CN" sz="2000" dirty="0">
              <a:latin typeface="+mj-ea"/>
              <a:ea typeface="+mj-ea"/>
            </a:endParaRPr>
          </a:p>
        </p:txBody>
      </p:sp>
    </p:spTree>
    <p:extLst>
      <p:ext uri="{BB962C8B-B14F-4D97-AF65-F5344CB8AC3E}">
        <p14:creationId xmlns:p14="http://schemas.microsoft.com/office/powerpoint/2010/main" val="1301951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FA92F6-D574-4FB2-8DD0-98DCECEC36F5}"/>
              </a:ext>
            </a:extLst>
          </p:cNvPr>
          <p:cNvSpPr txBox="1">
            <a:spLocks noChangeArrowheads="1"/>
          </p:cNvSpPr>
          <p:nvPr/>
        </p:nvSpPr>
        <p:spPr>
          <a:xfrm>
            <a:off x="1708991" y="404092"/>
            <a:ext cx="6796314" cy="6437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一、目标设计：目标设计的过程</a:t>
            </a:r>
          </a:p>
        </p:txBody>
      </p:sp>
      <p:sp>
        <p:nvSpPr>
          <p:cNvPr id="3" name="矩形 2">
            <a:extLst>
              <a:ext uri="{FF2B5EF4-FFF2-40B4-BE49-F238E27FC236}">
                <a16:creationId xmlns:a16="http://schemas.microsoft.com/office/drawing/2014/main" id="{15FD57E7-A3DC-470D-9434-861FA8D52272}"/>
              </a:ext>
            </a:extLst>
          </p:cNvPr>
          <p:cNvSpPr/>
          <p:nvPr/>
        </p:nvSpPr>
        <p:spPr>
          <a:xfrm>
            <a:off x="326572" y="1251481"/>
            <a:ext cx="6796314" cy="1938992"/>
          </a:xfrm>
          <a:prstGeom prst="rect">
            <a:avLst/>
          </a:prstGeom>
        </p:spPr>
        <p:txBody>
          <a:bodyPr wrap="square">
            <a:spAutoFit/>
          </a:bodyPr>
          <a:lstStyle/>
          <a:p>
            <a:pPr>
              <a:lnSpc>
                <a:spcPct val="125000"/>
              </a:lnSpc>
            </a:pPr>
            <a:r>
              <a:rPr lang="en-US" altLang="zh-CN" sz="2000" b="1" dirty="0">
                <a:latin typeface="+mj-ea"/>
                <a:ea typeface="+mj-ea"/>
              </a:rPr>
              <a:t>1</a:t>
            </a:r>
            <a:r>
              <a:rPr lang="zh-CN" altLang="en-US" sz="2000" b="1" dirty="0">
                <a:latin typeface="+mj-ea"/>
                <a:ea typeface="+mj-ea"/>
              </a:rPr>
              <a:t>、</a:t>
            </a:r>
            <a:r>
              <a:rPr lang="zh-CN" altLang="zh-CN" sz="2000" b="1" dirty="0">
                <a:latin typeface="+mj-ea"/>
                <a:ea typeface="+mj-ea"/>
              </a:rPr>
              <a:t>分析上层组织的要求</a:t>
            </a:r>
            <a:r>
              <a:rPr lang="zh-CN" altLang="en-US" sz="2000" b="1" dirty="0">
                <a:latin typeface="+mj-ea"/>
                <a:ea typeface="+mj-ea"/>
              </a:rPr>
              <a:t>和</a:t>
            </a:r>
            <a:r>
              <a:rPr lang="zh-CN" altLang="zh-CN" sz="2000" b="1" dirty="0">
                <a:latin typeface="+mj-ea"/>
                <a:ea typeface="+mj-ea"/>
              </a:rPr>
              <a:t>分析边界条件</a:t>
            </a:r>
            <a:endParaRPr lang="en-US" altLang="zh-CN" sz="2000" b="1" dirty="0">
              <a:latin typeface="+mj-ea"/>
              <a:ea typeface="+mj-ea"/>
            </a:endParaRPr>
          </a:p>
          <a:p>
            <a:pPr>
              <a:lnSpc>
                <a:spcPct val="125000"/>
              </a:lnSpc>
            </a:pPr>
            <a:r>
              <a:rPr lang="en-US" altLang="zh-CN" sz="2000" b="1" dirty="0">
                <a:latin typeface="+mj-ea"/>
                <a:ea typeface="+mj-ea"/>
              </a:rPr>
              <a:t>2</a:t>
            </a:r>
            <a:r>
              <a:rPr lang="zh-CN" altLang="en-US" sz="2000" b="1" dirty="0">
                <a:latin typeface="+mj-ea"/>
                <a:ea typeface="+mj-ea"/>
              </a:rPr>
              <a:t>、</a:t>
            </a:r>
            <a:r>
              <a:rPr lang="zh-CN" altLang="zh-CN" sz="2000" b="1" dirty="0">
                <a:latin typeface="+mj-ea"/>
                <a:ea typeface="+mj-ea"/>
              </a:rPr>
              <a:t>形成初步的目标指标</a:t>
            </a:r>
            <a:endParaRPr lang="en-US" altLang="zh-CN" sz="2000" b="1" dirty="0">
              <a:latin typeface="+mj-ea"/>
              <a:ea typeface="+mj-ea"/>
            </a:endParaRPr>
          </a:p>
          <a:p>
            <a:pPr>
              <a:lnSpc>
                <a:spcPct val="125000"/>
              </a:lnSpc>
            </a:pPr>
            <a:r>
              <a:rPr lang="en-US" altLang="zh-CN" sz="2000" b="1" dirty="0">
                <a:latin typeface="+mj-ea"/>
                <a:ea typeface="+mj-ea"/>
              </a:rPr>
              <a:t>3</a:t>
            </a:r>
            <a:r>
              <a:rPr lang="zh-CN" altLang="en-US" sz="2000" b="1" dirty="0">
                <a:latin typeface="+mj-ea"/>
                <a:ea typeface="+mj-ea"/>
              </a:rPr>
              <a:t>、</a:t>
            </a:r>
            <a:r>
              <a:rPr lang="zh-CN" altLang="zh-CN" sz="2000" b="1" dirty="0">
                <a:latin typeface="+mj-ea"/>
                <a:ea typeface="+mj-ea"/>
              </a:rPr>
              <a:t>分析目标之间的联系</a:t>
            </a:r>
            <a:endParaRPr lang="en-US" altLang="zh-CN" sz="2000" b="1" dirty="0">
              <a:latin typeface="+mj-ea"/>
              <a:ea typeface="+mj-ea"/>
            </a:endParaRPr>
          </a:p>
          <a:p>
            <a:pPr>
              <a:lnSpc>
                <a:spcPct val="125000"/>
              </a:lnSpc>
            </a:pPr>
            <a:r>
              <a:rPr lang="en-US" altLang="zh-CN" sz="2000" b="1" dirty="0">
                <a:latin typeface="+mj-ea"/>
                <a:ea typeface="+mj-ea"/>
              </a:rPr>
              <a:t>4</a:t>
            </a:r>
            <a:r>
              <a:rPr lang="zh-CN" altLang="en-US" sz="2000" b="1" dirty="0">
                <a:latin typeface="+mj-ea"/>
                <a:ea typeface="+mj-ea"/>
              </a:rPr>
              <a:t>、</a:t>
            </a:r>
            <a:r>
              <a:rPr lang="zh-CN" altLang="zh-CN" sz="2000" b="1" dirty="0">
                <a:latin typeface="+mj-ea"/>
                <a:ea typeface="+mj-ea"/>
              </a:rPr>
              <a:t>定义目标体系</a:t>
            </a:r>
            <a:endParaRPr lang="en-US" altLang="zh-CN" sz="2000" b="1" dirty="0">
              <a:latin typeface="+mj-ea"/>
              <a:ea typeface="+mj-ea"/>
            </a:endParaRPr>
          </a:p>
          <a:p>
            <a:endParaRPr lang="zh-CN" altLang="zh-CN" sz="2000" dirty="0">
              <a:latin typeface="+mj-ea"/>
              <a:ea typeface="+mj-ea"/>
            </a:endParaRPr>
          </a:p>
        </p:txBody>
      </p:sp>
      <p:graphicFrame>
        <p:nvGraphicFramePr>
          <p:cNvPr id="4" name="对象 3">
            <a:extLst>
              <a:ext uri="{FF2B5EF4-FFF2-40B4-BE49-F238E27FC236}">
                <a16:creationId xmlns:a16="http://schemas.microsoft.com/office/drawing/2014/main" id="{D5894C00-EA4C-4B5C-A7A5-FA30E69A0FB6}"/>
              </a:ext>
            </a:extLst>
          </p:cNvPr>
          <p:cNvGraphicFramePr>
            <a:graphicFrameLocks noChangeAspect="1"/>
          </p:cNvGraphicFramePr>
          <p:nvPr>
            <p:extLst>
              <p:ext uri="{D42A27DB-BD31-4B8C-83A1-F6EECF244321}">
                <p14:modId xmlns:p14="http://schemas.microsoft.com/office/powerpoint/2010/main" val="1371957540"/>
              </p:ext>
            </p:extLst>
          </p:nvPr>
        </p:nvGraphicFramePr>
        <p:xfrm>
          <a:off x="6658529" y="1658832"/>
          <a:ext cx="2277654" cy="4017391"/>
        </p:xfrm>
        <a:graphic>
          <a:graphicData uri="http://schemas.openxmlformats.org/presentationml/2006/ole">
            <mc:AlternateContent xmlns:mc="http://schemas.openxmlformats.org/markup-compatibility/2006">
              <mc:Choice xmlns:v="urn:schemas-microsoft-com:vml" Requires="v">
                <p:oleObj spid="_x0000_s2050" name="Visio" r:id="rId3" imgW="2732399" imgH="4980234" progId="Visio.Drawing.15">
                  <p:embed/>
                </p:oleObj>
              </mc:Choice>
              <mc:Fallback>
                <p:oleObj name="Visio" r:id="rId3" imgW="2732399" imgH="4980234" progId="Visio.Drawing.15">
                  <p:embed/>
                  <p:pic>
                    <p:nvPicPr>
                      <p:cNvPr id="4" name="对象 3">
                        <a:extLst>
                          <a:ext uri="{FF2B5EF4-FFF2-40B4-BE49-F238E27FC236}">
                            <a16:creationId xmlns:a16="http://schemas.microsoft.com/office/drawing/2014/main" id="{D5894C00-EA4C-4B5C-A7A5-FA30E69A0FB6}"/>
                          </a:ext>
                        </a:extLst>
                      </p:cNvPr>
                      <p:cNvPicPr/>
                      <p:nvPr/>
                    </p:nvPicPr>
                    <p:blipFill>
                      <a:blip r:embed="rId4"/>
                      <a:stretch>
                        <a:fillRect/>
                      </a:stretch>
                    </p:blipFill>
                    <p:spPr>
                      <a:xfrm>
                        <a:off x="6658529" y="1658832"/>
                        <a:ext cx="2277654" cy="4017391"/>
                      </a:xfrm>
                      <a:prstGeom prst="rect">
                        <a:avLst/>
                      </a:prstGeom>
                    </p:spPr>
                  </p:pic>
                </p:oleObj>
              </mc:Fallback>
            </mc:AlternateContent>
          </a:graphicData>
        </a:graphic>
      </p:graphicFrame>
    </p:spTree>
    <p:extLst>
      <p:ext uri="{BB962C8B-B14F-4D97-AF65-F5344CB8AC3E}">
        <p14:creationId xmlns:p14="http://schemas.microsoft.com/office/powerpoint/2010/main" val="1860600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5EACE0E6-9E74-4797-BFD5-D819D0A9A1DC}"/>
              </a:ext>
            </a:extLst>
          </p:cNvPr>
          <p:cNvSpPr txBox="1">
            <a:spLocks noChangeArrowheads="1"/>
          </p:cNvSpPr>
          <p:nvPr/>
        </p:nvSpPr>
        <p:spPr>
          <a:xfrm>
            <a:off x="1683658" y="454968"/>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二、设计假设</a:t>
            </a:r>
          </a:p>
        </p:txBody>
      </p:sp>
      <p:sp>
        <p:nvSpPr>
          <p:cNvPr id="6" name="标题 1">
            <a:extLst>
              <a:ext uri="{FF2B5EF4-FFF2-40B4-BE49-F238E27FC236}">
                <a16:creationId xmlns:a16="http://schemas.microsoft.com/office/drawing/2014/main" id="{7220B0C6-FD7D-4B10-BD4A-FCF6A9C6F811}"/>
              </a:ext>
            </a:extLst>
          </p:cNvPr>
          <p:cNvSpPr txBox="1">
            <a:spLocks noChangeArrowheads="1"/>
          </p:cNvSpPr>
          <p:nvPr/>
        </p:nvSpPr>
        <p:spPr>
          <a:xfrm>
            <a:off x="313806" y="1109457"/>
            <a:ext cx="10522360" cy="5887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2000" b="1" dirty="0">
                <a:latin typeface="+mn-ea"/>
                <a:ea typeface="+mn-ea"/>
              </a:rPr>
              <a:t>设计假设</a:t>
            </a:r>
            <a:r>
              <a:rPr lang="zh-CN" altLang="en-US" sz="2000" dirty="0">
                <a:latin typeface="+mn-ea"/>
                <a:ea typeface="+mn-ea"/>
              </a:rPr>
              <a:t>：已有理论基础与方法在新情境</a:t>
            </a:r>
            <a:r>
              <a:rPr lang="en-US" altLang="zh-CN" sz="2000" dirty="0">
                <a:latin typeface="+mn-ea"/>
                <a:ea typeface="+mn-ea"/>
              </a:rPr>
              <a:t>/</a:t>
            </a:r>
            <a:r>
              <a:rPr lang="zh-CN" altLang="en-US" sz="2000" dirty="0">
                <a:latin typeface="+mn-ea"/>
                <a:ea typeface="+mn-ea"/>
              </a:rPr>
              <a:t>问题下的猜想状态</a:t>
            </a:r>
            <a:endParaRPr lang="en-US" altLang="zh-CN" sz="2000" dirty="0">
              <a:latin typeface="+mn-ea"/>
              <a:ea typeface="+mn-ea"/>
            </a:endParaRPr>
          </a:p>
          <a:p>
            <a:pPr>
              <a:lnSpc>
                <a:spcPct val="150000"/>
              </a:lnSpc>
            </a:pPr>
            <a:r>
              <a:rPr lang="zh-CN" altLang="en-US" sz="2000" b="1" dirty="0">
                <a:latin typeface="+mn-ea"/>
                <a:ea typeface="+mn-ea"/>
              </a:rPr>
              <a:t>解决方案</a:t>
            </a:r>
            <a:r>
              <a:rPr lang="zh-CN" altLang="en-US" sz="2000" dirty="0">
                <a:latin typeface="+mn-ea"/>
                <a:ea typeface="+mn-ea"/>
              </a:rPr>
              <a:t>：设计假设（理论基础与方法）在特定情境下的具体化表现</a:t>
            </a:r>
          </a:p>
          <a:p>
            <a:endParaRPr lang="zh-CN" altLang="en-US" sz="2800" b="1" dirty="0">
              <a:latin typeface="+mj-ea"/>
            </a:endParaRPr>
          </a:p>
        </p:txBody>
      </p:sp>
      <p:graphicFrame>
        <p:nvGraphicFramePr>
          <p:cNvPr id="7" name="对象 6">
            <a:extLst>
              <a:ext uri="{FF2B5EF4-FFF2-40B4-BE49-F238E27FC236}">
                <a16:creationId xmlns:a16="http://schemas.microsoft.com/office/drawing/2014/main" id="{096A3B48-5FE2-46E4-BC23-07ECE4F206A4}"/>
              </a:ext>
            </a:extLst>
          </p:cNvPr>
          <p:cNvGraphicFramePr>
            <a:graphicFrameLocks noChangeAspect="1"/>
          </p:cNvGraphicFramePr>
          <p:nvPr>
            <p:extLst>
              <p:ext uri="{D42A27DB-BD31-4B8C-83A1-F6EECF244321}">
                <p14:modId xmlns:p14="http://schemas.microsoft.com/office/powerpoint/2010/main" val="1005285364"/>
              </p:ext>
            </p:extLst>
          </p:nvPr>
        </p:nvGraphicFramePr>
        <p:xfrm>
          <a:off x="2075449" y="2617060"/>
          <a:ext cx="6711540" cy="2021774"/>
        </p:xfrm>
        <a:graphic>
          <a:graphicData uri="http://schemas.openxmlformats.org/presentationml/2006/ole">
            <mc:AlternateContent xmlns:mc="http://schemas.openxmlformats.org/markup-compatibility/2006">
              <mc:Choice xmlns:v="urn:schemas-microsoft-com:vml" Requires="v">
                <p:oleObj spid="_x0000_s3074" name="Visio" r:id="rId3" imgW="2922922" imgH="963288" progId="Visio.Drawing.15">
                  <p:embed/>
                </p:oleObj>
              </mc:Choice>
              <mc:Fallback>
                <p:oleObj name="Visio" r:id="rId3" imgW="2922922" imgH="963288" progId="Visio.Drawing.15">
                  <p:embed/>
                  <p:pic>
                    <p:nvPicPr>
                      <p:cNvPr id="7" name="对象 6">
                        <a:extLst>
                          <a:ext uri="{FF2B5EF4-FFF2-40B4-BE49-F238E27FC236}">
                            <a16:creationId xmlns:a16="http://schemas.microsoft.com/office/drawing/2014/main" id="{096A3B48-5FE2-46E4-BC23-07ECE4F206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5449" y="2617060"/>
                        <a:ext cx="6711540" cy="2021774"/>
                      </a:xfrm>
                      <a:prstGeom prst="rect">
                        <a:avLst/>
                      </a:prstGeom>
                      <a:noFill/>
                    </p:spPr>
                  </p:pic>
                </p:oleObj>
              </mc:Fallback>
            </mc:AlternateContent>
          </a:graphicData>
        </a:graphic>
      </p:graphicFrame>
      <p:sp>
        <p:nvSpPr>
          <p:cNvPr id="8" name="矩形 7">
            <a:extLst>
              <a:ext uri="{FF2B5EF4-FFF2-40B4-BE49-F238E27FC236}">
                <a16:creationId xmlns:a16="http://schemas.microsoft.com/office/drawing/2014/main" id="{7321384A-0ED3-4B4A-B109-C3BEB6F56453}"/>
              </a:ext>
            </a:extLst>
          </p:cNvPr>
          <p:cNvSpPr/>
          <p:nvPr/>
        </p:nvSpPr>
        <p:spPr>
          <a:xfrm>
            <a:off x="2306048" y="4898590"/>
            <a:ext cx="5653315" cy="1077218"/>
          </a:xfrm>
          <a:prstGeom prst="rect">
            <a:avLst/>
          </a:prstGeom>
          <a:solidFill>
            <a:schemeClr val="accent6">
              <a:lumMod val="40000"/>
              <a:lumOff val="60000"/>
            </a:schemeClr>
          </a:solidFill>
        </p:spPr>
        <p:txBody>
          <a:bodyPr wrap="square">
            <a:spAutoFit/>
          </a:bodyPr>
          <a:lstStyle/>
          <a:p>
            <a:pPr marL="0" lvl="2"/>
            <a:r>
              <a:rPr lang="en-US" altLang="zh-CN" sz="2400" b="1" dirty="0">
                <a:latin typeface="+mj-ea"/>
              </a:rPr>
              <a:t>AHP</a:t>
            </a:r>
            <a:r>
              <a:rPr lang="zh-CN" altLang="en-US" sz="2400" b="1" dirty="0">
                <a:latin typeface="+mj-ea"/>
              </a:rPr>
              <a:t>：</a:t>
            </a:r>
            <a:endParaRPr lang="en-US" altLang="zh-CN" sz="2400" b="1" dirty="0">
              <a:latin typeface="+mj-ea"/>
            </a:endParaRPr>
          </a:p>
          <a:p>
            <a:pPr marL="342900" lvl="2" indent="-342900">
              <a:buFont typeface="Arial" panose="020B0604020202020204" pitchFamily="34" charset="0"/>
              <a:buChar char="•"/>
            </a:pPr>
            <a:r>
              <a:rPr lang="en-US" altLang="zh-CN" sz="2000" dirty="0">
                <a:latin typeface="+mj-ea"/>
              </a:rPr>
              <a:t>PPP</a:t>
            </a:r>
            <a:r>
              <a:rPr lang="zh-CN" altLang="en-US" sz="2000" dirty="0">
                <a:latin typeface="+mj-ea"/>
              </a:rPr>
              <a:t>项目风险评价</a:t>
            </a:r>
            <a:endParaRPr lang="en-US" altLang="zh-CN" sz="2000" dirty="0">
              <a:latin typeface="+mj-ea"/>
            </a:endParaRPr>
          </a:p>
          <a:p>
            <a:pPr marL="342900" lvl="2" indent="-342900">
              <a:buFont typeface="Arial" panose="020B0604020202020204" pitchFamily="34" charset="0"/>
              <a:buChar char="•"/>
            </a:pPr>
            <a:r>
              <a:rPr lang="zh-CN" altLang="en-US" sz="2000" dirty="0">
                <a:latin typeface="+mj-ea"/>
              </a:rPr>
              <a:t>城市轨道交通项目风险评价</a:t>
            </a:r>
            <a:endParaRPr lang="en-US" altLang="zh-CN" sz="2000" dirty="0">
              <a:latin typeface="+mj-ea"/>
            </a:endParaRPr>
          </a:p>
        </p:txBody>
      </p:sp>
    </p:spTree>
    <p:extLst>
      <p:ext uri="{BB962C8B-B14F-4D97-AF65-F5344CB8AC3E}">
        <p14:creationId xmlns:p14="http://schemas.microsoft.com/office/powerpoint/2010/main" val="2008087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FA92F6-D574-4FB2-8DD0-98DCECEC36F5}"/>
              </a:ext>
            </a:extLst>
          </p:cNvPr>
          <p:cNvSpPr txBox="1">
            <a:spLocks noChangeArrowheads="1"/>
          </p:cNvSpPr>
          <p:nvPr/>
        </p:nvSpPr>
        <p:spPr>
          <a:xfrm>
            <a:off x="1918453" y="433972"/>
            <a:ext cx="6791933" cy="48042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二、设计假设</a:t>
            </a:r>
          </a:p>
        </p:txBody>
      </p:sp>
      <p:graphicFrame>
        <p:nvGraphicFramePr>
          <p:cNvPr id="5" name="对象 4">
            <a:extLst>
              <a:ext uri="{FF2B5EF4-FFF2-40B4-BE49-F238E27FC236}">
                <a16:creationId xmlns:a16="http://schemas.microsoft.com/office/drawing/2014/main" id="{D3CBAD23-B4C6-4B4B-B99F-F6EE7B2DD1CD}"/>
              </a:ext>
            </a:extLst>
          </p:cNvPr>
          <p:cNvGraphicFramePr>
            <a:graphicFrameLocks noChangeAspect="1"/>
          </p:cNvGraphicFramePr>
          <p:nvPr>
            <p:extLst>
              <p:ext uri="{D42A27DB-BD31-4B8C-83A1-F6EECF244321}">
                <p14:modId xmlns:p14="http://schemas.microsoft.com/office/powerpoint/2010/main" val="5569604"/>
              </p:ext>
            </p:extLst>
          </p:nvPr>
        </p:nvGraphicFramePr>
        <p:xfrm>
          <a:off x="1281547" y="1781292"/>
          <a:ext cx="7010399" cy="2490063"/>
        </p:xfrm>
        <a:graphic>
          <a:graphicData uri="http://schemas.openxmlformats.org/presentationml/2006/ole">
            <mc:AlternateContent xmlns:mc="http://schemas.openxmlformats.org/markup-compatibility/2006">
              <mc:Choice xmlns:v="urn:schemas-microsoft-com:vml" Requires="v">
                <p:oleObj spid="_x0000_s4098" name="Visio" r:id="rId3" imgW="3864497" imgH="1137642" progId="Visio.Drawing.15">
                  <p:embed/>
                </p:oleObj>
              </mc:Choice>
              <mc:Fallback>
                <p:oleObj name="Visio" r:id="rId3" imgW="3864497" imgH="1137642" progId="Visio.Drawing.15">
                  <p:embed/>
                  <p:pic>
                    <p:nvPicPr>
                      <p:cNvPr id="5" name="对象 4">
                        <a:extLst>
                          <a:ext uri="{FF2B5EF4-FFF2-40B4-BE49-F238E27FC236}">
                            <a16:creationId xmlns:a16="http://schemas.microsoft.com/office/drawing/2014/main" id="{D3CBAD23-B4C6-4B4B-B99F-F6EE7B2DD1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1547" y="1781292"/>
                        <a:ext cx="7010399" cy="2490063"/>
                      </a:xfrm>
                      <a:prstGeom prst="rect">
                        <a:avLst/>
                      </a:prstGeom>
                      <a:noFill/>
                    </p:spPr>
                  </p:pic>
                </p:oleObj>
              </mc:Fallback>
            </mc:AlternateContent>
          </a:graphicData>
        </a:graphic>
      </p:graphicFrame>
    </p:spTree>
    <p:extLst>
      <p:ext uri="{BB962C8B-B14F-4D97-AF65-F5344CB8AC3E}">
        <p14:creationId xmlns:p14="http://schemas.microsoft.com/office/powerpoint/2010/main" val="2688291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FA92F6-D574-4FB2-8DD0-98DCECEC36F5}"/>
              </a:ext>
            </a:extLst>
          </p:cNvPr>
          <p:cNvSpPr txBox="1">
            <a:spLocks noChangeArrowheads="1"/>
          </p:cNvSpPr>
          <p:nvPr/>
        </p:nvSpPr>
        <p:spPr>
          <a:xfrm>
            <a:off x="1705429" y="488401"/>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二、设计假设：作用</a:t>
            </a:r>
          </a:p>
        </p:txBody>
      </p:sp>
      <p:sp>
        <p:nvSpPr>
          <p:cNvPr id="3" name="矩形 2">
            <a:extLst>
              <a:ext uri="{FF2B5EF4-FFF2-40B4-BE49-F238E27FC236}">
                <a16:creationId xmlns:a16="http://schemas.microsoft.com/office/drawing/2014/main" id="{15FD57E7-A3DC-470D-9434-861FA8D52272}"/>
              </a:ext>
            </a:extLst>
          </p:cNvPr>
          <p:cNvSpPr/>
          <p:nvPr/>
        </p:nvSpPr>
        <p:spPr>
          <a:xfrm>
            <a:off x="391887" y="1251482"/>
            <a:ext cx="9622972" cy="1785104"/>
          </a:xfrm>
          <a:prstGeom prst="rect">
            <a:avLst/>
          </a:prstGeom>
        </p:spPr>
        <p:txBody>
          <a:bodyPr wrap="square">
            <a:spAutoFit/>
          </a:bodyPr>
          <a:lstStyle/>
          <a:p>
            <a:pPr marL="342900" indent="-342900">
              <a:lnSpc>
                <a:spcPct val="125000"/>
              </a:lnSpc>
              <a:buFont typeface="Arial" panose="020B0604020202020204" pitchFamily="34" charset="0"/>
              <a:buChar char="•"/>
            </a:pPr>
            <a:r>
              <a:rPr lang="zh-CN" altLang="zh-CN" sz="2400" dirty="0">
                <a:latin typeface="+mj-ea"/>
                <a:ea typeface="+mj-ea"/>
              </a:rPr>
              <a:t>提供一个设计方案搜索和生成的方向</a:t>
            </a:r>
          </a:p>
          <a:p>
            <a:pPr marL="342900" indent="-342900">
              <a:lnSpc>
                <a:spcPct val="125000"/>
              </a:lnSpc>
              <a:buFont typeface="Arial" panose="020B0604020202020204" pitchFamily="34" charset="0"/>
              <a:buChar char="•"/>
            </a:pPr>
            <a:r>
              <a:rPr lang="zh-CN" altLang="zh-CN" sz="2400" dirty="0">
                <a:latin typeface="+mj-ea"/>
                <a:ea typeface="+mj-ea"/>
              </a:rPr>
              <a:t>连接目标和</a:t>
            </a:r>
            <a:r>
              <a:rPr lang="zh-CN" altLang="en-US" sz="2400" dirty="0">
                <a:latin typeface="+mj-ea"/>
                <a:ea typeface="+mj-ea"/>
              </a:rPr>
              <a:t>具体</a:t>
            </a:r>
            <a:r>
              <a:rPr lang="zh-CN" altLang="zh-CN" sz="2400" dirty="0">
                <a:latin typeface="+mj-ea"/>
                <a:ea typeface="+mj-ea"/>
              </a:rPr>
              <a:t>方案</a:t>
            </a:r>
          </a:p>
          <a:p>
            <a:pPr marL="342900" indent="-342900">
              <a:lnSpc>
                <a:spcPct val="125000"/>
              </a:lnSpc>
              <a:buFont typeface="Arial" panose="020B0604020202020204" pitchFamily="34" charset="0"/>
              <a:buChar char="•"/>
            </a:pPr>
            <a:r>
              <a:rPr lang="zh-CN" altLang="zh-CN" sz="2400" dirty="0">
                <a:latin typeface="+mj-ea"/>
                <a:ea typeface="+mj-ea"/>
              </a:rPr>
              <a:t>提供一个理论改进的基准</a:t>
            </a:r>
          </a:p>
          <a:p>
            <a:endParaRPr lang="zh-CN" altLang="zh-CN" sz="2000" dirty="0">
              <a:latin typeface="+mj-ea"/>
              <a:ea typeface="+mj-ea"/>
            </a:endParaRPr>
          </a:p>
        </p:txBody>
      </p:sp>
    </p:spTree>
    <p:extLst>
      <p:ext uri="{BB962C8B-B14F-4D97-AF65-F5344CB8AC3E}">
        <p14:creationId xmlns:p14="http://schemas.microsoft.com/office/powerpoint/2010/main" val="2741034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FA92F6-D574-4FB2-8DD0-98DCECEC36F5}"/>
              </a:ext>
            </a:extLst>
          </p:cNvPr>
          <p:cNvSpPr txBox="1">
            <a:spLocks noChangeArrowheads="1"/>
          </p:cNvSpPr>
          <p:nvPr/>
        </p:nvSpPr>
        <p:spPr>
          <a:xfrm>
            <a:off x="1748972" y="433972"/>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二、设计假设：表现形式之一</a:t>
            </a:r>
          </a:p>
        </p:txBody>
      </p:sp>
      <p:sp>
        <p:nvSpPr>
          <p:cNvPr id="3" name="矩形 2">
            <a:extLst>
              <a:ext uri="{FF2B5EF4-FFF2-40B4-BE49-F238E27FC236}">
                <a16:creationId xmlns:a16="http://schemas.microsoft.com/office/drawing/2014/main" id="{15FD57E7-A3DC-470D-9434-861FA8D52272}"/>
              </a:ext>
            </a:extLst>
          </p:cNvPr>
          <p:cNvSpPr/>
          <p:nvPr/>
        </p:nvSpPr>
        <p:spPr>
          <a:xfrm>
            <a:off x="381000" y="1077310"/>
            <a:ext cx="11163300" cy="2173737"/>
          </a:xfrm>
          <a:prstGeom prst="rect">
            <a:avLst/>
          </a:prstGeom>
        </p:spPr>
        <p:txBody>
          <a:bodyPr wrap="square">
            <a:spAutoFit/>
          </a:bodyPr>
          <a:lstStyle/>
          <a:p>
            <a:pPr>
              <a:lnSpc>
                <a:spcPct val="150000"/>
              </a:lnSpc>
            </a:pPr>
            <a:r>
              <a:rPr lang="zh-CN" altLang="en-US" sz="2000" b="1" dirty="0">
                <a:latin typeface="+mn-ea"/>
              </a:rPr>
              <a:t>理论基础与方法</a:t>
            </a:r>
            <a:r>
              <a:rPr lang="zh-CN" altLang="zh-CN" sz="2000" b="1" dirty="0">
                <a:latin typeface="+mn-ea"/>
              </a:rPr>
              <a:t>：</a:t>
            </a:r>
            <a:r>
              <a:rPr lang="zh-CN" altLang="en-US" sz="2000" b="1" dirty="0">
                <a:latin typeface="+mn-ea"/>
              </a:rPr>
              <a:t>最常见的形式</a:t>
            </a:r>
            <a:endParaRPr lang="zh-CN" altLang="zh-CN" sz="2000" b="1" dirty="0">
              <a:latin typeface="+mn-ea"/>
            </a:endParaRPr>
          </a:p>
          <a:p>
            <a:pPr marL="285750" indent="-285750" algn="just">
              <a:lnSpc>
                <a:spcPct val="150000"/>
              </a:lnSpc>
              <a:buFont typeface="Arial" panose="020B0604020202020204" pitchFamily="34" charset="0"/>
              <a:buChar char="•"/>
            </a:pPr>
            <a:r>
              <a:rPr lang="zh-CN" altLang="zh-CN" kern="100" dirty="0">
                <a:effectLst/>
                <a:latin typeface="+mn-ea"/>
                <a:cs typeface="Times New Roman" panose="02020603050405020304" pitchFamily="18" charset="0"/>
              </a:rPr>
              <a:t>选择理论基础与方法的理由</a:t>
            </a:r>
            <a:r>
              <a:rPr lang="zh-CN" altLang="en-US" kern="100" dirty="0">
                <a:latin typeface="+mn-ea"/>
                <a:cs typeface="Times New Roman" panose="02020603050405020304" pitchFamily="18" charset="0"/>
              </a:rPr>
              <a:t>。</a:t>
            </a:r>
            <a:r>
              <a:rPr lang="zh-CN" altLang="zh-CN" kern="100" dirty="0">
                <a:effectLst/>
                <a:latin typeface="+mn-ea"/>
                <a:cs typeface="Times New Roman" panose="02020603050405020304" pitchFamily="18" charset="0"/>
              </a:rPr>
              <a:t>理由可从实现目的角度进行阐述，或者与其他理论和方法进行对比以凸显其优势。</a:t>
            </a:r>
          </a:p>
          <a:p>
            <a:pPr marL="285750" indent="-285750" algn="just">
              <a:lnSpc>
                <a:spcPct val="150000"/>
              </a:lnSpc>
              <a:buFont typeface="Arial" panose="020B0604020202020204" pitchFamily="34" charset="0"/>
              <a:buChar char="•"/>
            </a:pPr>
            <a:r>
              <a:rPr lang="zh-CN" altLang="zh-CN" kern="100" dirty="0">
                <a:effectLst/>
                <a:latin typeface="+mn-ea"/>
                <a:cs typeface="Times New Roman" panose="02020603050405020304" pitchFamily="18" charset="0"/>
              </a:rPr>
              <a:t>介绍理论与方法的关键概念。</a:t>
            </a:r>
          </a:p>
          <a:p>
            <a:pPr marL="285750" indent="-285750">
              <a:lnSpc>
                <a:spcPct val="150000"/>
              </a:lnSpc>
              <a:buFont typeface="Arial" panose="020B0604020202020204" pitchFamily="34" charset="0"/>
              <a:buChar char="•"/>
            </a:pPr>
            <a:r>
              <a:rPr lang="zh-CN" altLang="en-US" dirty="0">
                <a:effectLst/>
                <a:latin typeface="+mn-ea"/>
                <a:cs typeface="Times New Roman" panose="02020603050405020304" pitchFamily="18" charset="0"/>
              </a:rPr>
              <a:t>介绍</a:t>
            </a:r>
            <a:r>
              <a:rPr lang="zh-CN" altLang="zh-CN" dirty="0">
                <a:effectLst/>
                <a:latin typeface="+mn-ea"/>
                <a:cs typeface="Times New Roman" panose="02020603050405020304" pitchFamily="18" charset="0"/>
              </a:rPr>
              <a:t>使用理论与方法的步骤。</a:t>
            </a:r>
            <a:r>
              <a:rPr lang="zh-CN" altLang="zh-CN" dirty="0">
                <a:effectLst/>
                <a:latin typeface="+mn-ea"/>
              </a:rPr>
              <a:t> </a:t>
            </a:r>
            <a:endParaRPr lang="zh-CN" altLang="zh-CN" dirty="0">
              <a:latin typeface="+mn-ea"/>
            </a:endParaRPr>
          </a:p>
        </p:txBody>
      </p:sp>
    </p:spTree>
    <p:extLst>
      <p:ext uri="{BB962C8B-B14F-4D97-AF65-F5344CB8AC3E}">
        <p14:creationId xmlns:p14="http://schemas.microsoft.com/office/powerpoint/2010/main" val="1525517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FA92F6-D574-4FB2-8DD0-98DCECEC36F5}"/>
              </a:ext>
            </a:extLst>
          </p:cNvPr>
          <p:cNvSpPr txBox="1">
            <a:spLocks noChangeArrowheads="1"/>
          </p:cNvSpPr>
          <p:nvPr/>
        </p:nvSpPr>
        <p:spPr>
          <a:xfrm>
            <a:off x="1748972" y="433972"/>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二、设计假设：表现形式之二</a:t>
            </a:r>
          </a:p>
        </p:txBody>
      </p:sp>
      <p:sp>
        <p:nvSpPr>
          <p:cNvPr id="3" name="矩形 2">
            <a:extLst>
              <a:ext uri="{FF2B5EF4-FFF2-40B4-BE49-F238E27FC236}">
                <a16:creationId xmlns:a16="http://schemas.microsoft.com/office/drawing/2014/main" id="{15FD57E7-A3DC-470D-9434-861FA8D52272}"/>
              </a:ext>
            </a:extLst>
          </p:cNvPr>
          <p:cNvSpPr/>
          <p:nvPr/>
        </p:nvSpPr>
        <p:spPr>
          <a:xfrm>
            <a:off x="381000" y="1077310"/>
            <a:ext cx="11163300" cy="1988301"/>
          </a:xfrm>
          <a:prstGeom prst="rect">
            <a:avLst/>
          </a:prstGeom>
        </p:spPr>
        <p:txBody>
          <a:bodyPr wrap="square">
            <a:spAutoFit/>
          </a:bodyPr>
          <a:lstStyle/>
          <a:p>
            <a:pPr>
              <a:lnSpc>
                <a:spcPct val="125000"/>
              </a:lnSpc>
            </a:pPr>
            <a:r>
              <a:rPr lang="en-US" altLang="zh-CN" sz="2000" b="1" dirty="0">
                <a:latin typeface="+mj-ea"/>
                <a:ea typeface="+mj-ea"/>
              </a:rPr>
              <a:t>CIMO</a:t>
            </a:r>
            <a:r>
              <a:rPr lang="zh-CN" altLang="zh-CN" sz="2000" b="1" dirty="0">
                <a:latin typeface="+mj-ea"/>
                <a:ea typeface="+mj-ea"/>
              </a:rPr>
              <a:t>框架</a:t>
            </a:r>
            <a:r>
              <a:rPr lang="en-US" altLang="zh-CN" sz="1400" b="1" dirty="0">
                <a:latin typeface="+mj-ea"/>
                <a:ea typeface="+mj-ea"/>
              </a:rPr>
              <a:t>(</a:t>
            </a:r>
            <a:r>
              <a:rPr lang="en-US" altLang="zh-CN" sz="1400" b="1" dirty="0" err="1">
                <a:latin typeface="+mj-ea"/>
                <a:ea typeface="+mj-ea"/>
              </a:rPr>
              <a:t>Denyer</a:t>
            </a:r>
            <a:r>
              <a:rPr lang="en-US" altLang="zh-CN" sz="1400" b="1" dirty="0">
                <a:latin typeface="+mj-ea"/>
                <a:ea typeface="+mj-ea"/>
              </a:rPr>
              <a:t> &amp; </a:t>
            </a:r>
            <a:r>
              <a:rPr lang="en-US" altLang="zh-CN" sz="1400" b="1" dirty="0" err="1">
                <a:latin typeface="+mj-ea"/>
                <a:ea typeface="+mj-ea"/>
              </a:rPr>
              <a:t>Tranfield</a:t>
            </a:r>
            <a:r>
              <a:rPr lang="en-US" altLang="zh-CN" sz="1400" b="1" dirty="0">
                <a:latin typeface="+mj-ea"/>
                <a:ea typeface="+mj-ea"/>
              </a:rPr>
              <a:t>, 2008)</a:t>
            </a:r>
            <a:r>
              <a:rPr lang="zh-CN" altLang="zh-CN" sz="2000" b="1" dirty="0">
                <a:latin typeface="+mj-ea"/>
                <a:ea typeface="+mj-ea"/>
              </a:rPr>
              <a:t>：</a:t>
            </a:r>
          </a:p>
          <a:p>
            <a:pPr marL="342900" indent="-342900">
              <a:lnSpc>
                <a:spcPct val="125000"/>
              </a:lnSpc>
              <a:buFont typeface="Arial" panose="020B0604020202020204" pitchFamily="34" charset="0"/>
              <a:buChar char="•"/>
            </a:pPr>
            <a:r>
              <a:rPr lang="zh-CN" altLang="en-US" sz="2000" dirty="0">
                <a:latin typeface="+mj-ea"/>
                <a:ea typeface="+mj-ea"/>
              </a:rPr>
              <a:t>情境</a:t>
            </a:r>
            <a:r>
              <a:rPr lang="en-US" altLang="zh-CN" sz="2000" dirty="0">
                <a:latin typeface="+mj-ea"/>
                <a:ea typeface="+mj-ea"/>
              </a:rPr>
              <a:t> (Context)</a:t>
            </a:r>
            <a:r>
              <a:rPr lang="zh-CN" altLang="zh-CN" sz="2000" dirty="0">
                <a:latin typeface="+mj-ea"/>
                <a:ea typeface="+mj-ea"/>
              </a:rPr>
              <a:t>： </a:t>
            </a:r>
          </a:p>
          <a:p>
            <a:pPr marL="342900" indent="-342900">
              <a:lnSpc>
                <a:spcPct val="125000"/>
              </a:lnSpc>
              <a:buFont typeface="Arial" panose="020B0604020202020204" pitchFamily="34" charset="0"/>
              <a:buChar char="•"/>
            </a:pPr>
            <a:r>
              <a:rPr lang="zh-CN" altLang="zh-CN" sz="2000" dirty="0">
                <a:latin typeface="+mj-ea"/>
                <a:ea typeface="+mj-ea"/>
              </a:rPr>
              <a:t>干预</a:t>
            </a:r>
            <a:r>
              <a:rPr lang="en-US" altLang="zh-CN" sz="2000" dirty="0">
                <a:latin typeface="+mj-ea"/>
                <a:ea typeface="+mj-ea"/>
              </a:rPr>
              <a:t> (Intervention)</a:t>
            </a:r>
            <a:r>
              <a:rPr lang="zh-CN" altLang="en-US" sz="2000" dirty="0">
                <a:latin typeface="+mj-ea"/>
                <a:ea typeface="+mj-ea"/>
              </a:rPr>
              <a:t>：</a:t>
            </a:r>
            <a:r>
              <a:rPr lang="zh-CN" altLang="zh-CN" sz="2000" dirty="0">
                <a:latin typeface="+mj-ea"/>
                <a:ea typeface="+mj-ea"/>
              </a:rPr>
              <a:t>解决方案</a:t>
            </a:r>
          </a:p>
          <a:p>
            <a:pPr marL="342900" indent="-342900">
              <a:lnSpc>
                <a:spcPct val="125000"/>
              </a:lnSpc>
              <a:buFont typeface="Arial" panose="020B0604020202020204" pitchFamily="34" charset="0"/>
              <a:buChar char="•"/>
            </a:pPr>
            <a:r>
              <a:rPr lang="zh-CN" altLang="zh-CN" sz="2000" dirty="0">
                <a:latin typeface="+mj-ea"/>
                <a:ea typeface="+mj-ea"/>
              </a:rPr>
              <a:t>机制</a:t>
            </a:r>
            <a:r>
              <a:rPr lang="en-US" altLang="zh-CN" sz="2000" dirty="0">
                <a:latin typeface="+mj-ea"/>
                <a:ea typeface="+mj-ea"/>
              </a:rPr>
              <a:t> (Mechanisms)</a:t>
            </a:r>
            <a:r>
              <a:rPr lang="zh-CN" altLang="en-US" sz="2000" dirty="0">
                <a:latin typeface="+mj-ea"/>
                <a:ea typeface="+mj-ea"/>
              </a:rPr>
              <a:t>：</a:t>
            </a:r>
            <a:r>
              <a:rPr lang="zh-CN" altLang="zh-CN" sz="2000" dirty="0">
                <a:latin typeface="+mj-ea"/>
                <a:ea typeface="+mj-ea"/>
              </a:rPr>
              <a:t>设计假设</a:t>
            </a:r>
            <a:r>
              <a:rPr lang="zh-CN" altLang="en-US" sz="2000" dirty="0">
                <a:latin typeface="+mj-ea"/>
                <a:ea typeface="+mj-ea"/>
              </a:rPr>
              <a:t>，</a:t>
            </a:r>
            <a:r>
              <a:rPr lang="zh-CN" altLang="zh-CN" sz="2000" dirty="0">
                <a:latin typeface="+mj-ea"/>
                <a:ea typeface="+mj-ea"/>
              </a:rPr>
              <a:t>干预产生的作用形式，在什么背景下，这些机制才能发挥作用。</a:t>
            </a:r>
          </a:p>
          <a:p>
            <a:pPr marL="342900" indent="-342900">
              <a:lnSpc>
                <a:spcPct val="125000"/>
              </a:lnSpc>
              <a:buFont typeface="Arial" panose="020B0604020202020204" pitchFamily="34" charset="0"/>
              <a:buChar char="•"/>
            </a:pPr>
            <a:r>
              <a:rPr lang="zh-CN" altLang="zh-CN" sz="2000" dirty="0">
                <a:latin typeface="+mj-ea"/>
                <a:ea typeface="+mj-ea"/>
              </a:rPr>
              <a:t>结果</a:t>
            </a:r>
            <a:r>
              <a:rPr lang="en-US" altLang="zh-CN" sz="2000" dirty="0">
                <a:latin typeface="+mj-ea"/>
                <a:ea typeface="+mj-ea"/>
              </a:rPr>
              <a:t>(Outcomes)</a:t>
            </a:r>
            <a:endParaRPr lang="zh-CN" altLang="zh-CN" sz="2000" dirty="0">
              <a:latin typeface="+mj-ea"/>
              <a:ea typeface="+mj-ea"/>
            </a:endParaRPr>
          </a:p>
        </p:txBody>
      </p:sp>
      <p:sp>
        <p:nvSpPr>
          <p:cNvPr id="6" name="矩形 5">
            <a:extLst>
              <a:ext uri="{FF2B5EF4-FFF2-40B4-BE49-F238E27FC236}">
                <a16:creationId xmlns:a16="http://schemas.microsoft.com/office/drawing/2014/main" id="{1D91D3DA-1D9F-4008-8CDD-DE1FFE347E70}"/>
              </a:ext>
            </a:extLst>
          </p:cNvPr>
          <p:cNvSpPr/>
          <p:nvPr/>
        </p:nvSpPr>
        <p:spPr>
          <a:xfrm>
            <a:off x="711221" y="4485036"/>
            <a:ext cx="8178758" cy="1938992"/>
          </a:xfrm>
          <a:prstGeom prst="rect">
            <a:avLst/>
          </a:prstGeom>
          <a:solidFill>
            <a:schemeClr val="accent6">
              <a:lumMod val="40000"/>
              <a:lumOff val="60000"/>
            </a:schemeClr>
          </a:solidFill>
        </p:spPr>
        <p:txBody>
          <a:bodyPr wrap="square">
            <a:spAutoFit/>
          </a:bodyPr>
          <a:lstStyle/>
          <a:p>
            <a:pPr marL="0" lvl="1"/>
            <a:r>
              <a:rPr lang="en-US" altLang="zh-CN" sz="2400" dirty="0">
                <a:latin typeface="+mj-ea"/>
                <a:ea typeface="+mj-ea"/>
              </a:rPr>
              <a:t>JIT</a:t>
            </a:r>
            <a:r>
              <a:rPr lang="zh-CN" altLang="en-US" sz="2400" dirty="0">
                <a:latin typeface="+mj-ea"/>
                <a:ea typeface="+mj-ea"/>
              </a:rPr>
              <a:t>用于汽车组装线的库存成本的案例：</a:t>
            </a:r>
            <a:endParaRPr lang="en-US" altLang="zh-CN" sz="2400" dirty="0">
              <a:latin typeface="+mj-ea"/>
              <a:ea typeface="+mj-ea"/>
            </a:endParaRPr>
          </a:p>
          <a:p>
            <a:pPr marL="342900" lvl="1" indent="-342900">
              <a:buFont typeface="Arial" panose="020B0604020202020204" pitchFamily="34" charset="0"/>
              <a:buChar char="•"/>
            </a:pPr>
            <a:r>
              <a:rPr lang="zh-CN" altLang="en-US" sz="2400" dirty="0">
                <a:latin typeface="+mj-ea"/>
                <a:ea typeface="+mj-ea"/>
              </a:rPr>
              <a:t>采用</a:t>
            </a:r>
            <a:r>
              <a:rPr lang="en-US" altLang="zh-CN" sz="2400" dirty="0">
                <a:latin typeface="+mj-ea"/>
                <a:ea typeface="+mj-ea"/>
              </a:rPr>
              <a:t>JIT</a:t>
            </a:r>
            <a:r>
              <a:rPr lang="zh-CN" altLang="en-US" sz="2400" dirty="0">
                <a:latin typeface="+mj-ea"/>
                <a:ea typeface="+mj-ea"/>
              </a:rPr>
              <a:t>是干预机制（</a:t>
            </a:r>
            <a:r>
              <a:rPr lang="en-US" altLang="zh-CN" sz="2400" dirty="0">
                <a:latin typeface="+mj-ea"/>
                <a:ea typeface="+mj-ea"/>
              </a:rPr>
              <a:t>I</a:t>
            </a:r>
            <a:r>
              <a:rPr lang="zh-CN" altLang="en-US" sz="2400" dirty="0">
                <a:latin typeface="+mj-ea"/>
                <a:ea typeface="+mj-ea"/>
              </a:rPr>
              <a:t>）</a:t>
            </a:r>
            <a:endParaRPr lang="en-US" altLang="zh-CN" sz="2400" dirty="0">
              <a:latin typeface="+mj-ea"/>
              <a:ea typeface="+mj-ea"/>
            </a:endParaRPr>
          </a:p>
          <a:p>
            <a:pPr marL="342900" lvl="1" indent="-342900">
              <a:buFont typeface="Arial" panose="020B0604020202020204" pitchFamily="34" charset="0"/>
              <a:buChar char="•"/>
            </a:pPr>
            <a:r>
              <a:rPr lang="zh-CN" altLang="en-US" sz="2400" dirty="0">
                <a:latin typeface="+mj-ea"/>
                <a:ea typeface="+mj-ea"/>
              </a:rPr>
              <a:t>库存成本是结果（</a:t>
            </a:r>
            <a:r>
              <a:rPr lang="en-US" altLang="zh-CN" sz="2400" dirty="0">
                <a:latin typeface="+mj-ea"/>
                <a:ea typeface="+mj-ea"/>
              </a:rPr>
              <a:t>O</a:t>
            </a:r>
            <a:r>
              <a:rPr lang="zh-CN" altLang="en-US" sz="2400" dirty="0">
                <a:latin typeface="+mj-ea"/>
                <a:ea typeface="+mj-ea"/>
              </a:rPr>
              <a:t>）</a:t>
            </a:r>
            <a:endParaRPr lang="en-US" altLang="zh-CN" sz="2400" dirty="0">
              <a:latin typeface="+mj-ea"/>
              <a:ea typeface="+mj-ea"/>
            </a:endParaRPr>
          </a:p>
          <a:p>
            <a:pPr marL="342900" lvl="1" indent="-342900">
              <a:buFont typeface="Arial" panose="020B0604020202020204" pitchFamily="34" charset="0"/>
              <a:buChar char="•"/>
            </a:pPr>
            <a:r>
              <a:rPr lang="zh-CN" altLang="en-US" sz="2400" dirty="0">
                <a:latin typeface="+mj-ea"/>
                <a:ea typeface="+mj-ea"/>
              </a:rPr>
              <a:t>汽车组装线是背景（</a:t>
            </a:r>
            <a:r>
              <a:rPr lang="en-US" altLang="zh-CN" sz="2400" dirty="0">
                <a:latin typeface="+mj-ea"/>
                <a:ea typeface="+mj-ea"/>
              </a:rPr>
              <a:t>C</a:t>
            </a:r>
            <a:r>
              <a:rPr lang="zh-CN" altLang="en-US" sz="2400" dirty="0">
                <a:latin typeface="+mj-ea"/>
                <a:ea typeface="+mj-ea"/>
              </a:rPr>
              <a:t>）</a:t>
            </a:r>
            <a:endParaRPr lang="en-US" altLang="zh-CN" sz="2400" dirty="0">
              <a:latin typeface="+mj-ea"/>
              <a:ea typeface="+mj-ea"/>
            </a:endParaRPr>
          </a:p>
          <a:p>
            <a:pPr marL="342900" lvl="1" indent="-342900">
              <a:buFont typeface="Arial" panose="020B0604020202020204" pitchFamily="34" charset="0"/>
              <a:buChar char="•"/>
            </a:pPr>
            <a:r>
              <a:rPr lang="zh-CN" altLang="en-US" sz="2400" dirty="0">
                <a:latin typeface="+mj-ea"/>
                <a:ea typeface="+mj-ea"/>
              </a:rPr>
              <a:t>其中的机制（</a:t>
            </a:r>
            <a:r>
              <a:rPr lang="en-US" altLang="zh-CN" sz="2400" dirty="0">
                <a:latin typeface="+mj-ea"/>
                <a:ea typeface="+mj-ea"/>
              </a:rPr>
              <a:t>M</a:t>
            </a:r>
            <a:r>
              <a:rPr lang="zh-CN" altLang="en-US" sz="2400" dirty="0">
                <a:latin typeface="+mj-ea"/>
                <a:ea typeface="+mj-ea"/>
              </a:rPr>
              <a:t>）是</a:t>
            </a:r>
            <a:r>
              <a:rPr lang="en-US" altLang="zh-CN" sz="2400" dirty="0">
                <a:latin typeface="+mj-ea"/>
                <a:ea typeface="+mj-ea"/>
              </a:rPr>
              <a:t>JIT</a:t>
            </a:r>
            <a:r>
              <a:rPr lang="zh-CN" altLang="en-US" sz="2400" dirty="0">
                <a:latin typeface="+mj-ea"/>
                <a:ea typeface="+mj-ea"/>
              </a:rPr>
              <a:t>的组成，比如用看板引导物流</a:t>
            </a:r>
          </a:p>
        </p:txBody>
      </p:sp>
    </p:spTree>
    <p:extLst>
      <p:ext uri="{BB962C8B-B14F-4D97-AF65-F5344CB8AC3E}">
        <p14:creationId xmlns:p14="http://schemas.microsoft.com/office/powerpoint/2010/main" val="771288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903643-8A08-412C-8C96-33E1473ACA31}"/>
              </a:ext>
            </a:extLst>
          </p:cNvPr>
          <p:cNvSpPr txBox="1">
            <a:spLocks noChangeArrowheads="1"/>
          </p:cNvSpPr>
          <p:nvPr/>
        </p:nvSpPr>
        <p:spPr>
          <a:xfrm>
            <a:off x="1731780" y="443516"/>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二、设计假设：表现形式之三</a:t>
            </a:r>
          </a:p>
        </p:txBody>
      </p:sp>
      <p:sp>
        <p:nvSpPr>
          <p:cNvPr id="5" name="矩形 4">
            <a:extLst>
              <a:ext uri="{FF2B5EF4-FFF2-40B4-BE49-F238E27FC236}">
                <a16:creationId xmlns:a16="http://schemas.microsoft.com/office/drawing/2014/main" id="{C287B43E-7293-4910-AB68-DC678ED122DE}"/>
              </a:ext>
            </a:extLst>
          </p:cNvPr>
          <p:cNvSpPr/>
          <p:nvPr/>
        </p:nvSpPr>
        <p:spPr>
          <a:xfrm>
            <a:off x="1731780" y="1251481"/>
            <a:ext cx="8728440" cy="523220"/>
          </a:xfrm>
          <a:prstGeom prst="rect">
            <a:avLst/>
          </a:prstGeom>
        </p:spPr>
        <p:txBody>
          <a:bodyPr wrap="square">
            <a:spAutoFit/>
          </a:bodyPr>
          <a:lstStyle/>
          <a:p>
            <a:pPr defTabSz="914126">
              <a:spcBef>
                <a:spcPct val="0"/>
              </a:spcBef>
            </a:pPr>
            <a:r>
              <a:rPr lang="zh-CN" altLang="en-US" sz="2800" b="1" dirty="0">
                <a:latin typeface="+mj-ea"/>
                <a:ea typeface="+mj-ea"/>
                <a:cs typeface="+mj-cs"/>
              </a:rPr>
              <a:t>元设计与元需求：</a:t>
            </a:r>
            <a:r>
              <a:rPr lang="en-US" altLang="zh-CN" dirty="0"/>
              <a:t>Walls et al. (1992)</a:t>
            </a:r>
            <a:endParaRPr lang="zh-CN" altLang="zh-CN" sz="2000" dirty="0">
              <a:latin typeface="+mj-ea"/>
              <a:ea typeface="+mj-ea"/>
            </a:endParaRPr>
          </a:p>
        </p:txBody>
      </p:sp>
      <p:grpSp>
        <p:nvGrpSpPr>
          <p:cNvPr id="33" name="组合 32">
            <a:extLst>
              <a:ext uri="{FF2B5EF4-FFF2-40B4-BE49-F238E27FC236}">
                <a16:creationId xmlns:a16="http://schemas.microsoft.com/office/drawing/2014/main" id="{992EA04A-AD5B-4BF3-B231-53E7687F678A}"/>
              </a:ext>
            </a:extLst>
          </p:cNvPr>
          <p:cNvGrpSpPr/>
          <p:nvPr/>
        </p:nvGrpSpPr>
        <p:grpSpPr>
          <a:xfrm>
            <a:off x="3019300" y="2050118"/>
            <a:ext cx="5438897" cy="4373911"/>
            <a:chOff x="1462642" y="2187840"/>
            <a:chExt cx="5438897" cy="4373911"/>
          </a:xfrm>
        </p:grpSpPr>
        <p:sp>
          <p:nvSpPr>
            <p:cNvPr id="3" name="文本框 2">
              <a:extLst>
                <a:ext uri="{FF2B5EF4-FFF2-40B4-BE49-F238E27FC236}">
                  <a16:creationId xmlns:a16="http://schemas.microsoft.com/office/drawing/2014/main" id="{B2473E41-7931-4151-94A0-290894D9BA74}"/>
                </a:ext>
              </a:extLst>
            </p:cNvPr>
            <p:cNvSpPr txBox="1"/>
            <p:nvPr/>
          </p:nvSpPr>
          <p:spPr>
            <a:xfrm>
              <a:off x="1785255" y="2253342"/>
              <a:ext cx="1796143" cy="523220"/>
            </a:xfrm>
            <a:prstGeom prst="rect">
              <a:avLst/>
            </a:prstGeom>
            <a:noFill/>
            <a:ln>
              <a:solidFill>
                <a:schemeClr val="accent1"/>
              </a:solidFill>
            </a:ln>
          </p:spPr>
          <p:txBody>
            <a:bodyPr wrap="square" rtlCol="0">
              <a:spAutoFit/>
            </a:bodyPr>
            <a:lstStyle/>
            <a:p>
              <a:pPr algn="ctr"/>
              <a:r>
                <a:rPr lang="zh-CN" altLang="en-US" sz="2800" dirty="0"/>
                <a:t>基础理论</a:t>
              </a:r>
            </a:p>
          </p:txBody>
        </p:sp>
        <p:sp>
          <p:nvSpPr>
            <p:cNvPr id="6" name="文本框 5">
              <a:extLst>
                <a:ext uri="{FF2B5EF4-FFF2-40B4-BE49-F238E27FC236}">
                  <a16:creationId xmlns:a16="http://schemas.microsoft.com/office/drawing/2014/main" id="{0A7D9720-7589-46F4-AA1F-10F777D9F5C0}"/>
                </a:ext>
              </a:extLst>
            </p:cNvPr>
            <p:cNvSpPr txBox="1"/>
            <p:nvPr/>
          </p:nvSpPr>
          <p:spPr>
            <a:xfrm>
              <a:off x="1785254" y="3276600"/>
              <a:ext cx="1796143" cy="523220"/>
            </a:xfrm>
            <a:prstGeom prst="rect">
              <a:avLst/>
            </a:prstGeom>
            <a:noFill/>
            <a:ln>
              <a:solidFill>
                <a:schemeClr val="accent1"/>
              </a:solidFill>
            </a:ln>
          </p:spPr>
          <p:txBody>
            <a:bodyPr wrap="square" rtlCol="0">
              <a:spAutoFit/>
            </a:bodyPr>
            <a:lstStyle/>
            <a:p>
              <a:pPr algn="ctr"/>
              <a:r>
                <a:rPr lang="zh-CN" altLang="en-US" sz="2800" dirty="0"/>
                <a:t>元需求</a:t>
              </a:r>
            </a:p>
          </p:txBody>
        </p:sp>
        <p:sp>
          <p:nvSpPr>
            <p:cNvPr id="7" name="文本框 6">
              <a:extLst>
                <a:ext uri="{FF2B5EF4-FFF2-40B4-BE49-F238E27FC236}">
                  <a16:creationId xmlns:a16="http://schemas.microsoft.com/office/drawing/2014/main" id="{A2A4780E-AC99-4FD9-AA54-E179CE1AA9BB}"/>
                </a:ext>
              </a:extLst>
            </p:cNvPr>
            <p:cNvSpPr txBox="1"/>
            <p:nvPr/>
          </p:nvSpPr>
          <p:spPr>
            <a:xfrm>
              <a:off x="1785253" y="4430861"/>
              <a:ext cx="1796143" cy="523220"/>
            </a:xfrm>
            <a:prstGeom prst="rect">
              <a:avLst/>
            </a:prstGeom>
            <a:noFill/>
            <a:ln>
              <a:solidFill>
                <a:schemeClr val="accent1"/>
              </a:solidFill>
            </a:ln>
          </p:spPr>
          <p:txBody>
            <a:bodyPr wrap="square" rtlCol="0">
              <a:spAutoFit/>
            </a:bodyPr>
            <a:lstStyle/>
            <a:p>
              <a:pPr algn="ctr"/>
              <a:r>
                <a:rPr lang="zh-CN" altLang="en-US" sz="2800" dirty="0"/>
                <a:t>元设计</a:t>
              </a:r>
            </a:p>
          </p:txBody>
        </p:sp>
        <p:sp>
          <p:nvSpPr>
            <p:cNvPr id="8" name="文本框 7">
              <a:extLst>
                <a:ext uri="{FF2B5EF4-FFF2-40B4-BE49-F238E27FC236}">
                  <a16:creationId xmlns:a16="http://schemas.microsoft.com/office/drawing/2014/main" id="{5E5902CD-8C5F-4435-9D7E-4B469CB8DB38}"/>
                </a:ext>
              </a:extLst>
            </p:cNvPr>
            <p:cNvSpPr txBox="1"/>
            <p:nvPr/>
          </p:nvSpPr>
          <p:spPr>
            <a:xfrm>
              <a:off x="4778825" y="4442122"/>
              <a:ext cx="1796143" cy="523220"/>
            </a:xfrm>
            <a:prstGeom prst="rect">
              <a:avLst/>
            </a:prstGeom>
            <a:noFill/>
            <a:ln>
              <a:solidFill>
                <a:schemeClr val="accent1"/>
              </a:solidFill>
            </a:ln>
          </p:spPr>
          <p:txBody>
            <a:bodyPr wrap="square" rtlCol="0">
              <a:spAutoFit/>
            </a:bodyPr>
            <a:lstStyle/>
            <a:p>
              <a:pPr algn="ctr"/>
              <a:r>
                <a:rPr lang="zh-CN" altLang="en-US" sz="2800" dirty="0"/>
                <a:t>设计方法</a:t>
              </a:r>
            </a:p>
          </p:txBody>
        </p:sp>
        <p:sp>
          <p:nvSpPr>
            <p:cNvPr id="9" name="文本框 8">
              <a:extLst>
                <a:ext uri="{FF2B5EF4-FFF2-40B4-BE49-F238E27FC236}">
                  <a16:creationId xmlns:a16="http://schemas.microsoft.com/office/drawing/2014/main" id="{76671E8A-B6A5-4933-A083-EFB24816055D}"/>
                </a:ext>
              </a:extLst>
            </p:cNvPr>
            <p:cNvSpPr txBox="1"/>
            <p:nvPr/>
          </p:nvSpPr>
          <p:spPr>
            <a:xfrm>
              <a:off x="1462642" y="5585122"/>
              <a:ext cx="2449286" cy="954107"/>
            </a:xfrm>
            <a:prstGeom prst="rect">
              <a:avLst/>
            </a:prstGeom>
            <a:noFill/>
            <a:ln>
              <a:solidFill>
                <a:schemeClr val="accent1"/>
              </a:solidFill>
            </a:ln>
          </p:spPr>
          <p:txBody>
            <a:bodyPr wrap="square" rtlCol="0">
              <a:spAutoFit/>
            </a:bodyPr>
            <a:lstStyle/>
            <a:p>
              <a:pPr algn="ctr"/>
              <a:r>
                <a:rPr lang="zh-CN" altLang="en-US" sz="2800" dirty="0"/>
                <a:t>可验证的设计产品假设</a:t>
              </a:r>
            </a:p>
          </p:txBody>
        </p:sp>
        <p:sp>
          <p:nvSpPr>
            <p:cNvPr id="10" name="文本框 9">
              <a:extLst>
                <a:ext uri="{FF2B5EF4-FFF2-40B4-BE49-F238E27FC236}">
                  <a16:creationId xmlns:a16="http://schemas.microsoft.com/office/drawing/2014/main" id="{70698B76-CC73-4109-942A-654A40B58EB7}"/>
                </a:ext>
              </a:extLst>
            </p:cNvPr>
            <p:cNvSpPr txBox="1"/>
            <p:nvPr/>
          </p:nvSpPr>
          <p:spPr>
            <a:xfrm>
              <a:off x="4452253" y="5607644"/>
              <a:ext cx="2449286" cy="954107"/>
            </a:xfrm>
            <a:prstGeom prst="rect">
              <a:avLst/>
            </a:prstGeom>
            <a:noFill/>
            <a:ln>
              <a:solidFill>
                <a:schemeClr val="accent1"/>
              </a:solidFill>
            </a:ln>
          </p:spPr>
          <p:txBody>
            <a:bodyPr wrap="square" rtlCol="0">
              <a:spAutoFit/>
            </a:bodyPr>
            <a:lstStyle/>
            <a:p>
              <a:pPr algn="ctr"/>
              <a:r>
                <a:rPr lang="zh-CN" altLang="en-US" sz="2800" dirty="0"/>
                <a:t>可验证的设计过程假设</a:t>
              </a:r>
            </a:p>
          </p:txBody>
        </p:sp>
        <p:cxnSp>
          <p:nvCxnSpPr>
            <p:cNvPr id="12" name="直接箭头连接符 11">
              <a:extLst>
                <a:ext uri="{FF2B5EF4-FFF2-40B4-BE49-F238E27FC236}">
                  <a16:creationId xmlns:a16="http://schemas.microsoft.com/office/drawing/2014/main" id="{7E980CF4-5A42-4CFB-814C-BAFF727B11BD}"/>
                </a:ext>
              </a:extLst>
            </p:cNvPr>
            <p:cNvCxnSpPr>
              <a:stCxn id="3" idx="2"/>
              <a:endCxn id="6" idx="0"/>
            </p:cNvCxnSpPr>
            <p:nvPr/>
          </p:nvCxnSpPr>
          <p:spPr>
            <a:xfrm flipH="1">
              <a:off x="2683326" y="2776562"/>
              <a:ext cx="1" cy="500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E80E3005-8168-4A1F-A048-8FA5A1D5621E}"/>
                </a:ext>
              </a:extLst>
            </p:cNvPr>
            <p:cNvCxnSpPr>
              <a:stCxn id="6" idx="2"/>
              <a:endCxn id="7" idx="0"/>
            </p:cNvCxnSpPr>
            <p:nvPr/>
          </p:nvCxnSpPr>
          <p:spPr>
            <a:xfrm flipH="1">
              <a:off x="2683325" y="3799820"/>
              <a:ext cx="1" cy="631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F492ADDA-E979-4A00-B6FD-5DBFFD029729}"/>
                </a:ext>
              </a:extLst>
            </p:cNvPr>
            <p:cNvCxnSpPr>
              <a:stCxn id="7" idx="2"/>
              <a:endCxn id="9" idx="0"/>
            </p:cNvCxnSpPr>
            <p:nvPr/>
          </p:nvCxnSpPr>
          <p:spPr>
            <a:xfrm>
              <a:off x="2683325" y="4954081"/>
              <a:ext cx="3960" cy="631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2B491D16-515B-4DC3-AF4D-49399721692F}"/>
                </a:ext>
              </a:extLst>
            </p:cNvPr>
            <p:cNvSpPr txBox="1"/>
            <p:nvPr/>
          </p:nvSpPr>
          <p:spPr>
            <a:xfrm>
              <a:off x="4778825" y="2187840"/>
              <a:ext cx="1796143" cy="523220"/>
            </a:xfrm>
            <a:prstGeom prst="rect">
              <a:avLst/>
            </a:prstGeom>
            <a:noFill/>
            <a:ln>
              <a:solidFill>
                <a:schemeClr val="accent1"/>
              </a:solidFill>
            </a:ln>
          </p:spPr>
          <p:txBody>
            <a:bodyPr wrap="square" rtlCol="0">
              <a:spAutoFit/>
            </a:bodyPr>
            <a:lstStyle/>
            <a:p>
              <a:pPr algn="ctr"/>
              <a:r>
                <a:rPr lang="zh-CN" altLang="en-US" sz="2800" dirty="0"/>
                <a:t>基础理论</a:t>
              </a:r>
            </a:p>
          </p:txBody>
        </p:sp>
        <p:cxnSp>
          <p:nvCxnSpPr>
            <p:cNvPr id="22" name="直接箭头连接符 21">
              <a:extLst>
                <a:ext uri="{FF2B5EF4-FFF2-40B4-BE49-F238E27FC236}">
                  <a16:creationId xmlns:a16="http://schemas.microsoft.com/office/drawing/2014/main" id="{7BAD1273-46C2-410D-93B2-659B56608CCE}"/>
                </a:ext>
              </a:extLst>
            </p:cNvPr>
            <p:cNvCxnSpPr>
              <a:stCxn id="20" idx="2"/>
              <a:endCxn id="8" idx="0"/>
            </p:cNvCxnSpPr>
            <p:nvPr/>
          </p:nvCxnSpPr>
          <p:spPr>
            <a:xfrm>
              <a:off x="5676897" y="2711060"/>
              <a:ext cx="0" cy="1731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9B9A16DF-BCAA-42D1-ABFE-6F23AF0ACFAE}"/>
                </a:ext>
              </a:extLst>
            </p:cNvPr>
            <p:cNvCxnSpPr>
              <a:stCxn id="8" idx="2"/>
              <a:endCxn id="10" idx="0"/>
            </p:cNvCxnSpPr>
            <p:nvPr/>
          </p:nvCxnSpPr>
          <p:spPr>
            <a:xfrm flipH="1">
              <a:off x="5676896" y="4965342"/>
              <a:ext cx="1" cy="6423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DC8ED79A-FE89-48C2-AD22-BE84596FA5B3}"/>
                </a:ext>
              </a:extLst>
            </p:cNvPr>
            <p:cNvCxnSpPr>
              <a:cxnSpLocks/>
              <a:stCxn id="6" idx="3"/>
            </p:cNvCxnSpPr>
            <p:nvPr/>
          </p:nvCxnSpPr>
          <p:spPr>
            <a:xfrm>
              <a:off x="3581397" y="3538210"/>
              <a:ext cx="16837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66594CB8-42BD-4A88-91EA-F5F210F00A85}"/>
                </a:ext>
              </a:extLst>
            </p:cNvPr>
            <p:cNvCxnSpPr>
              <a:cxnSpLocks/>
            </p:cNvCxnSpPr>
            <p:nvPr/>
          </p:nvCxnSpPr>
          <p:spPr>
            <a:xfrm>
              <a:off x="5265122" y="3538210"/>
              <a:ext cx="0" cy="892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67899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8377E2CD-70E6-4E16-85D6-B92C97CC8C50}"/>
              </a:ext>
            </a:extLst>
          </p:cNvPr>
          <p:cNvGraphicFramePr>
            <a:graphicFrameLocks noChangeAspect="1"/>
          </p:cNvGraphicFramePr>
          <p:nvPr/>
        </p:nvGraphicFramePr>
        <p:xfrm>
          <a:off x="3569771" y="2079172"/>
          <a:ext cx="4139934" cy="4005943"/>
        </p:xfrm>
        <a:graphic>
          <a:graphicData uri="http://schemas.openxmlformats.org/presentationml/2006/ole">
            <mc:AlternateContent xmlns:mc="http://schemas.openxmlformats.org/markup-compatibility/2006">
              <mc:Choice xmlns:v="urn:schemas-microsoft-com:vml" Requires="v">
                <p:oleObj spid="_x0000_s5122" name="Visio" r:id="rId3" imgW="1763573" imgH="2013870" progId="Visio.Drawing.15">
                  <p:embed/>
                </p:oleObj>
              </mc:Choice>
              <mc:Fallback>
                <p:oleObj name="Visio" r:id="rId3" imgW="1763573" imgH="2013870" progId="Visio.Drawing.15">
                  <p:embed/>
                  <p:pic>
                    <p:nvPicPr>
                      <p:cNvPr id="2" name="对象 1">
                        <a:extLst>
                          <a:ext uri="{FF2B5EF4-FFF2-40B4-BE49-F238E27FC236}">
                            <a16:creationId xmlns:a16="http://schemas.microsoft.com/office/drawing/2014/main" id="{8377E2CD-70E6-4E16-85D6-B92C97CC8C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9771" y="2079172"/>
                        <a:ext cx="4139934" cy="4005943"/>
                      </a:xfrm>
                      <a:prstGeom prst="rect">
                        <a:avLst/>
                      </a:prstGeom>
                      <a:noFill/>
                    </p:spPr>
                  </p:pic>
                </p:oleObj>
              </mc:Fallback>
            </mc:AlternateContent>
          </a:graphicData>
        </a:graphic>
      </p:graphicFrame>
      <p:sp>
        <p:nvSpPr>
          <p:cNvPr id="3" name="标题 13">
            <a:extLst>
              <a:ext uri="{FF2B5EF4-FFF2-40B4-BE49-F238E27FC236}">
                <a16:creationId xmlns:a16="http://schemas.microsoft.com/office/drawing/2014/main" id="{BA1A0970-75B6-414D-B368-1764FC5FB6B8}"/>
              </a:ext>
            </a:extLst>
          </p:cNvPr>
          <p:cNvSpPr txBox="1">
            <a:spLocks/>
          </p:cNvSpPr>
          <p:nvPr/>
        </p:nvSpPr>
        <p:spPr>
          <a:xfrm>
            <a:off x="1912299" y="1283762"/>
            <a:ext cx="2757673" cy="555925"/>
          </a:xfrm>
          <a:prstGeom prst="rect">
            <a:avLst/>
          </a:prstGeom>
          <a:solidFill>
            <a:schemeClr val="accent3">
              <a:lumMod val="40000"/>
              <a:lumOff val="60000"/>
            </a:schemeClr>
          </a:solidFill>
        </p:spPr>
        <p:txBody>
          <a:bodyPr vert="horz" lIns="91440" tIns="45720" rIns="91440" bIns="45720" rtlCol="0" anchor="ctr">
            <a:normAutofit fontScale="77500" lnSpcReduction="20000"/>
          </a:bodyPr>
          <a:lstStyle>
            <a:lvl1pPr algn="ctr" defTabSz="914126" rtl="0" eaLnBrk="1" latinLnBrk="0" hangingPunct="1">
              <a:spcBef>
                <a:spcPct val="0"/>
              </a:spcBef>
              <a:buNone/>
              <a:defRPr sz="4399" kern="1200">
                <a:solidFill>
                  <a:schemeClr val="tx1"/>
                </a:solidFill>
                <a:latin typeface="+mj-lt"/>
                <a:ea typeface="+mj-ea"/>
                <a:cs typeface="+mj-cs"/>
              </a:defRPr>
            </a:lvl1pPr>
          </a:lstStyle>
          <a:p>
            <a:pPr algn="l"/>
            <a:r>
              <a:rPr lang="zh-CN" altLang="en-US" sz="2800" b="1" dirty="0">
                <a:latin typeface="+mj-ea"/>
              </a:rPr>
              <a:t>示例：搜索系统开发</a:t>
            </a:r>
            <a:endParaRPr lang="en-US" altLang="zh-CN" sz="2800" b="1" dirty="0">
              <a:latin typeface="+mj-ea"/>
            </a:endParaRPr>
          </a:p>
        </p:txBody>
      </p:sp>
      <p:sp>
        <p:nvSpPr>
          <p:cNvPr id="4" name="矩形 3">
            <a:extLst>
              <a:ext uri="{FF2B5EF4-FFF2-40B4-BE49-F238E27FC236}">
                <a16:creationId xmlns:a16="http://schemas.microsoft.com/office/drawing/2014/main" id="{176B88DE-5CE7-458E-9819-A75452E10ADC}"/>
              </a:ext>
            </a:extLst>
          </p:cNvPr>
          <p:cNvSpPr/>
          <p:nvPr/>
        </p:nvSpPr>
        <p:spPr>
          <a:xfrm>
            <a:off x="1779508" y="6216134"/>
            <a:ext cx="2524153" cy="369332"/>
          </a:xfrm>
          <a:prstGeom prst="rect">
            <a:avLst/>
          </a:prstGeom>
        </p:spPr>
        <p:txBody>
          <a:bodyPr wrap="none">
            <a:spAutoFit/>
          </a:bodyPr>
          <a:lstStyle/>
          <a:p>
            <a:r>
              <a:rPr lang="en-US" altLang="zh-CN" dirty="0">
                <a:solidFill>
                  <a:srgbClr val="000000"/>
                </a:solidFill>
                <a:latin typeface="宋体テ...."/>
              </a:rPr>
              <a:t>Sturm &amp; </a:t>
            </a:r>
            <a:r>
              <a:rPr lang="en-US" altLang="zh-CN" dirty="0" err="1">
                <a:solidFill>
                  <a:srgbClr val="000000"/>
                </a:solidFill>
                <a:latin typeface="宋体テ...."/>
              </a:rPr>
              <a:t>Sunyaev</a:t>
            </a:r>
            <a:r>
              <a:rPr lang="en-US" altLang="zh-CN" dirty="0">
                <a:solidFill>
                  <a:srgbClr val="000000"/>
                </a:solidFill>
                <a:latin typeface="宋体テ...."/>
              </a:rPr>
              <a:t> (2018)</a:t>
            </a:r>
            <a:endParaRPr lang="zh-CN" altLang="en-US" dirty="0"/>
          </a:p>
        </p:txBody>
      </p:sp>
      <p:sp>
        <p:nvSpPr>
          <p:cNvPr id="5" name="标题 1">
            <a:extLst>
              <a:ext uri="{FF2B5EF4-FFF2-40B4-BE49-F238E27FC236}">
                <a16:creationId xmlns:a16="http://schemas.microsoft.com/office/drawing/2014/main" id="{60A31E13-25CD-4C8E-A4DE-7C199E2390AE}"/>
              </a:ext>
            </a:extLst>
          </p:cNvPr>
          <p:cNvSpPr txBox="1">
            <a:spLocks noChangeArrowheads="1"/>
          </p:cNvSpPr>
          <p:nvPr/>
        </p:nvSpPr>
        <p:spPr>
          <a:xfrm>
            <a:off x="1731780" y="443516"/>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二、设计假设：表现形式之三</a:t>
            </a:r>
          </a:p>
        </p:txBody>
      </p:sp>
    </p:spTree>
    <p:extLst>
      <p:ext uri="{BB962C8B-B14F-4D97-AF65-F5344CB8AC3E}">
        <p14:creationId xmlns:p14="http://schemas.microsoft.com/office/powerpoint/2010/main" val="1621899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7F7E104-657A-49D4-B0F7-0C4359620E78}"/>
              </a:ext>
            </a:extLst>
          </p:cNvPr>
          <p:cNvSpPr/>
          <p:nvPr/>
        </p:nvSpPr>
        <p:spPr>
          <a:xfrm>
            <a:off x="3285309" y="1559120"/>
            <a:ext cx="1317354" cy="369332"/>
          </a:xfrm>
          <a:prstGeom prst="rect">
            <a:avLst/>
          </a:prstGeom>
          <a:solidFill>
            <a:schemeClr val="accent2">
              <a:lumMod val="20000"/>
              <a:lumOff val="80000"/>
            </a:schemeClr>
          </a:solidFill>
        </p:spPr>
        <p:txBody>
          <a:bodyPr wrap="square">
            <a:spAutoFit/>
          </a:bodyPr>
          <a:lstStyle/>
          <a:p>
            <a:pPr marL="0" lvl="1" algn="ctr"/>
            <a:r>
              <a:rPr lang="zh-CN" altLang="en-US" dirty="0">
                <a:latin typeface="+mj-ea"/>
              </a:rPr>
              <a:t>解决方案</a:t>
            </a:r>
            <a:endParaRPr lang="zh-CN" altLang="zh-CN" dirty="0">
              <a:latin typeface="+mj-ea"/>
            </a:endParaRPr>
          </a:p>
        </p:txBody>
      </p:sp>
      <p:sp>
        <p:nvSpPr>
          <p:cNvPr id="3" name="矩形 2">
            <a:extLst>
              <a:ext uri="{FF2B5EF4-FFF2-40B4-BE49-F238E27FC236}">
                <a16:creationId xmlns:a16="http://schemas.microsoft.com/office/drawing/2014/main" id="{40D3E1E2-89A6-46A4-9835-00636D4DA074}"/>
              </a:ext>
            </a:extLst>
          </p:cNvPr>
          <p:cNvSpPr/>
          <p:nvPr/>
        </p:nvSpPr>
        <p:spPr>
          <a:xfrm>
            <a:off x="6481479" y="1550081"/>
            <a:ext cx="1317354" cy="369332"/>
          </a:xfrm>
          <a:prstGeom prst="rect">
            <a:avLst/>
          </a:prstGeom>
          <a:solidFill>
            <a:schemeClr val="accent2">
              <a:lumMod val="20000"/>
              <a:lumOff val="80000"/>
            </a:schemeClr>
          </a:solidFill>
        </p:spPr>
        <p:txBody>
          <a:bodyPr wrap="square">
            <a:spAutoFit/>
          </a:bodyPr>
          <a:lstStyle/>
          <a:p>
            <a:pPr marL="0" lvl="1" algn="ctr"/>
            <a:r>
              <a:rPr lang="zh-CN" altLang="en-US" dirty="0">
                <a:latin typeface="+mj-ea"/>
              </a:rPr>
              <a:t>预期目标</a:t>
            </a:r>
            <a:endParaRPr lang="zh-CN" altLang="zh-CN" dirty="0">
              <a:latin typeface="+mj-ea"/>
            </a:endParaRPr>
          </a:p>
        </p:txBody>
      </p:sp>
      <p:sp>
        <p:nvSpPr>
          <p:cNvPr id="4" name="矩形 3">
            <a:extLst>
              <a:ext uri="{FF2B5EF4-FFF2-40B4-BE49-F238E27FC236}">
                <a16:creationId xmlns:a16="http://schemas.microsoft.com/office/drawing/2014/main" id="{69937F58-1033-4AFA-98FD-97558850195A}"/>
              </a:ext>
            </a:extLst>
          </p:cNvPr>
          <p:cNvSpPr/>
          <p:nvPr/>
        </p:nvSpPr>
        <p:spPr>
          <a:xfrm>
            <a:off x="4691664" y="2582742"/>
            <a:ext cx="1878815" cy="369332"/>
          </a:xfrm>
          <a:prstGeom prst="rect">
            <a:avLst/>
          </a:prstGeom>
          <a:solidFill>
            <a:schemeClr val="accent2">
              <a:lumMod val="20000"/>
              <a:lumOff val="80000"/>
            </a:schemeClr>
          </a:solidFill>
        </p:spPr>
        <p:txBody>
          <a:bodyPr wrap="square">
            <a:spAutoFit/>
          </a:bodyPr>
          <a:lstStyle/>
          <a:p>
            <a:pPr marL="0" lvl="1" algn="ctr"/>
            <a:r>
              <a:rPr lang="zh-CN" altLang="en-US" dirty="0">
                <a:latin typeface="+mj-ea"/>
              </a:rPr>
              <a:t>设计假设</a:t>
            </a:r>
            <a:r>
              <a:rPr lang="en-US" altLang="zh-CN" dirty="0">
                <a:latin typeface="+mj-ea"/>
              </a:rPr>
              <a:t>/</a:t>
            </a:r>
            <a:r>
              <a:rPr lang="zh-CN" altLang="en-US" dirty="0">
                <a:latin typeface="+mj-ea"/>
              </a:rPr>
              <a:t>理论</a:t>
            </a:r>
            <a:endParaRPr lang="zh-CN" altLang="zh-CN" dirty="0">
              <a:latin typeface="+mj-ea"/>
            </a:endParaRPr>
          </a:p>
        </p:txBody>
      </p:sp>
      <p:sp>
        <p:nvSpPr>
          <p:cNvPr id="5" name="箭头: 右 4">
            <a:extLst>
              <a:ext uri="{FF2B5EF4-FFF2-40B4-BE49-F238E27FC236}">
                <a16:creationId xmlns:a16="http://schemas.microsoft.com/office/drawing/2014/main" id="{9A2D127C-36A3-4F7E-BCBF-2F84D2F02B54}"/>
              </a:ext>
            </a:extLst>
          </p:cNvPr>
          <p:cNvSpPr/>
          <p:nvPr/>
        </p:nvSpPr>
        <p:spPr>
          <a:xfrm>
            <a:off x="4711891" y="1633411"/>
            <a:ext cx="1660358" cy="201727"/>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右 5">
            <a:extLst>
              <a:ext uri="{FF2B5EF4-FFF2-40B4-BE49-F238E27FC236}">
                <a16:creationId xmlns:a16="http://schemas.microsoft.com/office/drawing/2014/main" id="{13905A45-A1AF-4D6A-B12B-A85589D94D41}"/>
              </a:ext>
            </a:extLst>
          </p:cNvPr>
          <p:cNvSpPr/>
          <p:nvPr/>
        </p:nvSpPr>
        <p:spPr>
          <a:xfrm rot="16200000">
            <a:off x="5265799" y="2111408"/>
            <a:ext cx="730544" cy="178002"/>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标题 1">
            <a:extLst>
              <a:ext uri="{FF2B5EF4-FFF2-40B4-BE49-F238E27FC236}">
                <a16:creationId xmlns:a16="http://schemas.microsoft.com/office/drawing/2014/main" id="{86AA29BE-EC71-4408-A888-501379683E7E}"/>
              </a:ext>
            </a:extLst>
          </p:cNvPr>
          <p:cNvSpPr txBox="1">
            <a:spLocks noChangeArrowheads="1"/>
          </p:cNvSpPr>
          <p:nvPr/>
        </p:nvSpPr>
        <p:spPr>
          <a:xfrm>
            <a:off x="1856490" y="433972"/>
            <a:ext cx="7614477" cy="49159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三、设计假设与具体方案的关系</a:t>
            </a:r>
          </a:p>
        </p:txBody>
      </p:sp>
      <p:sp>
        <p:nvSpPr>
          <p:cNvPr id="18" name="矩形 17">
            <a:extLst>
              <a:ext uri="{FF2B5EF4-FFF2-40B4-BE49-F238E27FC236}">
                <a16:creationId xmlns:a16="http://schemas.microsoft.com/office/drawing/2014/main" id="{AA93442D-7FB9-487B-AF23-331276DDEA46}"/>
              </a:ext>
            </a:extLst>
          </p:cNvPr>
          <p:cNvSpPr/>
          <p:nvPr/>
        </p:nvSpPr>
        <p:spPr>
          <a:xfrm>
            <a:off x="838200" y="3429001"/>
            <a:ext cx="9497310" cy="1603581"/>
          </a:xfrm>
          <a:prstGeom prst="rect">
            <a:avLst/>
          </a:prstGeom>
        </p:spPr>
        <p:txBody>
          <a:bodyPr wrap="square">
            <a:spAutoFit/>
          </a:bodyPr>
          <a:lstStyle/>
          <a:p>
            <a:pPr marL="342900" indent="-342900">
              <a:lnSpc>
                <a:spcPct val="125000"/>
              </a:lnSpc>
              <a:buFont typeface="Arial" panose="020B0604020202020204" pitchFamily="34" charset="0"/>
              <a:buChar char="•"/>
            </a:pPr>
            <a:r>
              <a:rPr lang="zh-CN" altLang="en-US" sz="2000" dirty="0">
                <a:latin typeface="+mj-ea"/>
                <a:ea typeface="+mj-ea"/>
              </a:rPr>
              <a:t>设计假设是对路径和预期结果的抽象表达</a:t>
            </a:r>
            <a:endParaRPr lang="en-US" altLang="zh-CN" sz="2000" dirty="0">
              <a:latin typeface="+mj-ea"/>
              <a:ea typeface="+mj-ea"/>
            </a:endParaRPr>
          </a:p>
          <a:p>
            <a:pPr marL="342900" indent="-342900">
              <a:lnSpc>
                <a:spcPct val="125000"/>
              </a:lnSpc>
              <a:buFont typeface="Arial" panose="020B0604020202020204" pitchFamily="34" charset="0"/>
              <a:buChar char="•"/>
            </a:pPr>
            <a:r>
              <a:rPr lang="zh-CN" altLang="en-US" sz="2000" dirty="0">
                <a:latin typeface="+mj-ea"/>
                <a:ea typeface="+mj-ea"/>
              </a:rPr>
              <a:t>设计方案是对设计假设的具体化</a:t>
            </a:r>
            <a:endParaRPr lang="en-US" altLang="zh-CN" sz="2000" dirty="0">
              <a:latin typeface="+mj-ea"/>
              <a:ea typeface="+mj-ea"/>
            </a:endParaRPr>
          </a:p>
          <a:p>
            <a:pPr marL="800100" lvl="1" indent="-342900">
              <a:lnSpc>
                <a:spcPct val="125000"/>
              </a:lnSpc>
              <a:buFont typeface="Arial" panose="020B0604020202020204" pitchFamily="34" charset="0"/>
              <a:buChar char="•"/>
            </a:pPr>
            <a:r>
              <a:rPr lang="zh-CN" altLang="en-US" sz="2000" dirty="0">
                <a:latin typeface="+mj-ea"/>
                <a:ea typeface="+mj-ea"/>
              </a:rPr>
              <a:t>设计假设与设计方案的一对一、一对多、多对多的关系</a:t>
            </a:r>
            <a:endParaRPr lang="en-US" altLang="zh-CN" sz="2000" dirty="0">
              <a:latin typeface="+mj-ea"/>
              <a:ea typeface="+mj-ea"/>
            </a:endParaRPr>
          </a:p>
          <a:p>
            <a:pPr marL="800100" lvl="1" indent="-342900">
              <a:lnSpc>
                <a:spcPct val="125000"/>
              </a:lnSpc>
              <a:buFont typeface="Arial" panose="020B0604020202020204" pitchFamily="34" charset="0"/>
              <a:buChar char="•"/>
            </a:pPr>
            <a:r>
              <a:rPr lang="zh-CN" altLang="en-US" sz="2000" dirty="0">
                <a:latin typeface="+mj-ea"/>
                <a:ea typeface="+mj-ea"/>
              </a:rPr>
              <a:t>设计假设的确定性与解决方案的多样性</a:t>
            </a:r>
            <a:endParaRPr lang="en-US" altLang="zh-CN" sz="2000" dirty="0">
              <a:latin typeface="+mj-ea"/>
              <a:ea typeface="+mj-ea"/>
            </a:endParaRPr>
          </a:p>
        </p:txBody>
      </p:sp>
      <p:sp>
        <p:nvSpPr>
          <p:cNvPr id="19" name="矩形 18">
            <a:extLst>
              <a:ext uri="{FF2B5EF4-FFF2-40B4-BE49-F238E27FC236}">
                <a16:creationId xmlns:a16="http://schemas.microsoft.com/office/drawing/2014/main" id="{4522E06D-95CE-4C28-92B9-27E219464D48}"/>
              </a:ext>
            </a:extLst>
          </p:cNvPr>
          <p:cNvSpPr/>
          <p:nvPr/>
        </p:nvSpPr>
        <p:spPr>
          <a:xfrm>
            <a:off x="1117328" y="5791324"/>
            <a:ext cx="5653315" cy="461665"/>
          </a:xfrm>
          <a:prstGeom prst="rect">
            <a:avLst/>
          </a:prstGeom>
          <a:solidFill>
            <a:schemeClr val="accent6">
              <a:lumMod val="40000"/>
              <a:lumOff val="60000"/>
            </a:schemeClr>
          </a:solidFill>
        </p:spPr>
        <p:txBody>
          <a:bodyPr wrap="square">
            <a:spAutoFit/>
          </a:bodyPr>
          <a:lstStyle/>
          <a:p>
            <a:pPr marL="0" lvl="2" algn="ctr"/>
            <a:r>
              <a:rPr lang="zh-CN" altLang="zh-CN" sz="2400" dirty="0">
                <a:latin typeface="+mj-ea"/>
              </a:rPr>
              <a:t>传递信息</a:t>
            </a:r>
            <a:r>
              <a:rPr lang="zh-CN" altLang="en-US" sz="2400" dirty="0">
                <a:latin typeface="+mj-ea"/>
              </a:rPr>
              <a:t>：</a:t>
            </a:r>
            <a:r>
              <a:rPr lang="zh-CN" altLang="zh-CN" sz="2400" dirty="0">
                <a:latin typeface="+mj-ea"/>
              </a:rPr>
              <a:t>狼烟、旗语、电报和微信等</a:t>
            </a:r>
            <a:endParaRPr lang="en-US" altLang="zh-CN" sz="2400" dirty="0">
              <a:latin typeface="+mj-ea"/>
            </a:endParaRPr>
          </a:p>
        </p:txBody>
      </p:sp>
    </p:spTree>
    <p:extLst>
      <p:ext uri="{BB962C8B-B14F-4D97-AF65-F5344CB8AC3E}">
        <p14:creationId xmlns:p14="http://schemas.microsoft.com/office/powerpoint/2010/main" val="871208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
            <a:extLst>
              <a:ext uri="{FF2B5EF4-FFF2-40B4-BE49-F238E27FC236}">
                <a16:creationId xmlns:a16="http://schemas.microsoft.com/office/drawing/2014/main" id="{86AA29BE-EC71-4408-A888-501379683E7E}"/>
              </a:ext>
            </a:extLst>
          </p:cNvPr>
          <p:cNvSpPr txBox="1">
            <a:spLocks noChangeArrowheads="1"/>
          </p:cNvSpPr>
          <p:nvPr/>
        </p:nvSpPr>
        <p:spPr>
          <a:xfrm>
            <a:off x="1687657" y="453397"/>
            <a:ext cx="6589881"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三、设计假设与具体方案的关系</a:t>
            </a:r>
          </a:p>
        </p:txBody>
      </p:sp>
      <p:sp>
        <p:nvSpPr>
          <p:cNvPr id="9" name="矩形 8">
            <a:extLst>
              <a:ext uri="{FF2B5EF4-FFF2-40B4-BE49-F238E27FC236}">
                <a16:creationId xmlns:a16="http://schemas.microsoft.com/office/drawing/2014/main" id="{89960E8C-46EE-41AE-BCEB-8EE1F2A6AD0F}"/>
              </a:ext>
            </a:extLst>
          </p:cNvPr>
          <p:cNvSpPr/>
          <p:nvPr/>
        </p:nvSpPr>
        <p:spPr>
          <a:xfrm>
            <a:off x="4026132" y="4191716"/>
            <a:ext cx="1693941" cy="369332"/>
          </a:xfrm>
          <a:prstGeom prst="rect">
            <a:avLst/>
          </a:prstGeom>
          <a:solidFill>
            <a:schemeClr val="accent6">
              <a:lumMod val="20000"/>
              <a:lumOff val="80000"/>
            </a:schemeClr>
          </a:solidFill>
        </p:spPr>
        <p:txBody>
          <a:bodyPr wrap="square">
            <a:spAutoFit/>
          </a:bodyPr>
          <a:lstStyle/>
          <a:p>
            <a:pPr marL="0" lvl="1" algn="ctr"/>
            <a:r>
              <a:rPr lang="zh-CN" altLang="en-US" dirty="0"/>
              <a:t>优化任务分配</a:t>
            </a:r>
            <a:endParaRPr lang="zh-CN" altLang="zh-CN" dirty="0">
              <a:latin typeface="+mj-ea"/>
            </a:endParaRPr>
          </a:p>
        </p:txBody>
      </p:sp>
      <p:sp>
        <p:nvSpPr>
          <p:cNvPr id="10" name="矩形 9">
            <a:extLst>
              <a:ext uri="{FF2B5EF4-FFF2-40B4-BE49-F238E27FC236}">
                <a16:creationId xmlns:a16="http://schemas.microsoft.com/office/drawing/2014/main" id="{254D62A7-53D3-436E-8162-BACD2618E49D}"/>
              </a:ext>
            </a:extLst>
          </p:cNvPr>
          <p:cNvSpPr/>
          <p:nvPr/>
        </p:nvSpPr>
        <p:spPr>
          <a:xfrm>
            <a:off x="1587098" y="4052777"/>
            <a:ext cx="1693941" cy="646331"/>
          </a:xfrm>
          <a:prstGeom prst="rect">
            <a:avLst/>
          </a:prstGeom>
          <a:solidFill>
            <a:schemeClr val="accent6">
              <a:lumMod val="20000"/>
              <a:lumOff val="80000"/>
            </a:schemeClr>
          </a:solidFill>
        </p:spPr>
        <p:txBody>
          <a:bodyPr wrap="square">
            <a:spAutoFit/>
          </a:bodyPr>
          <a:lstStyle/>
          <a:p>
            <a:pPr marL="0" lvl="1" algn="ctr"/>
            <a:r>
              <a:rPr lang="zh-CN" altLang="en-US" dirty="0"/>
              <a:t>连续安排附近的任务</a:t>
            </a:r>
            <a:endParaRPr lang="zh-CN" altLang="zh-CN" dirty="0">
              <a:latin typeface="+mj-ea"/>
            </a:endParaRPr>
          </a:p>
        </p:txBody>
      </p:sp>
      <p:sp>
        <p:nvSpPr>
          <p:cNvPr id="11" name="箭头: 右 10">
            <a:extLst>
              <a:ext uri="{FF2B5EF4-FFF2-40B4-BE49-F238E27FC236}">
                <a16:creationId xmlns:a16="http://schemas.microsoft.com/office/drawing/2014/main" id="{D0050049-1787-406F-8980-1F870485EF09}"/>
              </a:ext>
            </a:extLst>
          </p:cNvPr>
          <p:cNvSpPr/>
          <p:nvPr/>
        </p:nvSpPr>
        <p:spPr>
          <a:xfrm>
            <a:off x="3268133" y="4260207"/>
            <a:ext cx="757999" cy="229132"/>
          </a:xfrm>
          <a:prstGeom prst="righ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右 11">
            <a:extLst>
              <a:ext uri="{FF2B5EF4-FFF2-40B4-BE49-F238E27FC236}">
                <a16:creationId xmlns:a16="http://schemas.microsoft.com/office/drawing/2014/main" id="{03507988-F2BB-4778-A2E9-8A720F7B3B63}"/>
              </a:ext>
            </a:extLst>
          </p:cNvPr>
          <p:cNvSpPr/>
          <p:nvPr/>
        </p:nvSpPr>
        <p:spPr>
          <a:xfrm rot="16200000">
            <a:off x="3425565" y="4621905"/>
            <a:ext cx="456041" cy="190910"/>
          </a:xfrm>
          <a:prstGeom prst="righ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65D87350-A0F0-48AF-AD2A-B04920E2CE96}"/>
              </a:ext>
            </a:extLst>
          </p:cNvPr>
          <p:cNvSpPr/>
          <p:nvPr/>
        </p:nvSpPr>
        <p:spPr>
          <a:xfrm>
            <a:off x="2707724" y="5083207"/>
            <a:ext cx="1878815" cy="369332"/>
          </a:xfrm>
          <a:prstGeom prst="rect">
            <a:avLst/>
          </a:prstGeom>
          <a:solidFill>
            <a:schemeClr val="accent6">
              <a:lumMod val="20000"/>
              <a:lumOff val="80000"/>
            </a:schemeClr>
          </a:solidFill>
        </p:spPr>
        <p:txBody>
          <a:bodyPr wrap="square">
            <a:spAutoFit/>
          </a:bodyPr>
          <a:lstStyle/>
          <a:p>
            <a:pPr marL="0" lvl="1" algn="ctr"/>
            <a:r>
              <a:rPr lang="zh-CN" altLang="en-US" dirty="0"/>
              <a:t>减少交通时间</a:t>
            </a:r>
            <a:endParaRPr lang="zh-CN" altLang="zh-CN" dirty="0">
              <a:latin typeface="+mj-ea"/>
            </a:endParaRPr>
          </a:p>
        </p:txBody>
      </p:sp>
      <p:sp>
        <p:nvSpPr>
          <p:cNvPr id="14" name="矩形 13">
            <a:extLst>
              <a:ext uri="{FF2B5EF4-FFF2-40B4-BE49-F238E27FC236}">
                <a16:creationId xmlns:a16="http://schemas.microsoft.com/office/drawing/2014/main" id="{8BC24FBC-71DB-40DA-B1CC-2D0A400EBA40}"/>
              </a:ext>
            </a:extLst>
          </p:cNvPr>
          <p:cNvSpPr/>
          <p:nvPr/>
        </p:nvSpPr>
        <p:spPr>
          <a:xfrm>
            <a:off x="8904200" y="4106639"/>
            <a:ext cx="1693941" cy="369332"/>
          </a:xfrm>
          <a:prstGeom prst="rect">
            <a:avLst/>
          </a:prstGeom>
          <a:solidFill>
            <a:schemeClr val="accent6">
              <a:lumMod val="20000"/>
              <a:lumOff val="80000"/>
            </a:schemeClr>
          </a:solidFill>
        </p:spPr>
        <p:txBody>
          <a:bodyPr wrap="square">
            <a:spAutoFit/>
          </a:bodyPr>
          <a:lstStyle/>
          <a:p>
            <a:pPr marL="0" lvl="1" algn="ctr"/>
            <a:r>
              <a:rPr lang="zh-CN" altLang="en-US" dirty="0"/>
              <a:t>优化任务分配</a:t>
            </a:r>
            <a:endParaRPr lang="zh-CN" altLang="zh-CN" dirty="0">
              <a:latin typeface="+mj-ea"/>
            </a:endParaRPr>
          </a:p>
        </p:txBody>
      </p:sp>
      <p:sp>
        <p:nvSpPr>
          <p:cNvPr id="15" name="矩形 14">
            <a:extLst>
              <a:ext uri="{FF2B5EF4-FFF2-40B4-BE49-F238E27FC236}">
                <a16:creationId xmlns:a16="http://schemas.microsoft.com/office/drawing/2014/main" id="{C001462B-8C27-4023-8D0B-233B3A8EB530}"/>
              </a:ext>
            </a:extLst>
          </p:cNvPr>
          <p:cNvSpPr/>
          <p:nvPr/>
        </p:nvSpPr>
        <p:spPr>
          <a:xfrm>
            <a:off x="6465166" y="3967700"/>
            <a:ext cx="1693941" cy="646331"/>
          </a:xfrm>
          <a:prstGeom prst="rect">
            <a:avLst/>
          </a:prstGeom>
          <a:solidFill>
            <a:schemeClr val="accent6">
              <a:lumMod val="20000"/>
              <a:lumOff val="80000"/>
            </a:schemeClr>
          </a:solidFill>
        </p:spPr>
        <p:txBody>
          <a:bodyPr wrap="square">
            <a:spAutoFit/>
          </a:bodyPr>
          <a:lstStyle/>
          <a:p>
            <a:pPr marL="0" lvl="1" algn="ctr"/>
            <a:r>
              <a:rPr lang="zh-CN" altLang="en-US" dirty="0"/>
              <a:t>峰期仅安排紧迫性工作</a:t>
            </a:r>
            <a:endParaRPr lang="zh-CN" altLang="zh-CN" dirty="0">
              <a:latin typeface="+mj-ea"/>
            </a:endParaRPr>
          </a:p>
        </p:txBody>
      </p:sp>
      <p:sp>
        <p:nvSpPr>
          <p:cNvPr id="16" name="箭头: 右 15">
            <a:extLst>
              <a:ext uri="{FF2B5EF4-FFF2-40B4-BE49-F238E27FC236}">
                <a16:creationId xmlns:a16="http://schemas.microsoft.com/office/drawing/2014/main" id="{9143FEB0-B5BD-441C-8DBC-C3375B9B2584}"/>
              </a:ext>
            </a:extLst>
          </p:cNvPr>
          <p:cNvSpPr/>
          <p:nvPr/>
        </p:nvSpPr>
        <p:spPr>
          <a:xfrm>
            <a:off x="8146201" y="4175130"/>
            <a:ext cx="757999" cy="229132"/>
          </a:xfrm>
          <a:prstGeom prst="righ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a:extLst>
              <a:ext uri="{FF2B5EF4-FFF2-40B4-BE49-F238E27FC236}">
                <a16:creationId xmlns:a16="http://schemas.microsoft.com/office/drawing/2014/main" id="{7CB34617-6107-4209-9CC3-DD3BEC8ED924}"/>
              </a:ext>
            </a:extLst>
          </p:cNvPr>
          <p:cNvSpPr/>
          <p:nvPr/>
        </p:nvSpPr>
        <p:spPr>
          <a:xfrm rot="16200000">
            <a:off x="8303633" y="4536828"/>
            <a:ext cx="456041" cy="190910"/>
          </a:xfrm>
          <a:prstGeom prst="righ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43442E13-8D0C-4AE4-A1DC-62757AC29AF2}"/>
              </a:ext>
            </a:extLst>
          </p:cNvPr>
          <p:cNvSpPr/>
          <p:nvPr/>
        </p:nvSpPr>
        <p:spPr>
          <a:xfrm>
            <a:off x="7585792" y="4998130"/>
            <a:ext cx="1878815" cy="369332"/>
          </a:xfrm>
          <a:prstGeom prst="rect">
            <a:avLst/>
          </a:prstGeom>
          <a:solidFill>
            <a:schemeClr val="accent6">
              <a:lumMod val="20000"/>
              <a:lumOff val="80000"/>
            </a:schemeClr>
          </a:solidFill>
        </p:spPr>
        <p:txBody>
          <a:bodyPr wrap="square">
            <a:spAutoFit/>
          </a:bodyPr>
          <a:lstStyle/>
          <a:p>
            <a:pPr marL="0" lvl="1" algn="ctr"/>
            <a:r>
              <a:rPr lang="zh-CN" altLang="en-US" dirty="0"/>
              <a:t>平衡工作量</a:t>
            </a:r>
            <a:endParaRPr lang="zh-CN" altLang="zh-CN" dirty="0">
              <a:latin typeface="+mj-ea"/>
            </a:endParaRPr>
          </a:p>
        </p:txBody>
      </p:sp>
      <p:sp>
        <p:nvSpPr>
          <p:cNvPr id="7" name="矩形 6">
            <a:extLst>
              <a:ext uri="{FF2B5EF4-FFF2-40B4-BE49-F238E27FC236}">
                <a16:creationId xmlns:a16="http://schemas.microsoft.com/office/drawing/2014/main" id="{108F370C-9216-4500-8468-80E7BCB10C78}"/>
              </a:ext>
            </a:extLst>
          </p:cNvPr>
          <p:cNvSpPr/>
          <p:nvPr/>
        </p:nvSpPr>
        <p:spPr>
          <a:xfrm>
            <a:off x="2909218" y="6084064"/>
            <a:ext cx="6926063" cy="369332"/>
          </a:xfrm>
          <a:prstGeom prst="rect">
            <a:avLst/>
          </a:prstGeom>
          <a:solidFill>
            <a:schemeClr val="accent6">
              <a:lumMod val="40000"/>
              <a:lumOff val="60000"/>
            </a:schemeClr>
          </a:solidFill>
        </p:spPr>
        <p:txBody>
          <a:bodyPr wrap="none">
            <a:spAutoFit/>
          </a:bodyPr>
          <a:lstStyle/>
          <a:p>
            <a:r>
              <a:rPr lang="zh-CN" altLang="en-US" dirty="0">
                <a:latin typeface="宋体.㎡..."/>
              </a:rPr>
              <a:t>对家庭护理提供者的任务分配进行优化</a:t>
            </a:r>
            <a:r>
              <a:rPr lang="en-US" altLang="zh-CN" dirty="0"/>
              <a:t>(</a:t>
            </a:r>
            <a:r>
              <a:rPr lang="en-US" altLang="zh-CN" dirty="0" err="1"/>
              <a:t>Ketokivi</a:t>
            </a:r>
            <a:r>
              <a:rPr lang="en-US" altLang="zh-CN" dirty="0"/>
              <a:t> &amp; </a:t>
            </a:r>
            <a:r>
              <a:rPr lang="en-US" altLang="zh-CN" dirty="0" err="1"/>
              <a:t>Mantere</a:t>
            </a:r>
            <a:r>
              <a:rPr lang="en-US" altLang="zh-CN" dirty="0"/>
              <a:t>, 2021) </a:t>
            </a:r>
            <a:endParaRPr lang="zh-CN" altLang="en-US" dirty="0"/>
          </a:p>
        </p:txBody>
      </p:sp>
      <p:sp>
        <p:nvSpPr>
          <p:cNvPr id="21" name="矩形 20">
            <a:extLst>
              <a:ext uri="{FF2B5EF4-FFF2-40B4-BE49-F238E27FC236}">
                <a16:creationId xmlns:a16="http://schemas.microsoft.com/office/drawing/2014/main" id="{FEA08B3C-CAE4-49E6-8DCA-00F7F68CB4D2}"/>
              </a:ext>
            </a:extLst>
          </p:cNvPr>
          <p:cNvSpPr/>
          <p:nvPr/>
        </p:nvSpPr>
        <p:spPr>
          <a:xfrm>
            <a:off x="3749041" y="1520959"/>
            <a:ext cx="1233557" cy="646331"/>
          </a:xfrm>
          <a:prstGeom prst="rect">
            <a:avLst/>
          </a:prstGeom>
          <a:solidFill>
            <a:schemeClr val="accent2">
              <a:lumMod val="20000"/>
              <a:lumOff val="80000"/>
            </a:schemeClr>
          </a:solidFill>
        </p:spPr>
        <p:txBody>
          <a:bodyPr wrap="square">
            <a:spAutoFit/>
          </a:bodyPr>
          <a:lstStyle/>
          <a:p>
            <a:pPr marL="0" lvl="1" algn="ctr"/>
            <a:r>
              <a:rPr lang="zh-CN" altLang="en-US" dirty="0">
                <a:latin typeface="+mj-ea"/>
              </a:rPr>
              <a:t>拟设计的解决方案</a:t>
            </a:r>
            <a:endParaRPr lang="zh-CN" altLang="zh-CN" dirty="0">
              <a:latin typeface="+mj-ea"/>
            </a:endParaRPr>
          </a:p>
        </p:txBody>
      </p:sp>
      <p:sp>
        <p:nvSpPr>
          <p:cNvPr id="22" name="矩形 21">
            <a:extLst>
              <a:ext uri="{FF2B5EF4-FFF2-40B4-BE49-F238E27FC236}">
                <a16:creationId xmlns:a16="http://schemas.microsoft.com/office/drawing/2014/main" id="{4935EED0-B1E2-442D-A9C0-A7B33B130DD3}"/>
              </a:ext>
            </a:extLst>
          </p:cNvPr>
          <p:cNvSpPr/>
          <p:nvPr/>
        </p:nvSpPr>
        <p:spPr>
          <a:xfrm>
            <a:off x="6671329" y="1520959"/>
            <a:ext cx="830176" cy="646331"/>
          </a:xfrm>
          <a:prstGeom prst="rect">
            <a:avLst/>
          </a:prstGeom>
          <a:solidFill>
            <a:schemeClr val="accent2">
              <a:lumMod val="20000"/>
              <a:lumOff val="80000"/>
            </a:schemeClr>
          </a:solidFill>
        </p:spPr>
        <p:txBody>
          <a:bodyPr wrap="square">
            <a:spAutoFit/>
          </a:bodyPr>
          <a:lstStyle/>
          <a:p>
            <a:pPr marL="0" lvl="1" algn="ctr"/>
            <a:r>
              <a:rPr lang="zh-CN" altLang="en-US" dirty="0">
                <a:latin typeface="+mj-ea"/>
              </a:rPr>
              <a:t>预期目标</a:t>
            </a:r>
            <a:endParaRPr lang="zh-CN" altLang="zh-CN" dirty="0">
              <a:latin typeface="+mj-ea"/>
            </a:endParaRPr>
          </a:p>
        </p:txBody>
      </p:sp>
      <p:sp>
        <p:nvSpPr>
          <p:cNvPr id="23" name="矩形 22">
            <a:extLst>
              <a:ext uri="{FF2B5EF4-FFF2-40B4-BE49-F238E27FC236}">
                <a16:creationId xmlns:a16="http://schemas.microsoft.com/office/drawing/2014/main" id="{C206E528-761D-404F-BB0C-08F1382B9DB1}"/>
              </a:ext>
            </a:extLst>
          </p:cNvPr>
          <p:cNvSpPr/>
          <p:nvPr/>
        </p:nvSpPr>
        <p:spPr>
          <a:xfrm>
            <a:off x="4667128" y="2713643"/>
            <a:ext cx="2452254" cy="369332"/>
          </a:xfrm>
          <a:prstGeom prst="rect">
            <a:avLst/>
          </a:prstGeom>
          <a:solidFill>
            <a:schemeClr val="accent2">
              <a:lumMod val="20000"/>
              <a:lumOff val="80000"/>
            </a:schemeClr>
          </a:solidFill>
        </p:spPr>
        <p:txBody>
          <a:bodyPr wrap="square">
            <a:spAutoFit/>
          </a:bodyPr>
          <a:lstStyle/>
          <a:p>
            <a:pPr marL="0" lvl="1" algn="ctr"/>
            <a:r>
              <a:rPr lang="zh-CN" altLang="en-US" dirty="0">
                <a:latin typeface="+mj-ea"/>
              </a:rPr>
              <a:t>设计假设</a:t>
            </a:r>
            <a:r>
              <a:rPr lang="en-US" altLang="zh-CN" dirty="0">
                <a:latin typeface="+mj-ea"/>
              </a:rPr>
              <a:t>/</a:t>
            </a:r>
            <a:r>
              <a:rPr lang="zh-CN" altLang="en-US" dirty="0">
                <a:latin typeface="+mj-ea"/>
              </a:rPr>
              <a:t>理论（已知）</a:t>
            </a:r>
            <a:endParaRPr lang="zh-CN" altLang="zh-CN" dirty="0">
              <a:latin typeface="+mj-ea"/>
            </a:endParaRPr>
          </a:p>
        </p:txBody>
      </p:sp>
      <p:sp>
        <p:nvSpPr>
          <p:cNvPr id="24" name="箭头: 右 23">
            <a:extLst>
              <a:ext uri="{FF2B5EF4-FFF2-40B4-BE49-F238E27FC236}">
                <a16:creationId xmlns:a16="http://schemas.microsoft.com/office/drawing/2014/main" id="{43CA5240-A14F-49AA-B473-55CDFE05F7EC}"/>
              </a:ext>
            </a:extLst>
          </p:cNvPr>
          <p:cNvSpPr/>
          <p:nvPr/>
        </p:nvSpPr>
        <p:spPr>
          <a:xfrm>
            <a:off x="4984240" y="1743262"/>
            <a:ext cx="1660358" cy="201727"/>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右 24">
            <a:extLst>
              <a:ext uri="{FF2B5EF4-FFF2-40B4-BE49-F238E27FC236}">
                <a16:creationId xmlns:a16="http://schemas.microsoft.com/office/drawing/2014/main" id="{24662A09-A893-4A43-9171-51E921C0B3E4}"/>
              </a:ext>
            </a:extLst>
          </p:cNvPr>
          <p:cNvSpPr/>
          <p:nvPr/>
        </p:nvSpPr>
        <p:spPr>
          <a:xfrm rot="16200000">
            <a:off x="5538148" y="2221259"/>
            <a:ext cx="730544" cy="178002"/>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04450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50BF993E-2C30-477F-B771-9D424D25FB90}"/>
              </a:ext>
            </a:extLst>
          </p:cNvPr>
          <p:cNvGraphicFramePr>
            <a:graphicFrameLocks noChangeAspect="1"/>
          </p:cNvGraphicFramePr>
          <p:nvPr/>
        </p:nvGraphicFramePr>
        <p:xfrm>
          <a:off x="399010" y="1342440"/>
          <a:ext cx="5619404" cy="3545443"/>
        </p:xfrm>
        <a:graphic>
          <a:graphicData uri="http://schemas.openxmlformats.org/presentationml/2006/ole">
            <mc:AlternateContent xmlns:mc="http://schemas.openxmlformats.org/markup-compatibility/2006">
              <mc:Choice xmlns:v="urn:schemas-microsoft-com:vml" Requires="v">
                <p:oleObj spid="_x0000_s6146" name="Visio" r:id="rId3" imgW="4844129" imgH="2949937" progId="Visio.Drawing.15">
                  <p:embed/>
                </p:oleObj>
              </mc:Choice>
              <mc:Fallback>
                <p:oleObj name="Visio" r:id="rId3" imgW="4844129" imgH="2949937" progId="Visio.Drawing.15">
                  <p:embed/>
                  <p:pic>
                    <p:nvPicPr>
                      <p:cNvPr id="3" name="对象 2">
                        <a:extLst>
                          <a:ext uri="{FF2B5EF4-FFF2-40B4-BE49-F238E27FC236}">
                            <a16:creationId xmlns:a16="http://schemas.microsoft.com/office/drawing/2014/main" id="{50BF993E-2C30-477F-B771-9D424D25FB90}"/>
                          </a:ext>
                        </a:extLst>
                      </p:cNvPr>
                      <p:cNvPicPr>
                        <a:picLocks noChangeAspect="1" noChangeArrowheads="1"/>
                      </p:cNvPicPr>
                      <p:nvPr/>
                    </p:nvPicPr>
                    <p:blipFill>
                      <a:blip r:embed="rId4"/>
                      <a:srcRect/>
                      <a:stretch>
                        <a:fillRect/>
                      </a:stretch>
                    </p:blipFill>
                    <p:spPr bwMode="auto">
                      <a:xfrm>
                        <a:off x="399010" y="1342440"/>
                        <a:ext cx="5619404" cy="3545443"/>
                      </a:xfrm>
                      <a:prstGeom prst="rect">
                        <a:avLst/>
                      </a:prstGeom>
                      <a:noFill/>
                    </p:spPr>
                  </p:pic>
                </p:oleObj>
              </mc:Fallback>
            </mc:AlternateContent>
          </a:graphicData>
        </a:graphic>
      </p:graphicFrame>
      <p:sp>
        <p:nvSpPr>
          <p:cNvPr id="4" name="矩形 3">
            <a:extLst>
              <a:ext uri="{FF2B5EF4-FFF2-40B4-BE49-F238E27FC236}">
                <a16:creationId xmlns:a16="http://schemas.microsoft.com/office/drawing/2014/main" id="{6F404D74-04C5-403A-978E-3FBCE4BA7AB2}"/>
              </a:ext>
            </a:extLst>
          </p:cNvPr>
          <p:cNvSpPr/>
          <p:nvPr/>
        </p:nvSpPr>
        <p:spPr>
          <a:xfrm>
            <a:off x="6096000" y="1342440"/>
            <a:ext cx="5486401" cy="1296637"/>
          </a:xfrm>
          <a:prstGeom prst="rect">
            <a:avLst/>
          </a:prstGeom>
        </p:spPr>
        <p:txBody>
          <a:bodyPr wrap="square">
            <a:spAutoFit/>
          </a:bodyPr>
          <a:lstStyle/>
          <a:p>
            <a:pPr>
              <a:lnSpc>
                <a:spcPct val="150000"/>
              </a:lnSpc>
            </a:pPr>
            <a:r>
              <a:rPr lang="en-US" altLang="zh-CN" dirty="0"/>
              <a:t>《</a:t>
            </a:r>
            <a:r>
              <a:rPr lang="zh-CN" altLang="zh-CN" dirty="0"/>
              <a:t>基于贝叶斯风险网络的项目完工动态预测改进研究</a:t>
            </a:r>
            <a:r>
              <a:rPr lang="en-US" altLang="zh-CN" dirty="0"/>
              <a:t>》</a:t>
            </a:r>
          </a:p>
          <a:p>
            <a:pPr marL="285750" indent="-285750">
              <a:lnSpc>
                <a:spcPct val="150000"/>
              </a:lnSpc>
              <a:buFont typeface="Arial" panose="020B0604020202020204" pitchFamily="34" charset="0"/>
              <a:buChar char="•"/>
            </a:pPr>
            <a:r>
              <a:rPr lang="zh-CN" altLang="en-US" b="1" dirty="0"/>
              <a:t>理论基础</a:t>
            </a:r>
            <a:r>
              <a:rPr lang="zh-CN" altLang="en-US" dirty="0"/>
              <a:t>：贝叶斯风险网络</a:t>
            </a:r>
            <a:endParaRPr lang="en-US" altLang="zh-CN" dirty="0"/>
          </a:p>
          <a:p>
            <a:pPr marL="285750" indent="-285750">
              <a:lnSpc>
                <a:spcPct val="150000"/>
              </a:lnSpc>
              <a:buFont typeface="Arial" panose="020B0604020202020204" pitchFamily="34" charset="0"/>
              <a:buChar char="•"/>
            </a:pPr>
            <a:r>
              <a:rPr lang="zh-CN" altLang="en-US" b="1" dirty="0"/>
              <a:t>理论问题</a:t>
            </a:r>
            <a:r>
              <a:rPr lang="zh-CN" altLang="en-US" dirty="0"/>
              <a:t>：项目完工动态预测</a:t>
            </a:r>
            <a:endParaRPr lang="en-US" altLang="zh-CN" dirty="0"/>
          </a:p>
        </p:txBody>
      </p:sp>
      <p:sp>
        <p:nvSpPr>
          <p:cNvPr id="6" name="标题 1">
            <a:extLst>
              <a:ext uri="{FF2B5EF4-FFF2-40B4-BE49-F238E27FC236}">
                <a16:creationId xmlns:a16="http://schemas.microsoft.com/office/drawing/2014/main" id="{B8923E96-649B-4CE6-8893-8A648FE0707C}"/>
              </a:ext>
            </a:extLst>
          </p:cNvPr>
          <p:cNvSpPr txBox="1">
            <a:spLocks noChangeArrowheads="1"/>
          </p:cNvSpPr>
          <p:nvPr/>
        </p:nvSpPr>
        <p:spPr>
          <a:xfrm>
            <a:off x="1687657" y="453397"/>
            <a:ext cx="6589881"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设计假设与解决方案的关系</a:t>
            </a:r>
          </a:p>
        </p:txBody>
      </p:sp>
      <p:sp>
        <p:nvSpPr>
          <p:cNvPr id="7" name="矩形 6">
            <a:extLst>
              <a:ext uri="{FF2B5EF4-FFF2-40B4-BE49-F238E27FC236}">
                <a16:creationId xmlns:a16="http://schemas.microsoft.com/office/drawing/2014/main" id="{E4831348-1133-415B-A1A4-4CB2FCCAB04F}"/>
              </a:ext>
            </a:extLst>
          </p:cNvPr>
          <p:cNvSpPr/>
          <p:nvPr/>
        </p:nvSpPr>
        <p:spPr>
          <a:xfrm>
            <a:off x="2697478" y="1729047"/>
            <a:ext cx="1458885" cy="615142"/>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B7560C80-63AB-4F3D-8413-8CB2214097C7}"/>
              </a:ext>
            </a:extLst>
          </p:cNvPr>
          <p:cNvSpPr/>
          <p:nvPr/>
        </p:nvSpPr>
        <p:spPr>
          <a:xfrm>
            <a:off x="2630976" y="3524596"/>
            <a:ext cx="1458885" cy="615142"/>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4558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485F73FA-4217-4C57-AB4A-114D576EB711}"/>
              </a:ext>
            </a:extLst>
          </p:cNvPr>
          <p:cNvSpPr/>
          <p:nvPr/>
        </p:nvSpPr>
        <p:spPr>
          <a:xfrm>
            <a:off x="3877340" y="1386924"/>
            <a:ext cx="1189148" cy="646331"/>
          </a:xfrm>
          <a:prstGeom prst="rect">
            <a:avLst/>
          </a:prstGeom>
          <a:solidFill>
            <a:schemeClr val="accent2">
              <a:lumMod val="20000"/>
              <a:lumOff val="80000"/>
            </a:schemeClr>
          </a:solidFill>
        </p:spPr>
        <p:txBody>
          <a:bodyPr wrap="square">
            <a:spAutoFit/>
          </a:bodyPr>
          <a:lstStyle/>
          <a:p>
            <a:pPr marL="0" lvl="1" algn="ctr"/>
            <a:r>
              <a:rPr lang="zh-CN" altLang="en-US" dirty="0">
                <a:latin typeface="+mj-ea"/>
              </a:rPr>
              <a:t>拟设计的解决方案</a:t>
            </a:r>
            <a:endParaRPr lang="zh-CN" altLang="zh-CN" dirty="0">
              <a:latin typeface="+mj-ea"/>
            </a:endParaRPr>
          </a:p>
        </p:txBody>
      </p:sp>
      <p:sp>
        <p:nvSpPr>
          <p:cNvPr id="13" name="矩形 12">
            <a:extLst>
              <a:ext uri="{FF2B5EF4-FFF2-40B4-BE49-F238E27FC236}">
                <a16:creationId xmlns:a16="http://schemas.microsoft.com/office/drawing/2014/main" id="{57BE3BC7-A4D9-4DA3-9FFF-07BB907A6839}"/>
              </a:ext>
            </a:extLst>
          </p:cNvPr>
          <p:cNvSpPr/>
          <p:nvPr/>
        </p:nvSpPr>
        <p:spPr>
          <a:xfrm>
            <a:off x="6850666" y="1367822"/>
            <a:ext cx="649810" cy="646331"/>
          </a:xfrm>
          <a:prstGeom prst="rect">
            <a:avLst/>
          </a:prstGeom>
          <a:solidFill>
            <a:schemeClr val="accent2">
              <a:lumMod val="20000"/>
              <a:lumOff val="80000"/>
            </a:schemeClr>
          </a:solidFill>
        </p:spPr>
        <p:txBody>
          <a:bodyPr wrap="square">
            <a:spAutoFit/>
          </a:bodyPr>
          <a:lstStyle/>
          <a:p>
            <a:pPr marL="0" lvl="1" algn="ctr"/>
            <a:r>
              <a:rPr lang="zh-CN" altLang="en-US" dirty="0">
                <a:latin typeface="+mj-ea"/>
              </a:rPr>
              <a:t>预期目标</a:t>
            </a:r>
            <a:endParaRPr lang="zh-CN" altLang="zh-CN" dirty="0">
              <a:latin typeface="+mj-ea"/>
            </a:endParaRPr>
          </a:p>
        </p:txBody>
      </p:sp>
      <p:sp>
        <p:nvSpPr>
          <p:cNvPr id="14" name="矩形 13">
            <a:extLst>
              <a:ext uri="{FF2B5EF4-FFF2-40B4-BE49-F238E27FC236}">
                <a16:creationId xmlns:a16="http://schemas.microsoft.com/office/drawing/2014/main" id="{6E051352-C8AC-4BD7-99DD-BC2FDE113B4F}"/>
              </a:ext>
            </a:extLst>
          </p:cNvPr>
          <p:cNvSpPr/>
          <p:nvPr/>
        </p:nvSpPr>
        <p:spPr>
          <a:xfrm>
            <a:off x="4582994" y="2513225"/>
            <a:ext cx="2452254" cy="369332"/>
          </a:xfrm>
          <a:prstGeom prst="rect">
            <a:avLst/>
          </a:prstGeom>
          <a:solidFill>
            <a:schemeClr val="accent2">
              <a:lumMod val="20000"/>
              <a:lumOff val="80000"/>
            </a:schemeClr>
          </a:solidFill>
        </p:spPr>
        <p:txBody>
          <a:bodyPr wrap="square">
            <a:spAutoFit/>
          </a:bodyPr>
          <a:lstStyle/>
          <a:p>
            <a:pPr marL="0" lvl="1" algn="ctr"/>
            <a:r>
              <a:rPr lang="zh-CN" altLang="en-US" dirty="0">
                <a:latin typeface="+mj-ea"/>
              </a:rPr>
              <a:t>设计假设</a:t>
            </a:r>
            <a:r>
              <a:rPr lang="en-US" altLang="zh-CN" dirty="0">
                <a:latin typeface="+mj-ea"/>
              </a:rPr>
              <a:t>/</a:t>
            </a:r>
            <a:r>
              <a:rPr lang="zh-CN" altLang="en-US" dirty="0">
                <a:latin typeface="+mj-ea"/>
              </a:rPr>
              <a:t>理论（未知）</a:t>
            </a:r>
            <a:endParaRPr lang="zh-CN" altLang="zh-CN" dirty="0">
              <a:latin typeface="+mj-ea"/>
            </a:endParaRPr>
          </a:p>
        </p:txBody>
      </p:sp>
      <p:sp>
        <p:nvSpPr>
          <p:cNvPr id="15" name="箭头: 右 14">
            <a:extLst>
              <a:ext uri="{FF2B5EF4-FFF2-40B4-BE49-F238E27FC236}">
                <a16:creationId xmlns:a16="http://schemas.microsoft.com/office/drawing/2014/main" id="{D5BF5352-7312-4034-A895-15ECFFC3B75F}"/>
              </a:ext>
            </a:extLst>
          </p:cNvPr>
          <p:cNvSpPr/>
          <p:nvPr/>
        </p:nvSpPr>
        <p:spPr>
          <a:xfrm>
            <a:off x="5141677" y="1609225"/>
            <a:ext cx="1660358" cy="201727"/>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a:extLst>
              <a:ext uri="{FF2B5EF4-FFF2-40B4-BE49-F238E27FC236}">
                <a16:creationId xmlns:a16="http://schemas.microsoft.com/office/drawing/2014/main" id="{88F66FB4-DD00-4A62-8C04-188E9562DAA9}"/>
              </a:ext>
            </a:extLst>
          </p:cNvPr>
          <p:cNvSpPr/>
          <p:nvPr/>
        </p:nvSpPr>
        <p:spPr>
          <a:xfrm rot="16200000">
            <a:off x="5441554" y="2023487"/>
            <a:ext cx="730544" cy="178002"/>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252C7F60-7555-4F54-84A6-3CD1D72AFBE3}"/>
              </a:ext>
            </a:extLst>
          </p:cNvPr>
          <p:cNvSpPr/>
          <p:nvPr/>
        </p:nvSpPr>
        <p:spPr>
          <a:xfrm>
            <a:off x="1448384" y="3715588"/>
            <a:ext cx="1652263" cy="400110"/>
          </a:xfrm>
          <a:prstGeom prst="rect">
            <a:avLst/>
          </a:prstGeom>
        </p:spPr>
        <p:txBody>
          <a:bodyPr wrap="square">
            <a:spAutoFit/>
          </a:bodyPr>
          <a:lstStyle/>
          <a:p>
            <a:r>
              <a:rPr lang="zh-CN" altLang="en-US" sz="2000" dirty="0">
                <a:latin typeface="+mj-ea"/>
                <a:ea typeface="+mj-ea"/>
              </a:rPr>
              <a:t>组合和变异</a:t>
            </a:r>
            <a:endParaRPr lang="en-US" altLang="zh-CN" sz="2000" dirty="0">
              <a:latin typeface="+mj-ea"/>
              <a:ea typeface="+mj-ea"/>
            </a:endParaRPr>
          </a:p>
        </p:txBody>
      </p:sp>
      <p:graphicFrame>
        <p:nvGraphicFramePr>
          <p:cNvPr id="20" name="表格 19">
            <a:extLst>
              <a:ext uri="{FF2B5EF4-FFF2-40B4-BE49-F238E27FC236}">
                <a16:creationId xmlns:a16="http://schemas.microsoft.com/office/drawing/2014/main" id="{20BE5646-5D7B-48F0-8BBE-6EFF005DD338}"/>
              </a:ext>
            </a:extLst>
          </p:cNvPr>
          <p:cNvGraphicFramePr>
            <a:graphicFrameLocks noGrp="1"/>
          </p:cNvGraphicFramePr>
          <p:nvPr>
            <p:extLst>
              <p:ext uri="{D42A27DB-BD31-4B8C-83A1-F6EECF244321}">
                <p14:modId xmlns:p14="http://schemas.microsoft.com/office/powerpoint/2010/main" val="3632291362"/>
              </p:ext>
            </p:extLst>
          </p:nvPr>
        </p:nvGraphicFramePr>
        <p:xfrm>
          <a:off x="1533242" y="4298883"/>
          <a:ext cx="8608285" cy="1736157"/>
        </p:xfrm>
        <a:graphic>
          <a:graphicData uri="http://schemas.openxmlformats.org/drawingml/2006/table">
            <a:tbl>
              <a:tblPr firstRow="1" bandRow="1">
                <a:tableStyleId>{5C22544A-7EE6-4342-B048-85BDC9FD1C3A}</a:tableStyleId>
              </a:tblPr>
              <a:tblGrid>
                <a:gridCol w="1524540">
                  <a:extLst>
                    <a:ext uri="{9D8B030D-6E8A-4147-A177-3AD203B41FA5}">
                      <a16:colId xmlns:a16="http://schemas.microsoft.com/office/drawing/2014/main" val="555867589"/>
                    </a:ext>
                  </a:extLst>
                </a:gridCol>
                <a:gridCol w="2378312">
                  <a:extLst>
                    <a:ext uri="{9D8B030D-6E8A-4147-A177-3AD203B41FA5}">
                      <a16:colId xmlns:a16="http://schemas.microsoft.com/office/drawing/2014/main" val="1270904373"/>
                    </a:ext>
                  </a:extLst>
                </a:gridCol>
                <a:gridCol w="2324867">
                  <a:extLst>
                    <a:ext uri="{9D8B030D-6E8A-4147-A177-3AD203B41FA5}">
                      <a16:colId xmlns:a16="http://schemas.microsoft.com/office/drawing/2014/main" val="3881989247"/>
                    </a:ext>
                  </a:extLst>
                </a:gridCol>
                <a:gridCol w="2380566">
                  <a:extLst>
                    <a:ext uri="{9D8B030D-6E8A-4147-A177-3AD203B41FA5}">
                      <a16:colId xmlns:a16="http://schemas.microsoft.com/office/drawing/2014/main" val="2874046833"/>
                    </a:ext>
                  </a:extLst>
                </a:gridCol>
              </a:tblGrid>
              <a:tr h="465954">
                <a:tc>
                  <a:txBody>
                    <a:bodyPr/>
                    <a:lstStyle/>
                    <a:p>
                      <a:pPr algn="ctr"/>
                      <a:endParaRPr lang="zh-CN" alt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i="0" u="none" strike="noStrike" kern="1200" baseline="0" dirty="0">
                          <a:solidFill>
                            <a:schemeClr val="lt1"/>
                          </a:solidFill>
                          <a:latin typeface="+mn-lt"/>
                          <a:ea typeface="+mn-ea"/>
                          <a:cs typeface="+mn-cs"/>
                        </a:rPr>
                        <a:t>局部性 	</a:t>
                      </a:r>
                      <a:endParaRPr lang="zh-CN" alt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i="0" u="none" strike="noStrike" kern="1200" baseline="0" dirty="0">
                          <a:solidFill>
                            <a:schemeClr val="lt1"/>
                          </a:solidFill>
                          <a:latin typeface="+mn-lt"/>
                          <a:ea typeface="+mn-ea"/>
                          <a:cs typeface="+mn-cs"/>
                        </a:rPr>
                        <a:t>整体性 </a:t>
                      </a:r>
                      <a:endParaRPr lang="zh-CN" alt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i="0" u="none" strike="noStrike" kern="1200" baseline="0" dirty="0">
                          <a:solidFill>
                            <a:schemeClr val="lt1"/>
                          </a:solidFill>
                          <a:latin typeface="+mn-lt"/>
                          <a:ea typeface="+mn-ea"/>
                          <a:cs typeface="+mn-cs"/>
                        </a:rPr>
                        <a:t>加强型 	</a:t>
                      </a:r>
                      <a:endParaRPr lang="zh-CN" altLang="en-US" b="1" dirty="0"/>
                    </a:p>
                  </a:txBody>
                  <a:tcPr/>
                </a:tc>
                <a:extLst>
                  <a:ext uri="{0D108BD9-81ED-4DB2-BD59-A6C34878D82A}">
                    <a16:rowId xmlns:a16="http://schemas.microsoft.com/office/drawing/2014/main" val="2706395524"/>
                  </a:ext>
                </a:extLst>
              </a:tr>
              <a:tr h="8042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kern="1200" baseline="0" dirty="0">
                          <a:solidFill>
                            <a:schemeClr val="dk1"/>
                          </a:solidFill>
                          <a:latin typeface="+mn-lt"/>
                          <a:ea typeface="+mn-ea"/>
                          <a:cs typeface="+mn-cs"/>
                        </a:rPr>
                        <a:t>有调整 	</a:t>
                      </a:r>
                    </a:p>
                    <a:p>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kern="1200" baseline="0" dirty="0">
                          <a:solidFill>
                            <a:schemeClr val="dk1"/>
                          </a:solidFill>
                          <a:latin typeface="+mn-lt"/>
                          <a:ea typeface="+mn-ea"/>
                          <a:cs typeface="+mn-cs"/>
                        </a:rPr>
                        <a:t>对局部内容进行修改 </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kern="1200" baseline="0" dirty="0">
                          <a:solidFill>
                            <a:schemeClr val="dk1"/>
                          </a:solidFill>
                          <a:latin typeface="+mn-lt"/>
                          <a:ea typeface="+mn-ea"/>
                          <a:cs typeface="+mn-cs"/>
                        </a:rPr>
                        <a:t>对整体中的某些内容进行修改</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kern="1200" baseline="0" dirty="0">
                          <a:solidFill>
                            <a:schemeClr val="dk1"/>
                          </a:solidFill>
                          <a:latin typeface="+mn-lt"/>
                          <a:ea typeface="+mn-ea"/>
                          <a:cs typeface="+mn-cs"/>
                        </a:rPr>
                        <a:t>修改，并有增加</a:t>
                      </a:r>
                      <a:endParaRPr lang="zh-CN" altLang="en-US" dirty="0"/>
                    </a:p>
                  </a:txBody>
                  <a:tcPr/>
                </a:tc>
                <a:extLst>
                  <a:ext uri="{0D108BD9-81ED-4DB2-BD59-A6C34878D82A}">
                    <a16:rowId xmlns:a16="http://schemas.microsoft.com/office/drawing/2014/main" val="2131617316"/>
                  </a:ext>
                </a:extLst>
              </a:tr>
              <a:tr h="4659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kern="1200" baseline="0" dirty="0">
                          <a:solidFill>
                            <a:schemeClr val="dk1"/>
                          </a:solidFill>
                          <a:latin typeface="+mn-lt"/>
                          <a:ea typeface="+mn-ea"/>
                          <a:cs typeface="+mn-cs"/>
                        </a:rPr>
                        <a:t>没有调整</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kern="1200" baseline="0" dirty="0">
                          <a:solidFill>
                            <a:schemeClr val="dk1"/>
                          </a:solidFill>
                          <a:latin typeface="+mn-lt"/>
                          <a:ea typeface="+mn-ea"/>
                          <a:cs typeface="+mn-cs"/>
                        </a:rPr>
                        <a:t>直接使用局部</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kern="1200" baseline="0" dirty="0">
                          <a:solidFill>
                            <a:schemeClr val="dk1"/>
                          </a:solidFill>
                          <a:latin typeface="+mn-lt"/>
                          <a:ea typeface="+mn-ea"/>
                          <a:cs typeface="+mn-cs"/>
                        </a:rPr>
                        <a:t>直接使用整体</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kern="1200" baseline="0" dirty="0">
                          <a:solidFill>
                            <a:schemeClr val="dk1"/>
                          </a:solidFill>
                          <a:latin typeface="+mn-lt"/>
                          <a:ea typeface="+mn-ea"/>
                          <a:cs typeface="+mn-cs"/>
                        </a:rPr>
                        <a:t>保留整体，并做增加</a:t>
                      </a:r>
                      <a:endParaRPr lang="zh-CN" altLang="en-US" dirty="0"/>
                    </a:p>
                  </a:txBody>
                  <a:tcPr/>
                </a:tc>
                <a:extLst>
                  <a:ext uri="{0D108BD9-81ED-4DB2-BD59-A6C34878D82A}">
                    <a16:rowId xmlns:a16="http://schemas.microsoft.com/office/drawing/2014/main" val="2235520642"/>
                  </a:ext>
                </a:extLst>
              </a:tr>
            </a:tbl>
          </a:graphicData>
        </a:graphic>
      </p:graphicFrame>
      <p:sp>
        <p:nvSpPr>
          <p:cNvPr id="21" name="标题 1">
            <a:extLst>
              <a:ext uri="{FF2B5EF4-FFF2-40B4-BE49-F238E27FC236}">
                <a16:creationId xmlns:a16="http://schemas.microsoft.com/office/drawing/2014/main" id="{0599212B-D744-4CCF-9DC7-B373DC8C6F01}"/>
              </a:ext>
            </a:extLst>
          </p:cNvPr>
          <p:cNvSpPr txBox="1">
            <a:spLocks noChangeArrowheads="1"/>
          </p:cNvSpPr>
          <p:nvPr/>
        </p:nvSpPr>
        <p:spPr>
          <a:xfrm>
            <a:off x="1771547" y="457607"/>
            <a:ext cx="6589881"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三、设计假设与具体方案的关系</a:t>
            </a:r>
          </a:p>
        </p:txBody>
      </p:sp>
    </p:spTree>
    <p:extLst>
      <p:ext uri="{BB962C8B-B14F-4D97-AF65-F5344CB8AC3E}">
        <p14:creationId xmlns:p14="http://schemas.microsoft.com/office/powerpoint/2010/main" val="1594776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57C4D2E4-F850-4DFC-9ADE-2A5F10BBAB87}"/>
              </a:ext>
            </a:extLst>
          </p:cNvPr>
          <p:cNvGraphicFramePr>
            <a:graphicFrameLocks noGrp="1"/>
          </p:cNvGraphicFramePr>
          <p:nvPr>
            <p:extLst>
              <p:ext uri="{D42A27DB-BD31-4B8C-83A1-F6EECF244321}">
                <p14:modId xmlns:p14="http://schemas.microsoft.com/office/powerpoint/2010/main" val="679162945"/>
              </p:ext>
            </p:extLst>
          </p:nvPr>
        </p:nvGraphicFramePr>
        <p:xfrm>
          <a:off x="585980" y="1741533"/>
          <a:ext cx="8154355" cy="3893820"/>
        </p:xfrm>
        <a:graphic>
          <a:graphicData uri="http://schemas.openxmlformats.org/drawingml/2006/table">
            <a:tbl>
              <a:tblPr firstRow="1" bandRow="1">
                <a:tableStyleId>{BC89EF96-8CEA-46FF-86C4-4CE0E7609802}</a:tableStyleId>
              </a:tblPr>
              <a:tblGrid>
                <a:gridCol w="940212">
                  <a:extLst>
                    <a:ext uri="{9D8B030D-6E8A-4147-A177-3AD203B41FA5}">
                      <a16:colId xmlns:a16="http://schemas.microsoft.com/office/drawing/2014/main" val="1960717938"/>
                    </a:ext>
                  </a:extLst>
                </a:gridCol>
                <a:gridCol w="6538714">
                  <a:extLst>
                    <a:ext uri="{9D8B030D-6E8A-4147-A177-3AD203B41FA5}">
                      <a16:colId xmlns:a16="http://schemas.microsoft.com/office/drawing/2014/main" val="3860901989"/>
                    </a:ext>
                  </a:extLst>
                </a:gridCol>
                <a:gridCol w="675429">
                  <a:extLst>
                    <a:ext uri="{9D8B030D-6E8A-4147-A177-3AD203B41FA5}">
                      <a16:colId xmlns:a16="http://schemas.microsoft.com/office/drawing/2014/main" val="1123828407"/>
                    </a:ext>
                  </a:extLst>
                </a:gridCol>
              </a:tblGrid>
              <a:tr h="480060">
                <a:tc>
                  <a:txBody>
                    <a:bodyPr/>
                    <a:lstStyle/>
                    <a:p>
                      <a:r>
                        <a:rPr lang="zh-CN" altLang="en-US" sz="1400" b="0" dirty="0">
                          <a:solidFill>
                            <a:schemeClr val="tx1"/>
                          </a:solidFill>
                          <a:latin typeface="微软雅黑" panose="020B0503020204020204" pitchFamily="34" charset="-122"/>
                          <a:ea typeface="微软雅黑" panose="020B0503020204020204" pitchFamily="34" charset="-122"/>
                        </a:rPr>
                        <a:t>大桥一</a:t>
                      </a:r>
                    </a:p>
                  </a:txBody>
                  <a:tcPr marL="68580" marR="68580" marT="34290" marB="34290"/>
                </a:tc>
                <a:tc>
                  <a:txBody>
                    <a:bodyPr/>
                    <a:lstStyle/>
                    <a:p>
                      <a:pPr marL="285750" indent="-285750">
                        <a:buFont typeface="Arial" panose="020B0604020202020204" pitchFamily="34" charset="0"/>
                        <a:buChar char="•"/>
                      </a:pPr>
                      <a:r>
                        <a:rPr lang="zh-CN" altLang="en-US" sz="1400" b="0" dirty="0">
                          <a:solidFill>
                            <a:schemeClr val="tx1"/>
                          </a:solidFill>
                          <a:latin typeface="微软雅黑" panose="020B0503020204020204" pitchFamily="34" charset="-122"/>
                          <a:ea typeface="微软雅黑" panose="020B0503020204020204" pitchFamily="34" charset="-122"/>
                        </a:rPr>
                        <a:t>钢板供应商与钢箱梁制造商分开招标</a:t>
                      </a:r>
                      <a:endParaRPr lang="en-US" altLang="zh-CN" sz="1400" b="0" dirty="0">
                        <a:solidFill>
                          <a:schemeClr val="tx1"/>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0" dirty="0">
                          <a:solidFill>
                            <a:schemeClr val="tx1"/>
                          </a:solidFill>
                          <a:latin typeface="微软雅黑" panose="020B0503020204020204" pitchFamily="34" charset="-122"/>
                          <a:ea typeface="微软雅黑" panose="020B0503020204020204" pitchFamily="34" charset="-122"/>
                        </a:rPr>
                        <a:t>钢板供应商与钢箱梁制造商均需与业主签订合同</a:t>
                      </a:r>
                    </a:p>
                  </a:txBody>
                  <a:tcPr marL="68580" marR="68580" marT="34290" marB="34290"/>
                </a:tc>
                <a:tc>
                  <a:txBody>
                    <a:bodyPr/>
                    <a:lstStyle/>
                    <a:p>
                      <a:pPr algn="ctr"/>
                      <a:r>
                        <a:rPr lang="zh-CN" altLang="en-US" sz="1400" b="0" dirty="0">
                          <a:solidFill>
                            <a:schemeClr val="tx1"/>
                          </a:solidFill>
                          <a:latin typeface="微软雅黑" panose="020B0503020204020204" pitchFamily="34" charset="-122"/>
                          <a:ea typeface="微软雅黑" panose="020B0503020204020204" pitchFamily="34" charset="-122"/>
                        </a:rPr>
                        <a:t>甲供</a:t>
                      </a:r>
                    </a:p>
                  </a:txBody>
                  <a:tcPr marL="68580" marR="68580" marT="34290" marB="34290" anchor="ctr"/>
                </a:tc>
                <a:extLst>
                  <a:ext uri="{0D108BD9-81ED-4DB2-BD59-A6C34878D82A}">
                    <a16:rowId xmlns:a16="http://schemas.microsoft.com/office/drawing/2014/main" val="2492184326"/>
                  </a:ext>
                </a:extLst>
              </a:tr>
              <a:tr h="480060">
                <a:tc>
                  <a:txBody>
                    <a:bodyPr/>
                    <a:lstStyle/>
                    <a:p>
                      <a:r>
                        <a:rPr lang="zh-CN" altLang="en-US" sz="1400" b="0" dirty="0">
                          <a:latin typeface="微软雅黑" panose="020B0503020204020204" pitchFamily="34" charset="-122"/>
                          <a:ea typeface="微软雅黑" panose="020B0503020204020204" pitchFamily="34" charset="-122"/>
                        </a:rPr>
                        <a:t>大桥二</a:t>
                      </a:r>
                    </a:p>
                  </a:txBody>
                  <a:tcPr marL="68580" marR="68580" marT="34290" marB="34290"/>
                </a:tc>
                <a:tc>
                  <a:txBody>
                    <a:bodyPr/>
                    <a:lstStyle/>
                    <a:p>
                      <a:pPr marL="285750" indent="-285750">
                        <a:buFont typeface="Arial" panose="020B0604020202020204" pitchFamily="34" charset="0"/>
                        <a:buChar char="•"/>
                      </a:pPr>
                      <a:r>
                        <a:rPr lang="zh-CN" altLang="en-US" sz="1400" b="0" dirty="0">
                          <a:latin typeface="微软雅黑" panose="020B0503020204020204" pitchFamily="34" charset="-122"/>
                          <a:ea typeface="微软雅黑" panose="020B0503020204020204" pitchFamily="34" charset="-122"/>
                        </a:rPr>
                        <a:t>钢箱梁制造商负责直供材料的卸货和验收、其他材料的采购</a:t>
                      </a:r>
                      <a:endParaRPr lang="en-US" altLang="zh-CN" sz="1400" b="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0" dirty="0">
                          <a:latin typeface="微软雅黑" panose="020B0503020204020204" pitchFamily="34" charset="-122"/>
                          <a:ea typeface="微软雅黑" panose="020B0503020204020204" pitchFamily="34" charset="-122"/>
                        </a:rPr>
                        <a:t>不接受联合体投标，需找</a:t>
                      </a:r>
                      <a:r>
                        <a:rPr lang="en-US" altLang="zh-CN" sz="1400" b="0" dirty="0">
                          <a:latin typeface="微软雅黑" panose="020B0503020204020204" pitchFamily="34" charset="-122"/>
                          <a:ea typeface="微软雅黑" panose="020B0503020204020204" pitchFamily="34" charset="-122"/>
                        </a:rPr>
                        <a:t>3</a:t>
                      </a:r>
                      <a:r>
                        <a:rPr lang="zh-CN" altLang="en-US" sz="1400" b="0" dirty="0">
                          <a:latin typeface="微软雅黑" panose="020B0503020204020204" pitchFamily="34" charset="-122"/>
                          <a:ea typeface="微软雅黑" panose="020B0503020204020204" pitchFamily="34" charset="-122"/>
                        </a:rPr>
                        <a:t>家以内的防腐涂装单位作为其专业分包人</a:t>
                      </a:r>
                    </a:p>
                  </a:txBody>
                  <a:tcPr marL="68580" marR="68580" marT="34290" marB="34290"/>
                </a:tc>
                <a:tc rowSpan="3">
                  <a:txBody>
                    <a:bodyPr/>
                    <a:lstStyle/>
                    <a:p>
                      <a:pPr algn="ctr"/>
                      <a:r>
                        <a:rPr lang="zh-CN" altLang="en-US" sz="1400" b="0" dirty="0">
                          <a:latin typeface="微软雅黑" panose="020B0503020204020204" pitchFamily="34" charset="-122"/>
                          <a:ea typeface="微软雅黑" panose="020B0503020204020204" pitchFamily="34" charset="-122"/>
                        </a:rPr>
                        <a:t>甲控</a:t>
                      </a:r>
                    </a:p>
                  </a:txBody>
                  <a:tcPr marL="68580" marR="68580" marT="34290" marB="34290" anchor="ctr"/>
                </a:tc>
                <a:extLst>
                  <a:ext uri="{0D108BD9-81ED-4DB2-BD59-A6C34878D82A}">
                    <a16:rowId xmlns:a16="http://schemas.microsoft.com/office/drawing/2014/main" val="3867002541"/>
                  </a:ext>
                </a:extLst>
              </a:tr>
              <a:tr h="480060">
                <a:tc>
                  <a:txBody>
                    <a:bodyPr/>
                    <a:lstStyle/>
                    <a:p>
                      <a:r>
                        <a:rPr lang="zh-CN" altLang="en-US" sz="1400" b="0" dirty="0">
                          <a:latin typeface="微软雅黑" panose="020B0503020204020204" pitchFamily="34" charset="-122"/>
                          <a:ea typeface="微软雅黑" panose="020B0503020204020204" pitchFamily="34" charset="-122"/>
                        </a:rPr>
                        <a:t>大桥三</a:t>
                      </a:r>
                    </a:p>
                  </a:txBody>
                  <a:tcPr marL="68580" marR="68580" marT="34290" marB="34290"/>
                </a:tc>
                <a:tc>
                  <a:txBody>
                    <a:bodyPr/>
                    <a:lstStyle/>
                    <a:p>
                      <a:pPr marL="285750" indent="-285750">
                        <a:buFont typeface="Arial" panose="020B0604020202020204" pitchFamily="34" charset="0"/>
                        <a:buChar char="•"/>
                      </a:pPr>
                      <a:r>
                        <a:rPr lang="zh-CN" altLang="en-US" sz="1400" b="0" dirty="0">
                          <a:latin typeface="微软雅黑" panose="020B0503020204020204" pitchFamily="34" charset="-122"/>
                          <a:ea typeface="微软雅黑" panose="020B0503020204020204" pitchFamily="34" charset="-122"/>
                        </a:rPr>
                        <a:t>用于永久工程的钢箱梁制造所用钢板及涂装材料由承包人与业主联合招标采购，其它材料由承包人自购</a:t>
                      </a:r>
                    </a:p>
                  </a:txBody>
                  <a:tcPr marL="68580" marR="68580" marT="34290" marB="34290"/>
                </a:tc>
                <a:tc vMerge="1">
                  <a:txBody>
                    <a:bodyPr/>
                    <a:lstStyle/>
                    <a:p>
                      <a:endParaRPr lang="zh-CN" altLang="en-US" sz="18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151818384"/>
                  </a:ext>
                </a:extLst>
              </a:tr>
              <a:tr h="891540">
                <a:tc>
                  <a:txBody>
                    <a:bodyPr/>
                    <a:lstStyle/>
                    <a:p>
                      <a:r>
                        <a:rPr lang="zh-CN" altLang="en-US" sz="1400" b="0" dirty="0">
                          <a:latin typeface="微软雅黑" panose="020B0503020204020204" pitchFamily="34" charset="-122"/>
                          <a:ea typeface="微软雅黑" panose="020B0503020204020204" pitchFamily="34" charset="-122"/>
                        </a:rPr>
                        <a:t>大桥四</a:t>
                      </a:r>
                    </a:p>
                  </a:txBody>
                  <a:tcPr marL="68580" marR="68580" marT="34290" marB="34290"/>
                </a:tc>
                <a:tc>
                  <a:txBody>
                    <a:bodyPr/>
                    <a:lstStyle/>
                    <a:p>
                      <a:pPr marL="285750" indent="-285750">
                        <a:buFont typeface="Arial" panose="020B0604020202020204" pitchFamily="34" charset="0"/>
                        <a:buChar char="•"/>
                      </a:pPr>
                      <a:r>
                        <a:rPr lang="zh-CN" altLang="en-US" sz="1400" b="0" dirty="0">
                          <a:latin typeface="微软雅黑" panose="020B0503020204020204" pitchFamily="34" charset="-122"/>
                          <a:ea typeface="微软雅黑" panose="020B0503020204020204" pitchFamily="34" charset="-122"/>
                        </a:rPr>
                        <a:t>用于钢箱梁制造的所有材料由承包人通过招标、并报业主批准后确定钢板生产企业和采购</a:t>
                      </a:r>
                      <a:endParaRPr lang="en-US" altLang="zh-CN" sz="1400" b="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0" dirty="0">
                          <a:latin typeface="微软雅黑" panose="020B0503020204020204" pitchFamily="34" charset="-122"/>
                          <a:ea typeface="微软雅黑" panose="020B0503020204020204" pitchFamily="34" charset="-122"/>
                        </a:rPr>
                        <a:t>钢板的招标文件作为钢箱梁制造投标文件的一部分，潜在的钢板厂家须在投标文件中列明</a:t>
                      </a:r>
                    </a:p>
                  </a:txBody>
                  <a:tcPr marL="68580" marR="68580" marT="34290" marB="34290"/>
                </a:tc>
                <a:tc vMerge="1">
                  <a:txBody>
                    <a:bodyPr/>
                    <a:lstStyle/>
                    <a:p>
                      <a:endParaRPr lang="zh-CN" altLang="en-US" sz="18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187564151"/>
                  </a:ext>
                </a:extLst>
              </a:tr>
              <a:tr h="480060">
                <a:tc>
                  <a:txBody>
                    <a:bodyPr/>
                    <a:lstStyle/>
                    <a:p>
                      <a:r>
                        <a:rPr lang="zh-CN" altLang="en-US" sz="1400" b="0" dirty="0">
                          <a:latin typeface="微软雅黑" panose="020B0503020204020204" pitchFamily="34" charset="-122"/>
                          <a:ea typeface="微软雅黑" panose="020B0503020204020204" pitchFamily="34" charset="-122"/>
                        </a:rPr>
                        <a:t>大桥五</a:t>
                      </a:r>
                    </a:p>
                  </a:txBody>
                  <a:tcPr marL="68580" marR="68580" marT="34290" marB="34290"/>
                </a:tc>
                <a:tc>
                  <a:txBody>
                    <a:bodyPr/>
                    <a:lstStyle/>
                    <a:p>
                      <a:pPr marL="285750" indent="-285750">
                        <a:buFont typeface="Arial" panose="020B0604020202020204" pitchFamily="34" charset="0"/>
                        <a:buChar char="•"/>
                      </a:pPr>
                      <a:r>
                        <a:rPr lang="zh-CN" altLang="en-US" sz="1400" b="0" dirty="0">
                          <a:latin typeface="微软雅黑" panose="020B0503020204020204" pitchFamily="34" charset="-122"/>
                          <a:ea typeface="微软雅黑" panose="020B0503020204020204" pitchFamily="34" charset="-122"/>
                        </a:rPr>
                        <a:t>钢箱梁制造由承包人自行采购、验收等，但需知会业主同意采购方案后</a:t>
                      </a:r>
                      <a:endParaRPr lang="en-US" altLang="zh-CN" sz="1400" b="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0" dirty="0">
                          <a:latin typeface="微软雅黑" panose="020B0503020204020204" pitchFamily="34" charset="-122"/>
                          <a:ea typeface="微软雅黑" panose="020B0503020204020204" pitchFamily="34" charset="-122"/>
                        </a:rPr>
                        <a:t>业主视情况参与承包人的采购招标，并确定钢板供应商</a:t>
                      </a:r>
                    </a:p>
                  </a:txBody>
                  <a:tcPr marL="68580" marR="68580" marT="34290" marB="34290"/>
                </a:tc>
                <a:tc rowSpan="3">
                  <a:txBody>
                    <a:bodyPr/>
                    <a:lstStyle/>
                    <a:p>
                      <a:pPr algn="ctr"/>
                      <a:r>
                        <a:rPr lang="zh-CN" altLang="en-US" sz="1400" b="0" dirty="0">
                          <a:latin typeface="微软雅黑" panose="020B0503020204020204" pitchFamily="34" charset="-122"/>
                          <a:ea typeface="微软雅黑" panose="020B0503020204020204" pitchFamily="34" charset="-122"/>
                        </a:rPr>
                        <a:t>自购</a:t>
                      </a:r>
                    </a:p>
                  </a:txBody>
                  <a:tcPr marL="68580" marR="68580" marT="34290" marB="34290" anchor="ctr"/>
                </a:tc>
                <a:extLst>
                  <a:ext uri="{0D108BD9-81ED-4DB2-BD59-A6C34878D82A}">
                    <a16:rowId xmlns:a16="http://schemas.microsoft.com/office/drawing/2014/main" val="2467737821"/>
                  </a:ext>
                </a:extLst>
              </a:tr>
              <a:tr h="480060">
                <a:tc>
                  <a:txBody>
                    <a:bodyPr/>
                    <a:lstStyle/>
                    <a:p>
                      <a:r>
                        <a:rPr lang="zh-CN" altLang="en-US" sz="1400" b="0" dirty="0">
                          <a:latin typeface="微软雅黑" panose="020B0503020204020204" pitchFamily="34" charset="-122"/>
                          <a:ea typeface="微软雅黑" panose="020B0503020204020204" pitchFamily="34" charset="-122"/>
                        </a:rPr>
                        <a:t>大桥六</a:t>
                      </a:r>
                    </a:p>
                  </a:txBody>
                  <a:tcPr marL="68580" marR="68580" marT="34290" marB="34290"/>
                </a:tc>
                <a:tc>
                  <a:txBody>
                    <a:bodyPr/>
                    <a:lstStyle/>
                    <a:p>
                      <a:pPr marL="285750" indent="-285750">
                        <a:buFont typeface="Arial" panose="020B0604020202020204" pitchFamily="34" charset="0"/>
                        <a:buChar char="•"/>
                      </a:pPr>
                      <a:r>
                        <a:rPr lang="zh-CN" altLang="en-US" sz="1400" b="0" dirty="0">
                          <a:latin typeface="微软雅黑" panose="020B0503020204020204" pitchFamily="34" charset="-122"/>
                          <a:ea typeface="微软雅黑" panose="020B0503020204020204" pitchFamily="34" charset="-122"/>
                        </a:rPr>
                        <a:t>钢箱梁制造承包人负责各种材料和设备的采购、验收等</a:t>
                      </a:r>
                      <a:endParaRPr lang="en-US" altLang="zh-CN" sz="1400" b="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0" dirty="0">
                          <a:latin typeface="微软雅黑" panose="020B0503020204020204" pitchFamily="34" charset="-122"/>
                          <a:ea typeface="微软雅黑" panose="020B0503020204020204" pitchFamily="34" charset="-122"/>
                        </a:rPr>
                        <a:t>委托其它工厂的须报监理和业主批准</a:t>
                      </a:r>
                    </a:p>
                  </a:txBody>
                  <a:tcPr marL="68580" marR="68580" marT="34290" marB="34290"/>
                </a:tc>
                <a:tc vMerge="1">
                  <a:txBody>
                    <a:bodyPr/>
                    <a:lstStyle/>
                    <a:p>
                      <a:endParaRPr lang="zh-CN" altLang="en-US" sz="18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088663505"/>
                  </a:ext>
                </a:extLst>
              </a:tr>
              <a:tr h="480060">
                <a:tc>
                  <a:txBody>
                    <a:bodyPr/>
                    <a:lstStyle/>
                    <a:p>
                      <a:r>
                        <a:rPr lang="zh-CN" altLang="en-US" sz="1400" b="0" dirty="0">
                          <a:latin typeface="微软雅黑" panose="020B0503020204020204" pitchFamily="34" charset="-122"/>
                          <a:ea typeface="微软雅黑" panose="020B0503020204020204" pitchFamily="34" charset="-122"/>
                        </a:rPr>
                        <a:t>大桥七</a:t>
                      </a:r>
                    </a:p>
                  </a:txBody>
                  <a:tcPr marL="68580" marR="68580" marT="34290" marB="34290"/>
                </a:tc>
                <a:tc>
                  <a:txBody>
                    <a:bodyPr/>
                    <a:lstStyle/>
                    <a:p>
                      <a:pPr marL="285750" indent="-285750">
                        <a:buFont typeface="Arial" panose="020B0604020202020204" pitchFamily="34" charset="0"/>
                        <a:buChar char="•"/>
                      </a:pPr>
                      <a:r>
                        <a:rPr lang="zh-CN" altLang="en-US" sz="1400" b="0" dirty="0">
                          <a:latin typeface="微软雅黑" panose="020B0503020204020204" pitchFamily="34" charset="-122"/>
                          <a:ea typeface="微软雅黑" panose="020B0503020204020204" pitchFamily="34" charset="-122"/>
                        </a:rPr>
                        <a:t>钢箱梁</a:t>
                      </a:r>
                      <a:r>
                        <a:rPr lang="en-US" altLang="zh-CN" sz="1400" b="0" dirty="0">
                          <a:latin typeface="微软雅黑" panose="020B0503020204020204" pitchFamily="34" charset="-122"/>
                          <a:ea typeface="微软雅黑" panose="020B0503020204020204" pitchFamily="34" charset="-122"/>
                        </a:rPr>
                        <a:t>(</a:t>
                      </a:r>
                      <a:r>
                        <a:rPr lang="zh-CN" altLang="en-US" sz="1400" b="0" dirty="0">
                          <a:latin typeface="微软雅黑" panose="020B0503020204020204" pitchFamily="34" charset="-122"/>
                          <a:ea typeface="微软雅黑" panose="020B0503020204020204" pitchFamily="34" charset="-122"/>
                        </a:rPr>
                        <a:t>含检查车</a:t>
                      </a:r>
                      <a:r>
                        <a:rPr lang="en-US" altLang="zh-CN" sz="1400" b="0" dirty="0">
                          <a:latin typeface="微软雅黑" panose="020B0503020204020204" pitchFamily="34" charset="-122"/>
                          <a:ea typeface="微软雅黑" panose="020B0503020204020204" pitchFamily="34" charset="-122"/>
                        </a:rPr>
                        <a:t>)</a:t>
                      </a:r>
                      <a:r>
                        <a:rPr lang="zh-CN" altLang="en-US" sz="1400" b="0" dirty="0">
                          <a:latin typeface="微软雅黑" panose="020B0503020204020204" pitchFamily="34" charset="-122"/>
                          <a:ea typeface="微软雅黑" panose="020B0503020204020204" pitchFamily="34" charset="-122"/>
                        </a:rPr>
                        <a:t>制作材料</a:t>
                      </a:r>
                      <a:r>
                        <a:rPr lang="en-US" altLang="zh-CN" sz="1400" b="0" dirty="0">
                          <a:latin typeface="微软雅黑" panose="020B0503020204020204" pitchFamily="34" charset="-122"/>
                          <a:ea typeface="微软雅黑" panose="020B0503020204020204" pitchFamily="34" charset="-122"/>
                        </a:rPr>
                        <a:t>(</a:t>
                      </a:r>
                      <a:r>
                        <a:rPr lang="zh-CN" altLang="en-US" sz="1400" b="0" dirty="0">
                          <a:latin typeface="微软雅黑" panose="020B0503020204020204" pitchFamily="34" charset="-122"/>
                          <a:ea typeface="微软雅黑" panose="020B0503020204020204" pitchFamily="34" charset="-122"/>
                        </a:rPr>
                        <a:t>涂装材料除外</a:t>
                      </a:r>
                      <a:r>
                        <a:rPr lang="en-US" altLang="zh-CN" sz="1400" b="0" dirty="0">
                          <a:latin typeface="微软雅黑" panose="020B0503020204020204" pitchFamily="34" charset="-122"/>
                          <a:ea typeface="微软雅黑" panose="020B0503020204020204" pitchFamily="34" charset="-122"/>
                        </a:rPr>
                        <a:t>)</a:t>
                      </a:r>
                      <a:r>
                        <a:rPr lang="zh-CN" altLang="en-US" sz="1400" b="0" dirty="0">
                          <a:latin typeface="微软雅黑" panose="020B0503020204020204" pitchFamily="34" charset="-122"/>
                          <a:ea typeface="微软雅黑" panose="020B0503020204020204" pitchFamily="34" charset="-122"/>
                        </a:rPr>
                        <a:t>的采购、验收</a:t>
                      </a:r>
                      <a:endParaRPr lang="en-US" altLang="zh-CN" sz="1400" b="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0" dirty="0">
                          <a:latin typeface="微软雅黑" panose="020B0503020204020204" pitchFamily="34" charset="-122"/>
                          <a:ea typeface="微软雅黑" panose="020B0503020204020204" pitchFamily="34" charset="-122"/>
                        </a:rPr>
                        <a:t>不接受联合体投标</a:t>
                      </a:r>
                    </a:p>
                  </a:txBody>
                  <a:tcPr marL="68580" marR="68580" marT="34290" marB="34290"/>
                </a:tc>
                <a:tc vMerge="1">
                  <a:txBody>
                    <a:bodyPr/>
                    <a:lstStyle/>
                    <a:p>
                      <a:endParaRPr lang="zh-CN" altLang="en-US" sz="18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51181464"/>
                  </a:ext>
                </a:extLst>
              </a:tr>
            </a:tbl>
          </a:graphicData>
        </a:graphic>
      </p:graphicFrame>
      <p:sp>
        <p:nvSpPr>
          <p:cNvPr id="5" name="矩形 4">
            <a:extLst>
              <a:ext uri="{FF2B5EF4-FFF2-40B4-BE49-F238E27FC236}">
                <a16:creationId xmlns:a16="http://schemas.microsoft.com/office/drawing/2014/main" id="{248B3852-655E-4ED1-AA5F-56B5271E87AE}"/>
              </a:ext>
            </a:extLst>
          </p:cNvPr>
          <p:cNvSpPr/>
          <p:nvPr/>
        </p:nvSpPr>
        <p:spPr>
          <a:xfrm>
            <a:off x="9104507" y="2324780"/>
            <a:ext cx="336589" cy="3416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defTabSz="685800"/>
            <a:r>
              <a:rPr lang="zh-CN" altLang="en-US" sz="2100" b="1" dirty="0">
                <a:solidFill>
                  <a:prstClr val="black"/>
                </a:solidFill>
                <a:latin typeface="微软雅黑" panose="020B0503020204020204" pitchFamily="34" charset="-122"/>
                <a:ea typeface="微软雅黑" panose="020B0503020204020204" pitchFamily="34" charset="-122"/>
              </a:rPr>
              <a:t>甲</a:t>
            </a:r>
          </a:p>
        </p:txBody>
      </p:sp>
      <p:sp>
        <p:nvSpPr>
          <p:cNvPr id="17" name="矩形 16">
            <a:extLst>
              <a:ext uri="{FF2B5EF4-FFF2-40B4-BE49-F238E27FC236}">
                <a16:creationId xmlns:a16="http://schemas.microsoft.com/office/drawing/2014/main" id="{0BFF55E6-20FF-4CBC-A727-452EDFE16144}"/>
              </a:ext>
            </a:extLst>
          </p:cNvPr>
          <p:cNvSpPr/>
          <p:nvPr/>
        </p:nvSpPr>
        <p:spPr>
          <a:xfrm>
            <a:off x="9827688" y="2495599"/>
            <a:ext cx="336589" cy="3416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defTabSz="685800"/>
            <a:r>
              <a:rPr lang="zh-CN" altLang="en-US" sz="2100" b="1" dirty="0">
                <a:solidFill>
                  <a:prstClr val="black"/>
                </a:solidFill>
                <a:latin typeface="微软雅黑" panose="020B0503020204020204" pitchFamily="34" charset="-122"/>
                <a:ea typeface="微软雅黑" panose="020B0503020204020204" pitchFamily="34" charset="-122"/>
              </a:rPr>
              <a:t>乙</a:t>
            </a:r>
          </a:p>
        </p:txBody>
      </p:sp>
      <p:sp>
        <p:nvSpPr>
          <p:cNvPr id="18" name="矩形 17">
            <a:extLst>
              <a:ext uri="{FF2B5EF4-FFF2-40B4-BE49-F238E27FC236}">
                <a16:creationId xmlns:a16="http://schemas.microsoft.com/office/drawing/2014/main" id="{2489246B-6A62-47F1-9A8C-FC52E2C2EA2B}"/>
              </a:ext>
            </a:extLst>
          </p:cNvPr>
          <p:cNvSpPr/>
          <p:nvPr/>
        </p:nvSpPr>
        <p:spPr>
          <a:xfrm>
            <a:off x="9826528" y="1962371"/>
            <a:ext cx="336589" cy="3416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defTabSz="685800"/>
            <a:r>
              <a:rPr lang="zh-CN" altLang="en-US" sz="2100" b="1" dirty="0">
                <a:solidFill>
                  <a:prstClr val="black"/>
                </a:solidFill>
                <a:latin typeface="微软雅黑" panose="020B0503020204020204" pitchFamily="34" charset="-122"/>
                <a:ea typeface="微软雅黑" panose="020B0503020204020204" pitchFamily="34" charset="-122"/>
              </a:rPr>
              <a:t>丙</a:t>
            </a:r>
          </a:p>
        </p:txBody>
      </p:sp>
      <p:sp>
        <p:nvSpPr>
          <p:cNvPr id="6" name="箭头: 右 5">
            <a:extLst>
              <a:ext uri="{FF2B5EF4-FFF2-40B4-BE49-F238E27FC236}">
                <a16:creationId xmlns:a16="http://schemas.microsoft.com/office/drawing/2014/main" id="{A3143E9F-03E0-4089-A662-93BC57ED7D7C}"/>
              </a:ext>
            </a:extLst>
          </p:cNvPr>
          <p:cNvSpPr/>
          <p:nvPr/>
        </p:nvSpPr>
        <p:spPr>
          <a:xfrm rot="19836783">
            <a:off x="9494012" y="2082763"/>
            <a:ext cx="231405" cy="179048"/>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defTabSz="685800"/>
            <a:endParaRPr lang="zh-CN" altLang="en-US" sz="1350">
              <a:solidFill>
                <a:prstClr val="black"/>
              </a:solidFill>
            </a:endParaRPr>
          </a:p>
        </p:txBody>
      </p:sp>
      <p:sp>
        <p:nvSpPr>
          <p:cNvPr id="19" name="箭头: 右 18">
            <a:extLst>
              <a:ext uri="{FF2B5EF4-FFF2-40B4-BE49-F238E27FC236}">
                <a16:creationId xmlns:a16="http://schemas.microsoft.com/office/drawing/2014/main" id="{93611260-ECC7-4E79-84E8-13C1DC59A20F}"/>
              </a:ext>
            </a:extLst>
          </p:cNvPr>
          <p:cNvSpPr/>
          <p:nvPr/>
        </p:nvSpPr>
        <p:spPr>
          <a:xfrm rot="2149586">
            <a:off x="9546141" y="2607403"/>
            <a:ext cx="231405" cy="179048"/>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defTabSz="685800"/>
            <a:endParaRPr lang="zh-CN" altLang="en-US" sz="1350">
              <a:solidFill>
                <a:prstClr val="black"/>
              </a:solidFill>
            </a:endParaRPr>
          </a:p>
        </p:txBody>
      </p:sp>
      <p:sp>
        <p:nvSpPr>
          <p:cNvPr id="20" name="矩形 19">
            <a:extLst>
              <a:ext uri="{FF2B5EF4-FFF2-40B4-BE49-F238E27FC236}">
                <a16:creationId xmlns:a16="http://schemas.microsoft.com/office/drawing/2014/main" id="{F21BB2E0-CEE5-4F49-81DC-608FE5AA2366}"/>
              </a:ext>
            </a:extLst>
          </p:cNvPr>
          <p:cNvSpPr/>
          <p:nvPr/>
        </p:nvSpPr>
        <p:spPr>
          <a:xfrm>
            <a:off x="9104506" y="3346804"/>
            <a:ext cx="336589" cy="3416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defTabSz="685800"/>
            <a:r>
              <a:rPr lang="zh-CN" altLang="en-US" sz="2100" b="1" dirty="0">
                <a:solidFill>
                  <a:prstClr val="black"/>
                </a:solidFill>
                <a:latin typeface="微软雅黑" panose="020B0503020204020204" pitchFamily="34" charset="-122"/>
                <a:ea typeface="微软雅黑" panose="020B0503020204020204" pitchFamily="34" charset="-122"/>
              </a:rPr>
              <a:t>甲</a:t>
            </a:r>
          </a:p>
        </p:txBody>
      </p:sp>
      <p:sp>
        <p:nvSpPr>
          <p:cNvPr id="21" name="矩形 20">
            <a:extLst>
              <a:ext uri="{FF2B5EF4-FFF2-40B4-BE49-F238E27FC236}">
                <a16:creationId xmlns:a16="http://schemas.microsoft.com/office/drawing/2014/main" id="{6A808FC0-016F-4550-8837-D458408055A6}"/>
              </a:ext>
            </a:extLst>
          </p:cNvPr>
          <p:cNvSpPr/>
          <p:nvPr/>
        </p:nvSpPr>
        <p:spPr>
          <a:xfrm>
            <a:off x="9104506" y="4072039"/>
            <a:ext cx="336589" cy="3416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defTabSz="685800"/>
            <a:r>
              <a:rPr lang="zh-CN" altLang="en-US" sz="2100" b="1" dirty="0">
                <a:solidFill>
                  <a:prstClr val="black"/>
                </a:solidFill>
                <a:latin typeface="微软雅黑" panose="020B0503020204020204" pitchFamily="34" charset="-122"/>
                <a:ea typeface="微软雅黑" panose="020B0503020204020204" pitchFamily="34" charset="-122"/>
              </a:rPr>
              <a:t>乙</a:t>
            </a:r>
          </a:p>
        </p:txBody>
      </p:sp>
      <p:sp>
        <p:nvSpPr>
          <p:cNvPr id="22" name="矩形 21">
            <a:extLst>
              <a:ext uri="{FF2B5EF4-FFF2-40B4-BE49-F238E27FC236}">
                <a16:creationId xmlns:a16="http://schemas.microsoft.com/office/drawing/2014/main" id="{2C285C93-DD74-4222-B9D7-7F43F73D62E5}"/>
              </a:ext>
            </a:extLst>
          </p:cNvPr>
          <p:cNvSpPr/>
          <p:nvPr/>
        </p:nvSpPr>
        <p:spPr>
          <a:xfrm>
            <a:off x="9826528" y="3688443"/>
            <a:ext cx="336589" cy="3416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defTabSz="685800"/>
            <a:r>
              <a:rPr lang="zh-CN" altLang="en-US" sz="2100" b="1" dirty="0">
                <a:solidFill>
                  <a:prstClr val="black"/>
                </a:solidFill>
                <a:latin typeface="微软雅黑" panose="020B0503020204020204" pitchFamily="34" charset="-122"/>
                <a:ea typeface="微软雅黑" panose="020B0503020204020204" pitchFamily="34" charset="-122"/>
              </a:rPr>
              <a:t>丙</a:t>
            </a:r>
          </a:p>
        </p:txBody>
      </p:sp>
      <p:sp>
        <p:nvSpPr>
          <p:cNvPr id="23" name="箭头: 右 22">
            <a:extLst>
              <a:ext uri="{FF2B5EF4-FFF2-40B4-BE49-F238E27FC236}">
                <a16:creationId xmlns:a16="http://schemas.microsoft.com/office/drawing/2014/main" id="{574229E7-209E-462A-B0D6-BA059E8EA9B5}"/>
              </a:ext>
            </a:extLst>
          </p:cNvPr>
          <p:cNvSpPr/>
          <p:nvPr/>
        </p:nvSpPr>
        <p:spPr>
          <a:xfrm rot="2219801">
            <a:off x="9546209" y="3448868"/>
            <a:ext cx="231405" cy="179048"/>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defTabSz="685800"/>
            <a:endParaRPr lang="zh-CN" altLang="en-US" sz="1350">
              <a:solidFill>
                <a:prstClr val="black"/>
              </a:solidFill>
            </a:endParaRPr>
          </a:p>
        </p:txBody>
      </p:sp>
      <p:sp>
        <p:nvSpPr>
          <p:cNvPr id="24" name="箭头: 右 23">
            <a:extLst>
              <a:ext uri="{FF2B5EF4-FFF2-40B4-BE49-F238E27FC236}">
                <a16:creationId xmlns:a16="http://schemas.microsoft.com/office/drawing/2014/main" id="{734FDEF2-4259-46B3-8A29-E45AD5AD268A}"/>
              </a:ext>
            </a:extLst>
          </p:cNvPr>
          <p:cNvSpPr/>
          <p:nvPr/>
        </p:nvSpPr>
        <p:spPr>
          <a:xfrm rot="5400000">
            <a:off x="9167729" y="3817692"/>
            <a:ext cx="231405" cy="179048"/>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defTabSz="685800"/>
            <a:endParaRPr lang="zh-CN" altLang="en-US" sz="1350">
              <a:solidFill>
                <a:prstClr val="black"/>
              </a:solidFill>
            </a:endParaRPr>
          </a:p>
        </p:txBody>
      </p:sp>
      <p:sp>
        <p:nvSpPr>
          <p:cNvPr id="25" name="箭头: 右 24">
            <a:extLst>
              <a:ext uri="{FF2B5EF4-FFF2-40B4-BE49-F238E27FC236}">
                <a16:creationId xmlns:a16="http://schemas.microsoft.com/office/drawing/2014/main" id="{16A10B0C-C64C-48FA-9B54-F7612954FCFC}"/>
              </a:ext>
            </a:extLst>
          </p:cNvPr>
          <p:cNvSpPr/>
          <p:nvPr/>
        </p:nvSpPr>
        <p:spPr>
          <a:xfrm rot="19836783">
            <a:off x="9547608" y="4117294"/>
            <a:ext cx="231405" cy="179048"/>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defTabSz="685800"/>
            <a:endParaRPr lang="zh-CN" altLang="en-US" sz="1350">
              <a:solidFill>
                <a:prstClr val="black"/>
              </a:solidFill>
            </a:endParaRPr>
          </a:p>
        </p:txBody>
      </p:sp>
      <p:sp>
        <p:nvSpPr>
          <p:cNvPr id="26" name="矩形 25">
            <a:extLst>
              <a:ext uri="{FF2B5EF4-FFF2-40B4-BE49-F238E27FC236}">
                <a16:creationId xmlns:a16="http://schemas.microsoft.com/office/drawing/2014/main" id="{6A14C2B9-8F9E-46DB-A267-6ADC7846934E}"/>
              </a:ext>
            </a:extLst>
          </p:cNvPr>
          <p:cNvSpPr/>
          <p:nvPr/>
        </p:nvSpPr>
        <p:spPr>
          <a:xfrm>
            <a:off x="8906080" y="5042136"/>
            <a:ext cx="336589" cy="3416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defTabSz="685800"/>
            <a:r>
              <a:rPr lang="zh-CN" altLang="en-US" sz="2100" b="1" dirty="0">
                <a:solidFill>
                  <a:prstClr val="black"/>
                </a:solidFill>
                <a:latin typeface="微软雅黑" panose="020B0503020204020204" pitchFamily="34" charset="-122"/>
                <a:ea typeface="微软雅黑" panose="020B0503020204020204" pitchFamily="34" charset="-122"/>
              </a:rPr>
              <a:t>甲</a:t>
            </a:r>
          </a:p>
        </p:txBody>
      </p:sp>
      <p:sp>
        <p:nvSpPr>
          <p:cNvPr id="27" name="矩形 26">
            <a:extLst>
              <a:ext uri="{FF2B5EF4-FFF2-40B4-BE49-F238E27FC236}">
                <a16:creationId xmlns:a16="http://schemas.microsoft.com/office/drawing/2014/main" id="{F8C5CEE2-227E-4006-A83D-E655D590196F}"/>
              </a:ext>
            </a:extLst>
          </p:cNvPr>
          <p:cNvSpPr/>
          <p:nvPr/>
        </p:nvSpPr>
        <p:spPr>
          <a:xfrm>
            <a:off x="9620683" y="5029961"/>
            <a:ext cx="336589" cy="3416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defTabSz="685800"/>
            <a:r>
              <a:rPr lang="zh-CN" altLang="en-US" sz="2100" b="1" dirty="0">
                <a:solidFill>
                  <a:prstClr val="black"/>
                </a:solidFill>
                <a:latin typeface="微软雅黑" panose="020B0503020204020204" pitchFamily="34" charset="-122"/>
                <a:ea typeface="微软雅黑" panose="020B0503020204020204" pitchFamily="34" charset="-122"/>
              </a:rPr>
              <a:t>乙</a:t>
            </a:r>
          </a:p>
        </p:txBody>
      </p:sp>
      <p:sp>
        <p:nvSpPr>
          <p:cNvPr id="28" name="矩形 27">
            <a:extLst>
              <a:ext uri="{FF2B5EF4-FFF2-40B4-BE49-F238E27FC236}">
                <a16:creationId xmlns:a16="http://schemas.microsoft.com/office/drawing/2014/main" id="{BEF262E3-EA2C-41AB-85FF-1A6FD8AA601C}"/>
              </a:ext>
            </a:extLst>
          </p:cNvPr>
          <p:cNvSpPr/>
          <p:nvPr/>
        </p:nvSpPr>
        <p:spPr>
          <a:xfrm>
            <a:off x="10263472" y="5042135"/>
            <a:ext cx="336589" cy="3416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defTabSz="685800"/>
            <a:r>
              <a:rPr lang="zh-CN" altLang="en-US" sz="2100" b="1" dirty="0">
                <a:solidFill>
                  <a:prstClr val="black"/>
                </a:solidFill>
                <a:latin typeface="微软雅黑" panose="020B0503020204020204" pitchFamily="34" charset="-122"/>
                <a:ea typeface="微软雅黑" panose="020B0503020204020204" pitchFamily="34" charset="-122"/>
              </a:rPr>
              <a:t>丙</a:t>
            </a:r>
          </a:p>
        </p:txBody>
      </p:sp>
      <p:sp>
        <p:nvSpPr>
          <p:cNvPr id="30" name="箭头: 右 29">
            <a:extLst>
              <a:ext uri="{FF2B5EF4-FFF2-40B4-BE49-F238E27FC236}">
                <a16:creationId xmlns:a16="http://schemas.microsoft.com/office/drawing/2014/main" id="{DE7F967B-CF20-4031-A117-2C3D3FDEE91E}"/>
              </a:ext>
            </a:extLst>
          </p:cNvPr>
          <p:cNvSpPr/>
          <p:nvPr/>
        </p:nvSpPr>
        <p:spPr>
          <a:xfrm>
            <a:off x="9317465" y="5123429"/>
            <a:ext cx="231405" cy="179048"/>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defTabSz="685800"/>
            <a:endParaRPr lang="zh-CN" altLang="en-US" sz="1350">
              <a:solidFill>
                <a:prstClr val="black"/>
              </a:solidFill>
            </a:endParaRPr>
          </a:p>
        </p:txBody>
      </p:sp>
      <p:sp>
        <p:nvSpPr>
          <p:cNvPr id="32" name="箭头: 右 31">
            <a:extLst>
              <a:ext uri="{FF2B5EF4-FFF2-40B4-BE49-F238E27FC236}">
                <a16:creationId xmlns:a16="http://schemas.microsoft.com/office/drawing/2014/main" id="{C3E61457-E893-4279-B096-99C364F22AF9}"/>
              </a:ext>
            </a:extLst>
          </p:cNvPr>
          <p:cNvSpPr/>
          <p:nvPr/>
        </p:nvSpPr>
        <p:spPr>
          <a:xfrm>
            <a:off x="9994669" y="5123429"/>
            <a:ext cx="231405" cy="179048"/>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defTabSz="685800"/>
            <a:endParaRPr lang="zh-CN" altLang="en-US" sz="1350">
              <a:solidFill>
                <a:prstClr val="black"/>
              </a:solidFill>
            </a:endParaRPr>
          </a:p>
        </p:txBody>
      </p:sp>
      <p:sp>
        <p:nvSpPr>
          <p:cNvPr id="29" name="矩形 28">
            <a:extLst>
              <a:ext uri="{FF2B5EF4-FFF2-40B4-BE49-F238E27FC236}">
                <a16:creationId xmlns:a16="http://schemas.microsoft.com/office/drawing/2014/main" id="{9052F63F-D29D-4F83-8190-3791F09DF4A8}"/>
              </a:ext>
            </a:extLst>
          </p:cNvPr>
          <p:cNvSpPr/>
          <p:nvPr/>
        </p:nvSpPr>
        <p:spPr>
          <a:xfrm>
            <a:off x="2513013" y="1007841"/>
            <a:ext cx="3052496" cy="4366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914378" fontAlgn="base">
              <a:lnSpc>
                <a:spcPct val="120000"/>
              </a:lnSpc>
              <a:spcBef>
                <a:spcPct val="0"/>
              </a:spcBef>
              <a:spcAft>
                <a:spcPct val="0"/>
              </a:spcAft>
              <a:defRPr/>
            </a:pPr>
            <a:r>
              <a:rPr lang="zh-CN" altLang="en-US" sz="2200" b="1" dirty="0">
                <a:solidFill>
                  <a:srgbClr val="10253F"/>
                </a:solidFill>
                <a:effectLst>
                  <a:outerShdw blurRad="38100" dist="38100" dir="2700000" algn="tl">
                    <a:srgbClr val="C0C0C0"/>
                  </a:outerShdw>
                </a:effectLst>
                <a:latin typeface="微软雅黑" panose="020B0503020204020204" pitchFamily="34" charset="-122"/>
                <a:ea typeface="微软雅黑" panose="020B0503020204020204" pitchFamily="34" charset="-122"/>
                <a:sym typeface="微软雅黑" panose="020B0503020204020204" pitchFamily="34" charset="-122"/>
              </a:rPr>
              <a:t>开展市场调查</a:t>
            </a:r>
          </a:p>
        </p:txBody>
      </p:sp>
      <p:grpSp>
        <p:nvGrpSpPr>
          <p:cNvPr id="31" name="组合 30">
            <a:extLst>
              <a:ext uri="{FF2B5EF4-FFF2-40B4-BE49-F238E27FC236}">
                <a16:creationId xmlns:a16="http://schemas.microsoft.com/office/drawing/2014/main" id="{7B68E9C1-A212-4188-882D-130BD93F7EE0}"/>
              </a:ext>
            </a:extLst>
          </p:cNvPr>
          <p:cNvGrpSpPr/>
          <p:nvPr/>
        </p:nvGrpSpPr>
        <p:grpSpPr>
          <a:xfrm>
            <a:off x="1524001" y="945313"/>
            <a:ext cx="989010" cy="584775"/>
            <a:chOff x="1" y="117416"/>
            <a:chExt cx="1318680" cy="779700"/>
          </a:xfrm>
        </p:grpSpPr>
        <p:pic>
          <p:nvPicPr>
            <p:cNvPr id="33" name="Picture 2">
              <a:extLst>
                <a:ext uri="{FF2B5EF4-FFF2-40B4-BE49-F238E27FC236}">
                  <a16:creationId xmlns:a16="http://schemas.microsoft.com/office/drawing/2014/main" id="{7865DDFB-F8C3-43EE-84D8-F8376DB6944D}"/>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 y="200789"/>
              <a:ext cx="1318680" cy="582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文本框 2">
              <a:extLst>
                <a:ext uri="{FF2B5EF4-FFF2-40B4-BE49-F238E27FC236}">
                  <a16:creationId xmlns:a16="http://schemas.microsoft.com/office/drawing/2014/main" id="{F58C16EA-3CAB-4C56-A43D-5D0E0CE98E61}"/>
                </a:ext>
              </a:extLst>
            </p:cNvPr>
            <p:cNvSpPr txBox="1"/>
            <p:nvPr/>
          </p:nvSpPr>
          <p:spPr>
            <a:xfrm>
              <a:off x="235800" y="117416"/>
              <a:ext cx="847081" cy="779700"/>
            </a:xfrm>
            <a:prstGeom prst="rect">
              <a:avLst/>
            </a:prstGeom>
            <a:noFill/>
          </p:spPr>
          <p:txBody>
            <a:bodyPr wrap="square" rtlCol="0">
              <a:spAutoFit/>
            </a:bodyPr>
            <a:lstStyle/>
            <a:p>
              <a:pPr algn="ctr" defTabSz="685800"/>
              <a:r>
                <a:rPr lang="en-US" altLang="zh-CN" sz="3200" b="1" dirty="0">
                  <a:solidFill>
                    <a:prstClr val="white"/>
                  </a:solidFill>
                  <a:latin typeface="Arial" panose="020B0604020202020204" pitchFamily="34" charset="0"/>
                  <a:ea typeface="微软雅黑" panose="020B0503020204020204" pitchFamily="34" charset="-122"/>
                  <a:cs typeface="Times New Roman" panose="02020603050405020304" pitchFamily="18" charset="0"/>
                  <a:sym typeface="+mn-ea"/>
                </a:rPr>
                <a:t>1</a:t>
              </a:r>
            </a:p>
          </p:txBody>
        </p:sp>
      </p:grpSp>
      <p:sp>
        <p:nvSpPr>
          <p:cNvPr id="35" name="标题 1">
            <a:extLst>
              <a:ext uri="{FF2B5EF4-FFF2-40B4-BE49-F238E27FC236}">
                <a16:creationId xmlns:a16="http://schemas.microsoft.com/office/drawing/2014/main" id="{8DAD9237-3381-44E9-826D-40E475EEC8FC}"/>
              </a:ext>
            </a:extLst>
          </p:cNvPr>
          <p:cNvSpPr txBox="1">
            <a:spLocks noChangeArrowheads="1"/>
          </p:cNvSpPr>
          <p:nvPr/>
        </p:nvSpPr>
        <p:spPr>
          <a:xfrm>
            <a:off x="1700850" y="366250"/>
            <a:ext cx="7113582"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示例：桥梁工程钢箱梁采购与制造</a:t>
            </a:r>
          </a:p>
        </p:txBody>
      </p:sp>
    </p:spTree>
    <p:extLst>
      <p:ext uri="{BB962C8B-B14F-4D97-AF65-F5344CB8AC3E}">
        <p14:creationId xmlns:p14="http://schemas.microsoft.com/office/powerpoint/2010/main" val="2877190863"/>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内容占位符 2">
            <a:extLst>
              <a:ext uri="{FF2B5EF4-FFF2-40B4-BE49-F238E27FC236}">
                <a16:creationId xmlns:a16="http://schemas.microsoft.com/office/drawing/2014/main" id="{9BB5EFAA-300D-4BE5-B72B-86110791EE7B}"/>
              </a:ext>
            </a:extLst>
          </p:cNvPr>
          <p:cNvSpPr txBox="1">
            <a:spLocks/>
          </p:cNvSpPr>
          <p:nvPr/>
        </p:nvSpPr>
        <p:spPr>
          <a:xfrm>
            <a:off x="4344752" y="1065421"/>
            <a:ext cx="3502496" cy="595436"/>
          </a:xfrm>
          <a:prstGeom prst="rect">
            <a:avLst/>
          </a:prstGeom>
          <a:ln>
            <a:noFill/>
          </a:ln>
        </p:spPr>
        <p:txBody>
          <a:bodyPr>
            <a:normAutofit/>
          </a:bodyPr>
          <a:lstStyle>
            <a:lvl1pPr marL="342797" indent="-342797" algn="l" defTabSz="914126" rtl="0" eaLnBrk="1" latinLnBrk="0" hangingPunct="1">
              <a:spcBef>
                <a:spcPct val="20000"/>
              </a:spcBef>
              <a:buFont typeface="Arial" panose="020B0604020202020204" pitchFamily="34" charset="0"/>
              <a:buChar char="•"/>
              <a:defRPr sz="3199" kern="1200">
                <a:solidFill>
                  <a:schemeClr val="tx1"/>
                </a:solidFill>
                <a:latin typeface="+mn-lt"/>
                <a:ea typeface="+mn-ea"/>
                <a:cs typeface="+mn-cs"/>
              </a:defRPr>
            </a:lvl1pPr>
            <a:lvl2pPr marL="742727" indent="-285664" algn="l" defTabSz="914126" rtl="0" eaLnBrk="1" latinLnBrk="0" hangingPunct="1">
              <a:spcBef>
                <a:spcPct val="20000"/>
              </a:spcBef>
              <a:buFont typeface="Arial" panose="020B0604020202020204" pitchFamily="34" charset="0"/>
              <a:buChar char="–"/>
              <a:defRPr sz="2799" kern="1200">
                <a:solidFill>
                  <a:schemeClr val="tx1"/>
                </a:solidFill>
                <a:latin typeface="+mn-lt"/>
                <a:ea typeface="+mn-ea"/>
                <a:cs typeface="+mn-cs"/>
              </a:defRPr>
            </a:lvl2pPr>
            <a:lvl3pPr marL="1142657" indent="-228531" algn="l" defTabSz="914126" rtl="0" eaLnBrk="1" latinLnBrk="0" hangingPunct="1">
              <a:spcBef>
                <a:spcPct val="20000"/>
              </a:spcBef>
              <a:buFont typeface="Arial" panose="020B0604020202020204" pitchFamily="34" charset="0"/>
              <a:buChar char="•"/>
              <a:defRPr sz="2399" kern="1200">
                <a:solidFill>
                  <a:schemeClr val="tx1"/>
                </a:solidFill>
                <a:latin typeface="+mn-lt"/>
                <a:ea typeface="+mn-ea"/>
                <a:cs typeface="+mn-cs"/>
              </a:defRPr>
            </a:lvl3pPr>
            <a:lvl4pPr marL="1599720" indent="-228531" algn="l" defTabSz="914126" rtl="0" eaLnBrk="1" latinLnBrk="0" hangingPunct="1">
              <a:spcBef>
                <a:spcPct val="20000"/>
              </a:spcBef>
              <a:buFont typeface="Arial" panose="020B0604020202020204" pitchFamily="34" charset="0"/>
              <a:buChar char="–"/>
              <a:defRPr sz="1999" kern="1200">
                <a:solidFill>
                  <a:schemeClr val="tx1"/>
                </a:solidFill>
                <a:latin typeface="+mn-lt"/>
                <a:ea typeface="+mn-ea"/>
                <a:cs typeface="+mn-cs"/>
              </a:defRPr>
            </a:lvl4pPr>
            <a:lvl5pPr marL="2056783" indent="-228531" algn="l" defTabSz="914126" rtl="0" eaLnBrk="1" latinLnBrk="0" hangingPunct="1">
              <a:spcBef>
                <a:spcPct val="20000"/>
              </a:spcBef>
              <a:buFont typeface="Arial" panose="020B0604020202020204" pitchFamily="34" charset="0"/>
              <a:buChar char="»"/>
              <a:defRPr sz="1999" kern="1200">
                <a:solidFill>
                  <a:schemeClr val="tx1"/>
                </a:solidFill>
                <a:latin typeface="+mn-lt"/>
                <a:ea typeface="+mn-ea"/>
                <a:cs typeface="+mn-cs"/>
              </a:defRPr>
            </a:lvl5pPr>
            <a:lvl6pPr marL="2513846" indent="-228531" algn="l" defTabSz="914126" rtl="0" eaLnBrk="1" latinLnBrk="0" hangingPunct="1">
              <a:spcBef>
                <a:spcPct val="20000"/>
              </a:spcBef>
              <a:buFont typeface="Arial" panose="020B0604020202020204" pitchFamily="34" charset="0"/>
              <a:buChar char="•"/>
              <a:defRPr sz="1999" kern="1200">
                <a:solidFill>
                  <a:schemeClr val="tx1"/>
                </a:solidFill>
                <a:latin typeface="+mn-lt"/>
                <a:ea typeface="+mn-ea"/>
                <a:cs typeface="+mn-cs"/>
              </a:defRPr>
            </a:lvl6pPr>
            <a:lvl7pPr marL="2970908" indent="-228531" algn="l" defTabSz="914126" rtl="0" eaLnBrk="1" latinLnBrk="0" hangingPunct="1">
              <a:spcBef>
                <a:spcPct val="20000"/>
              </a:spcBef>
              <a:buFont typeface="Arial" panose="020B0604020202020204" pitchFamily="34" charset="0"/>
              <a:buChar char="•"/>
              <a:defRPr sz="1999" kern="1200">
                <a:solidFill>
                  <a:schemeClr val="tx1"/>
                </a:solidFill>
                <a:latin typeface="+mn-lt"/>
                <a:ea typeface="+mn-ea"/>
                <a:cs typeface="+mn-cs"/>
              </a:defRPr>
            </a:lvl7pPr>
            <a:lvl8pPr marL="3427971" indent="-228531" algn="l" defTabSz="914126" rtl="0" eaLnBrk="1" latinLnBrk="0" hangingPunct="1">
              <a:spcBef>
                <a:spcPct val="20000"/>
              </a:spcBef>
              <a:buFont typeface="Arial" panose="020B0604020202020204" pitchFamily="34" charset="0"/>
              <a:buChar char="•"/>
              <a:defRPr sz="1999" kern="1200">
                <a:solidFill>
                  <a:schemeClr val="tx1"/>
                </a:solidFill>
                <a:latin typeface="+mn-lt"/>
                <a:ea typeface="+mn-ea"/>
                <a:cs typeface="+mn-cs"/>
              </a:defRPr>
            </a:lvl8pPr>
            <a:lvl9pPr marL="3885034" indent="-228531" algn="l" defTabSz="914126" rtl="0" eaLnBrk="1" latinLnBrk="0" hangingPunct="1">
              <a:spcBef>
                <a:spcPct val="20000"/>
              </a:spcBef>
              <a:buFont typeface="Arial" panose="020B0604020202020204" pitchFamily="34" charset="0"/>
              <a:buChar char="•"/>
              <a:defRPr sz="1999" kern="1200">
                <a:solidFill>
                  <a:schemeClr val="tx1"/>
                </a:solidFill>
                <a:latin typeface="+mn-lt"/>
                <a:ea typeface="+mn-ea"/>
                <a:cs typeface="+mn-cs"/>
              </a:defRPr>
            </a:lvl9pPr>
          </a:lstStyle>
          <a:p>
            <a:pPr marL="0" indent="0">
              <a:lnSpc>
                <a:spcPct val="150000"/>
              </a:lnSpc>
              <a:spcBef>
                <a:spcPts val="0"/>
              </a:spcBef>
              <a:buNone/>
            </a:pPr>
            <a:r>
              <a:rPr lang="zh-CN" altLang="en-US" sz="2100" b="1" dirty="0">
                <a:solidFill>
                  <a:prstClr val="black"/>
                </a:solidFill>
                <a:latin typeface="+mj-ea"/>
                <a:ea typeface="+mj-ea"/>
              </a:rPr>
              <a:t>提出备选方案并分析风险</a:t>
            </a:r>
            <a:endParaRPr lang="en-US" altLang="zh-CN" sz="2100" b="1" dirty="0">
              <a:solidFill>
                <a:prstClr val="black"/>
              </a:solidFill>
              <a:latin typeface="+mj-ea"/>
              <a:ea typeface="+mj-ea"/>
            </a:endParaRPr>
          </a:p>
        </p:txBody>
      </p:sp>
      <p:graphicFrame>
        <p:nvGraphicFramePr>
          <p:cNvPr id="7" name="表格 13">
            <a:extLst>
              <a:ext uri="{FF2B5EF4-FFF2-40B4-BE49-F238E27FC236}">
                <a16:creationId xmlns:a16="http://schemas.microsoft.com/office/drawing/2014/main" id="{BD64912C-8C26-4A58-BC64-513A874B1200}"/>
              </a:ext>
            </a:extLst>
          </p:cNvPr>
          <p:cNvGraphicFramePr>
            <a:graphicFrameLocks noGrp="1"/>
          </p:cNvGraphicFramePr>
          <p:nvPr/>
        </p:nvGraphicFramePr>
        <p:xfrm>
          <a:off x="1722653" y="1593540"/>
          <a:ext cx="8851384" cy="4312911"/>
        </p:xfrm>
        <a:graphic>
          <a:graphicData uri="http://schemas.openxmlformats.org/drawingml/2006/table">
            <a:tbl>
              <a:tblPr firstRow="1" bandRow="1">
                <a:tableStyleId>{5C22544A-7EE6-4342-B048-85BDC9FD1C3A}</a:tableStyleId>
              </a:tblPr>
              <a:tblGrid>
                <a:gridCol w="381964">
                  <a:extLst>
                    <a:ext uri="{9D8B030D-6E8A-4147-A177-3AD203B41FA5}">
                      <a16:colId xmlns:a16="http://schemas.microsoft.com/office/drawing/2014/main" val="2865756471"/>
                    </a:ext>
                  </a:extLst>
                </a:gridCol>
                <a:gridCol w="1716604">
                  <a:extLst>
                    <a:ext uri="{9D8B030D-6E8A-4147-A177-3AD203B41FA5}">
                      <a16:colId xmlns:a16="http://schemas.microsoft.com/office/drawing/2014/main" val="2411698728"/>
                    </a:ext>
                  </a:extLst>
                </a:gridCol>
                <a:gridCol w="559579">
                  <a:extLst>
                    <a:ext uri="{9D8B030D-6E8A-4147-A177-3AD203B41FA5}">
                      <a16:colId xmlns:a16="http://schemas.microsoft.com/office/drawing/2014/main" val="967554089"/>
                    </a:ext>
                  </a:extLst>
                </a:gridCol>
                <a:gridCol w="2490758">
                  <a:extLst>
                    <a:ext uri="{9D8B030D-6E8A-4147-A177-3AD203B41FA5}">
                      <a16:colId xmlns:a16="http://schemas.microsoft.com/office/drawing/2014/main" val="1222046925"/>
                    </a:ext>
                  </a:extLst>
                </a:gridCol>
                <a:gridCol w="2086852">
                  <a:extLst>
                    <a:ext uri="{9D8B030D-6E8A-4147-A177-3AD203B41FA5}">
                      <a16:colId xmlns:a16="http://schemas.microsoft.com/office/drawing/2014/main" val="4120385728"/>
                    </a:ext>
                  </a:extLst>
                </a:gridCol>
                <a:gridCol w="1615627">
                  <a:extLst>
                    <a:ext uri="{9D8B030D-6E8A-4147-A177-3AD203B41FA5}">
                      <a16:colId xmlns:a16="http://schemas.microsoft.com/office/drawing/2014/main" val="3299903590"/>
                    </a:ext>
                  </a:extLst>
                </a:gridCol>
              </a:tblGrid>
              <a:tr h="333737">
                <a:tc rowSpan="2">
                  <a:txBody>
                    <a:bodyPr/>
                    <a:lstStyle/>
                    <a:p>
                      <a:pPr algn="ctr"/>
                      <a:endParaRPr lang="zh-CN" altLang="en-US" sz="1500" dirty="0">
                        <a:latin typeface="+mj-ea"/>
                        <a:ea typeface="+mj-ea"/>
                      </a:endParaRPr>
                    </a:p>
                  </a:txBody>
                  <a:tcPr marL="68580" marR="68580" marT="34290" marB="34290" anchor="ctr"/>
                </a:tc>
                <a:tc rowSpan="2">
                  <a:txBody>
                    <a:bodyPr/>
                    <a:lstStyle/>
                    <a:p>
                      <a:pPr algn="ctr"/>
                      <a:r>
                        <a:rPr lang="zh-CN" altLang="en-US" sz="1500" dirty="0">
                          <a:solidFill>
                            <a:schemeClr val="tx1"/>
                          </a:solidFill>
                          <a:latin typeface="+mj-ea"/>
                          <a:ea typeface="+mj-ea"/>
                        </a:rPr>
                        <a:t>备选方案</a:t>
                      </a:r>
                    </a:p>
                  </a:txBody>
                  <a:tcPr marL="68580" marR="68580" marT="34290" marB="34290" anchor="ctr"/>
                </a:tc>
                <a:tc rowSpan="2">
                  <a:txBody>
                    <a:bodyPr/>
                    <a:lstStyle/>
                    <a:p>
                      <a:pPr algn="ctr"/>
                      <a:r>
                        <a:rPr lang="zh-CN" altLang="en-US" sz="1500" b="1" dirty="0">
                          <a:solidFill>
                            <a:schemeClr val="tx1"/>
                          </a:solidFill>
                          <a:latin typeface="+mj-ea"/>
                          <a:ea typeface="+mj-ea"/>
                        </a:rPr>
                        <a:t>钢板采购</a:t>
                      </a:r>
                    </a:p>
                  </a:txBody>
                  <a:tcPr marL="68580" marR="68580" marT="34290" marB="34290" anchor="ctr"/>
                </a:tc>
                <a:tc gridSpan="3">
                  <a:txBody>
                    <a:bodyPr/>
                    <a:lstStyle/>
                    <a:p>
                      <a:pPr algn="ctr"/>
                      <a:r>
                        <a:rPr lang="zh-CN" altLang="en-US" sz="1500" b="1" dirty="0">
                          <a:solidFill>
                            <a:schemeClr val="tx1"/>
                          </a:solidFill>
                          <a:latin typeface="+mj-ea"/>
                          <a:ea typeface="+mj-ea"/>
                        </a:rPr>
                        <a:t>风险分析</a:t>
                      </a:r>
                    </a:p>
                  </a:txBody>
                  <a:tcPr marL="68580" marR="68580" marT="34290" marB="34290"/>
                </a:tc>
                <a:tc hMerge="1">
                  <a:txBody>
                    <a:bodyPr/>
                    <a:lstStyle/>
                    <a:p>
                      <a:endParaRPr lang="zh-CN" altLang="en-US" sz="2000" dirty="0">
                        <a:latin typeface="微软雅黑" panose="020B0503020204020204" pitchFamily="34" charset="-122"/>
                        <a:ea typeface="微软雅黑" panose="020B0503020204020204" pitchFamily="34" charset="-122"/>
                      </a:endParaRPr>
                    </a:p>
                  </a:txBody>
                  <a:tcPr/>
                </a:tc>
                <a:tc hMerge="1">
                  <a:txBody>
                    <a:bodyPr/>
                    <a:lstStyle/>
                    <a:p>
                      <a:endParaRPr lang="zh-CN" altLang="en-US" sz="20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792510143"/>
                  </a:ext>
                </a:extLst>
              </a:tr>
              <a:tr h="333737">
                <a:tc vMerge="1">
                  <a:txBody>
                    <a:bodyPr/>
                    <a:lstStyle/>
                    <a:p>
                      <a:endParaRPr lang="zh-CN" altLang="en-US"/>
                    </a:p>
                  </a:txBody>
                  <a:tcPr/>
                </a:tc>
                <a:tc vMerge="1">
                  <a:txBody>
                    <a:bodyPr/>
                    <a:lstStyle/>
                    <a:p>
                      <a:endParaRPr lang="zh-CN" altLang="en-US" sz="2000" dirty="0">
                        <a:latin typeface="微软雅黑" panose="020B0503020204020204" pitchFamily="34" charset="-122"/>
                        <a:ea typeface="微软雅黑" panose="020B0503020204020204" pitchFamily="34" charset="-122"/>
                      </a:endParaRPr>
                    </a:p>
                  </a:txBody>
                  <a:tcPr/>
                </a:tc>
                <a:tc vMerge="1">
                  <a:txBody>
                    <a:bodyPr/>
                    <a:lstStyle/>
                    <a:p>
                      <a:endParaRPr lang="zh-CN" altLang="en-US" sz="2000" dirty="0">
                        <a:latin typeface="微软雅黑" panose="020B0503020204020204" pitchFamily="34" charset="-122"/>
                        <a:ea typeface="微软雅黑" panose="020B0503020204020204" pitchFamily="34" charset="-122"/>
                      </a:endParaRPr>
                    </a:p>
                  </a:txBody>
                  <a:tcPr/>
                </a:tc>
                <a:tc>
                  <a:txBody>
                    <a:bodyPr/>
                    <a:lstStyle/>
                    <a:p>
                      <a:pPr algn="ctr"/>
                      <a:r>
                        <a:rPr lang="zh-CN" altLang="en-US" sz="1500" b="1" dirty="0">
                          <a:latin typeface="+mj-ea"/>
                          <a:ea typeface="+mj-ea"/>
                        </a:rPr>
                        <a:t>运输费用</a:t>
                      </a:r>
                    </a:p>
                  </a:txBody>
                  <a:tcPr marL="68580" marR="68580" marT="34290" marB="34290"/>
                </a:tc>
                <a:tc>
                  <a:txBody>
                    <a:bodyPr/>
                    <a:lstStyle/>
                    <a:p>
                      <a:pPr algn="ctr"/>
                      <a:r>
                        <a:rPr lang="zh-CN" altLang="en-US" sz="1500" b="1" dirty="0">
                          <a:latin typeface="+mj-ea"/>
                          <a:ea typeface="+mj-ea"/>
                        </a:rPr>
                        <a:t>管理界面</a:t>
                      </a:r>
                    </a:p>
                  </a:txBody>
                  <a:tcPr marL="68580" marR="68580" marT="34290" marB="34290"/>
                </a:tc>
                <a:tc>
                  <a:txBody>
                    <a:bodyPr/>
                    <a:lstStyle/>
                    <a:p>
                      <a:pPr algn="ctr"/>
                      <a:r>
                        <a:rPr lang="zh-CN" altLang="en-US" sz="1500" b="1" dirty="0">
                          <a:latin typeface="+mj-ea"/>
                          <a:ea typeface="+mj-ea"/>
                        </a:rPr>
                        <a:t>市场风险</a:t>
                      </a:r>
                    </a:p>
                  </a:txBody>
                  <a:tcPr marL="68580" marR="68580" marT="34290" marB="34290"/>
                </a:tc>
                <a:extLst>
                  <a:ext uri="{0D108BD9-81ED-4DB2-BD59-A6C34878D82A}">
                    <a16:rowId xmlns:a16="http://schemas.microsoft.com/office/drawing/2014/main" val="3995348924"/>
                  </a:ext>
                </a:extLst>
              </a:tr>
              <a:tr h="847179">
                <a:tc>
                  <a:txBody>
                    <a:bodyPr/>
                    <a:lstStyle/>
                    <a:p>
                      <a:r>
                        <a:rPr lang="zh-CN" altLang="en-US" sz="1500" dirty="0">
                          <a:latin typeface="+mj-ea"/>
                          <a:ea typeface="+mj-ea"/>
                        </a:rPr>
                        <a:t>一</a:t>
                      </a:r>
                    </a:p>
                  </a:txBody>
                  <a:tcPr marL="68580" marR="68580" marT="34290" marB="34290"/>
                </a:tc>
                <a:tc>
                  <a:txBody>
                    <a:bodyPr/>
                    <a:lstStyle/>
                    <a:p>
                      <a:r>
                        <a:rPr lang="zh-CN" altLang="en-US" sz="1500" dirty="0">
                          <a:latin typeface="+mj-ea"/>
                          <a:ea typeface="+mj-ea"/>
                        </a:rPr>
                        <a:t>先招钢箱梁制作厂家，后招钢板供应商</a:t>
                      </a:r>
                    </a:p>
                  </a:txBody>
                  <a:tcPr marL="68580" marR="68580" marT="34290" marB="34290"/>
                </a:tc>
                <a:tc>
                  <a:txBody>
                    <a:bodyPr/>
                    <a:lstStyle/>
                    <a:p>
                      <a:pPr algn="ctr"/>
                      <a:r>
                        <a:rPr lang="zh-CN" altLang="en-US" sz="1500" dirty="0">
                          <a:latin typeface="+mj-ea"/>
                          <a:ea typeface="+mj-ea"/>
                        </a:rPr>
                        <a:t>甲供</a:t>
                      </a:r>
                    </a:p>
                    <a:p>
                      <a:pPr algn="ctr"/>
                      <a:r>
                        <a:rPr lang="zh-CN" altLang="en-US" sz="1500" dirty="0">
                          <a:latin typeface="+mj-ea"/>
                          <a:ea typeface="+mj-ea"/>
                        </a:rPr>
                        <a:t>甲控</a:t>
                      </a:r>
                    </a:p>
                    <a:p>
                      <a:pPr algn="ctr"/>
                      <a:endParaRPr lang="zh-CN" altLang="en-US" sz="1500" dirty="0">
                        <a:latin typeface="+mj-ea"/>
                        <a:ea typeface="+mj-ea"/>
                      </a:endParaRPr>
                    </a:p>
                  </a:txBody>
                  <a:tcPr marL="68580" marR="68580" marT="34290" marB="34290"/>
                </a:tc>
                <a:tc>
                  <a:txBody>
                    <a:bodyPr/>
                    <a:lstStyle/>
                    <a:p>
                      <a:r>
                        <a:rPr lang="zh-CN" altLang="en-US" sz="1500" dirty="0">
                          <a:latin typeface="+mj-ea"/>
                          <a:ea typeface="+mj-ea"/>
                        </a:rPr>
                        <a:t>可明确钢板的运输费用。但会对远离钢箱梁制作厂家的供应商不利</a:t>
                      </a:r>
                    </a:p>
                  </a:txBody>
                  <a:tcPr marL="68580" marR="68580" marT="34290" marB="34290"/>
                </a:tc>
                <a:tc>
                  <a:txBody>
                    <a:bodyPr/>
                    <a:lstStyle/>
                    <a:p>
                      <a:r>
                        <a:rPr lang="zh-CN" altLang="en-US" sz="1500" dirty="0">
                          <a:latin typeface="+mj-ea"/>
                          <a:ea typeface="+mj-ea"/>
                        </a:rPr>
                        <a:t>业主直接面对钢箱梁制作厂家和钢板供应商，协调复杂</a:t>
                      </a:r>
                    </a:p>
                  </a:txBody>
                  <a:tcPr marL="68580" marR="68580" marT="34290" marB="34290"/>
                </a:tc>
                <a:tc>
                  <a:txBody>
                    <a:bodyPr/>
                    <a:lstStyle/>
                    <a:p>
                      <a:r>
                        <a:rPr lang="zh-CN" altLang="zh-CN" sz="1500" kern="1200" dirty="0">
                          <a:solidFill>
                            <a:schemeClr val="dk1"/>
                          </a:solidFill>
                          <a:latin typeface="+mj-ea"/>
                          <a:ea typeface="+mj-ea"/>
                          <a:cs typeface="+mn-cs"/>
                        </a:rPr>
                        <a:t>钢板价格的市场风险只能由钢板供应商一方承担</a:t>
                      </a:r>
                      <a:endParaRPr lang="zh-CN" altLang="en-US" sz="1500" kern="1200" dirty="0">
                        <a:solidFill>
                          <a:schemeClr val="dk1"/>
                        </a:solidFill>
                        <a:latin typeface="+mj-ea"/>
                        <a:ea typeface="+mj-ea"/>
                        <a:cs typeface="+mn-cs"/>
                      </a:endParaRPr>
                    </a:p>
                  </a:txBody>
                  <a:tcPr marL="68580" marR="68580" marT="34290" marB="34290"/>
                </a:tc>
                <a:extLst>
                  <a:ext uri="{0D108BD9-81ED-4DB2-BD59-A6C34878D82A}">
                    <a16:rowId xmlns:a16="http://schemas.microsoft.com/office/drawing/2014/main" val="327535657"/>
                  </a:ext>
                </a:extLst>
              </a:tr>
              <a:tr h="847179">
                <a:tc>
                  <a:txBody>
                    <a:bodyPr/>
                    <a:lstStyle/>
                    <a:p>
                      <a:r>
                        <a:rPr lang="zh-CN" altLang="en-US" sz="1500" dirty="0">
                          <a:latin typeface="+mj-ea"/>
                          <a:ea typeface="+mj-ea"/>
                        </a:rPr>
                        <a:t>二</a:t>
                      </a:r>
                    </a:p>
                  </a:txBody>
                  <a:tcPr marL="68580" marR="68580" marT="34290" marB="34290"/>
                </a:tc>
                <a:tc>
                  <a:txBody>
                    <a:bodyPr/>
                    <a:lstStyle/>
                    <a:p>
                      <a:r>
                        <a:rPr lang="zh-CN" altLang="en-US" sz="1500" dirty="0">
                          <a:latin typeface="+mj-ea"/>
                          <a:ea typeface="+mj-ea"/>
                        </a:rPr>
                        <a:t>先招钢板供应商，</a:t>
                      </a:r>
                      <a:endParaRPr lang="en-US" altLang="zh-CN" sz="1500" dirty="0">
                        <a:latin typeface="+mj-ea"/>
                        <a:ea typeface="+mj-ea"/>
                      </a:endParaRPr>
                    </a:p>
                    <a:p>
                      <a:r>
                        <a:rPr lang="zh-CN" altLang="en-US" sz="1500" dirty="0">
                          <a:latin typeface="+mj-ea"/>
                          <a:ea typeface="+mj-ea"/>
                        </a:rPr>
                        <a:t>后招钢箱梁制作厂家</a:t>
                      </a:r>
                    </a:p>
                  </a:txBody>
                  <a:tcPr marL="68580" marR="68580" marT="34290" marB="34290"/>
                </a:tc>
                <a:tc>
                  <a:txBody>
                    <a:bodyPr/>
                    <a:lstStyle/>
                    <a:p>
                      <a:pPr algn="ctr"/>
                      <a:r>
                        <a:rPr lang="zh-CN" altLang="en-US" sz="1500" dirty="0">
                          <a:latin typeface="+mj-ea"/>
                          <a:ea typeface="+mj-ea"/>
                        </a:rPr>
                        <a:t>甲供</a:t>
                      </a:r>
                    </a:p>
                  </a:txBody>
                  <a:tcPr marL="68580" marR="68580" marT="34290" marB="34290"/>
                </a:tc>
                <a:tc>
                  <a:txBody>
                    <a:bodyPr/>
                    <a:lstStyle/>
                    <a:p>
                      <a:r>
                        <a:rPr lang="zh-CN" altLang="en-US" sz="1500" dirty="0">
                          <a:latin typeface="+mj-ea"/>
                          <a:ea typeface="+mj-ea"/>
                        </a:rPr>
                        <a:t>钢板供应商无法确定钢板的运输路线</a:t>
                      </a:r>
                    </a:p>
                  </a:txBody>
                  <a:tcPr marL="68580" marR="68580" marT="34290" marB="34290"/>
                </a:tc>
                <a:tc>
                  <a:txBody>
                    <a:bodyPr/>
                    <a:lstStyle/>
                    <a:p>
                      <a:r>
                        <a:rPr lang="zh-CN" altLang="en-US" sz="1500" dirty="0">
                          <a:latin typeface="+mj-ea"/>
                          <a:ea typeface="+mj-ea"/>
                        </a:rPr>
                        <a:t>制造单位主动参与材料管理的积极性较差，易浪费材料</a:t>
                      </a:r>
                    </a:p>
                  </a:txBody>
                  <a:tcPr marL="68580" marR="68580" marT="34290" marB="34290"/>
                </a:tc>
                <a:tc>
                  <a:txBody>
                    <a:bodyPr/>
                    <a:lstStyle/>
                    <a:p>
                      <a:r>
                        <a:rPr lang="en-US" altLang="zh-CN" sz="1500" dirty="0">
                          <a:latin typeface="+mj-ea"/>
                          <a:ea typeface="+mj-ea"/>
                        </a:rPr>
                        <a:t>—</a:t>
                      </a:r>
                      <a:endParaRPr lang="zh-CN" altLang="en-US" sz="1500" dirty="0">
                        <a:latin typeface="+mj-ea"/>
                        <a:ea typeface="+mj-ea"/>
                      </a:endParaRPr>
                    </a:p>
                  </a:txBody>
                  <a:tcPr marL="68580" marR="68580" marT="34290" marB="34290"/>
                </a:tc>
                <a:extLst>
                  <a:ext uri="{0D108BD9-81ED-4DB2-BD59-A6C34878D82A}">
                    <a16:rowId xmlns:a16="http://schemas.microsoft.com/office/drawing/2014/main" val="4197133176"/>
                  </a:ext>
                </a:extLst>
              </a:tr>
              <a:tr h="1103900">
                <a:tc>
                  <a:txBody>
                    <a:bodyPr/>
                    <a:lstStyle/>
                    <a:p>
                      <a:r>
                        <a:rPr lang="zh-CN" altLang="en-US" sz="1500" dirty="0">
                          <a:latin typeface="+mj-ea"/>
                          <a:ea typeface="+mj-ea"/>
                        </a:rPr>
                        <a:t>三</a:t>
                      </a:r>
                    </a:p>
                  </a:txBody>
                  <a:tcPr marL="68580" marR="68580" marT="34290" marB="34290"/>
                </a:tc>
                <a:tc>
                  <a:txBody>
                    <a:bodyPr/>
                    <a:lstStyle/>
                    <a:p>
                      <a:r>
                        <a:rPr lang="zh-CN" altLang="en-US" sz="1500" dirty="0">
                          <a:latin typeface="+mj-ea"/>
                          <a:ea typeface="+mj-ea"/>
                        </a:rPr>
                        <a:t>只招钢箱梁制作厂家，钢板由钢箱梁制作厂家自行采购</a:t>
                      </a:r>
                    </a:p>
                  </a:txBody>
                  <a:tcPr marL="68580" marR="68580" marT="34290" marB="34290"/>
                </a:tc>
                <a:tc>
                  <a:txBody>
                    <a:bodyPr/>
                    <a:lstStyle/>
                    <a:p>
                      <a:pPr algn="ctr"/>
                      <a:r>
                        <a:rPr lang="zh-CN" altLang="en-US" sz="1500" dirty="0">
                          <a:latin typeface="+mj-ea"/>
                          <a:ea typeface="+mj-ea"/>
                        </a:rPr>
                        <a:t>自购</a:t>
                      </a:r>
                    </a:p>
                  </a:txBody>
                  <a:tcPr marL="68580" marR="68580" marT="34290" marB="34290"/>
                </a:tc>
                <a:tc>
                  <a:txBody>
                    <a:bodyPr/>
                    <a:lstStyle/>
                    <a:p>
                      <a:r>
                        <a:rPr lang="zh-CN" altLang="en-US" sz="1500" dirty="0">
                          <a:latin typeface="+mj-ea"/>
                          <a:ea typeface="+mj-ea"/>
                        </a:rPr>
                        <a:t>运输费用含在自购费用中，由钢箱梁制作单位自行支付</a:t>
                      </a:r>
                    </a:p>
                  </a:txBody>
                  <a:tcPr marL="68580" marR="68580" marT="34290" marB="34290"/>
                </a:tc>
                <a:tc>
                  <a:txBody>
                    <a:bodyPr/>
                    <a:lstStyle/>
                    <a:p>
                      <a:r>
                        <a:rPr lang="zh-CN" altLang="en-US" sz="1500" dirty="0">
                          <a:latin typeface="+mj-ea"/>
                          <a:ea typeface="+mj-ea"/>
                        </a:rPr>
                        <a:t>钢箱梁的制作场地不在工程所在地，且原材料进货渠道较多，业主对钢板采购过程监控不易</a:t>
                      </a:r>
                    </a:p>
                  </a:txBody>
                  <a:tcPr marL="68580" marR="68580" marT="34290" marB="34290"/>
                </a:tc>
                <a:tc>
                  <a:txBody>
                    <a:bodyPr/>
                    <a:lstStyle/>
                    <a:p>
                      <a:r>
                        <a:rPr lang="en-US" altLang="zh-CN" sz="1500" dirty="0">
                          <a:latin typeface="+mj-ea"/>
                          <a:ea typeface="+mj-ea"/>
                        </a:rPr>
                        <a:t>—</a:t>
                      </a:r>
                      <a:endParaRPr lang="zh-CN" altLang="en-US" sz="1500" dirty="0">
                        <a:latin typeface="+mj-ea"/>
                        <a:ea typeface="+mj-ea"/>
                      </a:endParaRPr>
                    </a:p>
                  </a:txBody>
                  <a:tcPr marL="68580" marR="68580" marT="34290" marB="34290"/>
                </a:tc>
                <a:extLst>
                  <a:ext uri="{0D108BD9-81ED-4DB2-BD59-A6C34878D82A}">
                    <a16:rowId xmlns:a16="http://schemas.microsoft.com/office/drawing/2014/main" val="27696912"/>
                  </a:ext>
                </a:extLst>
              </a:tr>
              <a:tr h="847179">
                <a:tc>
                  <a:txBody>
                    <a:bodyPr/>
                    <a:lstStyle/>
                    <a:p>
                      <a:r>
                        <a:rPr lang="zh-CN" altLang="en-US" sz="1500" dirty="0">
                          <a:latin typeface="+mj-ea"/>
                          <a:ea typeface="+mj-ea"/>
                        </a:rPr>
                        <a:t>四</a:t>
                      </a:r>
                    </a:p>
                  </a:txBody>
                  <a:tcPr marL="68580" marR="68580" marT="34290" marB="34290"/>
                </a:tc>
                <a:tc>
                  <a:txBody>
                    <a:bodyPr/>
                    <a:lstStyle/>
                    <a:p>
                      <a:r>
                        <a:rPr lang="zh-CN" altLang="zh-CN" sz="1500" kern="1200" dirty="0">
                          <a:solidFill>
                            <a:schemeClr val="dk1"/>
                          </a:solidFill>
                          <a:latin typeface="+mj-ea"/>
                          <a:ea typeface="+mj-ea"/>
                          <a:cs typeface="+mn-cs"/>
                        </a:rPr>
                        <a:t>一次性招标，由钢箱梁制作厂家和钢板供应商联合投标</a:t>
                      </a:r>
                      <a:endParaRPr lang="zh-CN" altLang="en-US" sz="1500" kern="1200" dirty="0">
                        <a:solidFill>
                          <a:schemeClr val="dk1"/>
                        </a:solidFill>
                        <a:latin typeface="+mj-ea"/>
                        <a:ea typeface="+mj-ea"/>
                        <a:cs typeface="+mn-cs"/>
                      </a:endParaRPr>
                    </a:p>
                  </a:txBody>
                  <a:tcPr marL="68580" marR="68580" marT="34290" marB="34290"/>
                </a:tc>
                <a:tc>
                  <a:txBody>
                    <a:bodyPr/>
                    <a:lstStyle/>
                    <a:p>
                      <a:pPr algn="ctr"/>
                      <a:r>
                        <a:rPr lang="zh-CN" altLang="en-US" sz="1500" dirty="0">
                          <a:latin typeface="+mj-ea"/>
                          <a:ea typeface="+mj-ea"/>
                        </a:rPr>
                        <a:t>甲供</a:t>
                      </a:r>
                    </a:p>
                  </a:txBody>
                  <a:tcPr marL="68580" marR="68580" marT="34290" marB="34290"/>
                </a:tc>
                <a:tc>
                  <a:txBody>
                    <a:bodyPr/>
                    <a:lstStyle/>
                    <a:p>
                      <a:r>
                        <a:rPr lang="zh-CN" altLang="en-US" sz="1500" dirty="0">
                          <a:latin typeface="+mj-ea"/>
                          <a:ea typeface="+mj-ea"/>
                        </a:rPr>
                        <a:t>钢箱梁制作厂家自行联合钢板供应商，使其联合后的报价更具竞争力</a:t>
                      </a:r>
                    </a:p>
                  </a:txBody>
                  <a:tcPr marL="68580" marR="68580" marT="34290" marB="34290"/>
                </a:tc>
                <a:tc>
                  <a:txBody>
                    <a:bodyPr/>
                    <a:lstStyle/>
                    <a:p>
                      <a:r>
                        <a:rPr lang="zh-CN" altLang="en-US" sz="1500" dirty="0">
                          <a:latin typeface="+mj-ea"/>
                          <a:ea typeface="+mj-ea"/>
                        </a:rPr>
                        <a:t>减少中间管理协调环节。</a:t>
                      </a:r>
                    </a:p>
                    <a:p>
                      <a:r>
                        <a:rPr lang="zh-CN" altLang="en-US" sz="1500" dirty="0">
                          <a:latin typeface="+mj-ea"/>
                          <a:ea typeface="+mj-ea"/>
                        </a:rPr>
                        <a:t>可实现业主对两者的监控需求，并减少招标</a:t>
                      </a:r>
                    </a:p>
                  </a:txBody>
                  <a:tcPr marL="68580" marR="68580" marT="34290" marB="34290"/>
                </a:tc>
                <a:tc>
                  <a:txBody>
                    <a:bodyPr/>
                    <a:lstStyle/>
                    <a:p>
                      <a:r>
                        <a:rPr lang="zh-CN" altLang="en-US" sz="1500" dirty="0">
                          <a:latin typeface="+mj-ea"/>
                          <a:ea typeface="+mj-ea"/>
                        </a:rPr>
                        <a:t>由联合体双方共担市场价格风险和其它风险</a:t>
                      </a:r>
                    </a:p>
                  </a:txBody>
                  <a:tcPr marL="68580" marR="68580" marT="34290" marB="34290"/>
                </a:tc>
                <a:extLst>
                  <a:ext uri="{0D108BD9-81ED-4DB2-BD59-A6C34878D82A}">
                    <a16:rowId xmlns:a16="http://schemas.microsoft.com/office/drawing/2014/main" val="2575530653"/>
                  </a:ext>
                </a:extLst>
              </a:tr>
            </a:tbl>
          </a:graphicData>
        </a:graphic>
      </p:graphicFrame>
      <p:sp>
        <p:nvSpPr>
          <p:cNvPr id="5" name="标题 1">
            <a:extLst>
              <a:ext uri="{FF2B5EF4-FFF2-40B4-BE49-F238E27FC236}">
                <a16:creationId xmlns:a16="http://schemas.microsoft.com/office/drawing/2014/main" id="{21A1BEA0-6DF0-486A-B8B7-7C7DACB3AFC2}"/>
              </a:ext>
            </a:extLst>
          </p:cNvPr>
          <p:cNvSpPr txBox="1">
            <a:spLocks noChangeArrowheads="1"/>
          </p:cNvSpPr>
          <p:nvPr/>
        </p:nvSpPr>
        <p:spPr>
          <a:xfrm>
            <a:off x="1700850" y="366250"/>
            <a:ext cx="7113582"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示例：桥梁工程钢箱梁采购与制造</a:t>
            </a:r>
          </a:p>
        </p:txBody>
      </p:sp>
    </p:spTree>
    <p:extLst>
      <p:ext uri="{BB962C8B-B14F-4D97-AF65-F5344CB8AC3E}">
        <p14:creationId xmlns:p14="http://schemas.microsoft.com/office/powerpoint/2010/main" val="526209367"/>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a:extLst>
              <a:ext uri="{FF2B5EF4-FFF2-40B4-BE49-F238E27FC236}">
                <a16:creationId xmlns:a16="http://schemas.microsoft.com/office/drawing/2014/main" id="{1A17ADCA-2C5F-4F39-BA8B-7B1B847BECF2}"/>
              </a:ext>
            </a:extLst>
          </p:cNvPr>
          <p:cNvSpPr txBox="1"/>
          <p:nvPr/>
        </p:nvSpPr>
        <p:spPr>
          <a:xfrm>
            <a:off x="4015251" y="1172414"/>
            <a:ext cx="3458967" cy="461665"/>
          </a:xfrm>
          <a:prstGeom prst="rect">
            <a:avLst/>
          </a:prstGeom>
          <a:solidFill>
            <a:srgbClr val="9BBB59"/>
          </a:solidFill>
        </p:spPr>
        <p:txBody>
          <a:bodyPr wrap="square">
            <a:spAutoFit/>
          </a:bodyPr>
          <a:lstStyle/>
          <a:p>
            <a:pPr defTabSz="685800"/>
            <a:r>
              <a:rPr lang="zh-CN" altLang="en-US" sz="2400" b="1" dirty="0">
                <a:solidFill>
                  <a:prstClr val="black"/>
                </a:solidFill>
                <a:latin typeface="+mj-ea"/>
                <a:ea typeface="+mj-ea"/>
              </a:rPr>
              <a:t>提出：改进的</a:t>
            </a:r>
            <a:r>
              <a:rPr lang="zh-CN" altLang="en-US" sz="2400" b="1" dirty="0">
                <a:solidFill>
                  <a:srgbClr val="FF0000"/>
                </a:solidFill>
                <a:latin typeface="+mj-ea"/>
                <a:ea typeface="+mj-ea"/>
              </a:rPr>
              <a:t>甲控</a:t>
            </a:r>
            <a:r>
              <a:rPr lang="zh-CN" altLang="en-US" sz="2400" b="1" dirty="0">
                <a:solidFill>
                  <a:prstClr val="black"/>
                </a:solidFill>
                <a:latin typeface="+mj-ea"/>
                <a:ea typeface="+mj-ea"/>
              </a:rPr>
              <a:t>模式</a:t>
            </a:r>
          </a:p>
        </p:txBody>
      </p:sp>
      <p:sp>
        <p:nvSpPr>
          <p:cNvPr id="4" name="椭圆 3">
            <a:extLst>
              <a:ext uri="{FF2B5EF4-FFF2-40B4-BE49-F238E27FC236}">
                <a16:creationId xmlns:a16="http://schemas.microsoft.com/office/drawing/2014/main" id="{A82F8D6E-CADA-4443-8CB0-5BAD740800D1}"/>
              </a:ext>
            </a:extLst>
          </p:cNvPr>
          <p:cNvSpPr/>
          <p:nvPr/>
        </p:nvSpPr>
        <p:spPr>
          <a:xfrm>
            <a:off x="7074380" y="2293014"/>
            <a:ext cx="1185605" cy="948531"/>
          </a:xfrm>
          <a:prstGeom prst="ellipse">
            <a:avLst/>
          </a:prstGeom>
          <a:noFill/>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685800"/>
            <a:r>
              <a:rPr lang="zh-CN" altLang="en-US" sz="2100" dirty="0">
                <a:solidFill>
                  <a:prstClr val="black"/>
                </a:solidFill>
                <a:latin typeface="+mj-ea"/>
                <a:ea typeface="+mj-ea"/>
              </a:rPr>
              <a:t>业主</a:t>
            </a:r>
            <a:endParaRPr lang="en-US" altLang="zh-CN" sz="2100" dirty="0">
              <a:solidFill>
                <a:prstClr val="black"/>
              </a:solidFill>
              <a:latin typeface="+mj-ea"/>
              <a:ea typeface="+mj-ea"/>
            </a:endParaRPr>
          </a:p>
          <a:p>
            <a:pPr algn="ctr" defTabSz="685800"/>
            <a:r>
              <a:rPr lang="zh-CN" altLang="en-US" sz="2100" dirty="0">
                <a:solidFill>
                  <a:prstClr val="black"/>
                </a:solidFill>
                <a:latin typeface="+mj-ea"/>
                <a:ea typeface="+mj-ea"/>
              </a:rPr>
              <a:t>甲</a:t>
            </a:r>
            <a:endParaRPr lang="zh-CN" altLang="en-US" sz="900" dirty="0">
              <a:solidFill>
                <a:prstClr val="black"/>
              </a:solidFill>
              <a:latin typeface="+mj-ea"/>
              <a:ea typeface="+mj-ea"/>
            </a:endParaRPr>
          </a:p>
        </p:txBody>
      </p:sp>
      <p:sp>
        <p:nvSpPr>
          <p:cNvPr id="17" name="椭圆 16">
            <a:extLst>
              <a:ext uri="{FF2B5EF4-FFF2-40B4-BE49-F238E27FC236}">
                <a16:creationId xmlns:a16="http://schemas.microsoft.com/office/drawing/2014/main" id="{73518969-77B2-4D88-A600-D46DB8005093}"/>
              </a:ext>
            </a:extLst>
          </p:cNvPr>
          <p:cNvSpPr/>
          <p:nvPr/>
        </p:nvSpPr>
        <p:spPr>
          <a:xfrm>
            <a:off x="5204356" y="4092712"/>
            <a:ext cx="1301159" cy="1062578"/>
          </a:xfrm>
          <a:prstGeom prst="ellipse">
            <a:avLst/>
          </a:prstGeom>
          <a:noFill/>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685800"/>
            <a:endParaRPr lang="zh-CN" altLang="en-US" sz="1200" dirty="0">
              <a:solidFill>
                <a:prstClr val="black"/>
              </a:solidFill>
              <a:latin typeface="+mj-ea"/>
              <a:ea typeface="+mj-ea"/>
            </a:endParaRPr>
          </a:p>
        </p:txBody>
      </p:sp>
      <p:sp>
        <p:nvSpPr>
          <p:cNvPr id="19" name="文本框 18">
            <a:extLst>
              <a:ext uri="{FF2B5EF4-FFF2-40B4-BE49-F238E27FC236}">
                <a16:creationId xmlns:a16="http://schemas.microsoft.com/office/drawing/2014/main" id="{112254D2-273C-4AC2-8F26-596398F629C6}"/>
              </a:ext>
            </a:extLst>
          </p:cNvPr>
          <p:cNvSpPr txBox="1"/>
          <p:nvPr/>
        </p:nvSpPr>
        <p:spPr>
          <a:xfrm>
            <a:off x="5060457" y="4310540"/>
            <a:ext cx="1673108" cy="738664"/>
          </a:xfrm>
          <a:prstGeom prst="rect">
            <a:avLst/>
          </a:prstGeom>
          <a:noFill/>
        </p:spPr>
        <p:txBody>
          <a:bodyPr wrap="square">
            <a:spAutoFit/>
          </a:bodyPr>
          <a:lstStyle/>
          <a:p>
            <a:pPr algn="ctr" defTabSz="685800">
              <a:defRPr/>
            </a:pPr>
            <a:r>
              <a:rPr lang="zh-CN" altLang="en-US" sz="2100" dirty="0">
                <a:solidFill>
                  <a:prstClr val="black"/>
                </a:solidFill>
                <a:latin typeface="+mj-ea"/>
                <a:ea typeface="+mj-ea"/>
              </a:rPr>
              <a:t>制造企业</a:t>
            </a:r>
            <a:endParaRPr lang="en-US" altLang="zh-CN" sz="2100" dirty="0">
              <a:solidFill>
                <a:prstClr val="black"/>
              </a:solidFill>
              <a:latin typeface="+mj-ea"/>
              <a:ea typeface="+mj-ea"/>
            </a:endParaRPr>
          </a:p>
          <a:p>
            <a:pPr algn="ctr" defTabSz="685800">
              <a:defRPr/>
            </a:pPr>
            <a:r>
              <a:rPr lang="zh-CN" altLang="en-US" sz="2100" dirty="0">
                <a:solidFill>
                  <a:prstClr val="black"/>
                </a:solidFill>
                <a:latin typeface="+mj-ea"/>
                <a:ea typeface="+mj-ea"/>
              </a:rPr>
              <a:t>乙</a:t>
            </a:r>
            <a:endParaRPr lang="zh-CN" altLang="en-US" sz="900" dirty="0">
              <a:solidFill>
                <a:prstClr val="black"/>
              </a:solidFill>
              <a:latin typeface="+mj-ea"/>
              <a:ea typeface="+mj-ea"/>
            </a:endParaRPr>
          </a:p>
        </p:txBody>
      </p:sp>
      <p:sp>
        <p:nvSpPr>
          <p:cNvPr id="20" name="椭圆 19">
            <a:extLst>
              <a:ext uri="{FF2B5EF4-FFF2-40B4-BE49-F238E27FC236}">
                <a16:creationId xmlns:a16="http://schemas.microsoft.com/office/drawing/2014/main" id="{E121C3F5-43DA-4E63-A73D-D75E20447EA9}"/>
              </a:ext>
            </a:extLst>
          </p:cNvPr>
          <p:cNvSpPr/>
          <p:nvPr/>
        </p:nvSpPr>
        <p:spPr>
          <a:xfrm>
            <a:off x="8971733" y="4092713"/>
            <a:ext cx="1177361" cy="1062107"/>
          </a:xfrm>
          <a:prstGeom prst="ellipse">
            <a:avLst/>
          </a:prstGeom>
          <a:noFill/>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685800"/>
            <a:endParaRPr lang="zh-CN" altLang="en-US" sz="1200" dirty="0">
              <a:solidFill>
                <a:prstClr val="black"/>
              </a:solidFill>
              <a:latin typeface="+mj-ea"/>
              <a:ea typeface="+mj-ea"/>
            </a:endParaRPr>
          </a:p>
        </p:txBody>
      </p:sp>
      <p:sp>
        <p:nvSpPr>
          <p:cNvPr id="21" name="文本框 20">
            <a:extLst>
              <a:ext uri="{FF2B5EF4-FFF2-40B4-BE49-F238E27FC236}">
                <a16:creationId xmlns:a16="http://schemas.microsoft.com/office/drawing/2014/main" id="{25877906-5A2E-42D2-B877-9BB71EBD7B99}"/>
              </a:ext>
            </a:extLst>
          </p:cNvPr>
          <p:cNvSpPr txBox="1"/>
          <p:nvPr/>
        </p:nvSpPr>
        <p:spPr>
          <a:xfrm>
            <a:off x="8732622" y="4310540"/>
            <a:ext cx="1673108" cy="738664"/>
          </a:xfrm>
          <a:prstGeom prst="rect">
            <a:avLst/>
          </a:prstGeom>
          <a:noFill/>
        </p:spPr>
        <p:txBody>
          <a:bodyPr wrap="square">
            <a:spAutoFit/>
          </a:bodyPr>
          <a:lstStyle/>
          <a:p>
            <a:pPr algn="ctr" defTabSz="685800">
              <a:defRPr/>
            </a:pPr>
            <a:r>
              <a:rPr lang="zh-CN" altLang="en-US" sz="2100" dirty="0">
                <a:solidFill>
                  <a:prstClr val="black"/>
                </a:solidFill>
                <a:latin typeface="+mj-ea"/>
                <a:ea typeface="+mj-ea"/>
              </a:rPr>
              <a:t>钢板供应</a:t>
            </a:r>
            <a:endParaRPr lang="en-US" altLang="zh-CN" sz="2100" dirty="0">
              <a:solidFill>
                <a:prstClr val="black"/>
              </a:solidFill>
              <a:latin typeface="+mj-ea"/>
              <a:ea typeface="+mj-ea"/>
            </a:endParaRPr>
          </a:p>
          <a:p>
            <a:pPr algn="ctr" defTabSz="685800">
              <a:defRPr/>
            </a:pPr>
            <a:r>
              <a:rPr lang="zh-CN" altLang="en-US" sz="2100" dirty="0">
                <a:solidFill>
                  <a:prstClr val="black"/>
                </a:solidFill>
                <a:latin typeface="+mj-ea"/>
                <a:ea typeface="+mj-ea"/>
              </a:rPr>
              <a:t>商丙</a:t>
            </a:r>
            <a:endParaRPr lang="zh-CN" altLang="en-US" sz="900" dirty="0">
              <a:solidFill>
                <a:prstClr val="black"/>
              </a:solidFill>
              <a:latin typeface="+mj-ea"/>
              <a:ea typeface="+mj-ea"/>
            </a:endParaRPr>
          </a:p>
        </p:txBody>
      </p:sp>
      <p:cxnSp>
        <p:nvCxnSpPr>
          <p:cNvPr id="23" name="直接箭头连接符 22">
            <a:extLst>
              <a:ext uri="{FF2B5EF4-FFF2-40B4-BE49-F238E27FC236}">
                <a16:creationId xmlns:a16="http://schemas.microsoft.com/office/drawing/2014/main" id="{8F93B4CF-98B8-4442-8221-FAB9FC2DE6E1}"/>
              </a:ext>
            </a:extLst>
          </p:cNvPr>
          <p:cNvCxnSpPr>
            <a:cxnSpLocks/>
          </p:cNvCxnSpPr>
          <p:nvPr/>
        </p:nvCxnSpPr>
        <p:spPr>
          <a:xfrm flipV="1">
            <a:off x="6042705" y="2935688"/>
            <a:ext cx="974486" cy="11570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80080C38-BC71-4D56-92EB-E1E2EA55CDAC}"/>
              </a:ext>
            </a:extLst>
          </p:cNvPr>
          <p:cNvCxnSpPr>
            <a:cxnSpLocks/>
            <a:stCxn id="4" idx="3"/>
          </p:cNvCxnSpPr>
          <p:nvPr/>
        </p:nvCxnSpPr>
        <p:spPr>
          <a:xfrm flipH="1">
            <a:off x="6271382" y="3102636"/>
            <a:ext cx="976625" cy="11320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D8458F15-42AA-4908-9638-9B267C348CA6}"/>
              </a:ext>
            </a:extLst>
          </p:cNvPr>
          <p:cNvCxnSpPr>
            <a:cxnSpLocks/>
          </p:cNvCxnSpPr>
          <p:nvPr/>
        </p:nvCxnSpPr>
        <p:spPr>
          <a:xfrm flipV="1">
            <a:off x="6547590" y="4542429"/>
            <a:ext cx="2366658" cy="47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EECFAA60-ED29-41E8-894F-EA550CB05E96}"/>
              </a:ext>
            </a:extLst>
          </p:cNvPr>
          <p:cNvCxnSpPr>
            <a:cxnSpLocks/>
          </p:cNvCxnSpPr>
          <p:nvPr/>
        </p:nvCxnSpPr>
        <p:spPr>
          <a:xfrm flipH="1">
            <a:off x="6505514" y="4820585"/>
            <a:ext cx="252862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DFFBC6B2-D6C0-4ED3-B317-6EB0EAAB3378}"/>
              </a:ext>
            </a:extLst>
          </p:cNvPr>
          <p:cNvCxnSpPr>
            <a:cxnSpLocks/>
            <a:stCxn id="4" idx="5"/>
            <a:endCxn id="20" idx="1"/>
          </p:cNvCxnSpPr>
          <p:nvPr/>
        </p:nvCxnSpPr>
        <p:spPr>
          <a:xfrm>
            <a:off x="8086356" y="3102636"/>
            <a:ext cx="1057797" cy="11456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115D65D8-82FB-4B5A-929C-E65AE3E586D2}"/>
              </a:ext>
            </a:extLst>
          </p:cNvPr>
          <p:cNvSpPr txBox="1"/>
          <p:nvPr/>
        </p:nvSpPr>
        <p:spPr>
          <a:xfrm>
            <a:off x="5919357" y="3229188"/>
            <a:ext cx="783904" cy="415498"/>
          </a:xfrm>
          <a:prstGeom prst="rect">
            <a:avLst/>
          </a:prstGeom>
          <a:noFill/>
        </p:spPr>
        <p:txBody>
          <a:bodyPr wrap="square" rtlCol="0">
            <a:spAutoFit/>
          </a:bodyPr>
          <a:lstStyle/>
          <a:p>
            <a:pPr defTabSz="685800"/>
            <a:r>
              <a:rPr lang="zh-CN" altLang="en-US" sz="2100" dirty="0">
                <a:solidFill>
                  <a:prstClr val="black"/>
                </a:solidFill>
                <a:latin typeface="+mj-ea"/>
                <a:ea typeface="+mj-ea"/>
              </a:rPr>
              <a:t>承包</a:t>
            </a:r>
          </a:p>
        </p:txBody>
      </p:sp>
      <p:sp>
        <p:nvSpPr>
          <p:cNvPr id="37" name="文本框 36">
            <a:extLst>
              <a:ext uri="{FF2B5EF4-FFF2-40B4-BE49-F238E27FC236}">
                <a16:creationId xmlns:a16="http://schemas.microsoft.com/office/drawing/2014/main" id="{42FDC5F8-AC52-4971-872D-5F0EBA259C11}"/>
              </a:ext>
            </a:extLst>
          </p:cNvPr>
          <p:cNvSpPr txBox="1"/>
          <p:nvPr/>
        </p:nvSpPr>
        <p:spPr>
          <a:xfrm>
            <a:off x="6690313" y="3665329"/>
            <a:ext cx="783904" cy="415498"/>
          </a:xfrm>
          <a:prstGeom prst="rect">
            <a:avLst/>
          </a:prstGeom>
          <a:noFill/>
        </p:spPr>
        <p:txBody>
          <a:bodyPr wrap="square" rtlCol="0">
            <a:spAutoFit/>
          </a:bodyPr>
          <a:lstStyle/>
          <a:p>
            <a:pPr defTabSz="685800"/>
            <a:r>
              <a:rPr lang="zh-CN" altLang="en-US" sz="2100" dirty="0">
                <a:solidFill>
                  <a:prstClr val="black"/>
                </a:solidFill>
                <a:latin typeface="+mj-ea"/>
                <a:ea typeface="+mj-ea"/>
              </a:rPr>
              <a:t>发包</a:t>
            </a:r>
          </a:p>
        </p:txBody>
      </p:sp>
      <p:sp>
        <p:nvSpPr>
          <p:cNvPr id="38" name="文本框 37">
            <a:extLst>
              <a:ext uri="{FF2B5EF4-FFF2-40B4-BE49-F238E27FC236}">
                <a16:creationId xmlns:a16="http://schemas.microsoft.com/office/drawing/2014/main" id="{28218195-8581-4B9A-B8F7-07A85EE193C7}"/>
              </a:ext>
            </a:extLst>
          </p:cNvPr>
          <p:cNvSpPr txBox="1"/>
          <p:nvPr/>
        </p:nvSpPr>
        <p:spPr>
          <a:xfrm>
            <a:off x="7300049" y="4150013"/>
            <a:ext cx="783904" cy="415498"/>
          </a:xfrm>
          <a:prstGeom prst="rect">
            <a:avLst/>
          </a:prstGeom>
          <a:noFill/>
        </p:spPr>
        <p:txBody>
          <a:bodyPr wrap="square" rtlCol="0">
            <a:spAutoFit/>
          </a:bodyPr>
          <a:lstStyle/>
          <a:p>
            <a:pPr defTabSz="685800"/>
            <a:r>
              <a:rPr lang="zh-CN" altLang="en-US" sz="2100" dirty="0">
                <a:solidFill>
                  <a:prstClr val="black"/>
                </a:solidFill>
                <a:latin typeface="+mj-ea"/>
                <a:ea typeface="+mj-ea"/>
              </a:rPr>
              <a:t>采购</a:t>
            </a:r>
          </a:p>
        </p:txBody>
      </p:sp>
      <p:sp>
        <p:nvSpPr>
          <p:cNvPr id="39" name="文本框 38">
            <a:extLst>
              <a:ext uri="{FF2B5EF4-FFF2-40B4-BE49-F238E27FC236}">
                <a16:creationId xmlns:a16="http://schemas.microsoft.com/office/drawing/2014/main" id="{D868FADE-E1BD-44CA-93A4-AF350AF52047}"/>
              </a:ext>
            </a:extLst>
          </p:cNvPr>
          <p:cNvSpPr txBox="1"/>
          <p:nvPr/>
        </p:nvSpPr>
        <p:spPr>
          <a:xfrm>
            <a:off x="7316550" y="4922773"/>
            <a:ext cx="783904" cy="415498"/>
          </a:xfrm>
          <a:prstGeom prst="rect">
            <a:avLst/>
          </a:prstGeom>
          <a:noFill/>
        </p:spPr>
        <p:txBody>
          <a:bodyPr wrap="square" rtlCol="0">
            <a:spAutoFit/>
          </a:bodyPr>
          <a:lstStyle/>
          <a:p>
            <a:pPr defTabSz="685800"/>
            <a:r>
              <a:rPr lang="zh-CN" altLang="en-US" sz="2100" dirty="0">
                <a:solidFill>
                  <a:prstClr val="black"/>
                </a:solidFill>
                <a:latin typeface="+mj-ea"/>
                <a:ea typeface="+mj-ea"/>
              </a:rPr>
              <a:t>供应</a:t>
            </a:r>
          </a:p>
        </p:txBody>
      </p:sp>
      <p:sp>
        <p:nvSpPr>
          <p:cNvPr id="40" name="文本框 39">
            <a:extLst>
              <a:ext uri="{FF2B5EF4-FFF2-40B4-BE49-F238E27FC236}">
                <a16:creationId xmlns:a16="http://schemas.microsoft.com/office/drawing/2014/main" id="{3547FB7E-338E-46AE-AE57-2F49D6B69626}"/>
              </a:ext>
            </a:extLst>
          </p:cNvPr>
          <p:cNvSpPr txBox="1"/>
          <p:nvPr/>
        </p:nvSpPr>
        <p:spPr>
          <a:xfrm>
            <a:off x="8645277" y="3141405"/>
            <a:ext cx="783904" cy="738664"/>
          </a:xfrm>
          <a:prstGeom prst="rect">
            <a:avLst/>
          </a:prstGeom>
          <a:noFill/>
        </p:spPr>
        <p:txBody>
          <a:bodyPr wrap="square" rtlCol="0">
            <a:spAutoFit/>
          </a:bodyPr>
          <a:lstStyle/>
          <a:p>
            <a:pPr defTabSz="685800"/>
            <a:r>
              <a:rPr lang="zh-CN" altLang="en-US" sz="2100" dirty="0">
                <a:solidFill>
                  <a:prstClr val="black"/>
                </a:solidFill>
                <a:latin typeface="+mj-ea"/>
                <a:ea typeface="+mj-ea"/>
              </a:rPr>
              <a:t>代为支付</a:t>
            </a:r>
          </a:p>
        </p:txBody>
      </p:sp>
      <p:grpSp>
        <p:nvGrpSpPr>
          <p:cNvPr id="46" name="组合 45">
            <a:extLst>
              <a:ext uri="{FF2B5EF4-FFF2-40B4-BE49-F238E27FC236}">
                <a16:creationId xmlns:a16="http://schemas.microsoft.com/office/drawing/2014/main" id="{1F686491-1A59-43CF-803D-12A0DEA70C4F}"/>
              </a:ext>
            </a:extLst>
          </p:cNvPr>
          <p:cNvGrpSpPr/>
          <p:nvPr/>
        </p:nvGrpSpPr>
        <p:grpSpPr>
          <a:xfrm>
            <a:off x="1692066" y="1852149"/>
            <a:ext cx="3227762" cy="3883215"/>
            <a:chOff x="314156" y="1626845"/>
            <a:chExt cx="3862831" cy="5043225"/>
          </a:xfrm>
        </p:grpSpPr>
        <p:pic>
          <p:nvPicPr>
            <p:cNvPr id="41" name="图片 40">
              <a:extLst>
                <a:ext uri="{FF2B5EF4-FFF2-40B4-BE49-F238E27FC236}">
                  <a16:creationId xmlns:a16="http://schemas.microsoft.com/office/drawing/2014/main" id="{979F5114-9EC4-44DA-8C13-6451C7108AE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14156" y="1626845"/>
              <a:ext cx="3862831" cy="5043225"/>
            </a:xfrm>
            <a:prstGeom prst="rect">
              <a:avLst/>
            </a:prstGeom>
          </p:spPr>
        </p:pic>
        <p:cxnSp>
          <p:nvCxnSpPr>
            <p:cNvPr id="43" name="直接连接符 42">
              <a:extLst>
                <a:ext uri="{FF2B5EF4-FFF2-40B4-BE49-F238E27FC236}">
                  <a16:creationId xmlns:a16="http://schemas.microsoft.com/office/drawing/2014/main" id="{A5C4D40A-A5C1-459D-A78D-90AB1B68AD90}"/>
                </a:ext>
              </a:extLst>
            </p:cNvPr>
            <p:cNvCxnSpPr>
              <a:cxnSpLocks/>
            </p:cNvCxnSpPr>
            <p:nvPr/>
          </p:nvCxnSpPr>
          <p:spPr>
            <a:xfrm>
              <a:off x="4176987" y="3163936"/>
              <a:ext cx="0" cy="577811"/>
            </a:xfrm>
            <a:prstGeom prst="line">
              <a:avLst/>
            </a:prstGeom>
          </p:spPr>
          <p:style>
            <a:lnRef idx="1">
              <a:schemeClr val="dk1"/>
            </a:lnRef>
            <a:fillRef idx="0">
              <a:schemeClr val="dk1"/>
            </a:fillRef>
            <a:effectRef idx="0">
              <a:schemeClr val="dk1"/>
            </a:effectRef>
            <a:fontRef idx="minor">
              <a:schemeClr val="tx1"/>
            </a:fontRef>
          </p:style>
        </p:cxnSp>
      </p:grpSp>
      <p:sp>
        <p:nvSpPr>
          <p:cNvPr id="24" name="标题 1">
            <a:extLst>
              <a:ext uri="{FF2B5EF4-FFF2-40B4-BE49-F238E27FC236}">
                <a16:creationId xmlns:a16="http://schemas.microsoft.com/office/drawing/2014/main" id="{CA4CC53A-A73C-4985-B945-D1EDDF8B65F2}"/>
              </a:ext>
            </a:extLst>
          </p:cNvPr>
          <p:cNvSpPr txBox="1">
            <a:spLocks noChangeArrowheads="1"/>
          </p:cNvSpPr>
          <p:nvPr/>
        </p:nvSpPr>
        <p:spPr>
          <a:xfrm>
            <a:off x="1700850" y="366250"/>
            <a:ext cx="7113582"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示例：桥梁工程钢箱梁采购与制造</a:t>
            </a:r>
          </a:p>
        </p:txBody>
      </p:sp>
    </p:spTree>
    <p:extLst>
      <p:ext uri="{BB962C8B-B14F-4D97-AF65-F5344CB8AC3E}">
        <p14:creationId xmlns:p14="http://schemas.microsoft.com/office/powerpoint/2010/main" val="840840239"/>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485F73FA-4217-4C57-AB4A-114D576EB711}"/>
              </a:ext>
            </a:extLst>
          </p:cNvPr>
          <p:cNvSpPr/>
          <p:nvPr/>
        </p:nvSpPr>
        <p:spPr>
          <a:xfrm>
            <a:off x="3877340" y="1386924"/>
            <a:ext cx="1189148" cy="646331"/>
          </a:xfrm>
          <a:prstGeom prst="rect">
            <a:avLst/>
          </a:prstGeom>
          <a:solidFill>
            <a:schemeClr val="accent2">
              <a:lumMod val="20000"/>
              <a:lumOff val="80000"/>
            </a:schemeClr>
          </a:solidFill>
        </p:spPr>
        <p:txBody>
          <a:bodyPr wrap="square">
            <a:spAutoFit/>
          </a:bodyPr>
          <a:lstStyle/>
          <a:p>
            <a:pPr marL="0" lvl="1" algn="ctr"/>
            <a:r>
              <a:rPr lang="zh-CN" altLang="en-US" dirty="0">
                <a:latin typeface="+mj-ea"/>
              </a:rPr>
              <a:t>拟设计的解决方案</a:t>
            </a:r>
            <a:endParaRPr lang="zh-CN" altLang="zh-CN" dirty="0">
              <a:latin typeface="+mj-ea"/>
            </a:endParaRPr>
          </a:p>
        </p:txBody>
      </p:sp>
      <p:sp>
        <p:nvSpPr>
          <p:cNvPr id="13" name="矩形 12">
            <a:extLst>
              <a:ext uri="{FF2B5EF4-FFF2-40B4-BE49-F238E27FC236}">
                <a16:creationId xmlns:a16="http://schemas.microsoft.com/office/drawing/2014/main" id="{57BE3BC7-A4D9-4DA3-9FFF-07BB907A6839}"/>
              </a:ext>
            </a:extLst>
          </p:cNvPr>
          <p:cNvSpPr/>
          <p:nvPr/>
        </p:nvSpPr>
        <p:spPr>
          <a:xfrm>
            <a:off x="6850666" y="1367822"/>
            <a:ext cx="649810" cy="646331"/>
          </a:xfrm>
          <a:prstGeom prst="rect">
            <a:avLst/>
          </a:prstGeom>
          <a:solidFill>
            <a:schemeClr val="accent2">
              <a:lumMod val="20000"/>
              <a:lumOff val="80000"/>
            </a:schemeClr>
          </a:solidFill>
        </p:spPr>
        <p:txBody>
          <a:bodyPr wrap="square">
            <a:spAutoFit/>
          </a:bodyPr>
          <a:lstStyle/>
          <a:p>
            <a:pPr marL="0" lvl="1" algn="ctr"/>
            <a:r>
              <a:rPr lang="zh-CN" altLang="en-US" dirty="0">
                <a:latin typeface="+mj-ea"/>
              </a:rPr>
              <a:t>预期目标</a:t>
            </a:r>
            <a:endParaRPr lang="zh-CN" altLang="zh-CN" dirty="0">
              <a:latin typeface="+mj-ea"/>
            </a:endParaRPr>
          </a:p>
        </p:txBody>
      </p:sp>
      <p:sp>
        <p:nvSpPr>
          <p:cNvPr id="14" name="矩形 13">
            <a:extLst>
              <a:ext uri="{FF2B5EF4-FFF2-40B4-BE49-F238E27FC236}">
                <a16:creationId xmlns:a16="http://schemas.microsoft.com/office/drawing/2014/main" id="{6E051352-C8AC-4BD7-99DD-BC2FDE113B4F}"/>
              </a:ext>
            </a:extLst>
          </p:cNvPr>
          <p:cNvSpPr/>
          <p:nvPr/>
        </p:nvSpPr>
        <p:spPr>
          <a:xfrm>
            <a:off x="4582994" y="2513225"/>
            <a:ext cx="2452254" cy="369332"/>
          </a:xfrm>
          <a:prstGeom prst="rect">
            <a:avLst/>
          </a:prstGeom>
          <a:solidFill>
            <a:schemeClr val="accent2">
              <a:lumMod val="20000"/>
              <a:lumOff val="80000"/>
            </a:schemeClr>
          </a:solidFill>
        </p:spPr>
        <p:txBody>
          <a:bodyPr wrap="square">
            <a:spAutoFit/>
          </a:bodyPr>
          <a:lstStyle/>
          <a:p>
            <a:pPr marL="0" lvl="1" algn="ctr"/>
            <a:r>
              <a:rPr lang="zh-CN" altLang="en-US" dirty="0">
                <a:latin typeface="+mj-ea"/>
              </a:rPr>
              <a:t>设计假设</a:t>
            </a:r>
            <a:r>
              <a:rPr lang="en-US" altLang="zh-CN" dirty="0">
                <a:latin typeface="+mj-ea"/>
              </a:rPr>
              <a:t>/</a:t>
            </a:r>
            <a:r>
              <a:rPr lang="zh-CN" altLang="en-US" dirty="0">
                <a:latin typeface="+mj-ea"/>
              </a:rPr>
              <a:t>理论（未知）</a:t>
            </a:r>
            <a:endParaRPr lang="zh-CN" altLang="zh-CN" dirty="0">
              <a:latin typeface="+mj-ea"/>
            </a:endParaRPr>
          </a:p>
        </p:txBody>
      </p:sp>
      <p:sp>
        <p:nvSpPr>
          <p:cNvPr id="15" name="箭头: 右 14">
            <a:extLst>
              <a:ext uri="{FF2B5EF4-FFF2-40B4-BE49-F238E27FC236}">
                <a16:creationId xmlns:a16="http://schemas.microsoft.com/office/drawing/2014/main" id="{D5BF5352-7312-4034-A895-15ECFFC3B75F}"/>
              </a:ext>
            </a:extLst>
          </p:cNvPr>
          <p:cNvSpPr/>
          <p:nvPr/>
        </p:nvSpPr>
        <p:spPr>
          <a:xfrm>
            <a:off x="5141677" y="1609225"/>
            <a:ext cx="1660358" cy="201727"/>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a:extLst>
              <a:ext uri="{FF2B5EF4-FFF2-40B4-BE49-F238E27FC236}">
                <a16:creationId xmlns:a16="http://schemas.microsoft.com/office/drawing/2014/main" id="{88F66FB4-DD00-4A62-8C04-188E9562DAA9}"/>
              </a:ext>
            </a:extLst>
          </p:cNvPr>
          <p:cNvSpPr/>
          <p:nvPr/>
        </p:nvSpPr>
        <p:spPr>
          <a:xfrm rot="16200000">
            <a:off x="5441554" y="2023487"/>
            <a:ext cx="730544" cy="178002"/>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252C7F60-7555-4F54-84A6-3CD1D72AFBE3}"/>
              </a:ext>
            </a:extLst>
          </p:cNvPr>
          <p:cNvSpPr/>
          <p:nvPr/>
        </p:nvSpPr>
        <p:spPr>
          <a:xfrm>
            <a:off x="892629" y="3449582"/>
            <a:ext cx="9368047" cy="1323439"/>
          </a:xfrm>
          <a:prstGeom prst="rect">
            <a:avLst/>
          </a:prstGeom>
        </p:spPr>
        <p:txBody>
          <a:bodyPr wrap="square">
            <a:spAutoFit/>
          </a:bodyPr>
          <a:lstStyle/>
          <a:p>
            <a:r>
              <a:rPr lang="zh-CN" altLang="en-US" sz="2000" b="1" dirty="0">
                <a:latin typeface="+mj-ea"/>
                <a:ea typeface="+mj-ea"/>
              </a:rPr>
              <a:t>类比</a:t>
            </a:r>
            <a:endParaRPr lang="en-US" altLang="zh-CN" sz="2000" b="1" dirty="0">
              <a:latin typeface="+mj-ea"/>
              <a:ea typeface="+mj-ea"/>
            </a:endParaRPr>
          </a:p>
          <a:p>
            <a:pPr marL="342900" indent="-342900">
              <a:buFont typeface="Arial" panose="020B0604020202020204" pitchFamily="34" charset="0"/>
              <a:buChar char="•"/>
            </a:pPr>
            <a:r>
              <a:rPr lang="zh-CN" altLang="en-US" sz="2000" dirty="0">
                <a:latin typeface="+mj-ea"/>
                <a:ea typeface="+mj-ea"/>
              </a:rPr>
              <a:t>寻找相似性，将一个场景中的设计知识转移到另外一个场景，通过已知事物</a:t>
            </a:r>
            <a:r>
              <a:rPr lang="en-US" altLang="zh-CN" sz="2000" dirty="0">
                <a:latin typeface="+mj-ea"/>
                <a:ea typeface="+mj-ea"/>
              </a:rPr>
              <a:t>(</a:t>
            </a:r>
            <a:r>
              <a:rPr lang="zh-CN" altLang="en-US" sz="2000" dirty="0">
                <a:latin typeface="+mj-ea"/>
                <a:ea typeface="+mj-ea"/>
              </a:rPr>
              <a:t>或事例</a:t>
            </a:r>
            <a:r>
              <a:rPr lang="en-US" altLang="zh-CN" sz="2000" dirty="0">
                <a:latin typeface="+mj-ea"/>
                <a:ea typeface="+mj-ea"/>
              </a:rPr>
              <a:t>)</a:t>
            </a:r>
            <a:r>
              <a:rPr lang="zh-CN" altLang="en-US" sz="2000" dirty="0">
                <a:latin typeface="+mj-ea"/>
                <a:ea typeface="+mj-ea"/>
              </a:rPr>
              <a:t>与跟它有某些相同特点的事物</a:t>
            </a:r>
            <a:r>
              <a:rPr lang="en-US" altLang="zh-CN" sz="2000" dirty="0">
                <a:latin typeface="+mj-ea"/>
                <a:ea typeface="+mj-ea"/>
              </a:rPr>
              <a:t>(</a:t>
            </a:r>
            <a:r>
              <a:rPr lang="zh-CN" altLang="en-US" sz="2000" dirty="0">
                <a:latin typeface="+mj-ea"/>
                <a:ea typeface="+mj-ea"/>
              </a:rPr>
              <a:t>或事例</a:t>
            </a:r>
            <a:r>
              <a:rPr lang="en-US" altLang="zh-CN" sz="2000" dirty="0">
                <a:latin typeface="+mj-ea"/>
                <a:ea typeface="+mj-ea"/>
              </a:rPr>
              <a:t>)</a:t>
            </a:r>
            <a:r>
              <a:rPr lang="zh-CN" altLang="en-US" sz="2000" dirty="0">
                <a:latin typeface="+mj-ea"/>
                <a:ea typeface="+mj-ea"/>
              </a:rPr>
              <a:t>进行比较类推。</a:t>
            </a:r>
            <a:endParaRPr lang="en-US" altLang="zh-CN" sz="2000" dirty="0">
              <a:latin typeface="+mj-ea"/>
              <a:ea typeface="+mj-ea"/>
            </a:endParaRPr>
          </a:p>
          <a:p>
            <a:pPr marL="342900" indent="-342900">
              <a:buFont typeface="Arial" panose="020B0604020202020204" pitchFamily="34" charset="0"/>
              <a:buChar char="•"/>
            </a:pPr>
            <a:r>
              <a:rPr lang="zh-CN" altLang="en-US" sz="2000" dirty="0">
                <a:latin typeface="+mj-ea"/>
                <a:ea typeface="+mj-ea"/>
              </a:rPr>
              <a:t>类比有类比描述和类比解释。  </a:t>
            </a:r>
            <a:endParaRPr lang="en-US" altLang="zh-CN" sz="2000" dirty="0">
              <a:latin typeface="+mj-ea"/>
              <a:ea typeface="+mj-ea"/>
            </a:endParaRPr>
          </a:p>
        </p:txBody>
      </p:sp>
      <p:sp>
        <p:nvSpPr>
          <p:cNvPr id="2" name="矩形 1">
            <a:extLst>
              <a:ext uri="{FF2B5EF4-FFF2-40B4-BE49-F238E27FC236}">
                <a16:creationId xmlns:a16="http://schemas.microsoft.com/office/drawing/2014/main" id="{2384DB12-60BC-4BB9-88F7-4071E9A24C3F}"/>
              </a:ext>
            </a:extLst>
          </p:cNvPr>
          <p:cNvSpPr/>
          <p:nvPr/>
        </p:nvSpPr>
        <p:spPr>
          <a:xfrm>
            <a:off x="892629" y="5334337"/>
            <a:ext cx="8574729" cy="369332"/>
          </a:xfrm>
          <a:prstGeom prst="rect">
            <a:avLst/>
          </a:prstGeom>
          <a:solidFill>
            <a:schemeClr val="accent6">
              <a:lumMod val="40000"/>
              <a:lumOff val="60000"/>
            </a:schemeClr>
          </a:solidFill>
        </p:spPr>
        <p:txBody>
          <a:bodyPr wrap="square">
            <a:spAutoFit/>
          </a:bodyPr>
          <a:lstStyle/>
          <a:p>
            <a:r>
              <a:rPr lang="zh-CN" altLang="en-US" dirty="0">
                <a:solidFill>
                  <a:srgbClr val="000000"/>
                </a:solidFill>
                <a:latin typeface="宋体.㎡..."/>
              </a:rPr>
              <a:t>鲁班发明锯子由被齿状边缘的叶子割伤手指而引发类比，而叶子的形状是非常具象。 </a:t>
            </a:r>
            <a:endParaRPr lang="zh-CN" altLang="en-US" dirty="0"/>
          </a:p>
        </p:txBody>
      </p:sp>
      <p:sp>
        <p:nvSpPr>
          <p:cNvPr id="11" name="标题 1">
            <a:extLst>
              <a:ext uri="{FF2B5EF4-FFF2-40B4-BE49-F238E27FC236}">
                <a16:creationId xmlns:a16="http://schemas.microsoft.com/office/drawing/2014/main" id="{B37925CB-CE51-45C3-9D46-9929CD44BE1E}"/>
              </a:ext>
            </a:extLst>
          </p:cNvPr>
          <p:cNvSpPr txBox="1">
            <a:spLocks noChangeArrowheads="1"/>
          </p:cNvSpPr>
          <p:nvPr/>
        </p:nvSpPr>
        <p:spPr>
          <a:xfrm>
            <a:off x="1771547" y="422142"/>
            <a:ext cx="6589881"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三、设计假设与解决方案的关系</a:t>
            </a:r>
          </a:p>
        </p:txBody>
      </p:sp>
    </p:spTree>
    <p:extLst>
      <p:ext uri="{BB962C8B-B14F-4D97-AF65-F5344CB8AC3E}">
        <p14:creationId xmlns:p14="http://schemas.microsoft.com/office/powerpoint/2010/main" val="2679101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2216FAA-D0C3-4392-BB87-AFCD9843CF9D}"/>
              </a:ext>
            </a:extLst>
          </p:cNvPr>
          <p:cNvSpPr/>
          <p:nvPr/>
        </p:nvSpPr>
        <p:spPr>
          <a:xfrm>
            <a:off x="424543" y="1246708"/>
            <a:ext cx="10809513" cy="1988301"/>
          </a:xfrm>
          <a:prstGeom prst="rect">
            <a:avLst/>
          </a:prstGeom>
        </p:spPr>
        <p:txBody>
          <a:bodyPr wrap="square">
            <a:spAutoFit/>
          </a:bodyPr>
          <a:lstStyle/>
          <a:p>
            <a:pPr>
              <a:lnSpc>
                <a:spcPct val="125000"/>
              </a:lnSpc>
            </a:pPr>
            <a:r>
              <a:rPr lang="zh-CN" altLang="en-US" sz="2000" b="1" dirty="0">
                <a:latin typeface="+mj-ea"/>
                <a:ea typeface="+mj-ea"/>
              </a:rPr>
              <a:t>类比</a:t>
            </a:r>
            <a:endParaRPr lang="en-US" altLang="zh-CN" sz="2000" b="1" dirty="0">
              <a:latin typeface="+mj-ea"/>
              <a:ea typeface="+mj-ea"/>
            </a:endParaRPr>
          </a:p>
          <a:p>
            <a:pPr marL="342900" indent="-342900">
              <a:lnSpc>
                <a:spcPct val="125000"/>
              </a:lnSpc>
              <a:buFont typeface="Arial" panose="020B0604020202020204" pitchFamily="34" charset="0"/>
              <a:buChar char="•"/>
            </a:pPr>
            <a:r>
              <a:rPr lang="zh-CN" altLang="en-US" sz="2000" dirty="0">
                <a:latin typeface="+mj-ea"/>
                <a:ea typeface="+mj-ea"/>
              </a:rPr>
              <a:t>源域和目标域。源域与目标域的元素之间在</a:t>
            </a:r>
            <a:r>
              <a:rPr lang="zh-CN" altLang="en-US" sz="2000" dirty="0">
                <a:highlight>
                  <a:srgbClr val="FFFF00"/>
                </a:highlight>
                <a:latin typeface="+mj-ea"/>
                <a:ea typeface="+mj-ea"/>
              </a:rPr>
              <a:t>属性、关系及系统</a:t>
            </a:r>
            <a:r>
              <a:rPr lang="zh-CN" altLang="en-US" sz="2000" dirty="0">
                <a:latin typeface="+mj-ea"/>
                <a:ea typeface="+mj-ea"/>
              </a:rPr>
              <a:t>三方面都存在某种对应关系，作为类比推理的基础。  </a:t>
            </a:r>
            <a:endParaRPr lang="en-US" altLang="zh-CN" sz="2000" dirty="0">
              <a:latin typeface="+mj-ea"/>
              <a:ea typeface="+mj-ea"/>
            </a:endParaRPr>
          </a:p>
          <a:p>
            <a:pPr marL="342900" indent="-342900">
              <a:lnSpc>
                <a:spcPct val="125000"/>
              </a:lnSpc>
              <a:buFont typeface="Arial" panose="020B0604020202020204" pitchFamily="34" charset="0"/>
              <a:buChar char="•"/>
            </a:pPr>
            <a:r>
              <a:rPr lang="zh-CN" altLang="en-US" sz="2000" dirty="0">
                <a:latin typeface="+mj-ea"/>
                <a:ea typeface="+mj-ea"/>
              </a:rPr>
              <a:t>相同特点或相似性是类比推理的出发点。</a:t>
            </a:r>
            <a:endParaRPr lang="en-US" altLang="zh-CN" sz="2000" dirty="0">
              <a:latin typeface="+mj-ea"/>
              <a:ea typeface="+mj-ea"/>
            </a:endParaRPr>
          </a:p>
          <a:p>
            <a:pPr marL="342900" indent="-342900">
              <a:lnSpc>
                <a:spcPct val="125000"/>
              </a:lnSpc>
              <a:buFont typeface="Arial" panose="020B0604020202020204" pitchFamily="34" charset="0"/>
              <a:buChar char="•"/>
            </a:pPr>
            <a:r>
              <a:rPr lang="zh-CN" altLang="en-US" sz="2000" dirty="0">
                <a:latin typeface="+mj-ea"/>
                <a:ea typeface="+mj-ea"/>
              </a:rPr>
              <a:t>采用比较类推的方式进行推理。</a:t>
            </a:r>
            <a:endParaRPr lang="en-US" altLang="zh-CN" sz="2000" dirty="0">
              <a:latin typeface="+mj-ea"/>
              <a:ea typeface="+mj-ea"/>
            </a:endParaRPr>
          </a:p>
        </p:txBody>
      </p:sp>
      <p:sp>
        <p:nvSpPr>
          <p:cNvPr id="3" name="矩形 2">
            <a:extLst>
              <a:ext uri="{FF2B5EF4-FFF2-40B4-BE49-F238E27FC236}">
                <a16:creationId xmlns:a16="http://schemas.microsoft.com/office/drawing/2014/main" id="{A12A17B8-EC1A-4C67-98F0-9C05FD5B51A0}"/>
              </a:ext>
            </a:extLst>
          </p:cNvPr>
          <p:cNvSpPr/>
          <p:nvPr/>
        </p:nvSpPr>
        <p:spPr>
          <a:xfrm>
            <a:off x="527759" y="3985952"/>
            <a:ext cx="10603079" cy="2585323"/>
          </a:xfrm>
          <a:prstGeom prst="rect">
            <a:avLst/>
          </a:prstGeom>
          <a:solidFill>
            <a:schemeClr val="accent6">
              <a:lumMod val="40000"/>
              <a:lumOff val="60000"/>
            </a:schemeClr>
          </a:solidFill>
        </p:spPr>
        <p:txBody>
          <a:bodyPr wrap="square">
            <a:spAutoFit/>
          </a:bodyPr>
          <a:lstStyle/>
          <a:p>
            <a:r>
              <a:rPr lang="zh-CN" altLang="en-US" dirty="0">
                <a:latin typeface="宋体.㎡..."/>
              </a:rPr>
              <a:t>扫地机器人在清扫过程中，滚刷易被毛发缠绕，可采用由理发器产品的“剪切</a:t>
            </a:r>
            <a:r>
              <a:rPr lang="en-US" altLang="zh-CN" dirty="0">
                <a:latin typeface="宋体.㎡..."/>
              </a:rPr>
              <a:t>"</a:t>
            </a:r>
            <a:r>
              <a:rPr lang="zh-CN" altLang="en-US" dirty="0">
                <a:latin typeface="宋体.㎡..."/>
              </a:rPr>
              <a:t>的方案，并根据理发器的错齿刀剪切原理设计适用于清除扫地机器人滚刷上缠绕毛发的剪切结构。</a:t>
            </a:r>
            <a:endParaRPr lang="en-US" altLang="zh-CN" dirty="0">
              <a:latin typeface="宋体.㎡..."/>
            </a:endParaRPr>
          </a:p>
          <a:p>
            <a:endParaRPr lang="en-US" altLang="zh-CN" dirty="0">
              <a:latin typeface="宋体.㎡..."/>
            </a:endParaRPr>
          </a:p>
          <a:p>
            <a:r>
              <a:rPr lang="zh-CN" altLang="en-US" dirty="0">
                <a:latin typeface="宋体.㎡..."/>
              </a:rPr>
              <a:t>研究者选择枪械构造和外观特色作为直立吸尘器构造结构的类比对象，出于以下考虑：</a:t>
            </a:r>
            <a:endParaRPr lang="en-US" altLang="zh-CN" dirty="0">
              <a:latin typeface="宋体.㎡..."/>
            </a:endParaRPr>
          </a:p>
          <a:p>
            <a:r>
              <a:rPr lang="zh-CN" altLang="en-US" dirty="0">
                <a:latin typeface="宋体.㎡..."/>
              </a:rPr>
              <a:t>①枪械作为灵感源与吸尘器领域相关度比较远，容易激发灵感，产生新颖的方案；②枪械造型具有特色，符合直立吸尘器外观酷炫的设计要求；</a:t>
            </a:r>
            <a:endParaRPr lang="en-US" altLang="zh-CN" dirty="0">
              <a:latin typeface="宋体.㎡..."/>
            </a:endParaRPr>
          </a:p>
          <a:p>
            <a:r>
              <a:rPr lang="zh-CN" altLang="en-US" dirty="0">
                <a:latin typeface="宋体.㎡..."/>
              </a:rPr>
              <a:t>③枪械弹夹插拔的方式与直立吸尘器充电电池的插拔方式是类似的。 </a:t>
            </a:r>
            <a:endParaRPr lang="en-US" altLang="zh-CN" dirty="0">
              <a:latin typeface="宋体.㎡..."/>
            </a:endParaRPr>
          </a:p>
          <a:p>
            <a:endParaRPr lang="en-US" altLang="zh-CN" dirty="0">
              <a:latin typeface="宋体.㎡..."/>
            </a:endParaRPr>
          </a:p>
          <a:p>
            <a:r>
              <a:rPr lang="zh-CN" altLang="en-US" dirty="0"/>
              <a:t>耿蕊</a:t>
            </a:r>
            <a:r>
              <a:rPr lang="en-US" altLang="zh-CN" dirty="0"/>
              <a:t>.</a:t>
            </a:r>
            <a:r>
              <a:rPr lang="zh-CN" altLang="en-US" dirty="0"/>
              <a:t>基于构造类比法的家电产品设计实践与探索</a:t>
            </a:r>
            <a:r>
              <a:rPr lang="en-US" altLang="zh-CN" dirty="0"/>
              <a:t>——</a:t>
            </a:r>
            <a:r>
              <a:rPr lang="zh-CN" altLang="en-US" dirty="0"/>
              <a:t>以吸尘器设计为例</a:t>
            </a:r>
            <a:r>
              <a:rPr lang="en-US" altLang="zh-CN" dirty="0"/>
              <a:t>[J].</a:t>
            </a:r>
            <a:r>
              <a:rPr lang="zh-CN" altLang="en-US" dirty="0"/>
              <a:t>装饰</a:t>
            </a:r>
            <a:r>
              <a:rPr lang="en-US" altLang="zh-CN" dirty="0"/>
              <a:t>,2021(05):128-129. </a:t>
            </a:r>
            <a:endParaRPr lang="zh-CN" altLang="en-US" dirty="0"/>
          </a:p>
        </p:txBody>
      </p:sp>
      <p:sp>
        <p:nvSpPr>
          <p:cNvPr id="4" name="标题 1">
            <a:extLst>
              <a:ext uri="{FF2B5EF4-FFF2-40B4-BE49-F238E27FC236}">
                <a16:creationId xmlns:a16="http://schemas.microsoft.com/office/drawing/2014/main" id="{EC2F6390-75E8-49D1-8398-F5F94C712CCC}"/>
              </a:ext>
            </a:extLst>
          </p:cNvPr>
          <p:cNvSpPr txBox="1">
            <a:spLocks noChangeArrowheads="1"/>
          </p:cNvSpPr>
          <p:nvPr/>
        </p:nvSpPr>
        <p:spPr>
          <a:xfrm>
            <a:off x="1770743" y="452225"/>
            <a:ext cx="6589881"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mj-ea"/>
              </a:rPr>
              <a:t>三、设计假设与具体方案的关系</a:t>
            </a:r>
          </a:p>
        </p:txBody>
      </p:sp>
    </p:spTree>
    <p:extLst>
      <p:ext uri="{BB962C8B-B14F-4D97-AF65-F5344CB8AC3E}">
        <p14:creationId xmlns:p14="http://schemas.microsoft.com/office/powerpoint/2010/main" val="2867041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C2F6390-75E8-49D1-8398-F5F94C712CCC}"/>
              </a:ext>
            </a:extLst>
          </p:cNvPr>
          <p:cNvSpPr txBox="1">
            <a:spLocks noChangeArrowheads="1"/>
          </p:cNvSpPr>
          <p:nvPr/>
        </p:nvSpPr>
        <p:spPr>
          <a:xfrm>
            <a:off x="1770743" y="452225"/>
            <a:ext cx="6589881"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3300" b="1">
                <a:latin typeface="+mj-ea"/>
              </a:rPr>
              <a:t>解决</a:t>
            </a:r>
            <a:r>
              <a:rPr lang="zh-CN" altLang="zh-CN" sz="3300" b="1" dirty="0">
                <a:latin typeface="+mj-ea"/>
              </a:rPr>
              <a:t>方案设计写作</a:t>
            </a:r>
            <a:r>
              <a:rPr lang="zh-CN" altLang="en-US" sz="3300" b="1" dirty="0">
                <a:latin typeface="+mj-ea"/>
              </a:rPr>
              <a:t>的总体要求</a:t>
            </a:r>
            <a:r>
              <a:rPr lang="zh-CN" altLang="zh-CN" sz="3300" b="1" dirty="0">
                <a:latin typeface="+mj-ea"/>
              </a:rPr>
              <a:t> </a:t>
            </a:r>
            <a:endParaRPr lang="zh-CN" altLang="en-US" sz="3300" b="1" dirty="0">
              <a:latin typeface="+mj-ea"/>
            </a:endParaRPr>
          </a:p>
        </p:txBody>
      </p:sp>
      <p:graphicFrame>
        <p:nvGraphicFramePr>
          <p:cNvPr id="5" name="表格 4">
            <a:extLst>
              <a:ext uri="{FF2B5EF4-FFF2-40B4-BE49-F238E27FC236}">
                <a16:creationId xmlns:a16="http://schemas.microsoft.com/office/drawing/2014/main" id="{00F0506F-C9A6-E948-BDF0-95F529DD8B27}"/>
              </a:ext>
            </a:extLst>
          </p:cNvPr>
          <p:cNvGraphicFramePr>
            <a:graphicFrameLocks noGrp="1"/>
          </p:cNvGraphicFramePr>
          <p:nvPr>
            <p:extLst>
              <p:ext uri="{D42A27DB-BD31-4B8C-83A1-F6EECF244321}">
                <p14:modId xmlns:p14="http://schemas.microsoft.com/office/powerpoint/2010/main" val="1241899900"/>
              </p:ext>
            </p:extLst>
          </p:nvPr>
        </p:nvGraphicFramePr>
        <p:xfrm>
          <a:off x="935016" y="1320863"/>
          <a:ext cx="7425608" cy="3028148"/>
        </p:xfrm>
        <a:graphic>
          <a:graphicData uri="http://schemas.openxmlformats.org/drawingml/2006/table">
            <a:tbl>
              <a:tblPr firstRow="1" firstCol="1" bandRow="1">
                <a:tableStyleId>{5C22544A-7EE6-4342-B048-85BDC9FD1C3A}</a:tableStyleId>
              </a:tblPr>
              <a:tblGrid>
                <a:gridCol w="1517776">
                  <a:extLst>
                    <a:ext uri="{9D8B030D-6E8A-4147-A177-3AD203B41FA5}">
                      <a16:colId xmlns:a16="http://schemas.microsoft.com/office/drawing/2014/main" val="1922529318"/>
                    </a:ext>
                  </a:extLst>
                </a:gridCol>
                <a:gridCol w="5907832">
                  <a:extLst>
                    <a:ext uri="{9D8B030D-6E8A-4147-A177-3AD203B41FA5}">
                      <a16:colId xmlns:a16="http://schemas.microsoft.com/office/drawing/2014/main" val="799639492"/>
                    </a:ext>
                  </a:extLst>
                </a:gridCol>
              </a:tblGrid>
              <a:tr h="337939">
                <a:tc>
                  <a:txBody>
                    <a:bodyPr/>
                    <a:lstStyle/>
                    <a:p>
                      <a:pPr algn="ctr"/>
                      <a:r>
                        <a:rPr lang="zh-CN" sz="1800" kern="100" dirty="0">
                          <a:effectLst/>
                        </a:rPr>
                        <a:t>要求</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ctr"/>
                      <a:r>
                        <a:rPr lang="zh-CN" sz="1800" kern="100">
                          <a:effectLst/>
                        </a:rPr>
                        <a:t>检查项</a:t>
                      </a:r>
                      <a:endParaRPr lang="zh-CN"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39209662"/>
                  </a:ext>
                </a:extLst>
              </a:tr>
              <a:tr h="383897">
                <a:tc>
                  <a:txBody>
                    <a:bodyPr/>
                    <a:lstStyle/>
                    <a:p>
                      <a:pPr algn="just"/>
                      <a:r>
                        <a:rPr lang="zh-CN" sz="1800" kern="100" dirty="0">
                          <a:effectLst/>
                        </a:rPr>
                        <a:t>完整性</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just"/>
                      <a:r>
                        <a:rPr lang="en-US" sz="1800" kern="100">
                          <a:effectLst/>
                        </a:rPr>
                        <a:t>1</a:t>
                      </a:r>
                      <a:r>
                        <a:rPr lang="zh-CN" sz="1800" kern="100">
                          <a:effectLst/>
                        </a:rPr>
                        <a:t>）是否完成陈述了目标、设计假设、解决方案</a:t>
                      </a:r>
                      <a:endParaRPr lang="zh-CN"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07776676"/>
                  </a:ext>
                </a:extLst>
              </a:tr>
              <a:tr h="513934">
                <a:tc>
                  <a:txBody>
                    <a:bodyPr/>
                    <a:lstStyle/>
                    <a:p>
                      <a:pPr algn="just"/>
                      <a:r>
                        <a:rPr lang="zh-CN" sz="1800" kern="100" dirty="0">
                          <a:effectLst/>
                        </a:rPr>
                        <a:t>设计目标</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just"/>
                      <a:r>
                        <a:rPr lang="en-US" sz="1800" kern="100" dirty="0">
                          <a:effectLst/>
                        </a:rPr>
                        <a:t>1</a:t>
                      </a:r>
                      <a:r>
                        <a:rPr lang="zh-CN" sz="1800" kern="100" dirty="0">
                          <a:effectLst/>
                        </a:rPr>
                        <a:t>）对设计目标设计的合理性说明；</a:t>
                      </a:r>
                    </a:p>
                    <a:p>
                      <a:pPr algn="just"/>
                      <a:r>
                        <a:rPr lang="en-US" sz="1800" kern="100" dirty="0">
                          <a:effectLst/>
                        </a:rPr>
                        <a:t>2</a:t>
                      </a:r>
                      <a:r>
                        <a:rPr lang="zh-CN" sz="1800" kern="100" dirty="0">
                          <a:effectLst/>
                        </a:rPr>
                        <a:t>）目标设计过程的描述</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96772355"/>
                  </a:ext>
                </a:extLst>
              </a:tr>
              <a:tr h="897468">
                <a:tc>
                  <a:txBody>
                    <a:bodyPr/>
                    <a:lstStyle/>
                    <a:p>
                      <a:pPr algn="just"/>
                      <a:r>
                        <a:rPr lang="zh-CN" sz="1800" kern="100">
                          <a:effectLst/>
                        </a:rPr>
                        <a:t>设计假设</a:t>
                      </a:r>
                      <a:endParaRPr lang="zh-CN"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just"/>
                      <a:r>
                        <a:rPr lang="en-US" sz="1800" kern="100" dirty="0">
                          <a:effectLst/>
                        </a:rPr>
                        <a:t>1</a:t>
                      </a:r>
                      <a:r>
                        <a:rPr lang="zh-CN" sz="1800" kern="100" dirty="0">
                          <a:effectLst/>
                        </a:rPr>
                        <a:t>）是否有理论基础；</a:t>
                      </a:r>
                    </a:p>
                    <a:p>
                      <a:pPr algn="just"/>
                      <a:r>
                        <a:rPr lang="en-US" sz="1800" kern="100" dirty="0">
                          <a:effectLst/>
                        </a:rPr>
                        <a:t>2</a:t>
                      </a:r>
                      <a:r>
                        <a:rPr lang="zh-CN" sz="1800" kern="100" dirty="0">
                          <a:effectLst/>
                        </a:rPr>
                        <a:t>）对设计假设选择的合理性说明；</a:t>
                      </a:r>
                    </a:p>
                    <a:p>
                      <a:pPr algn="just"/>
                      <a:r>
                        <a:rPr lang="en-US" sz="1800" kern="100" dirty="0">
                          <a:effectLst/>
                        </a:rPr>
                        <a:t>3</a:t>
                      </a:r>
                      <a:r>
                        <a:rPr lang="zh-CN" sz="1800" kern="100" dirty="0">
                          <a:effectLst/>
                        </a:rPr>
                        <a:t>）设计假设的获得过程的描述</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63555086"/>
                  </a:ext>
                </a:extLst>
              </a:tr>
              <a:tr h="860204">
                <a:tc>
                  <a:txBody>
                    <a:bodyPr/>
                    <a:lstStyle/>
                    <a:p>
                      <a:pPr algn="just"/>
                      <a:r>
                        <a:rPr lang="zh-CN" sz="1800" kern="100">
                          <a:effectLst/>
                        </a:rPr>
                        <a:t>解决方案</a:t>
                      </a:r>
                      <a:endParaRPr lang="zh-CN"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just"/>
                      <a:r>
                        <a:rPr lang="en-US" sz="1800" kern="100" dirty="0">
                          <a:effectLst/>
                        </a:rPr>
                        <a:t>1</a:t>
                      </a:r>
                      <a:r>
                        <a:rPr lang="zh-CN" sz="1800" kern="100" dirty="0">
                          <a:effectLst/>
                        </a:rPr>
                        <a:t>）对具体方案设计体现设计设计假设程度的分析；</a:t>
                      </a:r>
                    </a:p>
                    <a:p>
                      <a:pPr algn="just"/>
                      <a:r>
                        <a:rPr lang="en-US" sz="1800" kern="100" dirty="0">
                          <a:effectLst/>
                        </a:rPr>
                        <a:t>2</a:t>
                      </a:r>
                      <a:r>
                        <a:rPr lang="zh-CN" sz="1800" kern="100" dirty="0">
                          <a:effectLst/>
                        </a:rPr>
                        <a:t>）解决方案获得过程描述</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496285693"/>
                  </a:ext>
                </a:extLst>
              </a:tr>
            </a:tbl>
          </a:graphicData>
        </a:graphic>
      </p:graphicFrame>
    </p:spTree>
    <p:extLst>
      <p:ext uri="{BB962C8B-B14F-4D97-AF65-F5344CB8AC3E}">
        <p14:creationId xmlns:p14="http://schemas.microsoft.com/office/powerpoint/2010/main" val="237343089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1339</TotalTime>
  <Words>1821</Words>
  <Application>Microsoft Office PowerPoint</Application>
  <PresentationFormat>宽屏</PresentationFormat>
  <Paragraphs>247</Paragraphs>
  <Slides>24</Slides>
  <Notes>6</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38" baseType="lpstr">
      <vt:lpstr>DengXian</vt:lpstr>
      <vt:lpstr>DengXian</vt:lpstr>
      <vt:lpstr>等线 Light</vt:lpstr>
      <vt:lpstr>宋体</vt:lpstr>
      <vt:lpstr>宋体.㎡...</vt:lpstr>
      <vt:lpstr>宋体テ....</vt:lpstr>
      <vt:lpstr>宋体蕻醴.錄.</vt:lpstr>
      <vt:lpstr>微软雅黑</vt:lpstr>
      <vt:lpstr>Arial</vt:lpstr>
      <vt:lpstr>Calibri</vt:lpstr>
      <vt:lpstr>Times New Roman</vt:lpstr>
      <vt:lpstr>Wingdings</vt:lpstr>
      <vt:lpstr>Office 主题​​</vt:lpstr>
      <vt:lpstr>Visio</vt:lpstr>
      <vt:lpstr>解决方案设计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 Ning</dc:creator>
  <cp:lastModifiedBy>Yan Ning</cp:lastModifiedBy>
  <cp:revision>370</cp:revision>
  <dcterms:created xsi:type="dcterms:W3CDTF">2023-02-21T01:12:16Z</dcterms:created>
  <dcterms:modified xsi:type="dcterms:W3CDTF">2025-02-28T02:00:48Z</dcterms:modified>
</cp:coreProperties>
</file>