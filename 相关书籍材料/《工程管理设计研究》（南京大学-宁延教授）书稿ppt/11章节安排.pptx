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623" r:id="rId2"/>
    <p:sldId id="633" r:id="rId3"/>
    <p:sldId id="260" r:id="rId4"/>
    <p:sldId id="261" r:id="rId5"/>
    <p:sldId id="262" r:id="rId6"/>
    <p:sldId id="263" r:id="rId7"/>
    <p:sldId id="273" r:id="rId8"/>
    <p:sldId id="264" r:id="rId9"/>
    <p:sldId id="265" r:id="rId10"/>
    <p:sldId id="266" r:id="rId11"/>
    <p:sldId id="267" r:id="rId12"/>
    <p:sldId id="268" r:id="rId13"/>
    <p:sldId id="269" r:id="rId14"/>
    <p:sldId id="274" r:id="rId15"/>
    <p:sldId id="257" r:id="rId16"/>
    <p:sldId id="259" r:id="rId17"/>
    <p:sldId id="270" r:id="rId18"/>
    <p:sldId id="271" r:id="rId19"/>
    <p:sldId id="275" r:id="rId20"/>
    <p:sldId id="272" r:id="rId21"/>
    <p:sldId id="276" r:id="rId22"/>
    <p:sldId id="1614" r:id="rId23"/>
    <p:sldId id="1615" r:id="rId24"/>
    <p:sldId id="1616" r:id="rId25"/>
    <p:sldId id="1617" r:id="rId26"/>
    <p:sldId id="1619" r:id="rId27"/>
    <p:sldId id="1592" r:id="rId28"/>
    <p:sldId id="1627" r:id="rId29"/>
    <p:sldId id="1620" r:id="rId30"/>
    <p:sldId id="1621" r:id="rId31"/>
    <p:sldId id="1628" r:id="rId32"/>
    <p:sldId id="1622" r:id="rId33"/>
    <p:sldId id="1623" r:id="rId34"/>
    <p:sldId id="1624" r:id="rId35"/>
    <p:sldId id="1625" r:id="rId36"/>
    <p:sldId id="1626" r:id="rId37"/>
    <p:sldId id="1658" r:id="rId38"/>
    <p:sldId id="1613"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50"/>
    <p:restoredTop sz="94694"/>
  </p:normalViewPr>
  <p:slideViewPr>
    <p:cSldViewPr snapToGrid="0">
      <p:cViewPr varScale="1">
        <p:scale>
          <a:sx n="72" d="100"/>
          <a:sy n="72" d="100"/>
        </p:scale>
        <p:origin x="1947"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c5e2e04bbef42de" providerId="LiveId" clId="{92CDA9F5-C469-4268-B8B7-9347DC48BF25}"/>
    <pc:docChg chg="custSel modSld">
      <pc:chgData name="" userId="6c5e2e04bbef42de" providerId="LiveId" clId="{92CDA9F5-C469-4268-B8B7-9347DC48BF25}" dt="2025-02-28T02:02:09.823" v="2" actId="478"/>
      <pc:docMkLst>
        <pc:docMk/>
      </pc:docMkLst>
      <pc:sldChg chg="addSp delSp modSp">
        <pc:chgData name="" userId="6c5e2e04bbef42de" providerId="LiveId" clId="{92CDA9F5-C469-4268-B8B7-9347DC48BF25}" dt="2025-02-28T02:02:09.823" v="2" actId="478"/>
        <pc:sldMkLst>
          <pc:docMk/>
          <pc:sldMk cId="0" sldId="623"/>
        </pc:sldMkLst>
        <pc:spChg chg="del">
          <ac:chgData name="" userId="6c5e2e04bbef42de" providerId="LiveId" clId="{92CDA9F5-C469-4268-B8B7-9347DC48BF25}" dt="2025-02-28T02:02:09.823" v="2" actId="478"/>
          <ac:spMkLst>
            <pc:docMk/>
            <pc:sldMk cId="0" sldId="623"/>
            <ac:spMk id="3" creationId="{00000000-0000-0000-0000-000000000000}"/>
          </ac:spMkLst>
        </pc:spChg>
        <pc:spChg chg="add mod">
          <ac:chgData name="" userId="6c5e2e04bbef42de" providerId="LiveId" clId="{92CDA9F5-C469-4268-B8B7-9347DC48BF25}" dt="2025-02-28T02:02:09.823" v="2" actId="478"/>
          <ac:spMkLst>
            <pc:docMk/>
            <pc:sldMk cId="0" sldId="623"/>
            <ac:spMk id="5" creationId="{2CABCD83-9C26-403A-B751-2920D4314AD2}"/>
          </ac:spMkLst>
        </pc:spChg>
        <pc:spChg chg="del">
          <ac:chgData name="" userId="6c5e2e04bbef42de" providerId="LiveId" clId="{92CDA9F5-C469-4268-B8B7-9347DC48BF25}" dt="2025-02-28T02:02:08.523" v="1" actId="478"/>
          <ac:spMkLst>
            <pc:docMk/>
            <pc:sldMk cId="0" sldId="623"/>
            <ac:spMk id="10" creationId="{00000000-0000-0000-0000-000000000000}"/>
          </ac:spMkLst>
        </pc:spChg>
        <pc:picChg chg="del">
          <ac:chgData name="" userId="6c5e2e04bbef42de" providerId="LiveId" clId="{92CDA9F5-C469-4268-B8B7-9347DC48BF25}" dt="2025-02-28T02:02:06.708" v="0" actId="478"/>
          <ac:picMkLst>
            <pc:docMk/>
            <pc:sldMk cId="0" sldId="623"/>
            <ac:picMk id="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0A40F-6454-4AF5-9FAE-B3DF0CCA8FDF}"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50D6A2-4257-49DC-9E7A-4A76ED9BD8B2}" type="slidenum">
              <a:rPr lang="zh-CN" altLang="en-US" smtClean="0"/>
              <a:t>‹#›</a:t>
            </a:fld>
            <a:endParaRPr lang="zh-CN" altLang="en-US"/>
          </a:p>
        </p:txBody>
      </p:sp>
    </p:spTree>
    <p:extLst>
      <p:ext uri="{BB962C8B-B14F-4D97-AF65-F5344CB8AC3E}">
        <p14:creationId xmlns:p14="http://schemas.microsoft.com/office/powerpoint/2010/main" val="2830019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038B88-C58E-47EB-BB98-8E04097200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1CEF2F0-7548-48B0-8DBA-543CFA95B6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1D81ED4-885C-4213-805D-484151EF040A}"/>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69F3CC06-0705-4695-B655-8D297BB6A8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733549-15C2-4ECC-90CC-E6BBF7A1986C}"/>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3133860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9A25FD-C798-4F68-B504-5D182055136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DB9C20-F657-4AE8-A6CD-4C56A3AE7DC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40F9A78-70EA-4F3D-816D-B2769401D35E}"/>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528CE400-C113-476C-B267-54F468A91D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1C54EB-529A-46AD-B35F-BEA6ED6C3698}"/>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2979180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9DCBD4-5216-4274-8116-90F66C47313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8F7E129-9560-4856-AD3E-0ACCE9E945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E41EC91B-7BA3-4F50-9E10-5500A7A585D1}"/>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08E164D-4E9A-48A9-B6A9-F09D76F78C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CC3995-6E0D-48FC-99BB-CE0CE450AAFA}"/>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4075082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2D0AD8-A822-4D18-8955-AB6FC2F989C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FD410B7-EFF5-4A83-8855-4B0BFCF2018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399FEB1-DFA5-424A-BE9A-CA302304CA22}"/>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DAEC118E-BBDA-422E-B8CB-77F3E4633F9A}"/>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0BEC49FE-3C05-490C-BF20-D20A466635D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872170-76BF-48DA-9C3B-53FAE7C39B35}"/>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268050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767D04-EA64-41F7-9618-628ED1A7289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D22F6BD-671A-4CD3-A2A1-B83F56A03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C24A900-FFA8-4F64-83F4-7B48AD24A8B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90C6ECD-0439-4CDF-BAF8-E809B44495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7845534-6897-42E3-9FD0-BD4397F2D247}"/>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B44AAB98-2A13-489C-9D0D-225CE5CF5E50}"/>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A493E604-A0AF-4E7A-A54D-F2878FC59C6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EB01F15-E701-4A7C-A2AA-2857820C4B68}"/>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241026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DEAC34-E52B-4D0A-8243-F84FDFEB6C8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F592215-AEB3-4D84-B3E4-B7CD9DF0C4B3}"/>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83F4AC61-8E82-4FF6-A31B-08AC0A922EB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5FC1305-0588-4AAF-9E82-03879206E7EC}"/>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1664957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D882C54-1631-488E-BBEC-481C90924631}"/>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57A3B32F-6923-4137-8D65-F568A504A1E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B524CED-B6AA-4B92-BF5F-1BE6C425EABC}"/>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2480100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B7ADBB-0F4B-4AC0-8FE8-5E7761CD6AF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7C51B95-4A40-4DC6-9185-79A72A628D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193BCC3F-B8CC-4BFC-81C7-2C9AE0BFC2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34CF58B-D2D8-4890-98B4-394D16DB9592}"/>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C6C6EB-6441-474B-B020-F6F63B4112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8E7312-4F30-4EB5-BCDF-8782DE21CBF3}"/>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3557074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CCA098-408E-403B-AA2B-FD35E424021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36DB67B-1DFC-48AF-9051-9685041440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27BA8A9-6D81-4363-A2E5-DF9DD899C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F4099C4-EA00-49A9-A197-C6BB4435FF4B}"/>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6C3245CE-0044-47A9-BDEE-3288F2B0C0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35E85E-5E66-4D0F-A6AE-54CBFC604D33}"/>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3482141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F3D798-361B-4754-9645-361B6833EC8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90326C-92A5-4F68-B90A-028F2EB4E99E}"/>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47961E3-C132-41CB-95F0-E3033811B63D}"/>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B59614A-4FA8-4FDB-AB39-8BD49C7EDB1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F4A39F-60F2-49A9-BC75-E073DB2548E0}"/>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123630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9F3871F-D446-45EE-80FB-6D3C6FE299B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113AF2E-1D31-4C22-AFD9-88910FED58D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035ACAE-889B-4324-A2CE-910F861A2A39}"/>
              </a:ext>
            </a:extLst>
          </p:cNvPr>
          <p:cNvSpPr>
            <a:spLocks noGrp="1"/>
          </p:cNvSpPr>
          <p:nvPr>
            <p:ph type="dt" sz="half" idx="10"/>
          </p:nvPr>
        </p:nvSpPr>
        <p:spPr/>
        <p:txBody>
          <a:bodyPr/>
          <a:lstStyle/>
          <a:p>
            <a:fld id="{DE817022-9CCE-4DBE-9044-BDCC8042C4D8}"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C6F4C591-53CF-47E3-BA1D-4FAD77E601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8A9B0E5-55CE-4CDD-8187-184D4D513D6A}"/>
              </a:ext>
            </a:extLst>
          </p:cNvPr>
          <p:cNvSpPr>
            <a:spLocks noGrp="1"/>
          </p:cNvSpPr>
          <p:nvPr>
            <p:ph type="sldNum" sz="quarter" idx="12"/>
          </p:nvPr>
        </p:nvSpPr>
        <p:spPr/>
        <p:txBody>
          <a:body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959186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841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CC54C8-67EB-4449-B56E-2632BAD1AB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BE7EA8B-69A4-4F76-9B04-6F9F6763A2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9AF9C19-DD8D-4141-98E2-5176E6A722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817022-9CCE-4DBE-9044-BDCC8042C4D8}"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C0237A6F-7300-442E-8738-0ED0FE70E3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4239D51-89CA-452C-952E-3C423B97EE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492687-8D0F-4906-B19F-185B047FFE74}" type="slidenum">
              <a:rPr lang="zh-CN" altLang="en-US" smtClean="0"/>
              <a:t>‹#›</a:t>
            </a:fld>
            <a:endParaRPr lang="zh-CN" altLang="en-US"/>
          </a:p>
        </p:txBody>
      </p:sp>
    </p:spTree>
    <p:extLst>
      <p:ext uri="{BB962C8B-B14F-4D97-AF65-F5344CB8AC3E}">
        <p14:creationId xmlns:p14="http://schemas.microsoft.com/office/powerpoint/2010/main" val="3240586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2061625"/>
          </a:xfrm>
        </p:spPr>
        <p:txBody>
          <a:bodyPr>
            <a:noAutofit/>
          </a:bodyPr>
          <a:lstStyle/>
          <a:p>
            <a:r>
              <a:rPr lang="zh-CN" altLang="en-US" b="1" dirty="0"/>
              <a:t>章节安排</a:t>
            </a:r>
            <a:endParaRPr lang="zh-CN" altLang="en-US" sz="6000" b="1" dirty="0">
              <a:latin typeface="微软雅黑" panose="020B0503020204020204" pitchFamily="34" charset="-122"/>
              <a:ea typeface="微软雅黑" panose="020B0503020204020204" pitchFamily="34" charset="-122"/>
            </a:endParaRPr>
          </a:p>
        </p:txBody>
      </p:sp>
      <p:sp>
        <p:nvSpPr>
          <p:cNvPr id="5" name="副标题 4">
            <a:extLst>
              <a:ext uri="{FF2B5EF4-FFF2-40B4-BE49-F238E27FC236}">
                <a16:creationId xmlns:a16="http://schemas.microsoft.com/office/drawing/2014/main" id="{2CABCD83-9C26-403A-B751-2920D4314AD2}"/>
              </a:ext>
            </a:extLst>
          </p:cNvPr>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7DA459-582E-4875-97CA-FFEC227CF6EE}"/>
              </a:ext>
            </a:extLst>
          </p:cNvPr>
          <p:cNvSpPr>
            <a:spLocks noGrp="1"/>
          </p:cNvSpPr>
          <p:nvPr>
            <p:ph type="title"/>
          </p:nvPr>
        </p:nvSpPr>
        <p:spPr>
          <a:xfrm>
            <a:off x="609600" y="503316"/>
            <a:ext cx="10972800" cy="1143000"/>
          </a:xfrm>
        </p:spPr>
        <p:txBody>
          <a:bodyPr/>
          <a:lstStyle/>
          <a:p>
            <a:r>
              <a:rPr lang="zh-CN" altLang="en-US" b="1" dirty="0">
                <a:latin typeface="微软雅黑" panose="020B0503020204020204" pitchFamily="34" charset="-122"/>
                <a:ea typeface="微软雅黑" panose="020B0503020204020204" pitchFamily="34" charset="-122"/>
              </a:rPr>
              <a:t>目 录</a:t>
            </a:r>
          </a:p>
        </p:txBody>
      </p:sp>
      <p:sp>
        <p:nvSpPr>
          <p:cNvPr id="3" name="内容占位符 2">
            <a:extLst>
              <a:ext uri="{FF2B5EF4-FFF2-40B4-BE49-F238E27FC236}">
                <a16:creationId xmlns:a16="http://schemas.microsoft.com/office/drawing/2014/main" id="{7B133B08-690A-47F3-AB13-7CE43E7A7699}"/>
              </a:ext>
            </a:extLst>
          </p:cNvPr>
          <p:cNvSpPr>
            <a:spLocks noGrp="1"/>
          </p:cNvSpPr>
          <p:nvPr>
            <p:ph idx="1"/>
          </p:nvPr>
        </p:nvSpPr>
        <p:spPr>
          <a:xfrm>
            <a:off x="609600" y="1600202"/>
            <a:ext cx="10972800" cy="4495798"/>
          </a:xfrm>
          <a:ln>
            <a:solidFill>
              <a:schemeClr val="accent1"/>
            </a:solidFill>
          </a:ln>
        </p:spPr>
        <p:txBody>
          <a:bodyPr>
            <a:noAutofit/>
          </a:bodyPr>
          <a:lstStyle/>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题目</a:t>
            </a:r>
            <a:endParaRPr lang="en-US" altLang="zh-CN" b="1" dirty="0">
              <a:solidFill>
                <a:srgbClr val="7030A0"/>
              </a:solidFill>
              <a:latin typeface="等线 Light" panose="02010600030101010101" pitchFamily="2" charset="-122"/>
              <a:ea typeface="等线 Light" panose="02010600030101010101" pitchFamily="2" charset="-122"/>
            </a:endParaRPr>
          </a:p>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摘要</a:t>
            </a:r>
            <a:endParaRPr lang="en-US" altLang="zh-CN" b="1" dirty="0">
              <a:solidFill>
                <a:srgbClr val="7030A0"/>
              </a:solidFill>
              <a:latin typeface="等线 Light" panose="02010600030101010101" pitchFamily="2" charset="-122"/>
              <a:ea typeface="等线 Light" panose="02010600030101010101" pitchFamily="2" charset="-122"/>
            </a:endParaRPr>
          </a:p>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章节安排</a:t>
            </a:r>
            <a:endParaRPr lang="en-US" altLang="zh-CN" b="1" dirty="0">
              <a:solidFill>
                <a:srgbClr val="7030A0"/>
              </a:solidFill>
              <a:latin typeface="等线 Light" panose="02010600030101010101" pitchFamily="2" charset="-122"/>
              <a:ea typeface="等线 Light" panose="02010600030101010101" pitchFamily="2" charset="-122"/>
            </a:endParaRPr>
          </a:p>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绪论</a:t>
            </a:r>
            <a:endParaRPr lang="en-US" altLang="zh-CN" b="1" dirty="0">
              <a:solidFill>
                <a:srgbClr val="7030A0"/>
              </a:solidFill>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230512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49DF611-7DA5-4442-9FB0-918937EB3B84}"/>
              </a:ext>
            </a:extLst>
          </p:cNvPr>
          <p:cNvSpPr/>
          <p:nvPr/>
        </p:nvSpPr>
        <p:spPr>
          <a:xfrm>
            <a:off x="391884" y="1036320"/>
            <a:ext cx="11005457" cy="3738780"/>
          </a:xfrm>
          <a:prstGeom prst="rect">
            <a:avLst/>
          </a:prstGeom>
        </p:spPr>
        <p:txBody>
          <a:bodyPr wrap="square">
            <a:spAutoFit/>
          </a:bodyPr>
          <a:lstStyle/>
          <a:p>
            <a:pPr algn="just">
              <a:lnSpc>
                <a:spcPct val="150000"/>
              </a:lnSpc>
              <a:spcAft>
                <a:spcPts val="0"/>
              </a:spcAft>
            </a:pPr>
            <a:r>
              <a:rPr lang="en-US" altLang="zh-CN" sz="2000" b="1" kern="100" dirty="0">
                <a:latin typeface="+mj-ea"/>
                <a:ea typeface="+mj-ea"/>
                <a:cs typeface="Times New Roman" panose="02020603050405020304" pitchFamily="18" charset="0"/>
              </a:rPr>
              <a:t>1</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情境</a:t>
            </a:r>
            <a:endParaRPr lang="en-US" altLang="zh-CN" sz="2000" b="1"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情境主要是指该问题所处情境，该情境中的典型特征，以及情境对所要解决的问题的影响。情境中体现了潜在的创新点。题目中呈现情境可引导读者去认识和了解该情境的特殊性。</a:t>
            </a:r>
          </a:p>
          <a:p>
            <a:pPr algn="just">
              <a:lnSpc>
                <a:spcPct val="150000"/>
              </a:lnSpc>
              <a:spcAft>
                <a:spcPts val="0"/>
              </a:spcAft>
            </a:pPr>
            <a:r>
              <a:rPr lang="en-US" altLang="zh-CN" sz="2000" b="1" kern="100" dirty="0">
                <a:latin typeface="+mj-ea"/>
                <a:ea typeface="+mj-ea"/>
                <a:cs typeface="Times New Roman" panose="02020603050405020304" pitchFamily="18" charset="0"/>
              </a:rPr>
              <a:t>2</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问题</a:t>
            </a:r>
            <a:endParaRPr lang="en-US" altLang="zh-CN" sz="2000" b="1"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一般为可管理、关键性的问题。该实践问题通常是一类型的理论问题，或者是管理规则问题。</a:t>
            </a:r>
          </a:p>
          <a:p>
            <a:pPr algn="just">
              <a:lnSpc>
                <a:spcPct val="150000"/>
              </a:lnSpc>
              <a:spcAft>
                <a:spcPts val="0"/>
              </a:spcAft>
            </a:pPr>
            <a:r>
              <a:rPr lang="en-US" altLang="zh-CN" sz="2000" b="1" kern="100" dirty="0">
                <a:latin typeface="+mj-ea"/>
                <a:ea typeface="+mj-ea"/>
                <a:cs typeface="Times New Roman" panose="02020603050405020304" pitchFamily="18" charset="0"/>
              </a:rPr>
              <a:t>3</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解决方案的特色</a:t>
            </a:r>
            <a:endParaRPr lang="en-US" altLang="zh-CN" sz="2000" b="1"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为解决该问题，可采用解决方案的特征和特点。主要体现在解决方案设计的理论基础、解决方案的过程等方面。</a:t>
            </a:r>
          </a:p>
        </p:txBody>
      </p:sp>
      <p:sp>
        <p:nvSpPr>
          <p:cNvPr id="5" name="标题 1">
            <a:extLst>
              <a:ext uri="{FF2B5EF4-FFF2-40B4-BE49-F238E27FC236}">
                <a16:creationId xmlns:a16="http://schemas.microsoft.com/office/drawing/2014/main" id="{0837A0F4-FDBB-40F9-8D5F-BB01409134D4}"/>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t>题目的核心要素</a:t>
            </a:r>
            <a:endParaRPr lang="zh-CN" altLang="en-US" sz="3300" dirty="0"/>
          </a:p>
        </p:txBody>
      </p:sp>
      <p:sp>
        <p:nvSpPr>
          <p:cNvPr id="2" name="矩形 1">
            <a:extLst>
              <a:ext uri="{FF2B5EF4-FFF2-40B4-BE49-F238E27FC236}">
                <a16:creationId xmlns:a16="http://schemas.microsoft.com/office/drawing/2014/main" id="{9258617F-4E16-45F7-A1CF-8AFAF44984AE}"/>
              </a:ext>
            </a:extLst>
          </p:cNvPr>
          <p:cNvSpPr/>
          <p:nvPr/>
        </p:nvSpPr>
        <p:spPr>
          <a:xfrm>
            <a:off x="3259468" y="5407560"/>
            <a:ext cx="4227439" cy="413703"/>
          </a:xfrm>
          <a:prstGeom prst="rect">
            <a:avLst/>
          </a:prstGeom>
          <a:solidFill>
            <a:schemeClr val="accent6">
              <a:lumMod val="40000"/>
              <a:lumOff val="60000"/>
            </a:schemeClr>
          </a:solidFill>
        </p:spPr>
        <p:txBody>
          <a:bodyPr wrap="none">
            <a:spAutoFit/>
          </a:bodyPr>
          <a:lstStyle/>
          <a:p>
            <a:pPr algn="just">
              <a:lnSpc>
                <a:spcPct val="125000"/>
              </a:lnSpc>
              <a:spcAft>
                <a:spcPts val="0"/>
              </a:spcAft>
            </a:pPr>
            <a:r>
              <a:rPr lang="zh-CN" altLang="zh-CN" kern="100" dirty="0">
                <a:highlight>
                  <a:srgbClr val="FFFF00"/>
                </a:highlight>
                <a:latin typeface="+mj-ea"/>
              </a:rPr>
              <a:t>基于</a:t>
            </a:r>
            <a:r>
              <a:rPr lang="en-US" altLang="zh-CN" kern="100" dirty="0">
                <a:highlight>
                  <a:srgbClr val="FFFF00"/>
                </a:highlight>
                <a:latin typeface="+mj-ea"/>
              </a:rPr>
              <a:t>CMMI</a:t>
            </a:r>
            <a:r>
              <a:rPr lang="zh-CN" altLang="zh-CN" kern="100" dirty="0">
                <a:latin typeface="+mj-ea"/>
              </a:rPr>
              <a:t>的</a:t>
            </a:r>
            <a:r>
              <a:rPr lang="zh-CN" altLang="zh-CN" kern="100" dirty="0">
                <a:highlight>
                  <a:srgbClr val="00FFFF"/>
                </a:highlight>
                <a:latin typeface="+mj-ea"/>
              </a:rPr>
              <a:t>汽车软件开发</a:t>
            </a:r>
            <a:r>
              <a:rPr lang="zh-CN" altLang="zh-CN" kern="100" dirty="0">
                <a:highlight>
                  <a:srgbClr val="FF00FF"/>
                </a:highlight>
                <a:latin typeface="+mj-ea"/>
              </a:rPr>
              <a:t>流程改进</a:t>
            </a:r>
            <a:r>
              <a:rPr lang="zh-CN" altLang="zh-CN" kern="100" dirty="0">
                <a:latin typeface="+mj-ea"/>
              </a:rPr>
              <a:t>研究</a:t>
            </a:r>
            <a:endParaRPr lang="zh-CN" altLang="zh-CN" kern="100" dirty="0">
              <a:latin typeface="+mj-ea"/>
              <a:cs typeface="Times New Roman" panose="02020603050405020304" pitchFamily="18" charset="0"/>
            </a:endParaRPr>
          </a:p>
        </p:txBody>
      </p:sp>
    </p:spTree>
    <p:extLst>
      <p:ext uri="{BB962C8B-B14F-4D97-AF65-F5344CB8AC3E}">
        <p14:creationId xmlns:p14="http://schemas.microsoft.com/office/powerpoint/2010/main" val="996978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1144B154-E9B0-46EA-81AC-44D63FD41C15}"/>
              </a:ext>
            </a:extLst>
          </p:cNvPr>
          <p:cNvGraphicFramePr>
            <a:graphicFrameLocks noGrp="1"/>
          </p:cNvGraphicFramePr>
          <p:nvPr>
            <p:ph idx="4294967295"/>
            <p:extLst>
              <p:ext uri="{D42A27DB-BD31-4B8C-83A1-F6EECF244321}">
                <p14:modId xmlns:p14="http://schemas.microsoft.com/office/powerpoint/2010/main" val="4127520774"/>
              </p:ext>
            </p:extLst>
          </p:nvPr>
        </p:nvGraphicFramePr>
        <p:xfrm>
          <a:off x="718458" y="1723571"/>
          <a:ext cx="10036628" cy="3673160"/>
        </p:xfrm>
        <a:graphic>
          <a:graphicData uri="http://schemas.openxmlformats.org/drawingml/2006/table">
            <a:tbl>
              <a:tblPr firstRow="1" firstCol="1" bandRow="1">
                <a:tableStyleId>{5C22544A-7EE6-4342-B048-85BDC9FD1C3A}</a:tableStyleId>
              </a:tblPr>
              <a:tblGrid>
                <a:gridCol w="2509157">
                  <a:extLst>
                    <a:ext uri="{9D8B030D-6E8A-4147-A177-3AD203B41FA5}">
                      <a16:colId xmlns:a16="http://schemas.microsoft.com/office/drawing/2014/main" val="1825359220"/>
                    </a:ext>
                  </a:extLst>
                </a:gridCol>
                <a:gridCol w="2509157">
                  <a:extLst>
                    <a:ext uri="{9D8B030D-6E8A-4147-A177-3AD203B41FA5}">
                      <a16:colId xmlns:a16="http://schemas.microsoft.com/office/drawing/2014/main" val="977348218"/>
                    </a:ext>
                  </a:extLst>
                </a:gridCol>
                <a:gridCol w="2509157">
                  <a:extLst>
                    <a:ext uri="{9D8B030D-6E8A-4147-A177-3AD203B41FA5}">
                      <a16:colId xmlns:a16="http://schemas.microsoft.com/office/drawing/2014/main" val="1520393242"/>
                    </a:ext>
                  </a:extLst>
                </a:gridCol>
                <a:gridCol w="2509157">
                  <a:extLst>
                    <a:ext uri="{9D8B030D-6E8A-4147-A177-3AD203B41FA5}">
                      <a16:colId xmlns:a16="http://schemas.microsoft.com/office/drawing/2014/main" val="2240585603"/>
                    </a:ext>
                  </a:extLst>
                </a:gridCol>
              </a:tblGrid>
              <a:tr h="286583">
                <a:tc>
                  <a:txBody>
                    <a:bodyPr/>
                    <a:lstStyle/>
                    <a:p>
                      <a:pPr algn="ctr">
                        <a:lnSpc>
                          <a:spcPct val="125000"/>
                        </a:lnSpc>
                        <a:spcAft>
                          <a:spcPts val="0"/>
                        </a:spcAft>
                      </a:pPr>
                      <a:r>
                        <a:rPr lang="zh-CN" sz="2000" kern="100">
                          <a:effectLst/>
                          <a:latin typeface="+mj-ea"/>
                          <a:ea typeface="+mj-ea"/>
                        </a:rPr>
                        <a:t>题目</a:t>
                      </a:r>
                      <a:endParaRPr lang="zh-CN" sz="2000" kern="10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dirty="0">
                          <a:effectLst/>
                          <a:latin typeface="+mj-ea"/>
                          <a:ea typeface="+mj-ea"/>
                        </a:rPr>
                        <a:t>情境</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a:effectLst/>
                          <a:latin typeface="+mj-ea"/>
                          <a:ea typeface="+mj-ea"/>
                        </a:rPr>
                        <a:t>问题</a:t>
                      </a:r>
                      <a:endParaRPr lang="zh-CN" sz="2000" kern="10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a:effectLst/>
                          <a:latin typeface="+mj-ea"/>
                          <a:ea typeface="+mj-ea"/>
                        </a:rPr>
                        <a:t>解决方案的特色</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4097677498"/>
                  </a:ext>
                </a:extLst>
              </a:tr>
              <a:tr h="286583">
                <a:tc>
                  <a:txBody>
                    <a:bodyPr/>
                    <a:lstStyle/>
                    <a:p>
                      <a:pPr algn="just">
                        <a:lnSpc>
                          <a:spcPct val="125000"/>
                        </a:lnSpc>
                        <a:spcAft>
                          <a:spcPts val="0"/>
                        </a:spcAft>
                      </a:pPr>
                      <a:r>
                        <a:rPr lang="zh-CN" sz="2000" kern="100">
                          <a:effectLst/>
                          <a:latin typeface="+mj-ea"/>
                          <a:ea typeface="+mj-ea"/>
                        </a:rPr>
                        <a:t>某公司网络维护外包管理研究</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某公司网络维护</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外包管理</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不清晰</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883148505"/>
                  </a:ext>
                </a:extLst>
              </a:tr>
              <a:tr h="286583">
                <a:tc>
                  <a:txBody>
                    <a:bodyPr/>
                    <a:lstStyle/>
                    <a:p>
                      <a:pPr algn="just">
                        <a:lnSpc>
                          <a:spcPct val="125000"/>
                        </a:lnSpc>
                        <a:spcAft>
                          <a:spcPts val="0"/>
                        </a:spcAft>
                      </a:pPr>
                      <a:r>
                        <a:rPr lang="zh-CN" sz="2000" kern="100">
                          <a:effectLst/>
                          <a:latin typeface="+mj-ea"/>
                          <a:ea typeface="+mj-ea"/>
                        </a:rPr>
                        <a:t>火力发电厂生产安全管理研究</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火力发电厂生产</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安全管理</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不清晰</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354899176"/>
                  </a:ext>
                </a:extLst>
              </a:tr>
              <a:tr h="286583">
                <a:tc>
                  <a:txBody>
                    <a:bodyPr/>
                    <a:lstStyle/>
                    <a:p>
                      <a:pPr algn="just">
                        <a:lnSpc>
                          <a:spcPct val="125000"/>
                        </a:lnSpc>
                        <a:spcAft>
                          <a:spcPts val="0"/>
                        </a:spcAft>
                      </a:pPr>
                      <a:r>
                        <a:rPr lang="zh-CN" sz="2000" kern="100" dirty="0">
                          <a:effectLst/>
                          <a:latin typeface="+mj-ea"/>
                          <a:ea typeface="+mj-ea"/>
                        </a:rPr>
                        <a:t>基于</a:t>
                      </a:r>
                      <a:r>
                        <a:rPr lang="en-US" sz="2000" kern="100" dirty="0">
                          <a:effectLst/>
                          <a:latin typeface="+mj-ea"/>
                          <a:ea typeface="+mj-ea"/>
                        </a:rPr>
                        <a:t>CMMI</a:t>
                      </a:r>
                      <a:r>
                        <a:rPr lang="zh-CN" sz="2000" kern="100" dirty="0">
                          <a:effectLst/>
                          <a:latin typeface="+mj-ea"/>
                          <a:ea typeface="+mj-ea"/>
                        </a:rPr>
                        <a:t>的汽车软件开发流程改进研究</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汽车软件开发</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流程</a:t>
                      </a:r>
                      <a:r>
                        <a:rPr lang="zh-CN" altLang="en-US" sz="2000" kern="100" dirty="0">
                          <a:effectLst/>
                          <a:latin typeface="+mj-ea"/>
                          <a:ea typeface="+mj-ea"/>
                        </a:rPr>
                        <a:t>改进</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基于</a:t>
                      </a:r>
                      <a:r>
                        <a:rPr lang="en-US" sz="2000" kern="100">
                          <a:effectLst/>
                          <a:latin typeface="+mj-ea"/>
                          <a:ea typeface="+mj-ea"/>
                        </a:rPr>
                        <a:t>CMMI</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688775230"/>
                  </a:ext>
                </a:extLst>
              </a:tr>
              <a:tr h="595474">
                <a:tc>
                  <a:txBody>
                    <a:bodyPr/>
                    <a:lstStyle/>
                    <a:p>
                      <a:pPr algn="just">
                        <a:lnSpc>
                          <a:spcPct val="125000"/>
                        </a:lnSpc>
                        <a:spcAft>
                          <a:spcPts val="0"/>
                        </a:spcAft>
                      </a:pPr>
                      <a:r>
                        <a:rPr lang="zh-CN" sz="2000" kern="100" dirty="0">
                          <a:effectLst/>
                          <a:latin typeface="+mj-ea"/>
                          <a:ea typeface="+mj-ea"/>
                        </a:rPr>
                        <a:t>基于模糊层次分析法的建设工程项目风险管理研究</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建设工程项目</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风险评价</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模糊层次分析法</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994703087"/>
                  </a:ext>
                </a:extLst>
              </a:tr>
            </a:tbl>
          </a:graphicData>
        </a:graphic>
      </p:graphicFrame>
    </p:spTree>
    <p:extLst>
      <p:ext uri="{BB962C8B-B14F-4D97-AF65-F5344CB8AC3E}">
        <p14:creationId xmlns:p14="http://schemas.microsoft.com/office/powerpoint/2010/main" val="1967339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F3E8341-AD40-45FB-A8A5-C390CA298C5A}"/>
              </a:ext>
            </a:extLst>
          </p:cNvPr>
          <p:cNvSpPr/>
          <p:nvPr/>
        </p:nvSpPr>
        <p:spPr>
          <a:xfrm>
            <a:off x="413657" y="1120866"/>
            <a:ext cx="11440886" cy="5123775"/>
          </a:xfrm>
          <a:prstGeom prst="rect">
            <a:avLst/>
          </a:prstGeom>
        </p:spPr>
        <p:txBody>
          <a:bodyPr wrap="square">
            <a:spAutoFit/>
          </a:bodyPr>
          <a:lstStyle/>
          <a:p>
            <a:pPr algn="just">
              <a:lnSpc>
                <a:spcPct val="150000"/>
              </a:lnSpc>
              <a:spcAft>
                <a:spcPts val="0"/>
              </a:spcAft>
            </a:pPr>
            <a:r>
              <a:rPr lang="en-US" altLang="zh-CN" sz="2000" b="1" kern="100" dirty="0">
                <a:latin typeface="+mj-ea"/>
                <a:ea typeface="+mj-ea"/>
                <a:cs typeface="Times New Roman" panose="02020603050405020304" pitchFamily="18" charset="0"/>
              </a:rPr>
              <a:t>1</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精炼、表达准确</a:t>
            </a: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题目必须精炼，避免有任何多余字和词。</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某些学校对题目字数有具体要求（如不超过</a:t>
            </a:r>
            <a:r>
              <a:rPr lang="en-US" altLang="zh-CN" sz="2000" kern="100" dirty="0">
                <a:latin typeface="+mj-ea"/>
                <a:ea typeface="+mj-ea"/>
                <a:cs typeface="Times New Roman" panose="02020603050405020304" pitchFamily="18" charset="0"/>
              </a:rPr>
              <a:t>25</a:t>
            </a:r>
            <a:r>
              <a:rPr lang="zh-CN" altLang="zh-CN" sz="2000" kern="100" dirty="0">
                <a:latin typeface="+mj-ea"/>
                <a:ea typeface="+mj-ea"/>
                <a:cs typeface="Times New Roman" panose="02020603050405020304" pitchFamily="18" charset="0"/>
              </a:rPr>
              <a:t>个字）。</a:t>
            </a:r>
          </a:p>
          <a:p>
            <a:pPr algn="just">
              <a:lnSpc>
                <a:spcPct val="150000"/>
              </a:lnSpc>
              <a:spcAft>
                <a:spcPts val="0"/>
              </a:spcAft>
            </a:pPr>
            <a:r>
              <a:rPr lang="en-US" altLang="zh-CN" sz="2000" b="1" kern="100" dirty="0">
                <a:latin typeface="+mj-ea"/>
                <a:ea typeface="+mj-ea"/>
                <a:cs typeface="Times New Roman" panose="02020603050405020304" pitchFamily="18" charset="0"/>
              </a:rPr>
              <a:t>2</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题目与研究内容保持一致</a:t>
            </a: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题目要充分体现研究内容，保证题目与研究内容两者之间的严格对应。</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如题目中“外包管理”，则研究内容需要充分体现外包管理的内容，而不能只分析供应商的评价。</a:t>
            </a:r>
          </a:p>
          <a:p>
            <a:pPr algn="just">
              <a:lnSpc>
                <a:spcPct val="150000"/>
              </a:lnSpc>
              <a:spcAft>
                <a:spcPts val="0"/>
              </a:spcAft>
            </a:pPr>
            <a:r>
              <a:rPr lang="en-US" altLang="zh-CN" sz="2000" b="1" kern="100" dirty="0">
                <a:latin typeface="+mj-ea"/>
                <a:ea typeface="+mj-ea"/>
                <a:cs typeface="Times New Roman" panose="02020603050405020304" pitchFamily="18" charset="0"/>
              </a:rPr>
              <a:t>4</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解决方案与问题的一致</a:t>
            </a: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在标题中应当体现解决方案与问题的对应性，能有效解决该问题。</a:t>
            </a:r>
            <a:endParaRPr lang="en-US" altLang="zh-CN" sz="2000" kern="100" dirty="0">
              <a:latin typeface="+mj-ea"/>
              <a:ea typeface="+mj-ea"/>
              <a:cs typeface="Times New Roman" panose="02020603050405020304" pitchFamily="18" charset="0"/>
            </a:endParaRP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如“基于模糊层次分析法”与“建设工程项目风险管理”并不完全对应。</a:t>
            </a:r>
          </a:p>
          <a:p>
            <a:pPr algn="just">
              <a:lnSpc>
                <a:spcPct val="150000"/>
              </a:lnSpc>
              <a:spcAft>
                <a:spcPts val="0"/>
              </a:spcAft>
            </a:pPr>
            <a:r>
              <a:rPr lang="en-US" altLang="zh-CN" sz="2000" b="1" kern="100" dirty="0">
                <a:latin typeface="+mj-ea"/>
                <a:ea typeface="+mj-ea"/>
                <a:cs typeface="Times New Roman" panose="02020603050405020304" pitchFamily="18" charset="0"/>
              </a:rPr>
              <a:t>5</a:t>
            </a:r>
            <a:r>
              <a:rPr lang="zh-CN" altLang="en-US" sz="2000" b="1" kern="100" dirty="0">
                <a:latin typeface="+mj-ea"/>
                <a:ea typeface="+mj-ea"/>
                <a:cs typeface="Times New Roman" panose="02020603050405020304" pitchFamily="18" charset="0"/>
              </a:rPr>
              <a:t>、</a:t>
            </a:r>
            <a:r>
              <a:rPr lang="zh-CN" altLang="zh-CN" sz="2000" b="1" kern="100" dirty="0">
                <a:latin typeface="+mj-ea"/>
                <a:ea typeface="+mj-ea"/>
                <a:cs typeface="Times New Roman" panose="02020603050405020304" pitchFamily="18" charset="0"/>
              </a:rPr>
              <a:t>特色突出</a:t>
            </a:r>
          </a:p>
          <a:p>
            <a:pPr marL="342900" indent="-342900" algn="just">
              <a:lnSpc>
                <a:spcPct val="150000"/>
              </a:lnSpc>
              <a:spcAft>
                <a:spcPts val="0"/>
              </a:spcAft>
              <a:buFont typeface="Arial" panose="020B0604020202020204" pitchFamily="34" charset="0"/>
              <a:buChar char="•"/>
            </a:pPr>
            <a:r>
              <a:rPr lang="zh-CN" altLang="zh-CN" sz="2000" kern="100" dirty="0">
                <a:latin typeface="+mj-ea"/>
                <a:ea typeface="+mj-ea"/>
                <a:cs typeface="Times New Roman" panose="02020603050405020304" pitchFamily="18" charset="0"/>
              </a:rPr>
              <a:t>用标题突出读者可以记住的问题或中心思想。</a:t>
            </a:r>
          </a:p>
        </p:txBody>
      </p:sp>
      <p:sp>
        <p:nvSpPr>
          <p:cNvPr id="5" name="标题 1">
            <a:extLst>
              <a:ext uri="{FF2B5EF4-FFF2-40B4-BE49-F238E27FC236}">
                <a16:creationId xmlns:a16="http://schemas.microsoft.com/office/drawing/2014/main" id="{6B5C62A8-B200-48CC-9C47-8623814C42F8}"/>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t>题目</a:t>
            </a:r>
            <a:r>
              <a:rPr lang="zh-CN" altLang="en-US" sz="3300" dirty="0"/>
              <a:t>设置的要求</a:t>
            </a:r>
          </a:p>
        </p:txBody>
      </p:sp>
    </p:spTree>
    <p:extLst>
      <p:ext uri="{BB962C8B-B14F-4D97-AF65-F5344CB8AC3E}">
        <p14:creationId xmlns:p14="http://schemas.microsoft.com/office/powerpoint/2010/main" val="2401981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8086C23-0DC0-4DF2-88CD-B584B8A0019F}"/>
              </a:ext>
            </a:extLst>
          </p:cNvPr>
          <p:cNvSpPr/>
          <p:nvPr/>
        </p:nvSpPr>
        <p:spPr>
          <a:xfrm>
            <a:off x="359229" y="1036320"/>
            <a:ext cx="11451771" cy="466211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a:t>
            </a:r>
            <a:r>
              <a:rPr lang="en-US" altLang="zh-CN" sz="2000" kern="100" dirty="0">
                <a:latin typeface="+mj-ea"/>
                <a:ea typeface="+mj-ea"/>
                <a:cs typeface="Times New Roman" panose="02020603050405020304" pitchFamily="18" charset="0"/>
              </a:rPr>
              <a:t>XXX</a:t>
            </a:r>
            <a:r>
              <a:rPr lang="zh-CN" altLang="zh-CN" sz="2000" kern="100" dirty="0">
                <a:latin typeface="+mj-ea"/>
                <a:ea typeface="+mj-ea"/>
                <a:cs typeface="Times New Roman" panose="02020603050405020304" pitchFamily="18" charset="0"/>
              </a:rPr>
              <a:t>背景下”。评审提出“题目中的‘数字化转型背景’如何体现？在</a:t>
            </a:r>
            <a:r>
              <a:rPr lang="en-US" altLang="zh-CN" sz="2000" kern="100" dirty="0">
                <a:latin typeface="+mj-ea"/>
                <a:ea typeface="+mj-ea"/>
                <a:cs typeface="Times New Roman" panose="02020603050405020304" pitchFamily="18" charset="0"/>
              </a:rPr>
              <a:t>1-5</a:t>
            </a:r>
            <a:r>
              <a:rPr lang="zh-CN" altLang="zh-CN" sz="2000" kern="100" dirty="0">
                <a:latin typeface="+mj-ea"/>
                <a:ea typeface="+mj-ea"/>
                <a:cs typeface="Times New Roman" panose="02020603050405020304" pitchFamily="18" charset="0"/>
              </a:rPr>
              <a:t>章中并未涉及有关数字化转型的论述，建议作者增加相关背景”。</a:t>
            </a: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采用“</a:t>
            </a:r>
            <a:r>
              <a:rPr lang="en-US" altLang="zh-CN" sz="2000" kern="100" dirty="0">
                <a:latin typeface="+mj-ea"/>
                <a:ea typeface="+mj-ea"/>
                <a:cs typeface="Times New Roman" panose="02020603050405020304" pitchFamily="18" charset="0"/>
              </a:rPr>
              <a:t>XX</a:t>
            </a:r>
            <a:r>
              <a:rPr lang="zh-CN" altLang="zh-CN" sz="2000" kern="100" dirty="0">
                <a:latin typeface="+mj-ea"/>
                <a:ea typeface="+mj-ea"/>
                <a:cs typeface="Times New Roman" panose="02020603050405020304" pitchFamily="18" charset="0"/>
              </a:rPr>
              <a:t>视角下”，有明确的理论视角提供给读者更丰富、准确的信息，体现本研究的理论基础和解决方案设计的方向性差异。</a:t>
            </a: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在副标题中添加“以某某项目为例”，研究需要体现一般性。即便是题目中说明基于某案例，但研究结论需要体现一般性。需要体现的地方主要包括研究范围、结论解读、案例选取的理由等。</a:t>
            </a: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要不要在题目中加“应用”作为关键词，如“研究与应用”。</a:t>
            </a: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题目中采用思考、初探等词表达不准确，可替换成“研究”。</a:t>
            </a: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通常非全日制的</a:t>
            </a:r>
            <a:r>
              <a:rPr lang="en-US" altLang="zh-CN" sz="2000" kern="100" dirty="0">
                <a:latin typeface="+mj-ea"/>
                <a:ea typeface="+mj-ea"/>
                <a:cs typeface="Times New Roman" panose="02020603050405020304" pitchFamily="18" charset="0"/>
              </a:rPr>
              <a:t>MEM</a:t>
            </a:r>
            <a:r>
              <a:rPr lang="zh-CN" altLang="zh-CN" sz="2000" kern="100" dirty="0">
                <a:latin typeface="+mj-ea"/>
                <a:ea typeface="+mj-ea"/>
                <a:cs typeface="Times New Roman" panose="02020603050405020304" pitchFamily="18" charset="0"/>
              </a:rPr>
              <a:t>学位论文不对</a:t>
            </a:r>
            <a:r>
              <a:rPr lang="en-US" altLang="zh-CN"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方法</a:t>
            </a:r>
            <a:r>
              <a:rPr lang="en-US" altLang="zh-CN"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展开研究，如风险分析方法的改进方法的改进，研究难度和挑战相对要更大。</a:t>
            </a:r>
          </a:p>
        </p:txBody>
      </p:sp>
      <p:sp>
        <p:nvSpPr>
          <p:cNvPr id="5" name="标题 1">
            <a:extLst>
              <a:ext uri="{FF2B5EF4-FFF2-40B4-BE49-F238E27FC236}">
                <a16:creationId xmlns:a16="http://schemas.microsoft.com/office/drawing/2014/main" id="{78CC8BF2-1CD6-46F2-A971-DDAA01316092}"/>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t>题目</a:t>
            </a:r>
            <a:r>
              <a:rPr lang="zh-CN" altLang="en-US" sz="3300" dirty="0"/>
              <a:t>中的关键词</a:t>
            </a:r>
          </a:p>
        </p:txBody>
      </p:sp>
    </p:spTree>
    <p:extLst>
      <p:ext uri="{BB962C8B-B14F-4D97-AF65-F5344CB8AC3E}">
        <p14:creationId xmlns:p14="http://schemas.microsoft.com/office/powerpoint/2010/main" val="1288689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8086C23-0DC0-4DF2-88CD-B584B8A0019F}"/>
              </a:ext>
            </a:extLst>
          </p:cNvPr>
          <p:cNvSpPr/>
          <p:nvPr/>
        </p:nvSpPr>
        <p:spPr>
          <a:xfrm>
            <a:off x="370114" y="1036320"/>
            <a:ext cx="11299372" cy="4656916"/>
          </a:xfrm>
          <a:prstGeom prst="rect">
            <a:avLst/>
          </a:prstGeom>
        </p:spPr>
        <p:txBody>
          <a:bodyPr wrap="square">
            <a:spAutoFit/>
          </a:bodyPr>
          <a:lstStyle/>
          <a:p>
            <a:pPr algn="just">
              <a:lnSpc>
                <a:spcPct val="150000"/>
              </a:lnSpc>
            </a:pPr>
            <a:r>
              <a:rPr lang="en-US" altLang="zh-CN" sz="2000" kern="100" dirty="0">
                <a:latin typeface="+mj-ea"/>
                <a:ea typeface="+mj-ea"/>
                <a:cs typeface="Times New Roman" panose="02020603050405020304" pitchFamily="18" charset="0"/>
              </a:rPr>
              <a:t>1</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缺乏明显的逻辑关系。</a:t>
            </a:r>
          </a:p>
          <a:p>
            <a:pPr algn="just">
              <a:lnSpc>
                <a:spcPct val="150000"/>
              </a:lnSpc>
            </a:pPr>
            <a:r>
              <a:rPr lang="en-US" altLang="zh-CN" sz="2000" kern="100" dirty="0">
                <a:latin typeface="+mj-ea"/>
                <a:ea typeface="+mj-ea"/>
                <a:cs typeface="Times New Roman" panose="02020603050405020304" pitchFamily="18" charset="0"/>
              </a:rPr>
              <a:t>2</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缺少关键信息或啰嗦。</a:t>
            </a:r>
            <a:endParaRPr lang="en-US" altLang="zh-CN" sz="2000" kern="100" dirty="0">
              <a:latin typeface="+mj-ea"/>
              <a:ea typeface="+mj-ea"/>
              <a:cs typeface="Times New Roman" panose="02020603050405020304" pitchFamily="18" charset="0"/>
            </a:endParaRPr>
          </a:p>
          <a:p>
            <a:pPr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如缺少情境、缺少明晰的问题或缺少特色，造成从题目中难以一目了然地认识研究主题。题目设置要非常具体，针对性强，不能让评阅人来猜测或者是通过阅读全文才能了解。</a:t>
            </a:r>
          </a:p>
          <a:p>
            <a:pPr algn="just">
              <a:lnSpc>
                <a:spcPct val="150000"/>
              </a:lnSpc>
            </a:pPr>
            <a:r>
              <a:rPr lang="en-US" altLang="zh-CN" sz="2000" kern="100" dirty="0">
                <a:latin typeface="+mj-ea"/>
                <a:ea typeface="+mj-ea"/>
                <a:cs typeface="Times New Roman" panose="02020603050405020304" pitchFamily="18" charset="0"/>
              </a:rPr>
              <a:t>3</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研究对象的界定不清晰。</a:t>
            </a:r>
          </a:p>
          <a:p>
            <a:pPr algn="just">
              <a:lnSpc>
                <a:spcPct val="150000"/>
              </a:lnSpc>
            </a:pPr>
            <a:r>
              <a:rPr lang="en-US" altLang="zh-CN" sz="2000" kern="100" dirty="0">
                <a:latin typeface="+mj-ea"/>
                <a:ea typeface="+mj-ea"/>
                <a:cs typeface="Times New Roman" panose="02020603050405020304" pitchFamily="18" charset="0"/>
              </a:rPr>
              <a:t>4</a:t>
            </a:r>
            <a:r>
              <a:rPr lang="zh-CN" altLang="en-US" sz="2000" kern="100" dirty="0">
                <a:latin typeface="+mj-ea"/>
                <a:ea typeface="+mj-ea"/>
                <a:cs typeface="Times New Roman" panose="02020603050405020304" pitchFamily="18" charset="0"/>
              </a:rPr>
              <a:t>、</a:t>
            </a:r>
            <a:r>
              <a:rPr lang="zh-CN" altLang="zh-CN" sz="2000" kern="100" dirty="0">
                <a:latin typeface="+mj-ea"/>
                <a:ea typeface="+mj-ea"/>
                <a:cs typeface="Times New Roman" panose="02020603050405020304" pitchFamily="18" charset="0"/>
              </a:rPr>
              <a:t>问题表述宽泛。</a:t>
            </a:r>
            <a:endParaRPr lang="en-US" altLang="zh-CN" sz="2000" kern="100" dirty="0">
              <a:latin typeface="+mj-ea"/>
              <a:ea typeface="+mj-ea"/>
              <a:cs typeface="Times New Roman" panose="02020603050405020304" pitchFamily="18" charset="0"/>
            </a:endParaRPr>
          </a:p>
          <a:p>
            <a:pPr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问题表述宽泛主要是选题所带来的问题。如选题中对问题的描述较为大，对理论基础的界定较为宽泛。如“某公司网络维护外包管理研究”，一种可能是研究内容与题目的对应性不太好，另外可能是研究内容过于宽泛。再如采用“安全管理”、“风险管理”等要对概念的范围进行清晰的界定，明确是否是研究内容多对应的。</a:t>
            </a:r>
          </a:p>
        </p:txBody>
      </p:sp>
      <p:sp>
        <p:nvSpPr>
          <p:cNvPr id="5" name="标题 1">
            <a:extLst>
              <a:ext uri="{FF2B5EF4-FFF2-40B4-BE49-F238E27FC236}">
                <a16:creationId xmlns:a16="http://schemas.microsoft.com/office/drawing/2014/main" id="{78CC8BF2-1CD6-46F2-A971-DDAA01316092}"/>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t>题目</a:t>
            </a:r>
            <a:r>
              <a:rPr lang="zh-CN" altLang="en-US" sz="3300" dirty="0"/>
              <a:t>的常见问题</a:t>
            </a:r>
          </a:p>
        </p:txBody>
      </p:sp>
    </p:spTree>
    <p:extLst>
      <p:ext uri="{BB962C8B-B14F-4D97-AF65-F5344CB8AC3E}">
        <p14:creationId xmlns:p14="http://schemas.microsoft.com/office/powerpoint/2010/main" val="85585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94D9165-230C-4434-8FF3-671F0FD4644C}"/>
              </a:ext>
            </a:extLst>
          </p:cNvPr>
          <p:cNvGraphicFramePr>
            <a:graphicFrameLocks noGrp="1"/>
          </p:cNvGraphicFramePr>
          <p:nvPr>
            <p:extLst>
              <p:ext uri="{D42A27DB-BD31-4B8C-83A1-F6EECF244321}">
                <p14:modId xmlns:p14="http://schemas.microsoft.com/office/powerpoint/2010/main" val="4209842378"/>
              </p:ext>
            </p:extLst>
          </p:nvPr>
        </p:nvGraphicFramePr>
        <p:xfrm>
          <a:off x="364670" y="1101338"/>
          <a:ext cx="11462659" cy="5364480"/>
        </p:xfrm>
        <a:graphic>
          <a:graphicData uri="http://schemas.openxmlformats.org/drawingml/2006/table">
            <a:tbl>
              <a:tblPr firstRow="1" firstCol="1" bandRow="1">
                <a:tableStyleId>{5C22544A-7EE6-4342-B048-85BDC9FD1C3A}</a:tableStyleId>
              </a:tblPr>
              <a:tblGrid>
                <a:gridCol w="609350">
                  <a:extLst>
                    <a:ext uri="{9D8B030D-6E8A-4147-A177-3AD203B41FA5}">
                      <a16:colId xmlns:a16="http://schemas.microsoft.com/office/drawing/2014/main" val="3131102641"/>
                    </a:ext>
                  </a:extLst>
                </a:gridCol>
                <a:gridCol w="4044294">
                  <a:extLst>
                    <a:ext uri="{9D8B030D-6E8A-4147-A177-3AD203B41FA5}">
                      <a16:colId xmlns:a16="http://schemas.microsoft.com/office/drawing/2014/main" val="1626179811"/>
                    </a:ext>
                  </a:extLst>
                </a:gridCol>
                <a:gridCol w="3309257">
                  <a:extLst>
                    <a:ext uri="{9D8B030D-6E8A-4147-A177-3AD203B41FA5}">
                      <a16:colId xmlns:a16="http://schemas.microsoft.com/office/drawing/2014/main" val="3332285639"/>
                    </a:ext>
                  </a:extLst>
                </a:gridCol>
                <a:gridCol w="3499758">
                  <a:extLst>
                    <a:ext uri="{9D8B030D-6E8A-4147-A177-3AD203B41FA5}">
                      <a16:colId xmlns:a16="http://schemas.microsoft.com/office/drawing/2014/main" val="598585118"/>
                    </a:ext>
                  </a:extLst>
                </a:gridCol>
              </a:tblGrid>
              <a:tr h="225472">
                <a:tc>
                  <a:txBody>
                    <a:bodyPr/>
                    <a:lstStyle/>
                    <a:p>
                      <a:pPr algn="ctr">
                        <a:spcAft>
                          <a:spcPts val="0"/>
                        </a:spcAft>
                      </a:pPr>
                      <a:r>
                        <a:rPr lang="en-US" sz="1600" kern="100">
                          <a:effectLst/>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题目</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问题</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a:effectLst/>
                        </a:rPr>
                        <a:t>优化方向</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42897414"/>
                  </a:ext>
                </a:extLst>
              </a:tr>
              <a:tr h="450943">
                <a:tc rowSpan="4">
                  <a:txBody>
                    <a:bodyPr/>
                    <a:lstStyle/>
                    <a:p>
                      <a:pPr algn="just">
                        <a:spcAft>
                          <a:spcPts val="0"/>
                        </a:spcAft>
                      </a:pPr>
                      <a:r>
                        <a:rPr lang="zh-CN" sz="1600" kern="100">
                          <a:effectLst/>
                        </a:rPr>
                        <a:t>逻辑关系方面</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600" kern="100" dirty="0">
                          <a:effectLst/>
                        </a:rPr>
                        <a:t>某小批量设备批产过程成本控制和风险管理方法研究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成本与风险并列的逻辑关系不清楚</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如果数据支撑性较好，可聚焦为成本风险控制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6638922"/>
                  </a:ext>
                </a:extLst>
              </a:tr>
              <a:tr h="450943">
                <a:tc vMerge="1">
                  <a:txBody>
                    <a:bodyPr/>
                    <a:lstStyle/>
                    <a:p>
                      <a:endParaRPr lang="zh-CN" altLang="en-US"/>
                    </a:p>
                  </a:txBody>
                  <a:tcPr/>
                </a:tc>
                <a:tc>
                  <a:txBody>
                    <a:bodyPr/>
                    <a:lstStyle/>
                    <a:p>
                      <a:pPr algn="just">
                        <a:spcAft>
                          <a:spcPts val="0"/>
                        </a:spcAft>
                      </a:pPr>
                      <a:r>
                        <a:rPr lang="zh-CN" sz="1600" kern="100" dirty="0">
                          <a:effectLst/>
                        </a:rPr>
                        <a:t>质量屋在解决某碳纤维制件固化变形问题中的应用</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用词啰嗦；</a:t>
                      </a:r>
                    </a:p>
                    <a:p>
                      <a:pPr algn="just">
                        <a:spcAft>
                          <a:spcPts val="0"/>
                        </a:spcAft>
                      </a:pPr>
                      <a:r>
                        <a:rPr lang="zh-CN" sz="1600" kern="100">
                          <a:effectLst/>
                        </a:rPr>
                        <a:t>应用与问题之间逻辑关系不严密</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基于质量屋的某碳纤维制件固化变形控制研究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37164075"/>
                  </a:ext>
                </a:extLst>
              </a:tr>
              <a:tr h="450943">
                <a:tc vMerge="1">
                  <a:txBody>
                    <a:bodyPr/>
                    <a:lstStyle/>
                    <a:p>
                      <a:endParaRPr lang="zh-CN" altLang="en-US"/>
                    </a:p>
                  </a:txBody>
                  <a:tcPr/>
                </a:tc>
                <a:tc>
                  <a:txBody>
                    <a:bodyPr/>
                    <a:lstStyle/>
                    <a:p>
                      <a:pPr algn="just">
                        <a:spcAft>
                          <a:spcPts val="0"/>
                        </a:spcAft>
                      </a:pPr>
                      <a:r>
                        <a:rPr lang="zh-CN" sz="1600" kern="100" dirty="0">
                          <a:effectLst/>
                        </a:rPr>
                        <a:t>基于结构方程模型的不正常航班恢复方法影响因素研究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结构方程模型是较为常规的方法；</a:t>
                      </a:r>
                    </a:p>
                    <a:p>
                      <a:pPr algn="just">
                        <a:spcAft>
                          <a:spcPts val="0"/>
                        </a:spcAft>
                      </a:pPr>
                      <a:r>
                        <a:rPr lang="zh-CN" sz="1600" kern="100">
                          <a:effectLst/>
                        </a:rPr>
                        <a:t>恢复方法与影响因素之间的逻辑关系不明确</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去掉结构方程模型；梳理恢复方法与影响因素之间的逻辑关系，如恢复方法选择的影响因素。</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63047947"/>
                  </a:ext>
                </a:extLst>
              </a:tr>
              <a:tr h="450943">
                <a:tc vMerge="1">
                  <a:txBody>
                    <a:bodyPr/>
                    <a:lstStyle/>
                    <a:p>
                      <a:endParaRPr lang="zh-CN" altLang="en-US"/>
                    </a:p>
                  </a:txBody>
                  <a:tcPr/>
                </a:tc>
                <a:tc>
                  <a:txBody>
                    <a:bodyPr/>
                    <a:lstStyle/>
                    <a:p>
                      <a:pPr algn="just">
                        <a:spcAft>
                          <a:spcPts val="0"/>
                        </a:spcAft>
                      </a:pPr>
                      <a:r>
                        <a:rPr lang="zh-CN" sz="1600" kern="100" dirty="0">
                          <a:effectLst/>
                        </a:rPr>
                        <a:t>某大型挖掘机制造系统分析与设备运维管理研究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rPr>
                        <a:t>制造系统分析与设备运维管理之间的逻辑关系不明确</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梳理制造系统分析与设备运维管理之间的关系，先确定重点，再做删减。</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88039097"/>
                  </a:ext>
                </a:extLst>
              </a:tr>
              <a:tr h="225472">
                <a:tc rowSpan="3">
                  <a:txBody>
                    <a:bodyPr/>
                    <a:lstStyle/>
                    <a:p>
                      <a:pPr algn="just">
                        <a:spcAft>
                          <a:spcPts val="0"/>
                        </a:spcAft>
                      </a:pPr>
                      <a:r>
                        <a:rPr lang="zh-CN" sz="1600" kern="100">
                          <a:effectLst/>
                        </a:rPr>
                        <a:t>研究对象的界定方面</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just">
                        <a:spcAft>
                          <a:spcPts val="0"/>
                        </a:spcAft>
                      </a:pPr>
                      <a:r>
                        <a:rPr lang="en-US" sz="1600" kern="100">
                          <a:effectLst/>
                        </a:rPr>
                        <a:t>A</a:t>
                      </a:r>
                      <a:r>
                        <a:rPr lang="zh-CN" sz="1600" kern="100">
                          <a:effectLst/>
                        </a:rPr>
                        <a:t>银行</a:t>
                      </a:r>
                      <a:r>
                        <a:rPr lang="en-US" sz="1600" kern="100">
                          <a:effectLst/>
                        </a:rPr>
                        <a:t>EAST5.0</a:t>
                      </a:r>
                      <a:r>
                        <a:rPr lang="zh-CN" sz="1600" kern="100">
                          <a:effectLst/>
                        </a:rPr>
                        <a:t>数据质量管理研究</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tc>
                  <a:txBody>
                    <a:bodyPr/>
                    <a:lstStyle/>
                    <a:p>
                      <a:pPr algn="just">
                        <a:spcAft>
                          <a:spcPts val="0"/>
                        </a:spcAft>
                      </a:pPr>
                      <a:r>
                        <a:rPr lang="zh-CN" sz="1600" kern="100">
                          <a:effectLst/>
                        </a:rPr>
                        <a:t>专有名词，理解困难</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替换英文缩写</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87514355"/>
                  </a:ext>
                </a:extLst>
              </a:tr>
              <a:tr h="225472">
                <a:tc vMerge="1">
                  <a:txBody>
                    <a:bodyPr/>
                    <a:lstStyle/>
                    <a:p>
                      <a:endParaRPr lang="zh-CN" altLang="en-US"/>
                    </a:p>
                  </a:txBody>
                  <a:tcPr/>
                </a:tc>
                <a:tc>
                  <a:txBody>
                    <a:bodyPr/>
                    <a:lstStyle/>
                    <a:p>
                      <a:pPr algn="just">
                        <a:spcAft>
                          <a:spcPts val="0"/>
                        </a:spcAft>
                      </a:pPr>
                      <a:r>
                        <a:rPr lang="zh-CN" sz="1600" kern="100">
                          <a:effectLst/>
                        </a:rPr>
                        <a:t>基于现金流的企业违约风险评估</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tc>
                  <a:txBody>
                    <a:bodyPr/>
                    <a:lstStyle/>
                    <a:p>
                      <a:pPr algn="just">
                        <a:spcAft>
                          <a:spcPts val="0"/>
                        </a:spcAft>
                      </a:pPr>
                      <a:r>
                        <a:rPr lang="zh-CN" sz="1600" kern="100">
                          <a:effectLst/>
                        </a:rPr>
                        <a:t>评估主体，违约风险的主体不明确</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体现评估主体和违约风险的主体。</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58866322"/>
                  </a:ext>
                </a:extLst>
              </a:tr>
              <a:tr h="450943">
                <a:tc vMerge="1">
                  <a:txBody>
                    <a:bodyPr/>
                    <a:lstStyle/>
                    <a:p>
                      <a:endParaRPr lang="zh-CN" altLang="en-US"/>
                    </a:p>
                  </a:txBody>
                  <a:tcPr/>
                </a:tc>
                <a:tc>
                  <a:txBody>
                    <a:bodyPr/>
                    <a:lstStyle/>
                    <a:p>
                      <a:pPr algn="just">
                        <a:spcAft>
                          <a:spcPts val="0"/>
                        </a:spcAft>
                      </a:pPr>
                      <a:r>
                        <a:rPr lang="zh-CN" sz="1600" kern="100">
                          <a:effectLst/>
                        </a:rPr>
                        <a:t>基于关键链技术的项目进度管理研究：以</a:t>
                      </a:r>
                      <a:r>
                        <a:rPr lang="en-US" sz="1600" kern="100">
                          <a:effectLst/>
                        </a:rPr>
                        <a:t>N</a:t>
                      </a:r>
                      <a:r>
                        <a:rPr lang="zh-CN" sz="1600" kern="100">
                          <a:effectLst/>
                        </a:rPr>
                        <a:t>银行内控合规管理一体化系统开发项目为例</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tc>
                  <a:txBody>
                    <a:bodyPr/>
                    <a:lstStyle/>
                    <a:p>
                      <a:pPr algn="just">
                        <a:spcAft>
                          <a:spcPts val="0"/>
                        </a:spcAft>
                      </a:pPr>
                      <a:r>
                        <a:rPr lang="zh-CN" sz="1600" kern="100">
                          <a:effectLst/>
                        </a:rPr>
                        <a:t>字数偏多；项目进度管理与系统开发项目的对象一致性可做改进</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先确定问题对象，再分析情境特殊性</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15641198"/>
                  </a:ext>
                </a:extLst>
              </a:tr>
              <a:tr h="225472">
                <a:tc rowSpan="3">
                  <a:txBody>
                    <a:bodyPr/>
                    <a:lstStyle/>
                    <a:p>
                      <a:pPr algn="just">
                        <a:spcAft>
                          <a:spcPts val="0"/>
                        </a:spcAft>
                      </a:pPr>
                      <a:r>
                        <a:rPr lang="zh-CN" sz="1600" kern="100">
                          <a:effectLst/>
                        </a:rPr>
                        <a:t>学术表达方面</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algn="just">
                        <a:spcAft>
                          <a:spcPts val="0"/>
                        </a:spcAft>
                      </a:pPr>
                      <a:r>
                        <a:rPr lang="en-US" sz="1600" kern="100">
                          <a:effectLst/>
                        </a:rPr>
                        <a:t>BIM</a:t>
                      </a:r>
                      <a:r>
                        <a:rPr lang="zh-CN" sz="1600" kern="100">
                          <a:effectLst/>
                        </a:rPr>
                        <a:t>技术在建筑安全生产工作中的应用研究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偏口语化</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基于</a:t>
                      </a:r>
                      <a:r>
                        <a:rPr lang="en-US" sz="1600" kern="100">
                          <a:effectLst/>
                        </a:rPr>
                        <a:t>BIM</a:t>
                      </a:r>
                      <a:r>
                        <a:rPr lang="zh-CN" sz="1600" kern="100">
                          <a:effectLst/>
                        </a:rPr>
                        <a:t>技术的建筑安全生产管理研究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36204465"/>
                  </a:ext>
                </a:extLst>
              </a:tr>
              <a:tr h="450943">
                <a:tc vMerge="1">
                  <a:txBody>
                    <a:bodyPr/>
                    <a:lstStyle/>
                    <a:p>
                      <a:endParaRPr lang="zh-CN" altLang="en-US"/>
                    </a:p>
                  </a:txBody>
                  <a:tcPr/>
                </a:tc>
                <a:tc>
                  <a:txBody>
                    <a:bodyPr/>
                    <a:lstStyle/>
                    <a:p>
                      <a:pPr algn="just">
                        <a:spcAft>
                          <a:spcPts val="0"/>
                        </a:spcAft>
                      </a:pPr>
                      <a:r>
                        <a:rPr lang="zh-CN" sz="1600" kern="100">
                          <a:effectLst/>
                        </a:rPr>
                        <a:t>某建筑设计院内部项目合同管理及绩效计算方式创新</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tc>
                  <a:txBody>
                    <a:bodyPr/>
                    <a:lstStyle/>
                    <a:p>
                      <a:pPr algn="just">
                        <a:spcAft>
                          <a:spcPts val="0"/>
                        </a:spcAft>
                      </a:pPr>
                      <a:r>
                        <a:rPr lang="zh-CN" sz="1600" kern="100">
                          <a:effectLst/>
                        </a:rPr>
                        <a:t>偏口语化；合同管理与绩效计算之间的逻辑关系不清晰</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梳理合同管理及绩效计算的关系，确定重点，再做删减。</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20109261"/>
                  </a:ext>
                </a:extLst>
              </a:tr>
              <a:tr h="450943">
                <a:tc vMerge="1">
                  <a:txBody>
                    <a:bodyPr/>
                    <a:lstStyle/>
                    <a:p>
                      <a:endParaRPr lang="zh-CN" altLang="en-US"/>
                    </a:p>
                  </a:txBody>
                  <a:tcPr/>
                </a:tc>
                <a:tc>
                  <a:txBody>
                    <a:bodyPr/>
                    <a:lstStyle/>
                    <a:p>
                      <a:pPr algn="just">
                        <a:spcAft>
                          <a:spcPts val="0"/>
                        </a:spcAft>
                      </a:pPr>
                      <a:r>
                        <a:rPr lang="zh-CN" sz="1600" kern="100">
                          <a:effectLst/>
                        </a:rPr>
                        <a:t>精细化管理在</a:t>
                      </a:r>
                      <a:r>
                        <a:rPr lang="en-US" sz="1600" kern="100">
                          <a:effectLst/>
                        </a:rPr>
                        <a:t>A</a:t>
                      </a:r>
                      <a:r>
                        <a:rPr lang="zh-CN" sz="1600" kern="100">
                          <a:effectLst/>
                        </a:rPr>
                        <a:t>房地产公司工程成本控制中的应用研究</a:t>
                      </a:r>
                      <a:endParaRPr lang="zh-CN" sz="1600" kern="100">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txBody>
                  <a:tcPr marL="68580" marR="68580" marT="0" marB="0"/>
                </a:tc>
                <a:tc>
                  <a:txBody>
                    <a:bodyPr/>
                    <a:lstStyle/>
                    <a:p>
                      <a:pPr algn="just">
                        <a:spcAft>
                          <a:spcPts val="0"/>
                        </a:spcAft>
                      </a:pPr>
                      <a:r>
                        <a:rPr lang="zh-CN" sz="1600" kern="100">
                          <a:effectLst/>
                        </a:rPr>
                        <a:t>偏口语化；应用与改进的关系稍欠明确；成本控制范围较大；精细化范围较为模糊</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rPr>
                        <a:t>梳理成本控制的难点，明确改进对象；明确精细化与成本管控难点的对应关系</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8351088"/>
                  </a:ext>
                </a:extLst>
              </a:tr>
            </a:tbl>
          </a:graphicData>
        </a:graphic>
      </p:graphicFrame>
      <p:sp>
        <p:nvSpPr>
          <p:cNvPr id="5" name="标题 1">
            <a:extLst>
              <a:ext uri="{FF2B5EF4-FFF2-40B4-BE49-F238E27FC236}">
                <a16:creationId xmlns:a16="http://schemas.microsoft.com/office/drawing/2014/main" id="{FB11EC81-6902-4EA0-BFB3-3B7176D46E39}"/>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t>题目</a:t>
            </a:r>
            <a:r>
              <a:rPr lang="zh-CN" altLang="en-US" sz="3300" dirty="0"/>
              <a:t>的常见问题</a:t>
            </a:r>
          </a:p>
        </p:txBody>
      </p:sp>
    </p:spTree>
    <p:extLst>
      <p:ext uri="{BB962C8B-B14F-4D97-AF65-F5344CB8AC3E}">
        <p14:creationId xmlns:p14="http://schemas.microsoft.com/office/powerpoint/2010/main" val="1670431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890559A-DCAA-4B02-BC9D-7052D573E292}"/>
              </a:ext>
            </a:extLst>
          </p:cNvPr>
          <p:cNvSpPr>
            <a:spLocks noGrp="1"/>
          </p:cNvSpPr>
          <p:nvPr>
            <p:ph idx="4294967295"/>
          </p:nvPr>
        </p:nvSpPr>
        <p:spPr>
          <a:xfrm>
            <a:off x="413656" y="1096283"/>
            <a:ext cx="10874829" cy="4351338"/>
          </a:xfrm>
        </p:spPr>
        <p:txBody>
          <a:bodyPr>
            <a:normAutofit/>
          </a:bodyPr>
          <a:lstStyle/>
          <a:p>
            <a:pPr>
              <a:lnSpc>
                <a:spcPct val="150000"/>
              </a:lnSpc>
            </a:pPr>
            <a:r>
              <a:rPr lang="zh-CN" altLang="zh-CN" sz="2000" dirty="0">
                <a:latin typeface="+mj-ea"/>
                <a:ea typeface="+mj-ea"/>
              </a:rPr>
              <a:t>学位论文标准中提出摘要“是以第三人称的，提供论文内容梗概为目的，不加评论和补充的解释，简明扼要记述论文重要内容的短文。”</a:t>
            </a:r>
            <a:endParaRPr lang="en-US" altLang="zh-CN" sz="2000" dirty="0">
              <a:latin typeface="+mj-ea"/>
              <a:ea typeface="+mj-ea"/>
            </a:endParaRPr>
          </a:p>
          <a:p>
            <a:pPr>
              <a:lnSpc>
                <a:spcPct val="150000"/>
              </a:lnSpc>
            </a:pPr>
            <a:r>
              <a:rPr lang="zh-CN" altLang="zh-CN" sz="2000" dirty="0">
                <a:latin typeface="+mj-ea"/>
                <a:ea typeface="+mj-ea"/>
              </a:rPr>
              <a:t>摘要应具有独立性和自含性，即不阅读论文全文，就能获得必要的信息。摘要中有数据、有结论，是一篇完整的短文，可以独立使用，可以引用。</a:t>
            </a:r>
            <a:endParaRPr lang="zh-CN" altLang="en-US" sz="2000" dirty="0">
              <a:latin typeface="+mj-ea"/>
              <a:ea typeface="+mj-ea"/>
            </a:endParaRPr>
          </a:p>
        </p:txBody>
      </p:sp>
      <p:sp>
        <p:nvSpPr>
          <p:cNvPr id="4" name="标题 1">
            <a:extLst>
              <a:ext uri="{FF2B5EF4-FFF2-40B4-BE49-F238E27FC236}">
                <a16:creationId xmlns:a16="http://schemas.microsoft.com/office/drawing/2014/main" id="{36C355AE-724F-47BA-8957-94357D64A6F0}"/>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摘要</a:t>
            </a:r>
          </a:p>
        </p:txBody>
      </p:sp>
    </p:spTree>
    <p:extLst>
      <p:ext uri="{BB962C8B-B14F-4D97-AF65-F5344CB8AC3E}">
        <p14:creationId xmlns:p14="http://schemas.microsoft.com/office/powerpoint/2010/main" val="3355859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762CAE5-B78D-49F9-B909-BE5902E1BB33}"/>
              </a:ext>
            </a:extLst>
          </p:cNvPr>
          <p:cNvSpPr/>
          <p:nvPr/>
        </p:nvSpPr>
        <p:spPr>
          <a:xfrm>
            <a:off x="409303" y="1140038"/>
            <a:ext cx="11118668" cy="5036122"/>
          </a:xfrm>
          <a:prstGeom prst="rect">
            <a:avLst/>
          </a:prstGeom>
        </p:spPr>
        <p:txBody>
          <a:bodyPr wrap="square">
            <a:spAutoFit/>
          </a:bodyPr>
          <a:lstStyle/>
          <a:p>
            <a:pPr>
              <a:lnSpc>
                <a:spcPct val="150000"/>
              </a:lnSpc>
            </a:pPr>
            <a:r>
              <a:rPr lang="zh-CN" altLang="zh-CN" b="1" kern="0" dirty="0">
                <a:latin typeface="+mj-ea"/>
                <a:ea typeface="+mj-ea"/>
                <a:cs typeface="宋体" panose="02010600030101010101" pitchFamily="2" charset="-122"/>
              </a:rPr>
              <a:t>第一部分</a:t>
            </a:r>
            <a:r>
              <a:rPr lang="zh-CN" altLang="en-US" b="1" kern="0" dirty="0">
                <a:latin typeface="+mj-ea"/>
                <a:ea typeface="+mj-ea"/>
                <a:cs typeface="宋体" panose="02010600030101010101" pitchFamily="2" charset="-122"/>
              </a:rPr>
              <a:t>：</a:t>
            </a:r>
            <a:r>
              <a:rPr lang="zh-CN" altLang="zh-CN" b="1" kern="0" dirty="0">
                <a:latin typeface="+mj-ea"/>
                <a:ea typeface="+mj-ea"/>
                <a:cs typeface="宋体" panose="02010600030101010101" pitchFamily="2" charset="-122"/>
              </a:rPr>
              <a:t>介绍背景与研究目标</a:t>
            </a:r>
            <a:endParaRPr lang="en-US" altLang="zh-CN" b="1" kern="0" dirty="0">
              <a:latin typeface="+mj-ea"/>
              <a:ea typeface="+mj-ea"/>
              <a:cs typeface="宋体" panose="02010600030101010101" pitchFamily="2" charset="-122"/>
            </a:endParaRPr>
          </a:p>
          <a:p>
            <a:pPr marL="285750" indent="-285750">
              <a:lnSpc>
                <a:spcPct val="150000"/>
              </a:lnSpc>
              <a:buFont typeface="Arial" panose="020B0604020202020204" pitchFamily="34" charset="0"/>
              <a:buChar char="•"/>
            </a:pPr>
            <a:r>
              <a:rPr lang="zh-CN" altLang="zh-CN" kern="0" dirty="0">
                <a:latin typeface="+mj-ea"/>
                <a:ea typeface="+mj-ea"/>
                <a:cs typeface="宋体" panose="02010600030101010101" pitchFamily="2" charset="-122"/>
              </a:rPr>
              <a:t>首先，介绍行业和社会经济发展背景（可采用两、三句），再介绍实践问题，以及存在的研究问题。通过研究问题，引出研究目的。</a:t>
            </a:r>
            <a:endParaRPr lang="en-US" altLang="zh-CN" kern="0" dirty="0">
              <a:latin typeface="+mj-ea"/>
              <a:ea typeface="+mj-ea"/>
              <a:cs typeface="宋体" panose="02010600030101010101" pitchFamily="2" charset="-122"/>
            </a:endParaRPr>
          </a:p>
          <a:p>
            <a:pPr>
              <a:lnSpc>
                <a:spcPct val="150000"/>
              </a:lnSpc>
            </a:pPr>
            <a:r>
              <a:rPr lang="zh-CN" altLang="zh-CN" b="1" kern="0" dirty="0">
                <a:latin typeface="+mj-ea"/>
                <a:ea typeface="+mj-ea"/>
                <a:cs typeface="宋体" panose="02010600030101010101" pitchFamily="2" charset="-122"/>
              </a:rPr>
              <a:t>第二部分</a:t>
            </a:r>
            <a:r>
              <a:rPr lang="zh-CN" altLang="en-US" b="1" kern="0" dirty="0">
                <a:latin typeface="+mj-ea"/>
                <a:ea typeface="+mj-ea"/>
                <a:cs typeface="宋体" panose="02010600030101010101" pitchFamily="2" charset="-122"/>
              </a:rPr>
              <a:t>：</a:t>
            </a:r>
            <a:r>
              <a:rPr lang="zh-CN" altLang="zh-CN" b="1" kern="0" dirty="0">
                <a:latin typeface="+mj-ea"/>
                <a:ea typeface="+mj-ea"/>
                <a:cs typeface="宋体" panose="02010600030101010101" pitchFamily="2" charset="-122"/>
              </a:rPr>
              <a:t>介绍研究内容与研究方案</a:t>
            </a:r>
            <a:endParaRPr lang="en-US" altLang="zh-CN" b="1" kern="0" dirty="0">
              <a:latin typeface="+mj-ea"/>
              <a:ea typeface="+mj-ea"/>
              <a:cs typeface="宋体" panose="02010600030101010101" pitchFamily="2" charset="-122"/>
            </a:endParaRPr>
          </a:p>
          <a:p>
            <a:pPr marL="285750" indent="-285750">
              <a:lnSpc>
                <a:spcPct val="150000"/>
              </a:lnSpc>
              <a:buFont typeface="Arial" panose="020B0604020202020204" pitchFamily="34" charset="0"/>
              <a:buChar char="•"/>
            </a:pPr>
            <a:r>
              <a:rPr lang="zh-CN" altLang="zh-CN" kern="0" dirty="0">
                <a:latin typeface="+mj-ea"/>
                <a:ea typeface="+mj-ea"/>
                <a:cs typeface="宋体" panose="02010600030101010101" pitchFamily="2" charset="-122"/>
              </a:rPr>
              <a:t>首先，精炼介绍主要研究内容；其次，针对研究内容介绍采用的研究方案。如果多个研究内容针对一个研究方案，可用一个研究方案。需要说明针对问题研究采用了怎样的方案，针对解决方案设计采用了何种方案，针对解决方案评估采用何种方案。</a:t>
            </a:r>
            <a:endParaRPr lang="en-US" altLang="zh-CN" kern="0" dirty="0">
              <a:latin typeface="+mj-ea"/>
              <a:ea typeface="+mj-ea"/>
              <a:cs typeface="宋体" panose="02010600030101010101" pitchFamily="2" charset="-122"/>
            </a:endParaRPr>
          </a:p>
          <a:p>
            <a:pPr>
              <a:lnSpc>
                <a:spcPct val="150000"/>
              </a:lnSpc>
            </a:pPr>
            <a:r>
              <a:rPr lang="zh-CN" altLang="zh-CN" b="1" kern="0" dirty="0">
                <a:latin typeface="+mj-ea"/>
                <a:ea typeface="+mj-ea"/>
                <a:cs typeface="宋体" panose="02010600030101010101" pitchFamily="2" charset="-122"/>
              </a:rPr>
              <a:t>第三部分</a:t>
            </a:r>
            <a:r>
              <a:rPr lang="zh-CN" altLang="en-US" b="1" kern="0" dirty="0">
                <a:latin typeface="+mj-ea"/>
                <a:ea typeface="+mj-ea"/>
                <a:cs typeface="宋体" panose="02010600030101010101" pitchFamily="2" charset="-122"/>
              </a:rPr>
              <a:t>：</a:t>
            </a:r>
            <a:r>
              <a:rPr lang="zh-CN" altLang="zh-CN" b="1" kern="0" dirty="0">
                <a:latin typeface="+mj-ea"/>
                <a:ea typeface="+mj-ea"/>
                <a:cs typeface="宋体" panose="02010600030101010101" pitchFamily="2" charset="-122"/>
              </a:rPr>
              <a:t>介绍结论和意义</a:t>
            </a:r>
            <a:endParaRPr lang="en-US" altLang="zh-CN" b="1" kern="0" dirty="0">
              <a:latin typeface="+mj-ea"/>
              <a:ea typeface="+mj-ea"/>
              <a:cs typeface="宋体" panose="02010600030101010101" pitchFamily="2" charset="-122"/>
            </a:endParaRPr>
          </a:p>
          <a:p>
            <a:pPr marL="285750" indent="-285750">
              <a:lnSpc>
                <a:spcPct val="150000"/>
              </a:lnSpc>
              <a:buFont typeface="Arial" panose="020B0604020202020204" pitchFamily="34" charset="0"/>
              <a:buChar char="•"/>
            </a:pPr>
            <a:r>
              <a:rPr lang="zh-CN" altLang="zh-CN" kern="0" dirty="0">
                <a:latin typeface="+mj-ea"/>
                <a:ea typeface="+mj-ea"/>
                <a:cs typeface="宋体" panose="02010600030101010101" pitchFamily="2" charset="-122"/>
              </a:rPr>
              <a:t>述研究的主要结论，以及该结论的理论和实践意义。</a:t>
            </a:r>
            <a:endParaRPr lang="en-US" altLang="zh-CN" kern="0" dirty="0">
              <a:latin typeface="+mj-ea"/>
              <a:ea typeface="+mj-ea"/>
              <a:cs typeface="宋体" panose="02010600030101010101" pitchFamily="2" charset="-122"/>
            </a:endParaRPr>
          </a:p>
          <a:p>
            <a:pPr>
              <a:lnSpc>
                <a:spcPct val="150000"/>
              </a:lnSpc>
            </a:pPr>
            <a:endParaRPr lang="en-US" altLang="zh-CN" kern="0" dirty="0">
              <a:latin typeface="+mj-ea"/>
              <a:ea typeface="+mj-ea"/>
              <a:cs typeface="宋体" panose="02010600030101010101" pitchFamily="2" charset="-122"/>
            </a:endParaRPr>
          </a:p>
          <a:p>
            <a:pPr>
              <a:lnSpc>
                <a:spcPct val="150000"/>
              </a:lnSpc>
            </a:pPr>
            <a:r>
              <a:rPr lang="zh-CN" altLang="zh-CN" kern="0" dirty="0">
                <a:latin typeface="+mj-ea"/>
                <a:ea typeface="+mj-ea"/>
                <a:cs typeface="宋体" panose="02010600030101010101" pitchFamily="2" charset="-122"/>
              </a:rPr>
              <a:t>也可根据研究具体情况进行针对性的调整，如研究内容与方案作为两段，结论与意义作为两段。但这只是段落划分上的差异，从要素完整性角度，这些要素都需要在摘要中呈现。</a:t>
            </a:r>
            <a:endParaRPr lang="zh-CN" altLang="zh-CN" kern="100" dirty="0">
              <a:latin typeface="+mj-ea"/>
              <a:ea typeface="+mj-ea"/>
              <a:cs typeface="Times New Roman" panose="02020603050405020304" pitchFamily="18" charset="0"/>
            </a:endParaRPr>
          </a:p>
        </p:txBody>
      </p:sp>
      <p:sp>
        <p:nvSpPr>
          <p:cNvPr id="5" name="标题 1">
            <a:extLst>
              <a:ext uri="{FF2B5EF4-FFF2-40B4-BE49-F238E27FC236}">
                <a16:creationId xmlns:a16="http://schemas.microsoft.com/office/drawing/2014/main" id="{C6F4562B-03F6-4916-A15B-4BA0EBB74B1F}"/>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摘要的要素</a:t>
            </a:r>
          </a:p>
        </p:txBody>
      </p:sp>
    </p:spTree>
    <p:extLst>
      <p:ext uri="{BB962C8B-B14F-4D97-AF65-F5344CB8AC3E}">
        <p14:creationId xmlns:p14="http://schemas.microsoft.com/office/powerpoint/2010/main" val="116561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0CB35555-6DE8-4287-822A-48868E166AED}"/>
              </a:ext>
            </a:extLst>
          </p:cNvPr>
          <p:cNvGraphicFramePr>
            <a:graphicFrameLocks noGrp="1"/>
          </p:cNvGraphicFramePr>
          <p:nvPr>
            <p:extLst>
              <p:ext uri="{D42A27DB-BD31-4B8C-83A1-F6EECF244321}">
                <p14:modId xmlns:p14="http://schemas.microsoft.com/office/powerpoint/2010/main" val="999594866"/>
              </p:ext>
            </p:extLst>
          </p:nvPr>
        </p:nvGraphicFramePr>
        <p:xfrm>
          <a:off x="402771" y="1359333"/>
          <a:ext cx="10896600" cy="4341070"/>
        </p:xfrm>
        <a:graphic>
          <a:graphicData uri="http://schemas.openxmlformats.org/drawingml/2006/table">
            <a:tbl>
              <a:tblPr firstRow="1" firstCol="1" bandRow="1">
                <a:tableStyleId>{5C22544A-7EE6-4342-B048-85BDC9FD1C3A}</a:tableStyleId>
              </a:tblPr>
              <a:tblGrid>
                <a:gridCol w="2009532">
                  <a:extLst>
                    <a:ext uri="{9D8B030D-6E8A-4147-A177-3AD203B41FA5}">
                      <a16:colId xmlns:a16="http://schemas.microsoft.com/office/drawing/2014/main" val="630668614"/>
                    </a:ext>
                  </a:extLst>
                </a:gridCol>
                <a:gridCol w="4227983">
                  <a:extLst>
                    <a:ext uri="{9D8B030D-6E8A-4147-A177-3AD203B41FA5}">
                      <a16:colId xmlns:a16="http://schemas.microsoft.com/office/drawing/2014/main" val="1703488126"/>
                    </a:ext>
                  </a:extLst>
                </a:gridCol>
                <a:gridCol w="4659085">
                  <a:extLst>
                    <a:ext uri="{9D8B030D-6E8A-4147-A177-3AD203B41FA5}">
                      <a16:colId xmlns:a16="http://schemas.microsoft.com/office/drawing/2014/main" val="74925286"/>
                    </a:ext>
                  </a:extLst>
                </a:gridCol>
              </a:tblGrid>
              <a:tr h="399412">
                <a:tc>
                  <a:txBody>
                    <a:bodyPr/>
                    <a:lstStyle/>
                    <a:p>
                      <a:pPr algn="ctr">
                        <a:spcAft>
                          <a:spcPts val="0"/>
                        </a:spcAft>
                      </a:pPr>
                      <a:r>
                        <a:rPr lang="zh-CN" sz="1800" kern="100" dirty="0">
                          <a:effectLst/>
                          <a:latin typeface="+mj-ea"/>
                          <a:ea typeface="+mj-ea"/>
                        </a:rPr>
                        <a:t>要素</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ctr">
                        <a:spcAft>
                          <a:spcPts val="0"/>
                        </a:spcAft>
                      </a:pPr>
                      <a:r>
                        <a:rPr lang="zh-CN" sz="1800" kern="100">
                          <a:effectLst/>
                          <a:latin typeface="+mj-ea"/>
                          <a:ea typeface="+mj-ea"/>
                        </a:rPr>
                        <a:t>描述</a:t>
                      </a:r>
                      <a:endParaRPr lang="zh-CN" sz="1800" kern="100">
                        <a:effectLst/>
                        <a:latin typeface="+mj-ea"/>
                        <a:ea typeface="+mj-ea"/>
                        <a:cs typeface="Times New Roman" panose="02020603050405020304" pitchFamily="18" charset="0"/>
                      </a:endParaRPr>
                    </a:p>
                  </a:txBody>
                  <a:tcPr marL="68580" marR="68580" marT="0" marB="0"/>
                </a:tc>
                <a:tc>
                  <a:txBody>
                    <a:bodyPr/>
                    <a:lstStyle/>
                    <a:p>
                      <a:pPr algn="ctr">
                        <a:spcAft>
                          <a:spcPts val="0"/>
                        </a:spcAft>
                      </a:pPr>
                      <a:r>
                        <a:rPr lang="zh-CN" sz="1800" kern="100">
                          <a:effectLst/>
                          <a:latin typeface="+mj-ea"/>
                          <a:ea typeface="+mj-ea"/>
                        </a:rPr>
                        <a:t>常见句式</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599365923"/>
                  </a:ext>
                </a:extLst>
              </a:tr>
              <a:tr h="815786">
                <a:tc>
                  <a:txBody>
                    <a:bodyPr/>
                    <a:lstStyle/>
                    <a:p>
                      <a:pPr algn="just">
                        <a:spcAft>
                          <a:spcPts val="0"/>
                        </a:spcAft>
                      </a:pPr>
                      <a:r>
                        <a:rPr lang="zh-CN" sz="1800" kern="100" dirty="0">
                          <a:effectLst/>
                          <a:latin typeface="+mj-ea"/>
                          <a:ea typeface="+mj-ea"/>
                        </a:rPr>
                        <a:t>背景</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政策与行业发展背景</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有政策大力推动、企业发展的迫切需求、社会经济发展的趋势等。</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6589942"/>
                  </a:ext>
                </a:extLst>
              </a:tr>
              <a:tr h="543857">
                <a:tc>
                  <a:txBody>
                    <a:bodyPr/>
                    <a:lstStyle/>
                    <a:p>
                      <a:pPr algn="just">
                        <a:spcAft>
                          <a:spcPts val="0"/>
                        </a:spcAft>
                      </a:pPr>
                      <a:r>
                        <a:rPr lang="zh-CN" sz="1800" kern="100" dirty="0">
                          <a:effectLst/>
                          <a:latin typeface="+mj-ea"/>
                          <a:ea typeface="+mj-ea"/>
                        </a:rPr>
                        <a:t>研究</a:t>
                      </a:r>
                      <a:r>
                        <a:rPr lang="zh-CN" altLang="en-US" sz="1800" kern="100" dirty="0">
                          <a:effectLst/>
                          <a:latin typeface="+mj-ea"/>
                          <a:ea typeface="+mj-ea"/>
                        </a:rPr>
                        <a:t>目标</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已有研究不足，本研究的</a:t>
                      </a:r>
                      <a:r>
                        <a:rPr lang="zh-CN" altLang="en-US" sz="1800" kern="100" dirty="0">
                          <a:solidFill>
                            <a:schemeClr val="dk1"/>
                          </a:solidFill>
                          <a:effectLst/>
                          <a:latin typeface="+mj-ea"/>
                          <a:ea typeface="+mj-ea"/>
                          <a:cs typeface="+mn-cs"/>
                        </a:rPr>
                        <a:t>目标。</a:t>
                      </a:r>
                    </a:p>
                  </a:txBody>
                  <a:tcPr marL="68580" marR="68580" marT="0" marB="0"/>
                </a:tc>
                <a:tc>
                  <a:txBody>
                    <a:bodyPr/>
                    <a:lstStyle/>
                    <a:p>
                      <a:pPr algn="just">
                        <a:spcAft>
                          <a:spcPts val="0"/>
                        </a:spcAft>
                      </a:pPr>
                      <a:r>
                        <a:rPr lang="zh-CN" sz="1800" kern="100" dirty="0">
                          <a:effectLst/>
                          <a:latin typeface="+mj-ea"/>
                          <a:ea typeface="+mj-ea"/>
                        </a:rPr>
                        <a:t>本研究的</a:t>
                      </a:r>
                      <a:r>
                        <a:rPr lang="zh-CN" altLang="en-US" sz="1800" kern="100" dirty="0">
                          <a:effectLst/>
                          <a:latin typeface="+mj-ea"/>
                          <a:ea typeface="+mj-ea"/>
                        </a:rPr>
                        <a:t>目标</a:t>
                      </a:r>
                      <a:r>
                        <a:rPr lang="zh-CN" sz="1800" kern="100" dirty="0">
                          <a:effectLst/>
                          <a:latin typeface="+mj-ea"/>
                          <a:ea typeface="+mj-ea"/>
                        </a:rPr>
                        <a:t>包括：</a:t>
                      </a:r>
                      <a:r>
                        <a:rPr lang="en-US" sz="1800" kern="100" dirty="0">
                          <a:effectLst/>
                          <a:latin typeface="+mj-ea"/>
                          <a:ea typeface="+mj-ea"/>
                        </a:rPr>
                        <a:t>1</a:t>
                      </a:r>
                      <a:r>
                        <a:rPr lang="zh-CN" sz="1800" kern="100" dirty="0">
                          <a:effectLst/>
                          <a:latin typeface="+mj-ea"/>
                          <a:ea typeface="+mj-ea"/>
                        </a:rPr>
                        <a:t>）；</a:t>
                      </a:r>
                      <a:r>
                        <a:rPr lang="en-US" sz="1800" kern="100" dirty="0">
                          <a:effectLst/>
                          <a:latin typeface="+mj-ea"/>
                          <a:ea typeface="+mj-ea"/>
                        </a:rPr>
                        <a:t>2</a:t>
                      </a:r>
                      <a:r>
                        <a:rPr lang="zh-CN" sz="1800" kern="100" dirty="0">
                          <a:effectLst/>
                          <a:latin typeface="+mj-ea"/>
                          <a:ea typeface="+mj-ea"/>
                        </a:rPr>
                        <a:t>）……。</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392214343"/>
                  </a:ext>
                </a:extLst>
              </a:tr>
              <a:tr h="543857">
                <a:tc>
                  <a:txBody>
                    <a:bodyPr/>
                    <a:lstStyle/>
                    <a:p>
                      <a:pPr algn="just">
                        <a:spcAft>
                          <a:spcPts val="0"/>
                        </a:spcAft>
                      </a:pPr>
                      <a:r>
                        <a:rPr lang="zh-CN" sz="1800" kern="100">
                          <a:effectLst/>
                          <a:latin typeface="+mj-ea"/>
                          <a:ea typeface="+mj-ea"/>
                        </a:rPr>
                        <a:t>主要研究内容</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为完成研究目标，设置的研究内容</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本研究内容包括：</a:t>
                      </a:r>
                      <a:r>
                        <a:rPr lang="en-US" sz="1800" kern="100" dirty="0">
                          <a:effectLst/>
                          <a:latin typeface="+mj-ea"/>
                          <a:ea typeface="+mj-ea"/>
                        </a:rPr>
                        <a:t>1</a:t>
                      </a:r>
                      <a:r>
                        <a:rPr lang="zh-CN" sz="1800" kern="100" dirty="0">
                          <a:effectLst/>
                          <a:latin typeface="+mj-ea"/>
                          <a:ea typeface="+mj-ea"/>
                        </a:rPr>
                        <a:t>）；</a:t>
                      </a:r>
                      <a:r>
                        <a:rPr lang="en-US" sz="1800" kern="100" dirty="0">
                          <a:effectLst/>
                          <a:latin typeface="+mj-ea"/>
                          <a:ea typeface="+mj-ea"/>
                        </a:rPr>
                        <a:t>2</a:t>
                      </a:r>
                      <a:r>
                        <a:rPr lang="zh-CN" sz="1800" kern="100" dirty="0">
                          <a:effectLst/>
                          <a:latin typeface="+mj-ea"/>
                          <a:ea typeface="+mj-ea"/>
                        </a:rPr>
                        <a:t>）……。</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046069628"/>
                  </a:ext>
                </a:extLst>
              </a:tr>
              <a:tr h="815786">
                <a:tc>
                  <a:txBody>
                    <a:bodyPr/>
                    <a:lstStyle/>
                    <a:p>
                      <a:pPr algn="just">
                        <a:spcAft>
                          <a:spcPts val="0"/>
                        </a:spcAft>
                      </a:pPr>
                      <a:r>
                        <a:rPr lang="zh-CN" sz="1800" kern="100">
                          <a:effectLst/>
                          <a:latin typeface="+mj-ea"/>
                          <a:ea typeface="+mj-ea"/>
                        </a:rPr>
                        <a:t>研究方案</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研究工作流程，研究了哪些主要内容，在这个过程中都做了哪些工作。</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本研究的研究方案中，首先采用</a:t>
                      </a:r>
                      <a:r>
                        <a:rPr lang="en-US" sz="1800" kern="100" dirty="0">
                          <a:effectLst/>
                          <a:latin typeface="+mj-ea"/>
                          <a:ea typeface="+mj-ea"/>
                        </a:rPr>
                        <a:t>XX</a:t>
                      </a:r>
                      <a:r>
                        <a:rPr lang="zh-CN" sz="1800" kern="100" dirty="0">
                          <a:effectLst/>
                          <a:latin typeface="+mj-ea"/>
                          <a:ea typeface="+mj-ea"/>
                        </a:rPr>
                        <a:t>、其次采用</a:t>
                      </a:r>
                      <a:r>
                        <a:rPr lang="en-US" sz="1800" kern="100" dirty="0">
                          <a:effectLst/>
                          <a:latin typeface="+mj-ea"/>
                          <a:ea typeface="+mj-ea"/>
                        </a:rPr>
                        <a:t>XX</a:t>
                      </a:r>
                      <a:r>
                        <a:rPr lang="zh-CN" sz="1800" kern="100" dirty="0">
                          <a:effectLst/>
                          <a:latin typeface="+mj-ea"/>
                          <a:ea typeface="+mj-ea"/>
                        </a:rPr>
                        <a:t>、最后采用</a:t>
                      </a:r>
                      <a:r>
                        <a:rPr lang="en-US" sz="1800" kern="100" dirty="0">
                          <a:effectLst/>
                          <a:latin typeface="+mj-ea"/>
                          <a:ea typeface="+mj-ea"/>
                        </a:rPr>
                        <a:t>XX</a:t>
                      </a:r>
                      <a:r>
                        <a:rPr lang="zh-CN" sz="1800" kern="100" dirty="0">
                          <a:effectLst/>
                          <a:latin typeface="+mj-ea"/>
                          <a:ea typeface="+mj-ea"/>
                        </a:rPr>
                        <a:t>。</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514355601"/>
                  </a:ext>
                </a:extLst>
              </a:tr>
              <a:tr h="399412">
                <a:tc>
                  <a:txBody>
                    <a:bodyPr/>
                    <a:lstStyle/>
                    <a:p>
                      <a:pPr algn="just">
                        <a:spcAft>
                          <a:spcPts val="0"/>
                        </a:spcAft>
                      </a:pPr>
                      <a:r>
                        <a:rPr lang="zh-CN" sz="1800" kern="100">
                          <a:effectLst/>
                          <a:latin typeface="+mj-ea"/>
                          <a:ea typeface="+mj-ea"/>
                        </a:rPr>
                        <a:t>结论</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通过研究所得出的结论。</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本研究的结论包括……。</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968348117"/>
                  </a:ext>
                </a:extLst>
              </a:tr>
              <a:tr h="815786">
                <a:tc>
                  <a:txBody>
                    <a:bodyPr/>
                    <a:lstStyle/>
                    <a:p>
                      <a:pPr algn="just">
                        <a:spcAft>
                          <a:spcPts val="0"/>
                        </a:spcAft>
                      </a:pPr>
                      <a:r>
                        <a:rPr lang="zh-CN" sz="1800" kern="100">
                          <a:effectLst/>
                          <a:latin typeface="+mj-ea"/>
                          <a:ea typeface="+mj-ea"/>
                        </a:rPr>
                        <a:t>意义</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理论和实践意义。</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本研究将弥补</a:t>
                      </a:r>
                      <a:r>
                        <a:rPr lang="en-US" sz="1800" kern="100" dirty="0">
                          <a:effectLst/>
                          <a:latin typeface="+mj-ea"/>
                          <a:ea typeface="+mj-ea"/>
                        </a:rPr>
                        <a:t>XX</a:t>
                      </a:r>
                      <a:r>
                        <a:rPr lang="zh-CN" sz="1800" kern="100" dirty="0">
                          <a:effectLst/>
                          <a:latin typeface="+mj-ea"/>
                          <a:ea typeface="+mj-ea"/>
                        </a:rPr>
                        <a:t>研究上的不足；为</a:t>
                      </a:r>
                      <a:r>
                        <a:rPr lang="en-US" sz="1800" kern="100" dirty="0">
                          <a:effectLst/>
                          <a:latin typeface="+mj-ea"/>
                          <a:ea typeface="+mj-ea"/>
                        </a:rPr>
                        <a:t>XX</a:t>
                      </a:r>
                      <a:r>
                        <a:rPr lang="zh-CN" sz="1800" kern="100" dirty="0">
                          <a:effectLst/>
                          <a:latin typeface="+mj-ea"/>
                          <a:ea typeface="+mj-ea"/>
                        </a:rPr>
                        <a:t>实践提供启示。</a:t>
                      </a:r>
                    </a:p>
                    <a:p>
                      <a:pPr algn="just">
                        <a:spcAft>
                          <a:spcPts val="0"/>
                        </a:spcAft>
                      </a:pPr>
                      <a:r>
                        <a:rPr lang="zh-CN" sz="1800" kern="100" dirty="0">
                          <a:effectLst/>
                          <a:latin typeface="+mj-ea"/>
                          <a:ea typeface="+mj-ea"/>
                        </a:rPr>
                        <a:t>该研究可为</a:t>
                      </a:r>
                      <a:r>
                        <a:rPr lang="en-US" sz="1800" kern="100" dirty="0">
                          <a:effectLst/>
                          <a:latin typeface="+mj-ea"/>
                          <a:ea typeface="+mj-ea"/>
                        </a:rPr>
                        <a:t>XX</a:t>
                      </a:r>
                      <a:r>
                        <a:rPr lang="zh-CN" sz="1800" kern="100" dirty="0">
                          <a:effectLst/>
                          <a:latin typeface="+mj-ea"/>
                          <a:ea typeface="+mj-ea"/>
                        </a:rPr>
                        <a:t>实践提供参考。</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922052862"/>
                  </a:ext>
                </a:extLst>
              </a:tr>
            </a:tbl>
          </a:graphicData>
        </a:graphic>
      </p:graphicFrame>
    </p:spTree>
    <p:extLst>
      <p:ext uri="{BB962C8B-B14F-4D97-AF65-F5344CB8AC3E}">
        <p14:creationId xmlns:p14="http://schemas.microsoft.com/office/powerpoint/2010/main" val="1609936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E6FDE25-372C-4EAC-9C3A-CA67283A7967}"/>
              </a:ext>
            </a:extLst>
          </p:cNvPr>
          <p:cNvSpPr>
            <a:spLocks noGrp="1"/>
          </p:cNvSpPr>
          <p:nvPr>
            <p:ph idx="4294967295"/>
          </p:nvPr>
        </p:nvSpPr>
        <p:spPr>
          <a:xfrm>
            <a:off x="370113" y="1128940"/>
            <a:ext cx="11027229" cy="4351338"/>
          </a:xfrm>
        </p:spPr>
        <p:txBody>
          <a:bodyPr>
            <a:noAutofit/>
          </a:bodyPr>
          <a:lstStyle/>
          <a:p>
            <a:pPr marL="0" indent="0">
              <a:lnSpc>
                <a:spcPct val="150000"/>
              </a:lnSpc>
              <a:spcBef>
                <a:spcPts val="0"/>
              </a:spcBef>
              <a:buNone/>
            </a:pPr>
            <a:r>
              <a:rPr lang="en-US" altLang="zh-CN" sz="2000" b="1" dirty="0">
                <a:latin typeface="+mj-ea"/>
                <a:ea typeface="+mj-ea"/>
              </a:rPr>
              <a:t>1</a:t>
            </a:r>
            <a:r>
              <a:rPr lang="zh-CN" altLang="en-US" sz="2000" b="1" dirty="0">
                <a:latin typeface="+mj-ea"/>
                <a:ea typeface="+mj-ea"/>
              </a:rPr>
              <a:t>、</a:t>
            </a:r>
            <a:r>
              <a:rPr lang="zh-CN" altLang="zh-CN" sz="2000" b="1" dirty="0">
                <a:latin typeface="+mj-ea"/>
                <a:ea typeface="+mj-ea"/>
              </a:rPr>
              <a:t>表达精炼</a:t>
            </a:r>
            <a:endParaRPr lang="en-US" altLang="zh-CN" sz="2000" b="1" dirty="0">
              <a:latin typeface="+mj-ea"/>
              <a:ea typeface="+mj-ea"/>
            </a:endParaRPr>
          </a:p>
          <a:p>
            <a:pPr>
              <a:lnSpc>
                <a:spcPct val="150000"/>
              </a:lnSpc>
              <a:spcBef>
                <a:spcPts val="0"/>
              </a:spcBef>
            </a:pPr>
            <a:r>
              <a:rPr lang="zh-CN" altLang="zh-CN" sz="2000" dirty="0">
                <a:latin typeface="+mj-ea"/>
                <a:ea typeface="+mj-ea"/>
              </a:rPr>
              <a:t>通过阅读论文摘要，读者应该能够对论文的研究方法及结论有一个整体性了解，因此摘要的写法应力求精确简明。</a:t>
            </a:r>
          </a:p>
          <a:p>
            <a:pPr marL="0" indent="0">
              <a:lnSpc>
                <a:spcPct val="150000"/>
              </a:lnSpc>
              <a:spcBef>
                <a:spcPts val="0"/>
              </a:spcBef>
              <a:buNone/>
            </a:pPr>
            <a:r>
              <a:rPr lang="en-US" altLang="zh-CN" sz="2000" b="1" dirty="0">
                <a:latin typeface="+mj-ea"/>
                <a:ea typeface="+mj-ea"/>
              </a:rPr>
              <a:t>2</a:t>
            </a:r>
            <a:r>
              <a:rPr lang="zh-CN" altLang="en-US" sz="2000" b="1" dirty="0">
                <a:latin typeface="+mj-ea"/>
                <a:ea typeface="+mj-ea"/>
              </a:rPr>
              <a:t>、</a:t>
            </a:r>
            <a:r>
              <a:rPr lang="zh-CN" altLang="zh-CN" sz="2000" b="1" dirty="0">
                <a:latin typeface="+mj-ea"/>
                <a:ea typeface="+mj-ea"/>
              </a:rPr>
              <a:t>逻辑清晰、要素完整</a:t>
            </a:r>
            <a:endParaRPr lang="en-US" altLang="zh-CN" sz="2000" b="1" dirty="0">
              <a:latin typeface="+mj-ea"/>
              <a:ea typeface="+mj-ea"/>
            </a:endParaRPr>
          </a:p>
          <a:p>
            <a:pPr>
              <a:lnSpc>
                <a:spcPct val="150000"/>
              </a:lnSpc>
              <a:spcBef>
                <a:spcPts val="0"/>
              </a:spcBef>
            </a:pPr>
            <a:r>
              <a:rPr lang="zh-CN" altLang="zh-CN" sz="2000" dirty="0">
                <a:latin typeface="+mj-ea"/>
                <a:ea typeface="+mj-ea"/>
              </a:rPr>
              <a:t>包含所有要素，并且要素之间的转折逻辑清晰。</a:t>
            </a:r>
          </a:p>
          <a:p>
            <a:pPr marL="0" indent="0">
              <a:lnSpc>
                <a:spcPct val="150000"/>
              </a:lnSpc>
              <a:spcBef>
                <a:spcPts val="0"/>
              </a:spcBef>
              <a:buNone/>
            </a:pPr>
            <a:r>
              <a:rPr lang="en-US" altLang="zh-CN" sz="2000" b="1" dirty="0">
                <a:latin typeface="+mj-ea"/>
                <a:ea typeface="+mj-ea"/>
              </a:rPr>
              <a:t>3</a:t>
            </a:r>
            <a:r>
              <a:rPr lang="zh-CN" altLang="en-US" sz="2000" b="1" dirty="0">
                <a:latin typeface="+mj-ea"/>
                <a:ea typeface="+mj-ea"/>
              </a:rPr>
              <a:t>、</a:t>
            </a:r>
            <a:r>
              <a:rPr lang="zh-CN" altLang="zh-CN" sz="2000" b="1" dirty="0">
                <a:latin typeface="+mj-ea"/>
                <a:ea typeface="+mj-ea"/>
              </a:rPr>
              <a:t>指示用词明确</a:t>
            </a:r>
            <a:endParaRPr lang="en-US" altLang="zh-CN" sz="2000" b="1" dirty="0">
              <a:latin typeface="+mj-ea"/>
              <a:ea typeface="+mj-ea"/>
            </a:endParaRPr>
          </a:p>
          <a:p>
            <a:pPr marL="0" indent="0">
              <a:lnSpc>
                <a:spcPct val="150000"/>
              </a:lnSpc>
              <a:spcBef>
                <a:spcPts val="0"/>
              </a:spcBef>
            </a:pPr>
            <a:r>
              <a:rPr lang="zh-CN" altLang="zh-CN" sz="2000" dirty="0">
                <a:latin typeface="+mj-ea"/>
                <a:ea typeface="+mj-ea"/>
              </a:rPr>
              <a:t>如“本研究的目的包括”“本研究的结论包括”“本研究的研究内容包括”等，直观、清晰地引导读者阅读。</a:t>
            </a:r>
          </a:p>
          <a:p>
            <a:endParaRPr lang="zh-CN" altLang="en-US" dirty="0"/>
          </a:p>
        </p:txBody>
      </p:sp>
      <p:sp>
        <p:nvSpPr>
          <p:cNvPr id="4" name="标题 1">
            <a:extLst>
              <a:ext uri="{FF2B5EF4-FFF2-40B4-BE49-F238E27FC236}">
                <a16:creationId xmlns:a16="http://schemas.microsoft.com/office/drawing/2014/main" id="{B2EA9C2B-3BB1-4A33-8C55-BC98CA44AB20}"/>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摘要写作的要求</a:t>
            </a:r>
          </a:p>
        </p:txBody>
      </p:sp>
    </p:spTree>
    <p:extLst>
      <p:ext uri="{BB962C8B-B14F-4D97-AF65-F5344CB8AC3E}">
        <p14:creationId xmlns:p14="http://schemas.microsoft.com/office/powerpoint/2010/main" val="2316424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3ECA022-78DE-4EBD-91C8-C04D1DFF632D}"/>
              </a:ext>
            </a:extLst>
          </p:cNvPr>
          <p:cNvSpPr>
            <a:spLocks noGrp="1"/>
          </p:cNvSpPr>
          <p:nvPr>
            <p:ph idx="4294967295"/>
          </p:nvPr>
        </p:nvSpPr>
        <p:spPr>
          <a:xfrm>
            <a:off x="401682" y="1101724"/>
            <a:ext cx="11066418" cy="5283836"/>
          </a:xfrm>
        </p:spPr>
        <p:txBody>
          <a:bodyPr>
            <a:noAutofit/>
          </a:bodyPr>
          <a:lstStyle/>
          <a:p>
            <a:pPr marL="0" indent="0">
              <a:lnSpc>
                <a:spcPct val="150000"/>
              </a:lnSpc>
              <a:spcBef>
                <a:spcPts val="0"/>
              </a:spcBef>
              <a:buNone/>
            </a:pPr>
            <a:r>
              <a:rPr lang="en-US" altLang="zh-CN" sz="2000" b="1" dirty="0">
                <a:latin typeface="+mj-ea"/>
                <a:ea typeface="+mj-ea"/>
              </a:rPr>
              <a:t>1</a:t>
            </a:r>
            <a:r>
              <a:rPr lang="zh-CN" altLang="en-US" sz="2000" b="1" dirty="0">
                <a:latin typeface="+mj-ea"/>
                <a:ea typeface="+mj-ea"/>
              </a:rPr>
              <a:t>、</a:t>
            </a:r>
            <a:r>
              <a:rPr lang="zh-CN" altLang="zh-CN" sz="2000" b="1" dirty="0">
                <a:latin typeface="+mj-ea"/>
                <a:ea typeface="+mj-ea"/>
              </a:rPr>
              <a:t>内容设置不均衡</a:t>
            </a:r>
            <a:endParaRPr lang="zh-CN" altLang="zh-CN" sz="2000" dirty="0">
              <a:latin typeface="+mj-ea"/>
              <a:ea typeface="+mj-ea"/>
            </a:endParaRPr>
          </a:p>
          <a:p>
            <a:pPr>
              <a:lnSpc>
                <a:spcPct val="150000"/>
              </a:lnSpc>
              <a:spcBef>
                <a:spcPts val="0"/>
              </a:spcBef>
            </a:pPr>
            <a:r>
              <a:rPr lang="zh-CN" altLang="zh-CN" sz="2000" dirty="0">
                <a:latin typeface="+mj-ea"/>
                <a:ea typeface="+mj-ea"/>
              </a:rPr>
              <a:t>常见的不均衡体现在如对背景介绍过多、结论太少、研究方案过于强调方法的步骤等。</a:t>
            </a:r>
            <a:endParaRPr lang="en-US" altLang="zh-CN" sz="2000" dirty="0">
              <a:latin typeface="+mj-ea"/>
              <a:ea typeface="+mj-ea"/>
            </a:endParaRPr>
          </a:p>
          <a:p>
            <a:pPr>
              <a:lnSpc>
                <a:spcPct val="150000"/>
              </a:lnSpc>
              <a:spcBef>
                <a:spcPts val="0"/>
              </a:spcBef>
            </a:pPr>
            <a:r>
              <a:rPr lang="zh-CN" altLang="zh-CN" sz="2000" dirty="0">
                <a:latin typeface="+mj-ea"/>
                <a:ea typeface="+mj-ea"/>
              </a:rPr>
              <a:t>在内容体量分配上，适当权衡要素的权重。如问题重要，突出问题；如方法重要，突出方法；如果某结论重要，突出该结论。</a:t>
            </a:r>
          </a:p>
          <a:p>
            <a:pPr marL="0" indent="0">
              <a:lnSpc>
                <a:spcPct val="150000"/>
              </a:lnSpc>
              <a:spcBef>
                <a:spcPts val="0"/>
              </a:spcBef>
              <a:buNone/>
            </a:pPr>
            <a:r>
              <a:rPr lang="en-US" altLang="zh-CN" sz="2000" b="1" dirty="0">
                <a:latin typeface="+mj-ea"/>
                <a:ea typeface="+mj-ea"/>
              </a:rPr>
              <a:t>2</a:t>
            </a:r>
            <a:r>
              <a:rPr lang="zh-CN" altLang="en-US" sz="2000" b="1" dirty="0">
                <a:latin typeface="+mj-ea"/>
                <a:ea typeface="+mj-ea"/>
              </a:rPr>
              <a:t>、</a:t>
            </a:r>
            <a:r>
              <a:rPr lang="zh-CN" altLang="zh-CN" sz="2000" b="1" dirty="0">
                <a:latin typeface="+mj-ea"/>
                <a:ea typeface="+mj-ea"/>
              </a:rPr>
              <a:t>缺少关键要素</a:t>
            </a:r>
            <a:endParaRPr lang="zh-CN" altLang="zh-CN" sz="2000" dirty="0">
              <a:latin typeface="+mj-ea"/>
              <a:ea typeface="+mj-ea"/>
            </a:endParaRPr>
          </a:p>
          <a:p>
            <a:pPr>
              <a:lnSpc>
                <a:spcPct val="150000"/>
              </a:lnSpc>
              <a:spcBef>
                <a:spcPts val="0"/>
              </a:spcBef>
            </a:pPr>
            <a:r>
              <a:rPr lang="zh-CN" altLang="zh-CN" sz="2000" dirty="0">
                <a:latin typeface="+mj-ea"/>
                <a:ea typeface="+mj-ea"/>
              </a:rPr>
              <a:t>常缺少的要素包括研究目标、研究方案、研究意义等。</a:t>
            </a:r>
            <a:endParaRPr lang="en-US" altLang="zh-CN" sz="2000" dirty="0">
              <a:latin typeface="+mj-ea"/>
              <a:ea typeface="+mj-ea"/>
            </a:endParaRPr>
          </a:p>
          <a:p>
            <a:pPr>
              <a:lnSpc>
                <a:spcPct val="150000"/>
              </a:lnSpc>
              <a:spcBef>
                <a:spcPts val="0"/>
              </a:spcBef>
            </a:pPr>
            <a:r>
              <a:rPr lang="zh-CN" altLang="zh-CN" sz="2000" dirty="0">
                <a:latin typeface="+mj-ea"/>
                <a:ea typeface="+mj-ea"/>
              </a:rPr>
              <a:t>如评审人提出，“现有的摘要是在介绍项目的研究内容，没有体现论文的主要问题、研究内容和研究贡献”。</a:t>
            </a:r>
          </a:p>
          <a:p>
            <a:pPr marL="0" indent="0">
              <a:lnSpc>
                <a:spcPct val="150000"/>
              </a:lnSpc>
              <a:spcBef>
                <a:spcPts val="0"/>
              </a:spcBef>
              <a:buNone/>
            </a:pPr>
            <a:r>
              <a:rPr lang="en-US" altLang="zh-CN" sz="2000" b="1" dirty="0">
                <a:latin typeface="+mj-ea"/>
                <a:ea typeface="+mj-ea"/>
              </a:rPr>
              <a:t>3</a:t>
            </a:r>
            <a:r>
              <a:rPr lang="zh-CN" altLang="en-US" sz="2000" b="1" dirty="0">
                <a:latin typeface="+mj-ea"/>
                <a:ea typeface="+mj-ea"/>
              </a:rPr>
              <a:t>、</a:t>
            </a:r>
            <a:r>
              <a:rPr lang="zh-CN" altLang="zh-CN" sz="2000" b="1" dirty="0">
                <a:latin typeface="+mj-ea"/>
                <a:ea typeface="+mj-ea"/>
              </a:rPr>
              <a:t>语言不精炼</a:t>
            </a:r>
            <a:endParaRPr lang="zh-CN" altLang="zh-CN" sz="2000" dirty="0">
              <a:latin typeface="+mj-ea"/>
              <a:ea typeface="+mj-ea"/>
            </a:endParaRPr>
          </a:p>
          <a:p>
            <a:pPr>
              <a:lnSpc>
                <a:spcPct val="150000"/>
              </a:lnSpc>
              <a:spcBef>
                <a:spcPts val="0"/>
              </a:spcBef>
            </a:pPr>
            <a:r>
              <a:rPr lang="zh-CN" altLang="zh-CN" sz="2000" dirty="0">
                <a:latin typeface="+mj-ea"/>
                <a:ea typeface="+mj-ea"/>
              </a:rPr>
              <a:t>少用长句子，句型要求简单。部分语句与正文可能重合度较高，如背景、目标、主要结论、研究意义等，可以与正文中的表达保持一致，从正文中摘录。</a:t>
            </a:r>
          </a:p>
          <a:p>
            <a:endParaRPr lang="zh-CN" altLang="en-US" dirty="0"/>
          </a:p>
        </p:txBody>
      </p:sp>
      <p:sp>
        <p:nvSpPr>
          <p:cNvPr id="4" name="标题 1">
            <a:extLst>
              <a:ext uri="{FF2B5EF4-FFF2-40B4-BE49-F238E27FC236}">
                <a16:creationId xmlns:a16="http://schemas.microsoft.com/office/drawing/2014/main" id="{D863048A-5A0F-4FEE-9B8A-9B7D9B526951}"/>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摘要写作的常见问题</a:t>
            </a:r>
          </a:p>
        </p:txBody>
      </p:sp>
    </p:spTree>
    <p:extLst>
      <p:ext uri="{BB962C8B-B14F-4D97-AF65-F5344CB8AC3E}">
        <p14:creationId xmlns:p14="http://schemas.microsoft.com/office/powerpoint/2010/main" val="2950160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3ECA022-78DE-4EBD-91C8-C04D1DFF632D}"/>
              </a:ext>
            </a:extLst>
          </p:cNvPr>
          <p:cNvSpPr>
            <a:spLocks noGrp="1"/>
          </p:cNvSpPr>
          <p:nvPr>
            <p:ph idx="4294967295"/>
          </p:nvPr>
        </p:nvSpPr>
        <p:spPr>
          <a:xfrm>
            <a:off x="459178" y="1036320"/>
            <a:ext cx="11386457" cy="4741026"/>
          </a:xfrm>
        </p:spPr>
        <p:txBody>
          <a:bodyPr>
            <a:noAutofit/>
          </a:bodyPr>
          <a:lstStyle/>
          <a:p>
            <a:pPr marL="0" indent="0">
              <a:lnSpc>
                <a:spcPct val="150000"/>
              </a:lnSpc>
              <a:spcBef>
                <a:spcPts val="0"/>
              </a:spcBef>
              <a:buNone/>
            </a:pPr>
            <a:r>
              <a:rPr lang="en-US" altLang="zh-CN" sz="2000" b="1" dirty="0">
                <a:latin typeface="+mj-ea"/>
                <a:ea typeface="+mj-ea"/>
              </a:rPr>
              <a:t>4</a:t>
            </a:r>
            <a:r>
              <a:rPr lang="zh-CN" altLang="en-US" sz="2000" b="1" dirty="0">
                <a:latin typeface="+mj-ea"/>
                <a:ea typeface="+mj-ea"/>
              </a:rPr>
              <a:t>、</a:t>
            </a:r>
            <a:r>
              <a:rPr lang="zh-CN" altLang="zh-CN" sz="2000" b="1" dirty="0">
                <a:latin typeface="+mj-ea"/>
                <a:ea typeface="+mj-ea"/>
              </a:rPr>
              <a:t>其它问题</a:t>
            </a:r>
          </a:p>
          <a:p>
            <a:pPr>
              <a:lnSpc>
                <a:spcPct val="150000"/>
              </a:lnSpc>
              <a:spcBef>
                <a:spcPts val="0"/>
              </a:spcBef>
            </a:pPr>
            <a:r>
              <a:rPr lang="zh-CN" altLang="zh-CN" sz="2000" dirty="0">
                <a:latin typeface="+mj-ea"/>
                <a:ea typeface="+mj-ea"/>
              </a:rPr>
              <a:t>摘要不能用公司视角，而是研究视角。用第三人称，如“对</a:t>
            </a:r>
            <a:r>
              <a:rPr lang="en-US" altLang="zh-CN" sz="2000" dirty="0">
                <a:latin typeface="+mj-ea"/>
                <a:ea typeface="+mj-ea"/>
              </a:rPr>
              <a:t>XX</a:t>
            </a:r>
            <a:r>
              <a:rPr lang="zh-CN" altLang="zh-CN" sz="2000" dirty="0">
                <a:latin typeface="+mj-ea"/>
                <a:ea typeface="+mj-ea"/>
              </a:rPr>
              <a:t>进行了研究”、“进行了</a:t>
            </a:r>
            <a:r>
              <a:rPr lang="en-US" altLang="zh-CN" sz="2000" dirty="0">
                <a:latin typeface="+mj-ea"/>
                <a:ea typeface="+mj-ea"/>
              </a:rPr>
              <a:t>XX</a:t>
            </a:r>
            <a:r>
              <a:rPr lang="zh-CN" altLang="zh-CN" sz="2000" dirty="0">
                <a:latin typeface="+mj-ea"/>
                <a:ea typeface="+mj-ea"/>
              </a:rPr>
              <a:t>调查”等，不建议采用“本文”、“笔者”等作为主语。</a:t>
            </a:r>
          </a:p>
          <a:p>
            <a:pPr>
              <a:lnSpc>
                <a:spcPct val="150000"/>
              </a:lnSpc>
              <a:spcBef>
                <a:spcPts val="0"/>
              </a:spcBef>
            </a:pPr>
            <a:r>
              <a:rPr lang="zh-CN" altLang="zh-CN" sz="2000" dirty="0">
                <a:latin typeface="+mj-ea"/>
                <a:ea typeface="+mj-ea"/>
              </a:rPr>
              <a:t>采用过去式，即该研究已经完成，而非将来式。如不能用“本研究拟调研”，而是用“本研究调研了”。</a:t>
            </a:r>
          </a:p>
          <a:p>
            <a:pPr>
              <a:lnSpc>
                <a:spcPct val="150000"/>
              </a:lnSpc>
              <a:spcBef>
                <a:spcPts val="0"/>
              </a:spcBef>
            </a:pPr>
            <a:r>
              <a:rPr lang="zh-CN" altLang="zh-CN" sz="2000" dirty="0">
                <a:latin typeface="+mj-ea"/>
                <a:ea typeface="+mj-ea"/>
              </a:rPr>
              <a:t>避免写成全文的提纲，避免采用类似</a:t>
            </a:r>
            <a:r>
              <a:rPr lang="en-US" altLang="zh-CN" sz="2000" dirty="0">
                <a:latin typeface="+mj-ea"/>
                <a:ea typeface="+mj-ea"/>
              </a:rPr>
              <a:t>“</a:t>
            </a:r>
            <a:r>
              <a:rPr lang="zh-CN" altLang="zh-CN" sz="2000" dirty="0">
                <a:latin typeface="+mj-ea"/>
                <a:ea typeface="+mj-ea"/>
              </a:rPr>
              <a:t>第一章</a:t>
            </a:r>
            <a:r>
              <a:rPr lang="en-US" altLang="zh-CN" sz="2000" dirty="0">
                <a:latin typeface="+mj-ea"/>
                <a:ea typeface="+mj-ea"/>
              </a:rPr>
              <a:t>……</a:t>
            </a:r>
            <a:r>
              <a:rPr lang="zh-CN" altLang="zh-CN" sz="2000" dirty="0">
                <a:latin typeface="+mj-ea"/>
                <a:ea typeface="+mj-ea"/>
              </a:rPr>
              <a:t>、第二章</a:t>
            </a:r>
            <a:r>
              <a:rPr lang="en-US" altLang="zh-CN" sz="2000" dirty="0">
                <a:latin typeface="+mj-ea"/>
                <a:ea typeface="+mj-ea"/>
              </a:rPr>
              <a:t>……”</a:t>
            </a:r>
            <a:r>
              <a:rPr lang="zh-CN" altLang="zh-CN" sz="2000" dirty="0">
                <a:latin typeface="+mj-ea"/>
                <a:ea typeface="+mj-ea"/>
              </a:rPr>
              <a:t>等陈述方式。</a:t>
            </a:r>
          </a:p>
          <a:p>
            <a:pPr>
              <a:lnSpc>
                <a:spcPct val="150000"/>
              </a:lnSpc>
              <a:spcBef>
                <a:spcPts val="0"/>
              </a:spcBef>
            </a:pPr>
            <a:r>
              <a:rPr lang="zh-CN" altLang="zh-CN" sz="2000" dirty="0">
                <a:latin typeface="+mj-ea"/>
                <a:ea typeface="+mj-ea"/>
              </a:rPr>
              <a:t>专业名词方面的问题。如第一次出现的缩写要注明全称；不常见的专业名词可进行简要介绍等。</a:t>
            </a:r>
          </a:p>
          <a:p>
            <a:pPr>
              <a:lnSpc>
                <a:spcPct val="150000"/>
              </a:lnSpc>
              <a:spcBef>
                <a:spcPts val="0"/>
              </a:spcBef>
            </a:pPr>
            <a:r>
              <a:rPr lang="zh-CN" altLang="zh-CN" sz="2000" dirty="0">
                <a:latin typeface="+mj-ea"/>
                <a:ea typeface="+mj-ea"/>
              </a:rPr>
              <a:t>不能引用参考文献，不应出现图片、图表、表格或其他插图材料。</a:t>
            </a:r>
          </a:p>
          <a:p>
            <a:pPr>
              <a:lnSpc>
                <a:spcPct val="150000"/>
              </a:lnSpc>
              <a:spcBef>
                <a:spcPts val="0"/>
              </a:spcBef>
            </a:pPr>
            <a:r>
              <a:rPr lang="zh-CN" altLang="zh-CN" sz="2000" dirty="0">
                <a:latin typeface="+mj-ea"/>
                <a:ea typeface="+mj-ea"/>
              </a:rPr>
              <a:t>英文翻译问题。英文摘要的语法问题，英文摘要与中文摘要不对应等。</a:t>
            </a:r>
          </a:p>
          <a:p>
            <a:pPr>
              <a:lnSpc>
                <a:spcPct val="150000"/>
              </a:lnSpc>
              <a:spcBef>
                <a:spcPts val="0"/>
              </a:spcBef>
            </a:pPr>
            <a:r>
              <a:rPr lang="zh-CN" altLang="zh-CN" sz="2000" dirty="0">
                <a:latin typeface="+mj-ea"/>
                <a:ea typeface="+mj-ea"/>
              </a:rPr>
              <a:t>研究方案与结论的呈现可分开进行说明，避免混淆在一起。</a:t>
            </a:r>
          </a:p>
          <a:p>
            <a:pPr>
              <a:lnSpc>
                <a:spcPct val="150000"/>
              </a:lnSpc>
              <a:spcBef>
                <a:spcPts val="0"/>
              </a:spcBef>
            </a:pPr>
            <a:r>
              <a:rPr lang="zh-CN" altLang="zh-CN" sz="2000" dirty="0">
                <a:latin typeface="+mj-ea"/>
                <a:ea typeface="+mj-ea"/>
              </a:rPr>
              <a:t>除摘要外，关键词中常见问题有缺失、描述不准确等问题。</a:t>
            </a:r>
            <a:endParaRPr lang="zh-CN" altLang="en-US" dirty="0"/>
          </a:p>
        </p:txBody>
      </p:sp>
      <p:sp>
        <p:nvSpPr>
          <p:cNvPr id="4" name="标题 1">
            <a:extLst>
              <a:ext uri="{FF2B5EF4-FFF2-40B4-BE49-F238E27FC236}">
                <a16:creationId xmlns:a16="http://schemas.microsoft.com/office/drawing/2014/main" id="{D863048A-5A0F-4FEE-9B8A-9B7D9B526951}"/>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摘要写作的常见问题</a:t>
            </a:r>
          </a:p>
        </p:txBody>
      </p:sp>
    </p:spTree>
    <p:extLst>
      <p:ext uri="{BB962C8B-B14F-4D97-AF65-F5344CB8AC3E}">
        <p14:creationId xmlns:p14="http://schemas.microsoft.com/office/powerpoint/2010/main" val="1896971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F37E531-CD61-114E-A576-C5390F0434E1}"/>
              </a:ext>
            </a:extLst>
          </p:cNvPr>
          <p:cNvSpPr/>
          <p:nvPr/>
        </p:nvSpPr>
        <p:spPr>
          <a:xfrm>
            <a:off x="5694050" y="1285248"/>
            <a:ext cx="1489467"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问题研究</a:t>
            </a:r>
          </a:p>
        </p:txBody>
      </p:sp>
      <p:sp>
        <p:nvSpPr>
          <p:cNvPr id="5" name="矩形 4">
            <a:extLst>
              <a:ext uri="{FF2B5EF4-FFF2-40B4-BE49-F238E27FC236}">
                <a16:creationId xmlns:a16="http://schemas.microsoft.com/office/drawing/2014/main" id="{77D84FC8-5054-4346-9337-926F41DAF336}"/>
              </a:ext>
            </a:extLst>
          </p:cNvPr>
          <p:cNvSpPr/>
          <p:nvPr/>
        </p:nvSpPr>
        <p:spPr>
          <a:xfrm>
            <a:off x="5550367" y="2424249"/>
            <a:ext cx="1773538"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解决方案设计</a:t>
            </a:r>
          </a:p>
        </p:txBody>
      </p:sp>
      <p:sp>
        <p:nvSpPr>
          <p:cNvPr id="6" name="矩形 5">
            <a:extLst>
              <a:ext uri="{FF2B5EF4-FFF2-40B4-BE49-F238E27FC236}">
                <a16:creationId xmlns:a16="http://schemas.microsoft.com/office/drawing/2014/main" id="{9633420D-3CA7-8E4E-A8A9-93D2816433AF}"/>
              </a:ext>
            </a:extLst>
          </p:cNvPr>
          <p:cNvSpPr/>
          <p:nvPr/>
        </p:nvSpPr>
        <p:spPr>
          <a:xfrm>
            <a:off x="5642851" y="3451861"/>
            <a:ext cx="1591866"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解决方案评估</a:t>
            </a:r>
          </a:p>
        </p:txBody>
      </p:sp>
      <p:cxnSp>
        <p:nvCxnSpPr>
          <p:cNvPr id="8" name="直线箭头连接符 7">
            <a:extLst>
              <a:ext uri="{FF2B5EF4-FFF2-40B4-BE49-F238E27FC236}">
                <a16:creationId xmlns:a16="http://schemas.microsoft.com/office/drawing/2014/main" id="{642E8C22-1CAB-004C-859A-8684BC019F9F}"/>
              </a:ext>
            </a:extLst>
          </p:cNvPr>
          <p:cNvCxnSpPr>
            <a:cxnSpLocks/>
            <a:stCxn id="4" idx="2"/>
            <a:endCxn id="5" idx="0"/>
          </p:cNvCxnSpPr>
          <p:nvPr/>
        </p:nvCxnSpPr>
        <p:spPr>
          <a:xfrm flipH="1">
            <a:off x="6437136" y="1761516"/>
            <a:ext cx="1648" cy="662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9">
            <a:extLst>
              <a:ext uri="{FF2B5EF4-FFF2-40B4-BE49-F238E27FC236}">
                <a16:creationId xmlns:a16="http://schemas.microsoft.com/office/drawing/2014/main" id="{97C019E3-6C85-0A4E-89F2-CD0437CE4C9C}"/>
              </a:ext>
            </a:extLst>
          </p:cNvPr>
          <p:cNvCxnSpPr>
            <a:cxnSpLocks/>
            <a:stCxn id="5" idx="2"/>
            <a:endCxn id="6" idx="0"/>
          </p:cNvCxnSpPr>
          <p:nvPr/>
        </p:nvCxnSpPr>
        <p:spPr>
          <a:xfrm>
            <a:off x="6437136" y="2900517"/>
            <a:ext cx="1648" cy="551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左大括号 10">
            <a:extLst>
              <a:ext uri="{FF2B5EF4-FFF2-40B4-BE49-F238E27FC236}">
                <a16:creationId xmlns:a16="http://schemas.microsoft.com/office/drawing/2014/main" id="{E6DEFF0F-FF6A-BC46-925E-006B1BF78C81}"/>
              </a:ext>
            </a:extLst>
          </p:cNvPr>
          <p:cNvSpPr/>
          <p:nvPr/>
        </p:nvSpPr>
        <p:spPr>
          <a:xfrm>
            <a:off x="7234717" y="1109254"/>
            <a:ext cx="230771" cy="86214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E58266BD-6413-A446-AFAE-19AD5598D7D9}"/>
              </a:ext>
            </a:extLst>
          </p:cNvPr>
          <p:cNvSpPr/>
          <p:nvPr/>
        </p:nvSpPr>
        <p:spPr>
          <a:xfrm>
            <a:off x="7393706" y="881706"/>
            <a:ext cx="3152946" cy="476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1</a:t>
            </a:r>
            <a:r>
              <a:rPr kumimoji="1" lang="zh-CN" altLang="en-US" dirty="0">
                <a:solidFill>
                  <a:schemeClr val="tx1"/>
                </a:solidFill>
              </a:rPr>
              <a:t>、确定的问题</a:t>
            </a:r>
            <a:r>
              <a:rPr kumimoji="1" lang="en-US" altLang="zh-CN" dirty="0">
                <a:solidFill>
                  <a:schemeClr val="tx1"/>
                </a:solidFill>
                <a:sym typeface="Wingdings" pitchFamily="2" charset="2"/>
              </a:rPr>
              <a:t></a:t>
            </a:r>
            <a:r>
              <a:rPr kumimoji="1" lang="zh-CN" altLang="en-US" dirty="0">
                <a:solidFill>
                  <a:schemeClr val="tx1"/>
                </a:solidFill>
                <a:sym typeface="Wingdings" pitchFamily="2" charset="2"/>
              </a:rPr>
              <a:t>融入绪论中</a:t>
            </a:r>
            <a:endParaRPr kumimoji="1" lang="zh-CN" altLang="en-US" dirty="0">
              <a:solidFill>
                <a:schemeClr val="tx1"/>
              </a:solidFill>
            </a:endParaRPr>
          </a:p>
        </p:txBody>
      </p:sp>
      <p:sp>
        <p:nvSpPr>
          <p:cNvPr id="13" name="矩形 12">
            <a:extLst>
              <a:ext uri="{FF2B5EF4-FFF2-40B4-BE49-F238E27FC236}">
                <a16:creationId xmlns:a16="http://schemas.microsoft.com/office/drawing/2014/main" id="{7C905930-422A-9D4A-B10A-DADEF025E3B0}"/>
              </a:ext>
            </a:extLst>
          </p:cNvPr>
          <p:cNvSpPr/>
          <p:nvPr/>
        </p:nvSpPr>
        <p:spPr>
          <a:xfrm>
            <a:off x="7350102" y="1649713"/>
            <a:ext cx="3152947" cy="476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2</a:t>
            </a:r>
            <a:r>
              <a:rPr kumimoji="1" lang="zh-CN" altLang="en-US" dirty="0">
                <a:solidFill>
                  <a:schemeClr val="tx1"/>
                </a:solidFill>
              </a:rPr>
              <a:t>、待研究的问题</a:t>
            </a:r>
            <a:r>
              <a:rPr kumimoji="1" lang="en-US" altLang="zh-CN" dirty="0">
                <a:solidFill>
                  <a:schemeClr val="tx1"/>
                </a:solidFill>
                <a:sym typeface="Wingdings" pitchFamily="2" charset="2"/>
              </a:rPr>
              <a:t></a:t>
            </a:r>
            <a:r>
              <a:rPr kumimoji="1" lang="zh-CN" altLang="en-US" dirty="0">
                <a:solidFill>
                  <a:schemeClr val="tx1"/>
                </a:solidFill>
                <a:sym typeface="Wingdings" pitchFamily="2" charset="2"/>
              </a:rPr>
              <a:t>单独成章</a:t>
            </a:r>
            <a:endParaRPr kumimoji="1" lang="zh-CN" altLang="en-US" dirty="0">
              <a:solidFill>
                <a:schemeClr val="tx1"/>
              </a:solidFill>
            </a:endParaRPr>
          </a:p>
        </p:txBody>
      </p:sp>
      <p:sp>
        <p:nvSpPr>
          <p:cNvPr id="16" name="矩形 15">
            <a:extLst>
              <a:ext uri="{FF2B5EF4-FFF2-40B4-BE49-F238E27FC236}">
                <a16:creationId xmlns:a16="http://schemas.microsoft.com/office/drawing/2014/main" id="{71FF1F4A-6089-9443-8791-2BB07917B8B6}"/>
              </a:ext>
            </a:extLst>
          </p:cNvPr>
          <p:cNvSpPr/>
          <p:nvPr/>
        </p:nvSpPr>
        <p:spPr>
          <a:xfrm>
            <a:off x="3793357" y="2439781"/>
            <a:ext cx="1269360" cy="476268"/>
          </a:xfrm>
          <a:prstGeom prst="rect">
            <a:avLst/>
          </a:prstGeom>
          <a:solidFill>
            <a:schemeClr val="accent4">
              <a:lumMod val="20000"/>
              <a:lumOff val="8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设计假设</a:t>
            </a:r>
          </a:p>
        </p:txBody>
      </p:sp>
      <p:sp>
        <p:nvSpPr>
          <p:cNvPr id="17" name="矩形 16">
            <a:extLst>
              <a:ext uri="{FF2B5EF4-FFF2-40B4-BE49-F238E27FC236}">
                <a16:creationId xmlns:a16="http://schemas.microsoft.com/office/drawing/2014/main" id="{04CA986D-7B01-7D4D-8E33-580B8E7EC7E0}"/>
              </a:ext>
            </a:extLst>
          </p:cNvPr>
          <p:cNvSpPr/>
          <p:nvPr/>
        </p:nvSpPr>
        <p:spPr>
          <a:xfrm>
            <a:off x="1677578" y="2424249"/>
            <a:ext cx="1377749" cy="476268"/>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新解决方案</a:t>
            </a:r>
          </a:p>
        </p:txBody>
      </p:sp>
      <p:sp>
        <p:nvSpPr>
          <p:cNvPr id="21" name="矩形 20">
            <a:extLst>
              <a:ext uri="{FF2B5EF4-FFF2-40B4-BE49-F238E27FC236}">
                <a16:creationId xmlns:a16="http://schemas.microsoft.com/office/drawing/2014/main" id="{2A387D76-5F35-4240-B218-E233E0ECD3E9}"/>
              </a:ext>
            </a:extLst>
          </p:cNvPr>
          <p:cNvSpPr/>
          <p:nvPr/>
        </p:nvSpPr>
        <p:spPr>
          <a:xfrm>
            <a:off x="2593606" y="1285248"/>
            <a:ext cx="1690916" cy="476268"/>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已有解决方案</a:t>
            </a:r>
          </a:p>
        </p:txBody>
      </p:sp>
      <p:cxnSp>
        <p:nvCxnSpPr>
          <p:cNvPr id="23" name="直线箭头连接符 22">
            <a:extLst>
              <a:ext uri="{FF2B5EF4-FFF2-40B4-BE49-F238E27FC236}">
                <a16:creationId xmlns:a16="http://schemas.microsoft.com/office/drawing/2014/main" id="{42194119-E83A-8048-8DFA-650C2E9623B1}"/>
              </a:ext>
            </a:extLst>
          </p:cNvPr>
          <p:cNvCxnSpPr>
            <a:stCxn id="21" idx="3"/>
            <a:endCxn id="4" idx="1"/>
          </p:cNvCxnSpPr>
          <p:nvPr/>
        </p:nvCxnSpPr>
        <p:spPr>
          <a:xfrm>
            <a:off x="4284522" y="1523382"/>
            <a:ext cx="14095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F15B988B-0E09-4741-87C2-0F8455279EAD}"/>
              </a:ext>
            </a:extLst>
          </p:cNvPr>
          <p:cNvCxnSpPr>
            <a:stCxn id="21" idx="2"/>
            <a:endCxn id="16" idx="0"/>
          </p:cNvCxnSpPr>
          <p:nvPr/>
        </p:nvCxnSpPr>
        <p:spPr>
          <a:xfrm>
            <a:off x="3439064" y="1761516"/>
            <a:ext cx="988973" cy="678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A8CA783C-3BE6-1A44-8DD3-CA45BFEC6057}"/>
              </a:ext>
            </a:extLst>
          </p:cNvPr>
          <p:cNvCxnSpPr>
            <a:stCxn id="21" idx="2"/>
            <a:endCxn id="17" idx="0"/>
          </p:cNvCxnSpPr>
          <p:nvPr/>
        </p:nvCxnSpPr>
        <p:spPr>
          <a:xfrm flipH="1">
            <a:off x="2366453" y="1761516"/>
            <a:ext cx="1072611" cy="662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7">
            <a:extLst>
              <a:ext uri="{FF2B5EF4-FFF2-40B4-BE49-F238E27FC236}">
                <a16:creationId xmlns:a16="http://schemas.microsoft.com/office/drawing/2014/main" id="{02A0092D-B907-484D-AFF2-D2058E0165DF}"/>
              </a:ext>
            </a:extLst>
          </p:cNvPr>
          <p:cNvCxnSpPr>
            <a:stCxn id="4" idx="2"/>
            <a:endCxn id="16" idx="0"/>
          </p:cNvCxnSpPr>
          <p:nvPr/>
        </p:nvCxnSpPr>
        <p:spPr>
          <a:xfrm flipH="1">
            <a:off x="4428037" y="1761516"/>
            <a:ext cx="2010747" cy="678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39">
            <a:extLst>
              <a:ext uri="{FF2B5EF4-FFF2-40B4-BE49-F238E27FC236}">
                <a16:creationId xmlns:a16="http://schemas.microsoft.com/office/drawing/2014/main" id="{AAB3CFDA-ACE6-0F45-8292-DA6169FC4CEC}"/>
              </a:ext>
            </a:extLst>
          </p:cNvPr>
          <p:cNvCxnSpPr>
            <a:stCxn id="16" idx="1"/>
            <a:endCxn id="17" idx="3"/>
          </p:cNvCxnSpPr>
          <p:nvPr/>
        </p:nvCxnSpPr>
        <p:spPr>
          <a:xfrm flipH="1" flipV="1">
            <a:off x="3055327" y="2662383"/>
            <a:ext cx="738030" cy="15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ACD365F9-03AC-514B-8E69-671D5DFAE10A}"/>
              </a:ext>
            </a:extLst>
          </p:cNvPr>
          <p:cNvSpPr/>
          <p:nvPr/>
        </p:nvSpPr>
        <p:spPr>
          <a:xfrm>
            <a:off x="2506313" y="3465543"/>
            <a:ext cx="1690916" cy="4762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解决方案评估</a:t>
            </a:r>
          </a:p>
        </p:txBody>
      </p:sp>
      <p:cxnSp>
        <p:nvCxnSpPr>
          <p:cNvPr id="45" name="直线箭头连接符 44">
            <a:extLst>
              <a:ext uri="{FF2B5EF4-FFF2-40B4-BE49-F238E27FC236}">
                <a16:creationId xmlns:a16="http://schemas.microsoft.com/office/drawing/2014/main" id="{76EC360C-BDD7-6041-A8A3-481847539DC7}"/>
              </a:ext>
            </a:extLst>
          </p:cNvPr>
          <p:cNvCxnSpPr>
            <a:stCxn id="17" idx="2"/>
            <a:endCxn id="43" idx="0"/>
          </p:cNvCxnSpPr>
          <p:nvPr/>
        </p:nvCxnSpPr>
        <p:spPr>
          <a:xfrm>
            <a:off x="2366453" y="2900517"/>
            <a:ext cx="985318" cy="565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633060C2-5847-D148-9C69-53F706C99F7C}"/>
              </a:ext>
            </a:extLst>
          </p:cNvPr>
          <p:cNvCxnSpPr>
            <a:stCxn id="16" idx="2"/>
            <a:endCxn id="43" idx="0"/>
          </p:cNvCxnSpPr>
          <p:nvPr/>
        </p:nvCxnSpPr>
        <p:spPr>
          <a:xfrm flipH="1">
            <a:off x="3351771" y="2916049"/>
            <a:ext cx="1076266" cy="5494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B8880388-9443-0446-9EA2-1979CEB12C4C}"/>
              </a:ext>
            </a:extLst>
          </p:cNvPr>
          <p:cNvSpPr txBox="1"/>
          <p:nvPr/>
        </p:nvSpPr>
        <p:spPr>
          <a:xfrm>
            <a:off x="7465489" y="2444031"/>
            <a:ext cx="1773538" cy="369332"/>
          </a:xfrm>
          <a:prstGeom prst="rect">
            <a:avLst/>
          </a:prstGeom>
          <a:noFill/>
        </p:spPr>
        <p:txBody>
          <a:bodyPr wrap="square">
            <a:spAutoFit/>
          </a:bodyPr>
          <a:lstStyle/>
          <a:p>
            <a:r>
              <a:rPr kumimoji="1" lang="en-US" altLang="zh-CN" dirty="0">
                <a:solidFill>
                  <a:schemeClr val="tx1"/>
                </a:solidFill>
                <a:sym typeface="Wingdings" pitchFamily="2" charset="2"/>
              </a:rPr>
              <a:t></a:t>
            </a:r>
            <a:r>
              <a:rPr kumimoji="1" lang="zh-CN" altLang="en-US" dirty="0">
                <a:solidFill>
                  <a:schemeClr val="tx1"/>
                </a:solidFill>
                <a:sym typeface="Wingdings" pitchFamily="2" charset="2"/>
              </a:rPr>
              <a:t>单独成章</a:t>
            </a:r>
            <a:endParaRPr lang="zh-CN" altLang="en-US" dirty="0"/>
          </a:p>
        </p:txBody>
      </p:sp>
      <p:sp>
        <p:nvSpPr>
          <p:cNvPr id="53" name="文本框 52">
            <a:extLst>
              <a:ext uri="{FF2B5EF4-FFF2-40B4-BE49-F238E27FC236}">
                <a16:creationId xmlns:a16="http://schemas.microsoft.com/office/drawing/2014/main" id="{26CBBA0A-F04B-6F44-A235-835CD2528288}"/>
              </a:ext>
            </a:extLst>
          </p:cNvPr>
          <p:cNvSpPr txBox="1"/>
          <p:nvPr/>
        </p:nvSpPr>
        <p:spPr>
          <a:xfrm>
            <a:off x="7393706" y="3459403"/>
            <a:ext cx="1773538" cy="369332"/>
          </a:xfrm>
          <a:prstGeom prst="rect">
            <a:avLst/>
          </a:prstGeom>
          <a:noFill/>
        </p:spPr>
        <p:txBody>
          <a:bodyPr wrap="square">
            <a:spAutoFit/>
          </a:bodyPr>
          <a:lstStyle/>
          <a:p>
            <a:r>
              <a:rPr kumimoji="1" lang="en-US" altLang="zh-CN" dirty="0">
                <a:solidFill>
                  <a:schemeClr val="tx1"/>
                </a:solidFill>
                <a:sym typeface="Wingdings" pitchFamily="2" charset="2"/>
              </a:rPr>
              <a:t></a:t>
            </a:r>
            <a:r>
              <a:rPr kumimoji="1" lang="zh-CN" altLang="en-US" dirty="0">
                <a:solidFill>
                  <a:schemeClr val="tx1"/>
                </a:solidFill>
                <a:sym typeface="Wingdings" pitchFamily="2" charset="2"/>
              </a:rPr>
              <a:t>单独成章</a:t>
            </a:r>
            <a:endParaRPr lang="zh-CN" altLang="en-US" dirty="0"/>
          </a:p>
        </p:txBody>
      </p:sp>
      <p:sp>
        <p:nvSpPr>
          <p:cNvPr id="54" name="矩形 53">
            <a:extLst>
              <a:ext uri="{FF2B5EF4-FFF2-40B4-BE49-F238E27FC236}">
                <a16:creationId xmlns:a16="http://schemas.microsoft.com/office/drawing/2014/main" id="{1F6BD8B3-1894-9543-82E7-3B73C9058844}"/>
              </a:ext>
            </a:extLst>
          </p:cNvPr>
          <p:cNvSpPr/>
          <p:nvPr/>
        </p:nvSpPr>
        <p:spPr>
          <a:xfrm>
            <a:off x="160713" y="3976808"/>
            <a:ext cx="11870573" cy="279031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zh-CN" altLang="en-US" dirty="0">
                <a:solidFill>
                  <a:schemeClr val="tx1"/>
                </a:solidFill>
                <a:latin typeface="+mj-ea"/>
                <a:ea typeface="+mj-ea"/>
              </a:rPr>
              <a:t>绪论和结论两章的结构相对固定</a:t>
            </a:r>
          </a:p>
          <a:p>
            <a:pPr>
              <a:lnSpc>
                <a:spcPct val="150000"/>
              </a:lnSpc>
            </a:pPr>
            <a:r>
              <a:rPr kumimoji="1" lang="zh-CN" altLang="en-US" dirty="0">
                <a:solidFill>
                  <a:schemeClr val="tx1"/>
                </a:solidFill>
                <a:latin typeface="+mj-ea"/>
                <a:ea typeface="+mj-ea"/>
              </a:rPr>
              <a:t>文献综述章节包括：</a:t>
            </a:r>
            <a:endParaRPr kumimoji="1" lang="en-US" altLang="zh-CN" dirty="0">
              <a:solidFill>
                <a:schemeClr val="tx1"/>
              </a:solidFill>
              <a:latin typeface="+mj-ea"/>
              <a:ea typeface="+mj-ea"/>
            </a:endParaRPr>
          </a:p>
          <a:p>
            <a:pPr marL="285750" indent="-285750">
              <a:lnSpc>
                <a:spcPct val="150000"/>
              </a:lnSpc>
              <a:buFont typeface="Arial" panose="020B0604020202020204" pitchFamily="34" charset="0"/>
              <a:buChar char="•"/>
            </a:pPr>
            <a:r>
              <a:rPr kumimoji="1" lang="zh-CN" altLang="en-US" dirty="0">
                <a:solidFill>
                  <a:schemeClr val="tx1"/>
                </a:solidFill>
                <a:latin typeface="+mj-ea"/>
                <a:ea typeface="+mj-ea"/>
              </a:rPr>
              <a:t>已有解决方案：以识别问题为目的，介绍已有的解决方案类型和存在的不足</a:t>
            </a:r>
            <a:endParaRPr kumimoji="1" lang="en-US" altLang="zh-CN" dirty="0">
              <a:solidFill>
                <a:schemeClr val="tx1"/>
              </a:solidFill>
              <a:latin typeface="+mj-ea"/>
              <a:ea typeface="+mj-ea"/>
            </a:endParaRPr>
          </a:p>
          <a:p>
            <a:pPr marL="285750" indent="-285750">
              <a:lnSpc>
                <a:spcPct val="150000"/>
              </a:lnSpc>
              <a:buFont typeface="Arial" panose="020B0604020202020204" pitchFamily="34" charset="0"/>
              <a:buChar char="•"/>
            </a:pPr>
            <a:r>
              <a:rPr kumimoji="1" lang="zh-CN" altLang="en-US" dirty="0">
                <a:solidFill>
                  <a:schemeClr val="tx1"/>
                </a:solidFill>
                <a:latin typeface="+mj-ea"/>
                <a:ea typeface="+mj-ea"/>
              </a:rPr>
              <a:t>设计假设：以有效解决问题研究中所识别的问题，需要介绍关键概念、拟采用的理论和方法</a:t>
            </a:r>
            <a:endParaRPr kumimoji="1" lang="en-US" altLang="zh-CN" dirty="0">
              <a:solidFill>
                <a:schemeClr val="tx1"/>
              </a:solidFill>
              <a:latin typeface="+mj-ea"/>
              <a:ea typeface="+mj-ea"/>
            </a:endParaRPr>
          </a:p>
          <a:p>
            <a:pPr>
              <a:lnSpc>
                <a:spcPct val="150000"/>
              </a:lnSpc>
            </a:pPr>
            <a:r>
              <a:rPr kumimoji="1" lang="zh-CN" altLang="en-US" dirty="0">
                <a:solidFill>
                  <a:schemeClr val="tx1"/>
                </a:solidFill>
                <a:latin typeface="+mj-ea"/>
                <a:ea typeface="+mj-ea"/>
              </a:rPr>
              <a:t>问题研究：取决于问题是否确定</a:t>
            </a:r>
            <a:endParaRPr kumimoji="1" lang="en-US" altLang="zh-CN" dirty="0">
              <a:solidFill>
                <a:schemeClr val="tx1"/>
              </a:solidFill>
              <a:latin typeface="+mj-ea"/>
              <a:ea typeface="+mj-ea"/>
            </a:endParaRPr>
          </a:p>
          <a:p>
            <a:pPr>
              <a:lnSpc>
                <a:spcPct val="150000"/>
              </a:lnSpc>
            </a:pPr>
            <a:r>
              <a:rPr kumimoji="1" lang="zh-CN" altLang="en-US" dirty="0">
                <a:solidFill>
                  <a:schemeClr val="tx1"/>
                </a:solidFill>
                <a:latin typeface="+mj-ea"/>
                <a:ea typeface="+mj-ea"/>
              </a:rPr>
              <a:t>解决方案设计：单独成章</a:t>
            </a:r>
            <a:endParaRPr kumimoji="1" lang="en-US" altLang="zh-CN" dirty="0">
              <a:solidFill>
                <a:schemeClr val="tx1"/>
              </a:solidFill>
              <a:latin typeface="+mj-ea"/>
              <a:ea typeface="+mj-ea"/>
            </a:endParaRPr>
          </a:p>
          <a:p>
            <a:pPr>
              <a:lnSpc>
                <a:spcPct val="150000"/>
              </a:lnSpc>
            </a:pPr>
            <a:r>
              <a:rPr kumimoji="1" lang="zh-CN" altLang="en-US" dirty="0">
                <a:solidFill>
                  <a:schemeClr val="tx1"/>
                </a:solidFill>
                <a:latin typeface="+mj-ea"/>
                <a:ea typeface="+mj-ea"/>
              </a:rPr>
              <a:t>解决方案评估：单独成章</a:t>
            </a:r>
            <a:endParaRPr kumimoji="1" lang="en-US" altLang="zh-CN" dirty="0">
              <a:solidFill>
                <a:schemeClr val="tx1"/>
              </a:solidFill>
              <a:latin typeface="+mj-ea"/>
              <a:ea typeface="+mj-ea"/>
            </a:endParaRPr>
          </a:p>
        </p:txBody>
      </p:sp>
      <p:sp>
        <p:nvSpPr>
          <p:cNvPr id="29" name="文本框 28">
            <a:extLst>
              <a:ext uri="{FF2B5EF4-FFF2-40B4-BE49-F238E27FC236}">
                <a16:creationId xmlns:a16="http://schemas.microsoft.com/office/drawing/2014/main" id="{76065785-CEBB-40BA-B1CF-AAFD8351CDD0}"/>
              </a:ext>
            </a:extLst>
          </p:cNvPr>
          <p:cNvSpPr txBox="1"/>
          <p:nvPr/>
        </p:nvSpPr>
        <p:spPr>
          <a:xfrm>
            <a:off x="4456476" y="1109254"/>
            <a:ext cx="1065620" cy="338554"/>
          </a:xfrm>
          <a:prstGeom prst="rect">
            <a:avLst/>
          </a:prstGeom>
          <a:noFill/>
        </p:spPr>
        <p:txBody>
          <a:bodyPr wrap="square" rtlCol="0">
            <a:spAutoFit/>
          </a:bodyPr>
          <a:lstStyle/>
          <a:p>
            <a:r>
              <a:rPr lang="zh-CN" altLang="en-US" sz="1600" dirty="0"/>
              <a:t>识别问题</a:t>
            </a:r>
          </a:p>
        </p:txBody>
      </p:sp>
      <p:sp>
        <p:nvSpPr>
          <p:cNvPr id="25" name="标题 1">
            <a:extLst>
              <a:ext uri="{FF2B5EF4-FFF2-40B4-BE49-F238E27FC236}">
                <a16:creationId xmlns:a16="http://schemas.microsoft.com/office/drawing/2014/main" id="{664191A3-A13E-42DE-8D8F-6261AC627A8B}"/>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a:t>
            </a:r>
          </a:p>
        </p:txBody>
      </p:sp>
    </p:spTree>
    <p:extLst>
      <p:ext uri="{BB962C8B-B14F-4D97-AF65-F5344CB8AC3E}">
        <p14:creationId xmlns:p14="http://schemas.microsoft.com/office/powerpoint/2010/main" val="460815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6799925-E16B-0B42-A4E5-6BDD6BCCADBE}"/>
              </a:ext>
            </a:extLst>
          </p:cNvPr>
          <p:cNvSpPr/>
          <p:nvPr/>
        </p:nvSpPr>
        <p:spPr>
          <a:xfrm>
            <a:off x="1627068" y="1526708"/>
            <a:ext cx="1489467"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绪论</a:t>
            </a:r>
          </a:p>
        </p:txBody>
      </p:sp>
      <p:sp>
        <p:nvSpPr>
          <p:cNvPr id="5" name="矩形 4">
            <a:extLst>
              <a:ext uri="{FF2B5EF4-FFF2-40B4-BE49-F238E27FC236}">
                <a16:creationId xmlns:a16="http://schemas.microsoft.com/office/drawing/2014/main" id="{6DAB4D2B-921E-5547-A4FE-0F8D6D1363EE}"/>
              </a:ext>
            </a:extLst>
          </p:cNvPr>
          <p:cNvSpPr/>
          <p:nvPr/>
        </p:nvSpPr>
        <p:spPr>
          <a:xfrm>
            <a:off x="1575868" y="2256140"/>
            <a:ext cx="1591866"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文献综述</a:t>
            </a:r>
          </a:p>
        </p:txBody>
      </p:sp>
      <p:sp>
        <p:nvSpPr>
          <p:cNvPr id="6" name="矩形 5">
            <a:extLst>
              <a:ext uri="{FF2B5EF4-FFF2-40B4-BE49-F238E27FC236}">
                <a16:creationId xmlns:a16="http://schemas.microsoft.com/office/drawing/2014/main" id="{7773D50D-C285-B44F-80ED-2E99351F2179}"/>
              </a:ext>
            </a:extLst>
          </p:cNvPr>
          <p:cNvSpPr/>
          <p:nvPr/>
        </p:nvSpPr>
        <p:spPr>
          <a:xfrm>
            <a:off x="1575869" y="3026849"/>
            <a:ext cx="1591866"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问题研究</a:t>
            </a:r>
          </a:p>
        </p:txBody>
      </p:sp>
      <p:cxnSp>
        <p:nvCxnSpPr>
          <p:cNvPr id="7" name="直线箭头连接符 6">
            <a:extLst>
              <a:ext uri="{FF2B5EF4-FFF2-40B4-BE49-F238E27FC236}">
                <a16:creationId xmlns:a16="http://schemas.microsoft.com/office/drawing/2014/main" id="{5ADD8D25-EA29-AB46-A1E5-7833B3D64F46}"/>
              </a:ext>
            </a:extLst>
          </p:cNvPr>
          <p:cNvCxnSpPr>
            <a:cxnSpLocks/>
            <a:stCxn id="4" idx="2"/>
            <a:endCxn id="5" idx="0"/>
          </p:cNvCxnSpPr>
          <p:nvPr/>
        </p:nvCxnSpPr>
        <p:spPr>
          <a:xfrm flipH="1">
            <a:off x="2371801" y="2002976"/>
            <a:ext cx="1" cy="253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DC38628C-D81F-D041-A1BE-01698740AA1C}"/>
              </a:ext>
            </a:extLst>
          </p:cNvPr>
          <p:cNvCxnSpPr>
            <a:cxnSpLocks/>
            <a:stCxn id="5" idx="2"/>
            <a:endCxn id="6" idx="0"/>
          </p:cNvCxnSpPr>
          <p:nvPr/>
        </p:nvCxnSpPr>
        <p:spPr>
          <a:xfrm>
            <a:off x="2371801" y="2732408"/>
            <a:ext cx="1" cy="294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5B672A1-F68E-7D47-B4C5-886AAB3C1787}"/>
              </a:ext>
            </a:extLst>
          </p:cNvPr>
          <p:cNvSpPr/>
          <p:nvPr/>
        </p:nvSpPr>
        <p:spPr>
          <a:xfrm>
            <a:off x="1564635" y="3833587"/>
            <a:ext cx="1591866"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解决方案设计</a:t>
            </a:r>
          </a:p>
        </p:txBody>
      </p:sp>
      <p:cxnSp>
        <p:nvCxnSpPr>
          <p:cNvPr id="11" name="直线箭头连接符 10">
            <a:extLst>
              <a:ext uri="{FF2B5EF4-FFF2-40B4-BE49-F238E27FC236}">
                <a16:creationId xmlns:a16="http://schemas.microsoft.com/office/drawing/2014/main" id="{CF1DDD34-8841-9E4A-B554-C29EB6555231}"/>
              </a:ext>
            </a:extLst>
          </p:cNvPr>
          <p:cNvCxnSpPr>
            <a:cxnSpLocks/>
          </p:cNvCxnSpPr>
          <p:nvPr/>
        </p:nvCxnSpPr>
        <p:spPr>
          <a:xfrm>
            <a:off x="2360568" y="3503117"/>
            <a:ext cx="0" cy="316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364FFEC9-8053-2E47-A7D5-C8AEA5E58723}"/>
              </a:ext>
            </a:extLst>
          </p:cNvPr>
          <p:cNvSpPr/>
          <p:nvPr/>
        </p:nvSpPr>
        <p:spPr>
          <a:xfrm>
            <a:off x="1524669" y="4660533"/>
            <a:ext cx="1591866"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解决方案评估</a:t>
            </a:r>
          </a:p>
        </p:txBody>
      </p:sp>
      <p:cxnSp>
        <p:nvCxnSpPr>
          <p:cNvPr id="13" name="直线箭头连接符 12">
            <a:extLst>
              <a:ext uri="{FF2B5EF4-FFF2-40B4-BE49-F238E27FC236}">
                <a16:creationId xmlns:a16="http://schemas.microsoft.com/office/drawing/2014/main" id="{F0FD7FF0-30DB-194A-83BD-43D7B953D803}"/>
              </a:ext>
            </a:extLst>
          </p:cNvPr>
          <p:cNvCxnSpPr>
            <a:cxnSpLocks/>
          </p:cNvCxnSpPr>
          <p:nvPr/>
        </p:nvCxnSpPr>
        <p:spPr>
          <a:xfrm>
            <a:off x="2332229" y="4309855"/>
            <a:ext cx="0" cy="330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2838903F-579C-D34D-ADF0-C3EF1184B8A5}"/>
              </a:ext>
            </a:extLst>
          </p:cNvPr>
          <p:cNvSpPr/>
          <p:nvPr/>
        </p:nvSpPr>
        <p:spPr>
          <a:xfrm>
            <a:off x="1524669" y="5483340"/>
            <a:ext cx="1591866" cy="476268"/>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结论</a:t>
            </a:r>
          </a:p>
        </p:txBody>
      </p:sp>
      <p:cxnSp>
        <p:nvCxnSpPr>
          <p:cNvPr id="15" name="直线箭头连接符 14">
            <a:extLst>
              <a:ext uri="{FF2B5EF4-FFF2-40B4-BE49-F238E27FC236}">
                <a16:creationId xmlns:a16="http://schemas.microsoft.com/office/drawing/2014/main" id="{A8D98058-EEB9-3D4F-9293-B2E3A773AB9F}"/>
              </a:ext>
            </a:extLst>
          </p:cNvPr>
          <p:cNvCxnSpPr>
            <a:cxnSpLocks/>
            <a:stCxn id="12" idx="2"/>
            <a:endCxn id="14" idx="0"/>
          </p:cNvCxnSpPr>
          <p:nvPr/>
        </p:nvCxnSpPr>
        <p:spPr>
          <a:xfrm>
            <a:off x="2320602" y="5136801"/>
            <a:ext cx="0" cy="346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标题 1">
            <a:extLst>
              <a:ext uri="{FF2B5EF4-FFF2-40B4-BE49-F238E27FC236}">
                <a16:creationId xmlns:a16="http://schemas.microsoft.com/office/drawing/2014/main" id="{E39044B1-A529-4544-AA65-206FA31FA5B7}"/>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a:t>
            </a:r>
          </a:p>
        </p:txBody>
      </p:sp>
      <p:sp>
        <p:nvSpPr>
          <p:cNvPr id="17" name="矩形 16">
            <a:extLst>
              <a:ext uri="{FF2B5EF4-FFF2-40B4-BE49-F238E27FC236}">
                <a16:creationId xmlns:a16="http://schemas.microsoft.com/office/drawing/2014/main" id="{4467E61C-06EB-4EBF-A0D2-4B0B77F74156}"/>
              </a:ext>
            </a:extLst>
          </p:cNvPr>
          <p:cNvSpPr/>
          <p:nvPr/>
        </p:nvSpPr>
        <p:spPr>
          <a:xfrm>
            <a:off x="5167538" y="4640325"/>
            <a:ext cx="1127307" cy="476268"/>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研究问题</a:t>
            </a:r>
          </a:p>
        </p:txBody>
      </p:sp>
      <p:sp>
        <p:nvSpPr>
          <p:cNvPr id="18" name="矩形 17">
            <a:extLst>
              <a:ext uri="{FF2B5EF4-FFF2-40B4-BE49-F238E27FC236}">
                <a16:creationId xmlns:a16="http://schemas.microsoft.com/office/drawing/2014/main" id="{6C905F2B-DB7E-4BD4-8330-E041E6870975}"/>
              </a:ext>
            </a:extLst>
          </p:cNvPr>
          <p:cNvSpPr/>
          <p:nvPr/>
        </p:nvSpPr>
        <p:spPr>
          <a:xfrm>
            <a:off x="6742338" y="4640325"/>
            <a:ext cx="1127307" cy="476268"/>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研究目标</a:t>
            </a:r>
          </a:p>
        </p:txBody>
      </p:sp>
      <p:sp>
        <p:nvSpPr>
          <p:cNvPr id="19" name="矩形 18">
            <a:extLst>
              <a:ext uri="{FF2B5EF4-FFF2-40B4-BE49-F238E27FC236}">
                <a16:creationId xmlns:a16="http://schemas.microsoft.com/office/drawing/2014/main" id="{E1A5EF55-ED3E-4B01-924C-9A9963D8FCAC}"/>
              </a:ext>
            </a:extLst>
          </p:cNvPr>
          <p:cNvSpPr/>
          <p:nvPr/>
        </p:nvSpPr>
        <p:spPr>
          <a:xfrm>
            <a:off x="8344351" y="4640325"/>
            <a:ext cx="1127307" cy="476268"/>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研究内容</a:t>
            </a:r>
          </a:p>
        </p:txBody>
      </p:sp>
      <p:sp>
        <p:nvSpPr>
          <p:cNvPr id="20" name="矩形 19">
            <a:extLst>
              <a:ext uri="{FF2B5EF4-FFF2-40B4-BE49-F238E27FC236}">
                <a16:creationId xmlns:a16="http://schemas.microsoft.com/office/drawing/2014/main" id="{4F7EC274-0D32-442C-BB1D-0406F446766B}"/>
              </a:ext>
            </a:extLst>
          </p:cNvPr>
          <p:cNvSpPr/>
          <p:nvPr/>
        </p:nvSpPr>
        <p:spPr>
          <a:xfrm>
            <a:off x="9939110" y="4647945"/>
            <a:ext cx="1127307" cy="476268"/>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研究结论</a:t>
            </a:r>
          </a:p>
        </p:txBody>
      </p:sp>
      <p:cxnSp>
        <p:nvCxnSpPr>
          <p:cNvPr id="21" name="直接箭头连接符 20">
            <a:extLst>
              <a:ext uri="{FF2B5EF4-FFF2-40B4-BE49-F238E27FC236}">
                <a16:creationId xmlns:a16="http://schemas.microsoft.com/office/drawing/2014/main" id="{7CF029A3-D9F4-43A4-811D-E483B8B60A2A}"/>
              </a:ext>
            </a:extLst>
          </p:cNvPr>
          <p:cNvCxnSpPr>
            <a:stCxn id="17" idx="3"/>
            <a:endCxn id="18" idx="1"/>
          </p:cNvCxnSpPr>
          <p:nvPr/>
        </p:nvCxnSpPr>
        <p:spPr>
          <a:xfrm>
            <a:off x="6294845" y="4878459"/>
            <a:ext cx="4474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CED599B-D585-4849-9F28-60C9373454D0}"/>
              </a:ext>
            </a:extLst>
          </p:cNvPr>
          <p:cNvCxnSpPr/>
          <p:nvPr/>
        </p:nvCxnSpPr>
        <p:spPr>
          <a:xfrm>
            <a:off x="7869645" y="4873016"/>
            <a:ext cx="4474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52DB5DB8-637F-49F8-8F00-93E562402E58}"/>
              </a:ext>
            </a:extLst>
          </p:cNvPr>
          <p:cNvCxnSpPr/>
          <p:nvPr/>
        </p:nvCxnSpPr>
        <p:spPr>
          <a:xfrm>
            <a:off x="9482544" y="4878459"/>
            <a:ext cx="4474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EEC7DFED-4849-4A22-91B1-2E565033A451}"/>
              </a:ext>
            </a:extLst>
          </p:cNvPr>
          <p:cNvSpPr/>
          <p:nvPr/>
        </p:nvSpPr>
        <p:spPr>
          <a:xfrm>
            <a:off x="5230324" y="5483340"/>
            <a:ext cx="4475966" cy="4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dirty="0">
                <a:solidFill>
                  <a:schemeClr val="tx1"/>
                </a:solidFill>
              </a:rPr>
              <a:t>四者之间形成严密的逻辑关系，一一对应。</a:t>
            </a:r>
            <a:endParaRPr kumimoji="1" lang="en-US" altLang="zh-CN" dirty="0">
              <a:solidFill>
                <a:schemeClr val="tx1"/>
              </a:solidFill>
            </a:endParaRPr>
          </a:p>
        </p:txBody>
      </p:sp>
    </p:spTree>
    <p:extLst>
      <p:ext uri="{BB962C8B-B14F-4D97-AF65-F5344CB8AC3E}">
        <p14:creationId xmlns:p14="http://schemas.microsoft.com/office/powerpoint/2010/main" val="3565347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6E0E861-2A0B-4F9E-B7E7-428F3743D972}"/>
              </a:ext>
            </a:extLst>
          </p:cNvPr>
          <p:cNvSpPr>
            <a:spLocks noGrp="1"/>
          </p:cNvSpPr>
          <p:nvPr>
            <p:ph idx="4294967295"/>
          </p:nvPr>
        </p:nvSpPr>
        <p:spPr>
          <a:xfrm>
            <a:off x="406037" y="1139031"/>
            <a:ext cx="10515600" cy="4351338"/>
          </a:xfrm>
        </p:spPr>
        <p:txBody>
          <a:bodyPr/>
          <a:lstStyle/>
          <a:p>
            <a:pPr marL="0" indent="0">
              <a:lnSpc>
                <a:spcPct val="150000"/>
              </a:lnSpc>
              <a:spcBef>
                <a:spcPts val="0"/>
              </a:spcBef>
              <a:buNone/>
            </a:pPr>
            <a:r>
              <a:rPr lang="zh-CN" altLang="zh-CN" sz="2000" dirty="0">
                <a:latin typeface="+mj-ea"/>
                <a:ea typeface="+mj-ea"/>
              </a:rPr>
              <a:t>常见的主体章节安排包括：</a:t>
            </a:r>
          </a:p>
          <a:p>
            <a:pPr>
              <a:lnSpc>
                <a:spcPct val="150000"/>
              </a:lnSpc>
              <a:spcBef>
                <a:spcPts val="0"/>
              </a:spcBef>
            </a:pPr>
            <a:r>
              <a:rPr lang="zh-CN" altLang="zh-CN" sz="2000" dirty="0">
                <a:latin typeface="+mj-ea"/>
                <a:ea typeface="+mj-ea"/>
              </a:rPr>
              <a:t>绪论。</a:t>
            </a:r>
          </a:p>
          <a:p>
            <a:pPr>
              <a:lnSpc>
                <a:spcPct val="150000"/>
              </a:lnSpc>
              <a:spcBef>
                <a:spcPts val="0"/>
              </a:spcBef>
            </a:pPr>
            <a:r>
              <a:rPr lang="zh-CN" altLang="zh-CN" sz="2000" dirty="0">
                <a:latin typeface="+mj-ea"/>
                <a:ea typeface="+mj-ea"/>
              </a:rPr>
              <a:t>文献综述与理论基础。</a:t>
            </a:r>
          </a:p>
          <a:p>
            <a:pPr>
              <a:lnSpc>
                <a:spcPct val="150000"/>
              </a:lnSpc>
              <a:spcBef>
                <a:spcPts val="0"/>
              </a:spcBef>
            </a:pPr>
            <a:r>
              <a:rPr lang="zh-CN" altLang="zh-CN" sz="2000" dirty="0">
                <a:latin typeface="+mj-ea"/>
                <a:ea typeface="+mj-ea"/>
              </a:rPr>
              <a:t>问题研究。取决于问题是否确定。</a:t>
            </a:r>
          </a:p>
          <a:p>
            <a:pPr>
              <a:lnSpc>
                <a:spcPct val="150000"/>
              </a:lnSpc>
              <a:spcBef>
                <a:spcPts val="0"/>
              </a:spcBef>
            </a:pPr>
            <a:r>
              <a:rPr lang="zh-CN" altLang="zh-CN" sz="2000" dirty="0">
                <a:latin typeface="+mj-ea"/>
                <a:ea typeface="+mj-ea"/>
              </a:rPr>
              <a:t>解决方案设计。一般可以单独成章或成两章。</a:t>
            </a:r>
          </a:p>
          <a:p>
            <a:pPr>
              <a:lnSpc>
                <a:spcPct val="150000"/>
              </a:lnSpc>
              <a:spcBef>
                <a:spcPts val="0"/>
              </a:spcBef>
            </a:pPr>
            <a:r>
              <a:rPr lang="zh-CN" altLang="zh-CN" sz="2000" dirty="0">
                <a:latin typeface="+mj-ea"/>
                <a:ea typeface="+mj-ea"/>
              </a:rPr>
              <a:t>解决方案评估。一般可以单独成章。</a:t>
            </a:r>
          </a:p>
          <a:p>
            <a:pPr>
              <a:lnSpc>
                <a:spcPct val="150000"/>
              </a:lnSpc>
              <a:spcBef>
                <a:spcPts val="0"/>
              </a:spcBef>
            </a:pPr>
            <a:r>
              <a:rPr lang="zh-CN" altLang="zh-CN" sz="2000" dirty="0">
                <a:latin typeface="+mj-ea"/>
                <a:ea typeface="+mj-ea"/>
              </a:rPr>
              <a:t>结论与展望。</a:t>
            </a:r>
          </a:p>
          <a:p>
            <a:endParaRPr lang="zh-CN" altLang="en-US" dirty="0"/>
          </a:p>
        </p:txBody>
      </p:sp>
      <p:sp>
        <p:nvSpPr>
          <p:cNvPr id="4" name="标题 1">
            <a:extLst>
              <a:ext uri="{FF2B5EF4-FFF2-40B4-BE49-F238E27FC236}">
                <a16:creationId xmlns:a16="http://schemas.microsoft.com/office/drawing/2014/main" id="{7FC15F66-1B9D-4226-B367-EFC44ADFEC54}"/>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章节安排：完整性</a:t>
            </a:r>
          </a:p>
        </p:txBody>
      </p:sp>
    </p:spTree>
    <p:extLst>
      <p:ext uri="{BB962C8B-B14F-4D97-AF65-F5344CB8AC3E}">
        <p14:creationId xmlns:p14="http://schemas.microsoft.com/office/powerpoint/2010/main" val="1588939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7068311-9E64-4742-A0DE-0A2E8B0A1FD0}"/>
              </a:ext>
            </a:extLst>
          </p:cNvPr>
          <p:cNvSpPr>
            <a:spLocks noGrp="1"/>
          </p:cNvSpPr>
          <p:nvPr>
            <p:ph idx="4294967295"/>
          </p:nvPr>
        </p:nvSpPr>
        <p:spPr>
          <a:xfrm>
            <a:off x="388620" y="1094105"/>
            <a:ext cx="10957560" cy="4351338"/>
          </a:xfrm>
        </p:spPr>
        <p:txBody>
          <a:bodyPr>
            <a:noAutofit/>
          </a:bodyPr>
          <a:lstStyle/>
          <a:p>
            <a:pPr marL="0" indent="0">
              <a:lnSpc>
                <a:spcPct val="150000"/>
              </a:lnSpc>
              <a:spcBef>
                <a:spcPts val="0"/>
              </a:spcBef>
              <a:buNone/>
            </a:pPr>
            <a:r>
              <a:rPr lang="en-US" altLang="zh-CN" sz="2000" b="1" dirty="0">
                <a:latin typeface="+mj-ea"/>
                <a:ea typeface="+mj-ea"/>
              </a:rPr>
              <a:t>1</a:t>
            </a:r>
            <a:r>
              <a:rPr lang="zh-CN" altLang="en-US" sz="2000" b="1" dirty="0">
                <a:latin typeface="+mj-ea"/>
                <a:ea typeface="+mj-ea"/>
              </a:rPr>
              <a:t>、</a:t>
            </a:r>
            <a:r>
              <a:rPr lang="zh-CN" altLang="zh-CN" sz="2000" b="1" dirty="0">
                <a:latin typeface="+mj-ea"/>
                <a:ea typeface="+mj-ea"/>
              </a:rPr>
              <a:t>前后呼应</a:t>
            </a:r>
            <a:endParaRPr lang="zh-CN" altLang="zh-CN" sz="2000" dirty="0">
              <a:latin typeface="+mj-ea"/>
              <a:ea typeface="+mj-ea"/>
            </a:endParaRPr>
          </a:p>
          <a:p>
            <a:pPr>
              <a:lnSpc>
                <a:spcPct val="150000"/>
              </a:lnSpc>
              <a:spcBef>
                <a:spcPts val="0"/>
              </a:spcBef>
            </a:pPr>
            <a:r>
              <a:rPr lang="zh-CN" altLang="zh-CN" sz="2000" dirty="0">
                <a:latin typeface="+mj-ea"/>
                <a:ea typeface="+mj-ea"/>
              </a:rPr>
              <a:t>章节之间的连接。每一章开头应该有一小段文字作为概括和摘要，起到承上启下的作用。逻辑结构的清晰和紧密，综述理论和方法在后续章节没有应用。</a:t>
            </a:r>
          </a:p>
          <a:p>
            <a:pPr>
              <a:lnSpc>
                <a:spcPct val="150000"/>
              </a:lnSpc>
              <a:spcBef>
                <a:spcPts val="0"/>
              </a:spcBef>
            </a:pPr>
            <a:r>
              <a:rPr lang="zh-CN" altLang="zh-CN" sz="2000" dirty="0">
                <a:latin typeface="+mj-ea"/>
                <a:ea typeface="+mj-ea"/>
              </a:rPr>
              <a:t>章节标题与内容的一致性。章节的标题是内容的呈现，容易出现两者不一致的情况。解决这个问题的方法。可以参考常用的章节标题的设置。着重检查标题与内容的一致性，如可以检查用该题目是否能准确描述章节内容，是否有优化和调整的空间。</a:t>
            </a:r>
          </a:p>
          <a:p>
            <a:pPr marL="0" indent="0">
              <a:lnSpc>
                <a:spcPct val="150000"/>
              </a:lnSpc>
              <a:spcBef>
                <a:spcPts val="0"/>
              </a:spcBef>
              <a:buNone/>
            </a:pPr>
            <a:r>
              <a:rPr lang="en-US" altLang="zh-CN" sz="2000" b="1" dirty="0">
                <a:latin typeface="+mj-ea"/>
                <a:ea typeface="+mj-ea"/>
              </a:rPr>
              <a:t>2</a:t>
            </a:r>
            <a:r>
              <a:rPr lang="zh-CN" altLang="en-US" sz="2000" b="1" dirty="0">
                <a:latin typeface="+mj-ea"/>
                <a:ea typeface="+mj-ea"/>
              </a:rPr>
              <a:t>、</a:t>
            </a:r>
            <a:r>
              <a:rPr lang="zh-CN" altLang="zh-CN" sz="2000" b="1" dirty="0">
                <a:latin typeface="+mj-ea"/>
                <a:ea typeface="+mj-ea"/>
              </a:rPr>
              <a:t>逻辑结构合理</a:t>
            </a:r>
            <a:endParaRPr lang="zh-CN" altLang="zh-CN" sz="2000" dirty="0">
              <a:latin typeface="+mj-ea"/>
              <a:ea typeface="+mj-ea"/>
            </a:endParaRPr>
          </a:p>
          <a:p>
            <a:pPr>
              <a:lnSpc>
                <a:spcPct val="150000"/>
              </a:lnSpc>
              <a:spcBef>
                <a:spcPts val="0"/>
              </a:spcBef>
            </a:pPr>
            <a:r>
              <a:rPr lang="zh-CN" altLang="zh-CN" sz="2000" dirty="0">
                <a:latin typeface="+mj-ea"/>
                <a:ea typeface="+mj-ea"/>
              </a:rPr>
              <a:t>章、节、小节标题的层级关系。小节题目与节题目重复。</a:t>
            </a:r>
          </a:p>
          <a:p>
            <a:pPr>
              <a:lnSpc>
                <a:spcPct val="150000"/>
              </a:lnSpc>
              <a:spcBef>
                <a:spcPts val="0"/>
              </a:spcBef>
            </a:pPr>
            <a:r>
              <a:rPr lang="zh-CN" altLang="zh-CN" sz="2000" dirty="0">
                <a:latin typeface="+mj-ea"/>
                <a:ea typeface="+mj-ea"/>
              </a:rPr>
              <a:t>章节标题的并列关系。如</a:t>
            </a:r>
            <a:r>
              <a:rPr lang="en-US" altLang="zh-CN" sz="2000" dirty="0">
                <a:latin typeface="+mj-ea"/>
                <a:ea typeface="+mj-ea"/>
              </a:rPr>
              <a:t>1.2.1</a:t>
            </a:r>
            <a:r>
              <a:rPr lang="zh-CN" altLang="zh-CN" sz="2000" dirty="0">
                <a:latin typeface="+mj-ea"/>
                <a:ea typeface="+mj-ea"/>
              </a:rPr>
              <a:t>和</a:t>
            </a:r>
            <a:r>
              <a:rPr lang="en-US" altLang="zh-CN" sz="2000" dirty="0">
                <a:latin typeface="+mj-ea"/>
                <a:ea typeface="+mj-ea"/>
              </a:rPr>
              <a:t>1.2.2</a:t>
            </a:r>
            <a:r>
              <a:rPr lang="zh-CN" altLang="zh-CN" sz="2000" dirty="0">
                <a:latin typeface="+mj-ea"/>
                <a:ea typeface="+mj-ea"/>
              </a:rPr>
              <a:t>是并列关系，不能形成包含关系。同一层次的标题表达上较为相近。</a:t>
            </a:r>
          </a:p>
          <a:p>
            <a:pPr>
              <a:lnSpc>
                <a:spcPct val="150000"/>
              </a:lnSpc>
              <a:spcBef>
                <a:spcPts val="0"/>
              </a:spcBef>
            </a:pPr>
            <a:r>
              <a:rPr lang="zh-CN" altLang="zh-CN" sz="2000" dirty="0">
                <a:latin typeface="+mj-ea"/>
                <a:ea typeface="+mj-ea"/>
              </a:rPr>
              <a:t>并列关系中存在前后顺序，如在文献综述中一般先介绍核心概念，再扩展到不同领域的应用等。</a:t>
            </a:r>
          </a:p>
          <a:p>
            <a:endParaRPr lang="zh-CN" altLang="en-US" dirty="0"/>
          </a:p>
        </p:txBody>
      </p:sp>
      <p:sp>
        <p:nvSpPr>
          <p:cNvPr id="4" name="标题 1">
            <a:extLst>
              <a:ext uri="{FF2B5EF4-FFF2-40B4-BE49-F238E27FC236}">
                <a16:creationId xmlns:a16="http://schemas.microsoft.com/office/drawing/2014/main" id="{F6D09D64-B1E6-4CBF-8653-561BA66AD639}"/>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章节安排：逻辑严密</a:t>
            </a:r>
          </a:p>
        </p:txBody>
      </p:sp>
    </p:spTree>
    <p:extLst>
      <p:ext uri="{BB962C8B-B14F-4D97-AF65-F5344CB8AC3E}">
        <p14:creationId xmlns:p14="http://schemas.microsoft.com/office/powerpoint/2010/main" val="767149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7068311-9E64-4742-A0DE-0A2E8B0A1FD0}"/>
              </a:ext>
            </a:extLst>
          </p:cNvPr>
          <p:cNvSpPr>
            <a:spLocks noGrp="1"/>
          </p:cNvSpPr>
          <p:nvPr>
            <p:ph idx="4294967295"/>
          </p:nvPr>
        </p:nvSpPr>
        <p:spPr>
          <a:xfrm>
            <a:off x="251460" y="1177924"/>
            <a:ext cx="10934700" cy="5276215"/>
          </a:xfrm>
        </p:spPr>
        <p:txBody>
          <a:bodyPr>
            <a:noAutofit/>
          </a:bodyPr>
          <a:lstStyle/>
          <a:p>
            <a:pPr marL="0" indent="0">
              <a:lnSpc>
                <a:spcPct val="150000"/>
              </a:lnSpc>
              <a:spcBef>
                <a:spcPts val="0"/>
              </a:spcBef>
              <a:buNone/>
            </a:pPr>
            <a:r>
              <a:rPr lang="en-US" altLang="zh-CN" sz="2000" b="1" dirty="0">
                <a:latin typeface="+mj-ea"/>
                <a:ea typeface="+mj-ea"/>
              </a:rPr>
              <a:t>3</a:t>
            </a:r>
            <a:r>
              <a:rPr lang="zh-CN" altLang="en-US" sz="2000" b="1" dirty="0">
                <a:latin typeface="+mj-ea"/>
                <a:ea typeface="+mj-ea"/>
              </a:rPr>
              <a:t>、</a:t>
            </a:r>
            <a:r>
              <a:rPr lang="zh-CN" altLang="zh-CN" sz="2000" b="1" dirty="0">
                <a:latin typeface="+mj-ea"/>
                <a:ea typeface="+mj-ea"/>
              </a:rPr>
              <a:t>章节标题表达清晰</a:t>
            </a:r>
            <a:endParaRPr lang="zh-CN" altLang="zh-CN" sz="2000" dirty="0">
              <a:latin typeface="+mj-ea"/>
              <a:ea typeface="+mj-ea"/>
            </a:endParaRPr>
          </a:p>
          <a:p>
            <a:pPr>
              <a:lnSpc>
                <a:spcPct val="150000"/>
              </a:lnSpc>
              <a:spcBef>
                <a:spcPts val="0"/>
              </a:spcBef>
            </a:pPr>
            <a:r>
              <a:rPr lang="zh-CN" altLang="zh-CN" sz="2000" dirty="0">
                <a:latin typeface="+mj-ea"/>
                <a:ea typeface="+mj-ea"/>
              </a:rPr>
              <a:t>标题要简短明确，表达清晰。</a:t>
            </a:r>
          </a:p>
          <a:p>
            <a:pPr>
              <a:lnSpc>
                <a:spcPct val="150000"/>
              </a:lnSpc>
              <a:spcBef>
                <a:spcPts val="0"/>
              </a:spcBef>
            </a:pPr>
            <a:r>
              <a:rPr lang="zh-CN" altLang="zh-CN" sz="2000" dirty="0">
                <a:latin typeface="+mj-ea"/>
                <a:ea typeface="+mj-ea"/>
              </a:rPr>
              <a:t>标题一般采用词组形式，而非句子形式。</a:t>
            </a:r>
          </a:p>
          <a:p>
            <a:pPr>
              <a:lnSpc>
                <a:spcPct val="150000"/>
              </a:lnSpc>
              <a:spcBef>
                <a:spcPts val="0"/>
              </a:spcBef>
            </a:pPr>
            <a:r>
              <a:rPr lang="zh-CN" altLang="zh-CN" sz="2000" dirty="0">
                <a:latin typeface="+mj-ea"/>
                <a:ea typeface="+mj-ea"/>
              </a:rPr>
              <a:t>同一层级的标题结构上相对一致。</a:t>
            </a:r>
          </a:p>
          <a:p>
            <a:pPr marL="0" indent="0">
              <a:lnSpc>
                <a:spcPct val="150000"/>
              </a:lnSpc>
              <a:spcBef>
                <a:spcPts val="0"/>
              </a:spcBef>
              <a:buNone/>
            </a:pPr>
            <a:r>
              <a:rPr lang="en-US" altLang="zh-CN" sz="2000" b="1" dirty="0">
                <a:latin typeface="+mj-ea"/>
                <a:ea typeface="+mj-ea"/>
              </a:rPr>
              <a:t>4</a:t>
            </a:r>
            <a:r>
              <a:rPr lang="zh-CN" altLang="en-US" sz="2000" b="1" dirty="0">
                <a:latin typeface="+mj-ea"/>
                <a:ea typeface="+mj-ea"/>
              </a:rPr>
              <a:t>、</a:t>
            </a:r>
            <a:r>
              <a:rPr lang="zh-CN" altLang="zh-CN" sz="2000" b="1" dirty="0">
                <a:latin typeface="+mj-ea"/>
                <a:ea typeface="+mj-ea"/>
              </a:rPr>
              <a:t>章节内容体量安排均衡</a:t>
            </a:r>
            <a:endParaRPr lang="zh-CN" altLang="zh-CN" sz="2000" dirty="0">
              <a:latin typeface="+mj-ea"/>
              <a:ea typeface="+mj-ea"/>
            </a:endParaRPr>
          </a:p>
          <a:p>
            <a:pPr>
              <a:lnSpc>
                <a:spcPct val="150000"/>
              </a:lnSpc>
              <a:spcBef>
                <a:spcPts val="0"/>
              </a:spcBef>
            </a:pPr>
            <a:r>
              <a:rPr lang="zh-CN" altLang="zh-CN" sz="2000" dirty="0">
                <a:latin typeface="+mj-ea"/>
                <a:ea typeface="+mj-ea"/>
              </a:rPr>
              <a:t>核心内容的展示。评估部分过于简单，没有对应的评价。</a:t>
            </a:r>
          </a:p>
          <a:p>
            <a:pPr>
              <a:lnSpc>
                <a:spcPct val="150000"/>
              </a:lnSpc>
              <a:spcBef>
                <a:spcPts val="0"/>
              </a:spcBef>
            </a:pPr>
            <a:r>
              <a:rPr lang="zh-CN" altLang="zh-CN" sz="2000" dirty="0">
                <a:latin typeface="+mj-ea"/>
                <a:ea typeface="+mj-ea"/>
              </a:rPr>
              <a:t>要做相对均衡的安排，一方面是小节数量的均衡，另一方面是小节内容的均衡。避免某一节内容偏少。内容安排均匀，避免某些章节过多，某些过少。如某些章节的小节过多（如</a:t>
            </a:r>
            <a:r>
              <a:rPr lang="en-US" altLang="zh-CN" sz="2000" dirty="0">
                <a:latin typeface="+mj-ea"/>
                <a:ea typeface="+mj-ea"/>
              </a:rPr>
              <a:t>6</a:t>
            </a:r>
            <a:r>
              <a:rPr lang="zh-CN" altLang="zh-CN" sz="2000" dirty="0">
                <a:latin typeface="+mj-ea"/>
                <a:ea typeface="+mj-ea"/>
              </a:rPr>
              <a:t>个小节）。每章内容安排</a:t>
            </a:r>
            <a:r>
              <a:rPr lang="en-US" altLang="zh-CN" sz="2000" dirty="0">
                <a:latin typeface="+mj-ea"/>
                <a:ea typeface="+mj-ea"/>
              </a:rPr>
              <a:t>3-6</a:t>
            </a:r>
            <a:r>
              <a:rPr lang="zh-CN" altLang="zh-CN" sz="2000" dirty="0">
                <a:latin typeface="+mj-ea"/>
                <a:ea typeface="+mj-ea"/>
              </a:rPr>
              <a:t>小节以及章节介绍与小结。</a:t>
            </a:r>
          </a:p>
          <a:p>
            <a:pPr>
              <a:lnSpc>
                <a:spcPct val="150000"/>
              </a:lnSpc>
              <a:spcBef>
                <a:spcPts val="0"/>
              </a:spcBef>
            </a:pPr>
            <a:r>
              <a:rPr lang="zh-CN" altLang="zh-CN" sz="2000" dirty="0">
                <a:latin typeface="+mj-ea"/>
                <a:ea typeface="+mj-ea"/>
              </a:rPr>
              <a:t>避免一个小节只有一段的情况，通常情况下，一个小节有多个段落。</a:t>
            </a:r>
          </a:p>
          <a:p>
            <a:pPr>
              <a:lnSpc>
                <a:spcPct val="150000"/>
              </a:lnSpc>
              <a:spcBef>
                <a:spcPts val="0"/>
              </a:spcBef>
            </a:pPr>
            <a:r>
              <a:rPr lang="zh-CN" altLang="zh-CN" sz="2000" dirty="0">
                <a:latin typeface="+mj-ea"/>
                <a:ea typeface="+mj-ea"/>
              </a:rPr>
              <a:t>把三级目录的小节数尽可能控制在</a:t>
            </a:r>
            <a:r>
              <a:rPr lang="en-US" altLang="zh-CN" sz="2000" dirty="0">
                <a:latin typeface="+mj-ea"/>
                <a:ea typeface="+mj-ea"/>
              </a:rPr>
              <a:t>4-5</a:t>
            </a:r>
            <a:r>
              <a:rPr lang="zh-CN" altLang="zh-CN" sz="2000" dirty="0">
                <a:latin typeface="+mj-ea"/>
                <a:ea typeface="+mj-ea"/>
              </a:rPr>
              <a:t>个以内。</a:t>
            </a:r>
          </a:p>
          <a:p>
            <a:endParaRPr lang="zh-CN" altLang="en-US" dirty="0"/>
          </a:p>
        </p:txBody>
      </p:sp>
      <p:sp>
        <p:nvSpPr>
          <p:cNvPr id="4" name="标题 1">
            <a:extLst>
              <a:ext uri="{FF2B5EF4-FFF2-40B4-BE49-F238E27FC236}">
                <a16:creationId xmlns:a16="http://schemas.microsoft.com/office/drawing/2014/main" id="{F6D09D64-B1E6-4CBF-8653-561BA66AD639}"/>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章节安排：逻辑严密</a:t>
            </a:r>
          </a:p>
        </p:txBody>
      </p:sp>
    </p:spTree>
    <p:extLst>
      <p:ext uri="{BB962C8B-B14F-4D97-AF65-F5344CB8AC3E}">
        <p14:creationId xmlns:p14="http://schemas.microsoft.com/office/powerpoint/2010/main" val="999399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1BBBC35-9F0D-4469-913B-6B66335ADC47}"/>
              </a:ext>
            </a:extLst>
          </p:cNvPr>
          <p:cNvSpPr>
            <a:spLocks noGrp="1"/>
          </p:cNvSpPr>
          <p:nvPr>
            <p:ph idx="4294967295"/>
          </p:nvPr>
        </p:nvSpPr>
        <p:spPr>
          <a:xfrm>
            <a:off x="409698" y="1036320"/>
            <a:ext cx="10776462" cy="4741026"/>
          </a:xfrm>
        </p:spPr>
        <p:txBody>
          <a:bodyPr>
            <a:noAutofit/>
          </a:bodyPr>
          <a:lstStyle/>
          <a:p>
            <a:pPr marL="0" indent="0">
              <a:lnSpc>
                <a:spcPct val="150000"/>
              </a:lnSpc>
              <a:spcBef>
                <a:spcPts val="0"/>
              </a:spcBef>
              <a:buNone/>
            </a:pPr>
            <a:r>
              <a:rPr lang="en-US" altLang="zh-CN" sz="1800" dirty="0">
                <a:latin typeface="+mj-ea"/>
                <a:ea typeface="+mj-ea"/>
              </a:rPr>
              <a:t>1</a:t>
            </a:r>
            <a:r>
              <a:rPr lang="zh-CN" altLang="en-US" sz="1800" dirty="0">
                <a:latin typeface="+mj-ea"/>
                <a:ea typeface="+mj-ea"/>
              </a:rPr>
              <a:t>、</a:t>
            </a:r>
            <a:r>
              <a:rPr lang="zh-CN" altLang="zh-CN" sz="1800" dirty="0">
                <a:latin typeface="+mj-ea"/>
                <a:ea typeface="+mj-ea"/>
              </a:rPr>
              <a:t>实践问题定义程度</a:t>
            </a:r>
          </a:p>
          <a:p>
            <a:pPr>
              <a:lnSpc>
                <a:spcPct val="150000"/>
              </a:lnSpc>
              <a:spcBef>
                <a:spcPts val="0"/>
              </a:spcBef>
            </a:pPr>
            <a:r>
              <a:rPr lang="zh-CN" altLang="zh-CN" sz="1800" dirty="0">
                <a:latin typeface="+mj-ea"/>
                <a:ea typeface="+mj-ea"/>
              </a:rPr>
              <a:t>对于尚未充分定义的问题，即实践问题原因待研究的情形下，可安排单独的一章对问题进行研究。</a:t>
            </a:r>
          </a:p>
          <a:p>
            <a:pPr>
              <a:lnSpc>
                <a:spcPct val="150000"/>
              </a:lnSpc>
              <a:spcBef>
                <a:spcPts val="0"/>
              </a:spcBef>
            </a:pPr>
            <a:r>
              <a:rPr lang="zh-CN" altLang="zh-CN" sz="1800" dirty="0">
                <a:latin typeface="+mj-ea"/>
                <a:ea typeface="+mj-ea"/>
              </a:rPr>
              <a:t>在实践问题已定情形下，可在绪论中对问题进行分析，不再需要进行单独章节的描述。</a:t>
            </a:r>
          </a:p>
          <a:p>
            <a:pPr marL="0" indent="0">
              <a:lnSpc>
                <a:spcPct val="150000"/>
              </a:lnSpc>
              <a:spcBef>
                <a:spcPts val="0"/>
              </a:spcBef>
              <a:buNone/>
            </a:pPr>
            <a:r>
              <a:rPr lang="en-US" altLang="zh-CN" sz="1800" dirty="0">
                <a:latin typeface="+mj-ea"/>
                <a:ea typeface="+mj-ea"/>
              </a:rPr>
              <a:t>2</a:t>
            </a:r>
            <a:r>
              <a:rPr lang="zh-CN" altLang="en-US" sz="1800" dirty="0">
                <a:latin typeface="+mj-ea"/>
                <a:ea typeface="+mj-ea"/>
              </a:rPr>
              <a:t>、</a:t>
            </a:r>
            <a:r>
              <a:rPr lang="zh-CN" altLang="zh-CN" sz="1800" dirty="0">
                <a:latin typeface="+mj-ea"/>
                <a:ea typeface="+mj-ea"/>
              </a:rPr>
              <a:t>已有研究不足的确定</a:t>
            </a:r>
          </a:p>
          <a:p>
            <a:pPr>
              <a:lnSpc>
                <a:spcPct val="150000"/>
              </a:lnSpc>
              <a:spcBef>
                <a:spcPts val="0"/>
              </a:spcBef>
            </a:pPr>
            <a:r>
              <a:rPr lang="zh-CN" altLang="zh-CN" sz="1800" dirty="0">
                <a:latin typeface="+mj-ea"/>
                <a:ea typeface="+mj-ea"/>
              </a:rPr>
              <a:t>描述已有研究不足的笔墨比较少的情形下，可以将这部分内容安排在绪论部分，即在绪论中安排国内外研究现状。</a:t>
            </a:r>
          </a:p>
          <a:p>
            <a:pPr>
              <a:lnSpc>
                <a:spcPct val="150000"/>
              </a:lnSpc>
              <a:spcBef>
                <a:spcPts val="0"/>
              </a:spcBef>
            </a:pPr>
            <a:r>
              <a:rPr lang="zh-CN" altLang="zh-CN" sz="1800" dirty="0">
                <a:latin typeface="+mj-ea"/>
                <a:ea typeface="+mj-ea"/>
              </a:rPr>
              <a:t>内容较多（如有三四千字），可以单独安排章文献综述，进一步描述该部分的研究不足。</a:t>
            </a:r>
          </a:p>
          <a:p>
            <a:pPr marL="0" indent="0">
              <a:lnSpc>
                <a:spcPct val="150000"/>
              </a:lnSpc>
              <a:spcBef>
                <a:spcPts val="0"/>
              </a:spcBef>
              <a:buNone/>
            </a:pPr>
            <a:r>
              <a:rPr lang="en-US" altLang="zh-CN" sz="1800" dirty="0">
                <a:latin typeface="+mj-ea"/>
                <a:ea typeface="+mj-ea"/>
              </a:rPr>
              <a:t>3</a:t>
            </a:r>
            <a:r>
              <a:rPr lang="zh-CN" altLang="en-US" sz="1800" dirty="0">
                <a:latin typeface="+mj-ea"/>
                <a:ea typeface="+mj-ea"/>
              </a:rPr>
              <a:t>、</a:t>
            </a:r>
            <a:r>
              <a:rPr lang="zh-CN" altLang="zh-CN" sz="1800" dirty="0">
                <a:latin typeface="+mj-ea"/>
                <a:ea typeface="+mj-ea"/>
              </a:rPr>
              <a:t>文献综述</a:t>
            </a:r>
          </a:p>
          <a:p>
            <a:pPr>
              <a:lnSpc>
                <a:spcPct val="150000"/>
              </a:lnSpc>
              <a:spcBef>
                <a:spcPts val="0"/>
              </a:spcBef>
            </a:pPr>
            <a:r>
              <a:rPr lang="zh-CN" altLang="zh-CN" sz="1800" dirty="0">
                <a:latin typeface="+mj-ea"/>
                <a:ea typeface="+mj-ea"/>
              </a:rPr>
              <a:t>文献综述与理论基础章节包含两部分内容，一部分是研究不足的确定，另一部分是支撑解决方案设计的理论和方法基础。如果研究不足的确定的文献综述体量较小，也可以挪到背景章节中。如此，第二章的标题可改为理论与方法基础。</a:t>
            </a:r>
          </a:p>
          <a:p>
            <a:pPr marL="0" indent="0">
              <a:lnSpc>
                <a:spcPct val="150000"/>
              </a:lnSpc>
              <a:spcBef>
                <a:spcPts val="0"/>
              </a:spcBef>
              <a:buNone/>
            </a:pPr>
            <a:endParaRPr lang="zh-CN" altLang="en-US" sz="2000" dirty="0">
              <a:latin typeface="+mj-ea"/>
              <a:ea typeface="+mj-ea"/>
            </a:endParaRPr>
          </a:p>
        </p:txBody>
      </p:sp>
      <p:sp>
        <p:nvSpPr>
          <p:cNvPr id="4" name="标题 1">
            <a:extLst>
              <a:ext uri="{FF2B5EF4-FFF2-40B4-BE49-F238E27FC236}">
                <a16:creationId xmlns:a16="http://schemas.microsoft.com/office/drawing/2014/main" id="{E22A3915-E95B-44D7-8C90-24B36C733D3C}"/>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章节安排：灵活性</a:t>
            </a:r>
          </a:p>
        </p:txBody>
      </p:sp>
    </p:spTree>
    <p:extLst>
      <p:ext uri="{BB962C8B-B14F-4D97-AF65-F5344CB8AC3E}">
        <p14:creationId xmlns:p14="http://schemas.microsoft.com/office/powerpoint/2010/main" val="24524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1BBBC35-9F0D-4469-913B-6B66335ADC47}"/>
              </a:ext>
            </a:extLst>
          </p:cNvPr>
          <p:cNvSpPr>
            <a:spLocks noGrp="1"/>
          </p:cNvSpPr>
          <p:nvPr>
            <p:ph idx="4294967295"/>
          </p:nvPr>
        </p:nvSpPr>
        <p:spPr>
          <a:xfrm>
            <a:off x="407324" y="1036320"/>
            <a:ext cx="10778836" cy="5131724"/>
          </a:xfrm>
        </p:spPr>
        <p:txBody>
          <a:bodyPr>
            <a:noAutofit/>
          </a:bodyPr>
          <a:lstStyle/>
          <a:p>
            <a:pPr marL="0" indent="0">
              <a:lnSpc>
                <a:spcPct val="150000"/>
              </a:lnSpc>
              <a:spcBef>
                <a:spcPts val="0"/>
              </a:spcBef>
              <a:buNone/>
            </a:pPr>
            <a:r>
              <a:rPr lang="en-US" altLang="zh-CN" sz="1800" b="1" dirty="0">
                <a:latin typeface="+mj-ea"/>
                <a:ea typeface="+mj-ea"/>
              </a:rPr>
              <a:t>4</a:t>
            </a:r>
            <a:r>
              <a:rPr lang="zh-CN" altLang="en-US" sz="1800" b="1" dirty="0">
                <a:latin typeface="+mj-ea"/>
                <a:ea typeface="+mj-ea"/>
              </a:rPr>
              <a:t>、</a:t>
            </a:r>
            <a:r>
              <a:rPr lang="zh-CN" altLang="zh-CN" sz="1800" b="1" dirty="0">
                <a:latin typeface="+mj-ea"/>
                <a:ea typeface="+mj-ea"/>
              </a:rPr>
              <a:t>研究方案</a:t>
            </a:r>
          </a:p>
          <a:p>
            <a:pPr marL="0" indent="0">
              <a:lnSpc>
                <a:spcPct val="150000"/>
              </a:lnSpc>
              <a:spcBef>
                <a:spcPts val="0"/>
              </a:spcBef>
              <a:buNone/>
            </a:pPr>
            <a:r>
              <a:rPr lang="zh-CN" altLang="zh-CN" sz="1800" dirty="0">
                <a:latin typeface="+mj-ea"/>
                <a:ea typeface="+mj-ea"/>
              </a:rPr>
              <a:t>研究方案可以单独做一章，也可以融入到不同章节中（如问题研究、解决方案设计、解决方案评估），在这些章中安排一节进行介绍。</a:t>
            </a:r>
          </a:p>
          <a:p>
            <a:pPr marL="0" indent="0">
              <a:lnSpc>
                <a:spcPct val="150000"/>
              </a:lnSpc>
              <a:spcBef>
                <a:spcPts val="0"/>
              </a:spcBef>
              <a:buNone/>
            </a:pPr>
            <a:r>
              <a:rPr lang="en-US" altLang="zh-CN" sz="1800" b="1" dirty="0">
                <a:latin typeface="+mj-ea"/>
                <a:ea typeface="+mj-ea"/>
              </a:rPr>
              <a:t>5</a:t>
            </a:r>
            <a:r>
              <a:rPr lang="zh-CN" altLang="en-US" sz="1800" b="1" dirty="0">
                <a:latin typeface="+mj-ea"/>
                <a:ea typeface="+mj-ea"/>
              </a:rPr>
              <a:t>、</a:t>
            </a:r>
            <a:r>
              <a:rPr lang="zh-CN" altLang="zh-CN" sz="1800" b="1" dirty="0">
                <a:latin typeface="+mj-ea"/>
                <a:ea typeface="+mj-ea"/>
              </a:rPr>
              <a:t>解决方案设计</a:t>
            </a:r>
          </a:p>
          <a:p>
            <a:pPr>
              <a:lnSpc>
                <a:spcPct val="150000"/>
              </a:lnSpc>
              <a:spcBef>
                <a:spcPts val="0"/>
              </a:spcBef>
            </a:pPr>
            <a:r>
              <a:rPr lang="zh-CN" altLang="zh-CN" sz="1800" dirty="0">
                <a:latin typeface="+mj-ea"/>
                <a:ea typeface="+mj-ea"/>
              </a:rPr>
              <a:t>目标和设计假设可能融合到不同章节当中。</a:t>
            </a:r>
          </a:p>
          <a:p>
            <a:pPr>
              <a:lnSpc>
                <a:spcPct val="150000"/>
              </a:lnSpc>
              <a:spcBef>
                <a:spcPts val="0"/>
              </a:spcBef>
            </a:pPr>
            <a:r>
              <a:rPr lang="zh-CN" altLang="zh-CN" sz="1800" dirty="0">
                <a:latin typeface="+mj-ea"/>
                <a:ea typeface="+mj-ea"/>
              </a:rPr>
              <a:t>解决方案设计可以融入到研究方案中。</a:t>
            </a:r>
          </a:p>
          <a:p>
            <a:pPr marL="0" indent="0">
              <a:lnSpc>
                <a:spcPct val="150000"/>
              </a:lnSpc>
              <a:spcBef>
                <a:spcPts val="0"/>
              </a:spcBef>
              <a:buNone/>
            </a:pPr>
            <a:r>
              <a:rPr lang="en-US" altLang="zh-CN" sz="1800" b="1" dirty="0">
                <a:latin typeface="+mj-ea"/>
                <a:ea typeface="+mj-ea"/>
              </a:rPr>
              <a:t>6</a:t>
            </a:r>
            <a:r>
              <a:rPr lang="zh-CN" altLang="en-US" sz="1800" b="1" dirty="0">
                <a:latin typeface="+mj-ea"/>
                <a:ea typeface="+mj-ea"/>
              </a:rPr>
              <a:t>、</a:t>
            </a:r>
            <a:r>
              <a:rPr lang="zh-CN" altLang="zh-CN" sz="1800" b="1" dirty="0">
                <a:latin typeface="+mj-ea"/>
                <a:ea typeface="+mj-ea"/>
              </a:rPr>
              <a:t>案例的引入</a:t>
            </a:r>
          </a:p>
          <a:p>
            <a:pPr>
              <a:lnSpc>
                <a:spcPct val="150000"/>
              </a:lnSpc>
              <a:spcBef>
                <a:spcPts val="0"/>
              </a:spcBef>
            </a:pPr>
            <a:r>
              <a:rPr lang="zh-CN" altLang="zh-CN" sz="1800" dirty="0">
                <a:latin typeface="+mj-ea"/>
                <a:ea typeface="+mj-ea"/>
              </a:rPr>
              <a:t>可在背景部分，在实践问题部分，引入案例的介绍。或者在“问题研究”章中可用单独一小节介绍案例选择的原因和背景等。</a:t>
            </a:r>
          </a:p>
          <a:p>
            <a:pPr>
              <a:lnSpc>
                <a:spcPct val="150000"/>
              </a:lnSpc>
              <a:spcBef>
                <a:spcPts val="0"/>
              </a:spcBef>
            </a:pPr>
            <a:r>
              <a:rPr lang="zh-CN" altLang="zh-CN" sz="1800" dirty="0">
                <a:latin typeface="+mj-ea"/>
                <a:ea typeface="+mj-ea"/>
              </a:rPr>
              <a:t>研究标题中采用“以……为例”，该类研究需要重点说明的几个内容。例子的引入。包括选择该研究案例的原因、背景介绍、以及针对该案例的问题研究、解决方案设计和评估、结论的可扩展性范围。</a:t>
            </a:r>
          </a:p>
          <a:p>
            <a:pPr marL="0" indent="0">
              <a:lnSpc>
                <a:spcPct val="150000"/>
              </a:lnSpc>
              <a:spcBef>
                <a:spcPts val="0"/>
              </a:spcBef>
              <a:buNone/>
            </a:pPr>
            <a:endParaRPr lang="zh-CN" altLang="en-US" sz="2000" dirty="0">
              <a:latin typeface="+mj-ea"/>
              <a:ea typeface="+mj-ea"/>
            </a:endParaRPr>
          </a:p>
        </p:txBody>
      </p:sp>
      <p:sp>
        <p:nvSpPr>
          <p:cNvPr id="4" name="标题 1">
            <a:extLst>
              <a:ext uri="{FF2B5EF4-FFF2-40B4-BE49-F238E27FC236}">
                <a16:creationId xmlns:a16="http://schemas.microsoft.com/office/drawing/2014/main" id="{E22A3915-E95B-44D7-8C90-24B36C733D3C}"/>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章节安排：灵活性</a:t>
            </a:r>
          </a:p>
        </p:txBody>
      </p:sp>
    </p:spTree>
    <p:extLst>
      <p:ext uri="{BB962C8B-B14F-4D97-AF65-F5344CB8AC3E}">
        <p14:creationId xmlns:p14="http://schemas.microsoft.com/office/powerpoint/2010/main" val="158881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a:t>
            </a:r>
          </a:p>
        </p:txBody>
      </p:sp>
      <p:graphicFrame>
        <p:nvGraphicFramePr>
          <p:cNvPr id="4" name="表格 3">
            <a:extLst>
              <a:ext uri="{FF2B5EF4-FFF2-40B4-BE49-F238E27FC236}">
                <a16:creationId xmlns:a16="http://schemas.microsoft.com/office/drawing/2014/main" id="{F2FB60B2-84AF-4D3B-902A-226CC6C1A5D2}"/>
              </a:ext>
            </a:extLst>
          </p:cNvPr>
          <p:cNvGraphicFramePr>
            <a:graphicFrameLocks noGrp="1"/>
          </p:cNvGraphicFramePr>
          <p:nvPr>
            <p:extLst>
              <p:ext uri="{D42A27DB-BD31-4B8C-83A1-F6EECF244321}">
                <p14:modId xmlns:p14="http://schemas.microsoft.com/office/powerpoint/2010/main" val="2442758274"/>
              </p:ext>
            </p:extLst>
          </p:nvPr>
        </p:nvGraphicFramePr>
        <p:xfrm>
          <a:off x="632460" y="1235234"/>
          <a:ext cx="10363200" cy="4818434"/>
        </p:xfrm>
        <a:graphic>
          <a:graphicData uri="http://schemas.openxmlformats.org/drawingml/2006/table">
            <a:tbl>
              <a:tblPr firstRow="1" firstCol="1" bandRow="1">
                <a:tableStyleId>{5C22544A-7EE6-4342-B048-85BDC9FD1C3A}</a:tableStyleId>
              </a:tblPr>
              <a:tblGrid>
                <a:gridCol w="1669386">
                  <a:extLst>
                    <a:ext uri="{9D8B030D-6E8A-4147-A177-3AD203B41FA5}">
                      <a16:colId xmlns:a16="http://schemas.microsoft.com/office/drawing/2014/main" val="1016800864"/>
                    </a:ext>
                  </a:extLst>
                </a:gridCol>
                <a:gridCol w="4191531">
                  <a:extLst>
                    <a:ext uri="{9D8B030D-6E8A-4147-A177-3AD203B41FA5}">
                      <a16:colId xmlns:a16="http://schemas.microsoft.com/office/drawing/2014/main" val="2025878443"/>
                    </a:ext>
                  </a:extLst>
                </a:gridCol>
                <a:gridCol w="4502283">
                  <a:extLst>
                    <a:ext uri="{9D8B030D-6E8A-4147-A177-3AD203B41FA5}">
                      <a16:colId xmlns:a16="http://schemas.microsoft.com/office/drawing/2014/main" val="2440228815"/>
                    </a:ext>
                  </a:extLst>
                </a:gridCol>
              </a:tblGrid>
              <a:tr h="407986">
                <a:tc>
                  <a:txBody>
                    <a:bodyPr/>
                    <a:lstStyle/>
                    <a:p>
                      <a:pPr algn="ctr">
                        <a:spcAft>
                          <a:spcPts val="0"/>
                        </a:spcAft>
                      </a:pPr>
                      <a:r>
                        <a:rPr lang="zh-CN" sz="1800" kern="100" dirty="0">
                          <a:effectLst/>
                          <a:latin typeface="+mj-ea"/>
                          <a:ea typeface="+mj-ea"/>
                        </a:rPr>
                        <a:t>要素</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ctr">
                        <a:spcAft>
                          <a:spcPts val="0"/>
                        </a:spcAft>
                      </a:pPr>
                      <a:r>
                        <a:rPr lang="zh-CN" sz="1800" kern="100" dirty="0">
                          <a:effectLst/>
                          <a:latin typeface="+mj-ea"/>
                          <a:ea typeface="+mj-ea"/>
                        </a:rPr>
                        <a:t>描述</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ctr">
                        <a:spcAft>
                          <a:spcPts val="0"/>
                        </a:spcAft>
                      </a:pPr>
                      <a:r>
                        <a:rPr lang="zh-CN" sz="1800" kern="100">
                          <a:effectLst/>
                          <a:latin typeface="+mj-ea"/>
                          <a:ea typeface="+mj-ea"/>
                        </a:rPr>
                        <a:t>示例</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160458786"/>
                  </a:ext>
                </a:extLst>
              </a:tr>
              <a:tr h="815971">
                <a:tc>
                  <a:txBody>
                    <a:bodyPr/>
                    <a:lstStyle/>
                    <a:p>
                      <a:pPr algn="just">
                        <a:spcAft>
                          <a:spcPts val="0"/>
                        </a:spcAft>
                      </a:pPr>
                      <a:r>
                        <a:rPr lang="zh-CN" sz="1800" kern="100" dirty="0">
                          <a:effectLst/>
                          <a:latin typeface="+mj-ea"/>
                          <a:ea typeface="+mj-ea"/>
                        </a:rPr>
                        <a:t>背景</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介绍研究对象具有较强的时代和社会意义</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全过程工程咨询是当前建筑行业推行的主要组织模式改革之一，具有明确的政策导向</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183515682"/>
                  </a:ext>
                </a:extLst>
              </a:tr>
              <a:tr h="577607">
                <a:tc>
                  <a:txBody>
                    <a:bodyPr/>
                    <a:lstStyle/>
                    <a:p>
                      <a:pPr algn="just">
                        <a:spcAft>
                          <a:spcPts val="0"/>
                        </a:spcAft>
                      </a:pPr>
                      <a:r>
                        <a:rPr lang="zh-CN" sz="1800" kern="100">
                          <a:effectLst/>
                          <a:latin typeface="+mj-ea"/>
                          <a:ea typeface="+mj-ea"/>
                        </a:rPr>
                        <a:t>实践问题和需求</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问题包括症状与原因；需求表示实践中的期望</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全过程工程咨询联合不合，原因之一缺乏知识的融合</a:t>
                      </a:r>
                      <a:endParaRPr lang="zh-CN" sz="18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394114250"/>
                  </a:ext>
                </a:extLst>
              </a:tr>
              <a:tr h="616226">
                <a:tc>
                  <a:txBody>
                    <a:bodyPr/>
                    <a:lstStyle/>
                    <a:p>
                      <a:pPr algn="just">
                        <a:spcAft>
                          <a:spcPts val="0"/>
                        </a:spcAft>
                      </a:pPr>
                      <a:r>
                        <a:rPr lang="zh-CN" sz="1800" kern="100">
                          <a:effectLst/>
                          <a:latin typeface="+mj-ea"/>
                          <a:ea typeface="+mj-ea"/>
                        </a:rPr>
                        <a:t>研究不足</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研究存在的不足</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现有理论不能有效解释不同咨询服务共同融合过程中知识如何进行有效融合</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658228689"/>
                  </a:ext>
                </a:extLst>
              </a:tr>
              <a:tr h="430953">
                <a:tc>
                  <a:txBody>
                    <a:bodyPr/>
                    <a:lstStyle/>
                    <a:p>
                      <a:pPr algn="just">
                        <a:spcAft>
                          <a:spcPts val="0"/>
                        </a:spcAft>
                      </a:pPr>
                      <a:r>
                        <a:rPr lang="zh-CN" sz="1800" kern="100">
                          <a:effectLst/>
                          <a:latin typeface="+mj-ea"/>
                          <a:ea typeface="+mj-ea"/>
                        </a:rPr>
                        <a:t>研究问题</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由该研究不足引申的拟解决的研究方面的疑问</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如何有效促进不同咨询服务的知识融合</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124203451"/>
                  </a:ext>
                </a:extLst>
              </a:tr>
              <a:tr h="407986">
                <a:tc>
                  <a:txBody>
                    <a:bodyPr/>
                    <a:lstStyle/>
                    <a:p>
                      <a:pPr algn="just">
                        <a:spcAft>
                          <a:spcPts val="0"/>
                        </a:spcAft>
                      </a:pPr>
                      <a:r>
                        <a:rPr lang="zh-CN" sz="1800" kern="100">
                          <a:effectLst/>
                          <a:latin typeface="+mj-ea"/>
                          <a:ea typeface="+mj-ea"/>
                        </a:rPr>
                        <a:t>研究目标</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有研究问题引出的研究目标</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建立全过程工程咨询知识融合机制</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058399523"/>
                  </a:ext>
                </a:extLst>
              </a:tr>
              <a:tr h="577607">
                <a:tc>
                  <a:txBody>
                    <a:bodyPr/>
                    <a:lstStyle/>
                    <a:p>
                      <a:pPr algn="just">
                        <a:spcAft>
                          <a:spcPts val="0"/>
                        </a:spcAft>
                      </a:pPr>
                      <a:r>
                        <a:rPr lang="zh-CN" sz="1800" kern="100">
                          <a:effectLst/>
                          <a:latin typeface="+mj-ea"/>
                          <a:ea typeface="+mj-ea"/>
                        </a:rPr>
                        <a:t>研究内容</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对几个部分研究内容的总体安排，及内容之间的逻辑关系介绍</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内容一；内容二</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854211418"/>
                  </a:ext>
                </a:extLst>
              </a:tr>
              <a:tr h="866411">
                <a:tc>
                  <a:txBody>
                    <a:bodyPr/>
                    <a:lstStyle/>
                    <a:p>
                      <a:pPr algn="just">
                        <a:spcAft>
                          <a:spcPts val="0"/>
                        </a:spcAft>
                      </a:pPr>
                      <a:r>
                        <a:rPr lang="zh-CN" sz="1800" kern="100">
                          <a:effectLst/>
                          <a:latin typeface="+mj-ea"/>
                          <a:ea typeface="+mj-ea"/>
                        </a:rPr>
                        <a:t>研究意义</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a:effectLst/>
                          <a:latin typeface="+mj-ea"/>
                          <a:ea typeface="+mj-ea"/>
                        </a:rPr>
                        <a:t>解决该研究问题带来的理论和实践价值</a:t>
                      </a:r>
                      <a:endParaRPr lang="zh-CN" sz="18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1800" kern="100" dirty="0">
                          <a:effectLst/>
                          <a:latin typeface="+mj-ea"/>
                          <a:ea typeface="+mj-ea"/>
                        </a:rPr>
                        <a:t>从理论上，将弥补不同咨询服务融合的研究不足；从实践上，有效地促进全过程工程咨询服务的集成和融合。</a:t>
                      </a:r>
                      <a:endParaRPr lang="zh-CN" sz="18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685029078"/>
                  </a:ext>
                </a:extLst>
              </a:tr>
            </a:tbl>
          </a:graphicData>
        </a:graphic>
      </p:graphicFrame>
    </p:spTree>
    <p:extLst>
      <p:ext uri="{BB962C8B-B14F-4D97-AF65-F5344CB8AC3E}">
        <p14:creationId xmlns:p14="http://schemas.microsoft.com/office/powerpoint/2010/main" val="3870145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a:t>
            </a:r>
          </a:p>
        </p:txBody>
      </p:sp>
      <p:sp>
        <p:nvSpPr>
          <p:cNvPr id="5" name="矩形 4">
            <a:extLst>
              <a:ext uri="{FF2B5EF4-FFF2-40B4-BE49-F238E27FC236}">
                <a16:creationId xmlns:a16="http://schemas.microsoft.com/office/drawing/2014/main" id="{7C36DCC7-F607-4010-89DF-29CF3EFBCC4C}"/>
              </a:ext>
            </a:extLst>
          </p:cNvPr>
          <p:cNvSpPr/>
          <p:nvPr/>
        </p:nvSpPr>
        <p:spPr>
          <a:xfrm>
            <a:off x="533400" y="1709139"/>
            <a:ext cx="10652760" cy="2127634"/>
          </a:xfrm>
          <a:prstGeom prst="rect">
            <a:avLst/>
          </a:prstGeom>
          <a:solidFill>
            <a:schemeClr val="accent6">
              <a:lumMod val="20000"/>
              <a:lumOff val="80000"/>
            </a:schemeClr>
          </a:solidFill>
        </p:spPr>
        <p:txBody>
          <a:bodyPr wrap="square">
            <a:spAutoFit/>
          </a:bodyPr>
          <a:lstStyle/>
          <a:p>
            <a:pPr algn="just">
              <a:lnSpc>
                <a:spcPct val="150000"/>
              </a:lnSpc>
              <a:spcAft>
                <a:spcPts val="0"/>
              </a:spcAft>
            </a:pPr>
            <a:r>
              <a:rPr lang="zh-CN" altLang="zh-CN" dirty="0"/>
              <a:t>研究生在开题后的总结中提到，“最终研究背景写作的思路和逻辑大致如下：成本估算的作用及其重要性</a:t>
            </a:r>
            <a:r>
              <a:rPr lang="en-US" altLang="zh-CN" dirty="0"/>
              <a:t>→</a:t>
            </a:r>
            <a:r>
              <a:rPr lang="zh-CN" altLang="zh-CN" dirty="0"/>
              <a:t>成本估算难，面临着两大障碍</a:t>
            </a:r>
            <a:r>
              <a:rPr lang="en-US" altLang="zh-CN" dirty="0"/>
              <a:t>→</a:t>
            </a:r>
            <a:r>
              <a:rPr lang="zh-CN" altLang="zh-CN" dirty="0"/>
              <a:t>对项目早期阶段信息有限的问题进行分析并很简要地说明研究现状</a:t>
            </a:r>
            <a:r>
              <a:rPr lang="en-US" altLang="zh-CN" dirty="0"/>
              <a:t>→</a:t>
            </a:r>
            <a:r>
              <a:rPr lang="zh-CN" altLang="zh-CN" dirty="0"/>
              <a:t>对项目不确定性会引起成本超支的问题进行分析，为什么要研究不确定的问题，并简要地说明研究现状</a:t>
            </a:r>
            <a:r>
              <a:rPr lang="en-US" altLang="zh-CN" dirty="0"/>
              <a:t>→</a:t>
            </a:r>
            <a:r>
              <a:rPr lang="zh-CN" altLang="zh-CN" dirty="0"/>
              <a:t>综合说明本研究的研究目标，即建立一个适用于项目可行性阶段的考虑超支风险的建设项目成本估算模型，该模型能有效提高项目成本估算点值的精确度，同时考虑风险，将成本风险考虑到成本估算中”</a:t>
            </a:r>
            <a:endParaRPr lang="zh-CN" altLang="zh-CN" kern="100" dirty="0">
              <a:latin typeface="+mj-ea"/>
              <a:cs typeface="Times New Roman" panose="02020603050405020304" pitchFamily="18" charset="0"/>
            </a:endParaRPr>
          </a:p>
        </p:txBody>
      </p:sp>
    </p:spTree>
    <p:extLst>
      <p:ext uri="{BB962C8B-B14F-4D97-AF65-F5344CB8AC3E}">
        <p14:creationId xmlns:p14="http://schemas.microsoft.com/office/powerpoint/2010/main" val="3336932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绪论：背景</a:t>
            </a:r>
          </a:p>
        </p:txBody>
      </p:sp>
      <p:sp>
        <p:nvSpPr>
          <p:cNvPr id="3" name="矩形 2">
            <a:extLst>
              <a:ext uri="{FF2B5EF4-FFF2-40B4-BE49-F238E27FC236}">
                <a16:creationId xmlns:a16="http://schemas.microsoft.com/office/drawing/2014/main" id="{1A966626-E6A2-45AA-80BB-29BD5071EE1F}"/>
              </a:ext>
            </a:extLst>
          </p:cNvPr>
          <p:cNvSpPr/>
          <p:nvPr/>
        </p:nvSpPr>
        <p:spPr>
          <a:xfrm>
            <a:off x="399011" y="1225966"/>
            <a:ext cx="10787149" cy="2815451"/>
          </a:xfrm>
          <a:prstGeom prst="rect">
            <a:avLst/>
          </a:prstGeom>
        </p:spPr>
        <p:txBody>
          <a:bodyPr wrap="square">
            <a:spAutoFit/>
          </a:bodyPr>
          <a:lstStyle/>
          <a:p>
            <a:pPr>
              <a:lnSpc>
                <a:spcPct val="150000"/>
              </a:lnSpc>
              <a:spcAft>
                <a:spcPts val="0"/>
              </a:spcAft>
            </a:pPr>
            <a:r>
              <a:rPr lang="zh-CN" altLang="zh-CN" sz="2000" dirty="0">
                <a:latin typeface="+mj-ea"/>
                <a:ea typeface="+mj-ea"/>
              </a:rPr>
              <a:t>背景部分针对实践背景，主要描述针对问题情境的重要性，对研究该情境下的问题具有较好的现实意义。</a:t>
            </a:r>
            <a:endParaRPr lang="en-US" altLang="zh-CN" sz="2000" dirty="0">
              <a:latin typeface="+mj-ea"/>
              <a:ea typeface="+mj-ea"/>
            </a:endParaRPr>
          </a:p>
          <a:p>
            <a:pPr marL="342900" indent="-342900">
              <a:lnSpc>
                <a:spcPct val="150000"/>
              </a:lnSpc>
              <a:spcAft>
                <a:spcPts val="0"/>
              </a:spcAft>
              <a:buFont typeface="Arial" panose="020B0604020202020204" pitchFamily="34" charset="0"/>
              <a:buChar char="•"/>
            </a:pPr>
            <a:r>
              <a:rPr lang="zh-CN" altLang="zh-CN" sz="2000" dirty="0">
                <a:latin typeface="+mj-ea"/>
                <a:ea typeface="+mj-ea"/>
              </a:rPr>
              <a:t>通常是从介绍社会经济发展背景，从而引出解决的问题是该背景下的重要性，以及未来趋势的重要性。可以采用的支撑性材料，如数据、政策等。</a:t>
            </a:r>
            <a:endParaRPr lang="en-US" altLang="zh-CN" sz="2000" dirty="0">
              <a:latin typeface="+mj-ea"/>
              <a:ea typeface="+mj-ea"/>
            </a:endParaRPr>
          </a:p>
          <a:p>
            <a:pPr marL="342900" indent="-342900">
              <a:lnSpc>
                <a:spcPct val="150000"/>
              </a:lnSpc>
              <a:spcAft>
                <a:spcPts val="0"/>
              </a:spcAft>
              <a:buFont typeface="Arial" panose="020B0604020202020204" pitchFamily="34" charset="0"/>
              <a:buChar char="•"/>
            </a:pPr>
            <a:r>
              <a:rPr lang="zh-CN" altLang="zh-CN" sz="2000" dirty="0">
                <a:latin typeface="+mj-ea"/>
                <a:ea typeface="+mj-ea"/>
              </a:rPr>
              <a:t>以某公司为背景的情况下，同时介绍该公司具有某一类背景下的代表性，说明解决该问题的通用性和普遍性的价值。</a:t>
            </a:r>
          </a:p>
        </p:txBody>
      </p:sp>
      <p:sp>
        <p:nvSpPr>
          <p:cNvPr id="4" name="矩形 3">
            <a:extLst>
              <a:ext uri="{FF2B5EF4-FFF2-40B4-BE49-F238E27FC236}">
                <a16:creationId xmlns:a16="http://schemas.microsoft.com/office/drawing/2014/main" id="{90E736F7-EA32-400F-9530-B39DF27810CE}"/>
              </a:ext>
            </a:extLst>
          </p:cNvPr>
          <p:cNvSpPr/>
          <p:nvPr/>
        </p:nvSpPr>
        <p:spPr>
          <a:xfrm>
            <a:off x="612370" y="4459272"/>
            <a:ext cx="10726189" cy="1430456"/>
          </a:xfrm>
          <a:prstGeom prst="rect">
            <a:avLst/>
          </a:prstGeom>
          <a:solidFill>
            <a:schemeClr val="accent6">
              <a:lumMod val="20000"/>
              <a:lumOff val="80000"/>
            </a:schemeClr>
          </a:solidFill>
        </p:spPr>
        <p:txBody>
          <a:bodyPr wrap="square">
            <a:spAutoFit/>
          </a:bodyPr>
          <a:lstStyle/>
          <a:p>
            <a:pPr>
              <a:lnSpc>
                <a:spcPct val="150000"/>
              </a:lnSpc>
              <a:spcAft>
                <a:spcPts val="0"/>
              </a:spcAft>
            </a:pPr>
            <a:r>
              <a:rPr lang="zh-CN" altLang="zh-CN" sz="2000" dirty="0">
                <a:latin typeface="+mj-ea"/>
                <a:ea typeface="+mj-ea"/>
              </a:rPr>
              <a:t>某研究分析工程总承包采用政策作为研究背景的介绍。</a:t>
            </a:r>
            <a:r>
              <a:rPr lang="en-US" altLang="zh-CN" sz="2000" dirty="0">
                <a:latin typeface="+mj-ea"/>
                <a:ea typeface="+mj-ea"/>
              </a:rPr>
              <a:t>2017</a:t>
            </a:r>
            <a:r>
              <a:rPr lang="zh-CN" altLang="zh-CN" sz="2000" dirty="0">
                <a:latin typeface="+mj-ea"/>
                <a:ea typeface="+mj-ea"/>
              </a:rPr>
              <a:t>年</a:t>
            </a:r>
            <a:r>
              <a:rPr lang="en-US" altLang="zh-CN" sz="2000" dirty="0">
                <a:latin typeface="+mj-ea"/>
                <a:ea typeface="+mj-ea"/>
              </a:rPr>
              <a:t>2</a:t>
            </a:r>
            <a:r>
              <a:rPr lang="zh-CN" altLang="zh-CN" sz="2000" dirty="0">
                <a:latin typeface="+mj-ea"/>
                <a:ea typeface="+mj-ea"/>
              </a:rPr>
              <a:t>月，国务院办公厅印发《关于促进建筑业持续健康发展的意见》（国办发〔</a:t>
            </a:r>
            <a:r>
              <a:rPr lang="en-US" altLang="zh-CN" sz="2000" dirty="0">
                <a:latin typeface="+mj-ea"/>
                <a:ea typeface="+mj-ea"/>
              </a:rPr>
              <a:t>2017</a:t>
            </a:r>
            <a:r>
              <a:rPr lang="zh-CN" altLang="zh-CN" sz="2000" dirty="0">
                <a:latin typeface="+mj-ea"/>
                <a:ea typeface="+mj-ea"/>
              </a:rPr>
              <a:t>〕</a:t>
            </a:r>
            <a:r>
              <a:rPr lang="en-US" altLang="zh-CN" sz="2000" dirty="0">
                <a:latin typeface="+mj-ea"/>
                <a:ea typeface="+mj-ea"/>
              </a:rPr>
              <a:t>19</a:t>
            </a:r>
            <a:r>
              <a:rPr lang="zh-CN" altLang="zh-CN" sz="2000" dirty="0">
                <a:latin typeface="+mj-ea"/>
                <a:ea typeface="+mj-ea"/>
              </a:rPr>
              <a:t>号），要求加快推行工程总承包，揭开了新一轮推行工程总承包的帷幕。</a:t>
            </a:r>
          </a:p>
        </p:txBody>
      </p:sp>
    </p:spTree>
    <p:extLst>
      <p:ext uri="{BB962C8B-B14F-4D97-AF65-F5344CB8AC3E}">
        <p14:creationId xmlns:p14="http://schemas.microsoft.com/office/powerpoint/2010/main" val="1621942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绪论：背景</a:t>
            </a:r>
          </a:p>
        </p:txBody>
      </p:sp>
      <p:sp>
        <p:nvSpPr>
          <p:cNvPr id="3" name="矩形 2">
            <a:extLst>
              <a:ext uri="{FF2B5EF4-FFF2-40B4-BE49-F238E27FC236}">
                <a16:creationId xmlns:a16="http://schemas.microsoft.com/office/drawing/2014/main" id="{1A966626-E6A2-45AA-80BB-29BD5071EE1F}"/>
              </a:ext>
            </a:extLst>
          </p:cNvPr>
          <p:cNvSpPr/>
          <p:nvPr/>
        </p:nvSpPr>
        <p:spPr>
          <a:xfrm>
            <a:off x="223157" y="1127994"/>
            <a:ext cx="11217729" cy="1892121"/>
          </a:xfrm>
          <a:prstGeom prst="rect">
            <a:avLst/>
          </a:prstGeom>
        </p:spPr>
        <p:txBody>
          <a:bodyPr wrap="square">
            <a:spAutoFit/>
          </a:bodyPr>
          <a:lstStyle/>
          <a:p>
            <a:pPr algn="just">
              <a:lnSpc>
                <a:spcPct val="150000"/>
              </a:lnSpc>
            </a:pPr>
            <a:r>
              <a:rPr lang="zh-CN" altLang="zh-CN" sz="2000" kern="100" dirty="0">
                <a:latin typeface="+mj-ea"/>
                <a:ea typeface="+mj-ea"/>
                <a:cs typeface="Times New Roman" panose="02020603050405020304" pitchFamily="18" charset="0"/>
              </a:rPr>
              <a:t>背景写作</a:t>
            </a:r>
            <a:r>
              <a:rPr lang="zh-CN" altLang="en-US" sz="2000" kern="100" dirty="0">
                <a:latin typeface="+mj-ea"/>
                <a:ea typeface="+mj-ea"/>
                <a:cs typeface="Times New Roman" panose="02020603050405020304" pitchFamily="18" charset="0"/>
              </a:rPr>
              <a:t>的</a:t>
            </a:r>
            <a:r>
              <a:rPr lang="zh-CN" altLang="zh-CN" sz="2000" kern="100" dirty="0">
                <a:latin typeface="+mj-ea"/>
                <a:ea typeface="+mj-ea"/>
                <a:cs typeface="Times New Roman" panose="02020603050405020304" pitchFamily="18" charset="0"/>
              </a:rPr>
              <a:t>典型问题：</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过于宽泛，对背景的界定不清楚，与研究对象的直接关联性较弱；</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背景与研究问题的支撑性不够；</a:t>
            </a:r>
            <a:endParaRPr lang="en-US" altLang="zh-CN" sz="2000" kern="100" dirty="0">
              <a:latin typeface="+mj-ea"/>
              <a:ea typeface="+mj-ea"/>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背景介绍的内容偏多</a:t>
            </a:r>
            <a:r>
              <a:rPr lang="zh-CN" altLang="zh-CN" sz="2000" kern="100" dirty="0">
                <a:latin typeface="+mj-ea"/>
                <a:cs typeface="Times New Roman" panose="02020603050405020304" pitchFamily="18" charset="0"/>
              </a:rPr>
              <a:t>，</a:t>
            </a:r>
            <a:r>
              <a:rPr lang="zh-CN" altLang="zh-CN" sz="2000" kern="100" dirty="0">
                <a:latin typeface="+mj-ea"/>
                <a:ea typeface="+mj-ea"/>
                <a:cs typeface="Times New Roman" panose="02020603050405020304" pitchFamily="18" charset="0"/>
              </a:rPr>
              <a:t>如超过两页。</a:t>
            </a:r>
          </a:p>
        </p:txBody>
      </p:sp>
      <p:sp>
        <p:nvSpPr>
          <p:cNvPr id="4" name="矩形 3">
            <a:extLst>
              <a:ext uri="{FF2B5EF4-FFF2-40B4-BE49-F238E27FC236}">
                <a16:creationId xmlns:a16="http://schemas.microsoft.com/office/drawing/2014/main" id="{8310996D-1EF2-4520-853F-1A81B147C44C}"/>
              </a:ext>
            </a:extLst>
          </p:cNvPr>
          <p:cNvSpPr/>
          <p:nvPr/>
        </p:nvSpPr>
        <p:spPr>
          <a:xfrm>
            <a:off x="359228" y="3429000"/>
            <a:ext cx="11473543" cy="2543132"/>
          </a:xfrm>
          <a:prstGeom prst="rect">
            <a:avLst/>
          </a:prstGeom>
          <a:solidFill>
            <a:schemeClr val="accent6">
              <a:lumMod val="20000"/>
              <a:lumOff val="80000"/>
            </a:schemeClr>
          </a:solidFill>
        </p:spPr>
        <p:txBody>
          <a:bodyPr wrap="square">
            <a:spAutoFit/>
          </a:bodyPr>
          <a:lstStyle/>
          <a:p>
            <a:pPr>
              <a:lnSpc>
                <a:spcPct val="150000"/>
              </a:lnSpc>
            </a:pPr>
            <a:r>
              <a:rPr lang="zh-CN" altLang="zh-CN" dirty="0">
                <a:latin typeface="+mj-ea"/>
                <a:ea typeface="+mj-ea"/>
                <a:cs typeface="Times New Roman" panose="02020603050405020304" pitchFamily="18" charset="0"/>
              </a:rPr>
              <a:t>课题组的研究生在开题总结中提到，“开题报告中，研究背景是十分重要的，这也是本次开题我的感受之一”，“</a:t>
            </a:r>
            <a:r>
              <a:rPr lang="zh-CN" altLang="zh-CN" dirty="0">
                <a:solidFill>
                  <a:srgbClr val="000000"/>
                </a:solidFill>
                <a:latin typeface="+mj-ea"/>
                <a:ea typeface="+mj-ea"/>
                <a:cs typeface="Times New Roman" panose="02020603050405020304" pitchFamily="18" charset="0"/>
              </a:rPr>
              <a:t>在刚开始撰写开题报告的时候，我对研究背景这一内容的撰写方法是一层一层的从上往下聚焦，但是从答辩后期来看，这样的撰写方法可能会显得较为冗余，而且会把我们的研究重点藏在大量的文字当中，不利于评审老师的寻找。因此，建议在以后开题报告中，针对研究背景可以简洁了当的直接指出，我们要研究的实践问题哪一个点，以及目前在行业的实践当中存在哪些不足。这样在整篇开题报告的最首要的位置就给评审老师一个特别明晰的指示，不至于在答辩时老师没有搞懂你究竟要研究什么问题”。</a:t>
            </a:r>
            <a:endParaRPr lang="zh-CN" altLang="en-US" dirty="0">
              <a:latin typeface="+mj-ea"/>
              <a:ea typeface="+mj-ea"/>
            </a:endParaRPr>
          </a:p>
        </p:txBody>
      </p:sp>
    </p:spTree>
    <p:extLst>
      <p:ext uri="{BB962C8B-B14F-4D97-AF65-F5344CB8AC3E}">
        <p14:creationId xmlns:p14="http://schemas.microsoft.com/office/powerpoint/2010/main" val="173079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370114" y="1073564"/>
            <a:ext cx="10816046" cy="4200445"/>
          </a:xfrm>
          <a:prstGeom prst="rect">
            <a:avLst/>
          </a:prstGeom>
        </p:spPr>
        <p:txBody>
          <a:bodyPr wrap="square">
            <a:spAutoFit/>
          </a:bodyPr>
          <a:lstStyle/>
          <a:p>
            <a:pPr>
              <a:lnSpc>
                <a:spcPct val="150000"/>
              </a:lnSpc>
            </a:pPr>
            <a:r>
              <a:rPr lang="zh-CN" altLang="zh-CN" sz="2000" b="1" kern="100" dirty="0">
                <a:latin typeface="+mj-ea"/>
                <a:ea typeface="+mj-ea"/>
                <a:cs typeface="Times New Roman" panose="02020603050405020304" pitchFamily="18" charset="0"/>
              </a:rPr>
              <a:t>实践问题</a:t>
            </a:r>
            <a:endParaRPr lang="en-US" altLang="zh-CN" sz="2000" b="1" kern="100" dirty="0">
              <a:latin typeface="+mj-ea"/>
              <a:ea typeface="+mj-ea"/>
              <a:cs typeface="Times New Roman" panose="02020603050405020304" pitchFamily="18" charset="0"/>
            </a:endParaRPr>
          </a:p>
          <a:p>
            <a:pPr>
              <a:lnSpc>
                <a:spcPct val="150000"/>
              </a:lnSpc>
            </a:pPr>
            <a:r>
              <a:rPr lang="zh-CN" altLang="zh-CN" sz="2000" kern="100" dirty="0">
                <a:latin typeface="+mj-ea"/>
                <a:ea typeface="+mj-ea"/>
                <a:cs typeface="Times New Roman" panose="02020603050405020304" pitchFamily="18" charset="0"/>
              </a:rPr>
              <a:t>实践问题主要是陈述问题的症状与原因。可以从实践问题的构成要素进行说明，其中包括情境、症状、原因等。</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实践问题的重要性。</a:t>
            </a:r>
          </a:p>
          <a:p>
            <a:pPr marL="342900" indent="-3429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实践问题的陈述。可从构成要素进行说明，包括情境、症状、原因等</a:t>
            </a:r>
            <a:r>
              <a:rPr lang="zh-CN" altLang="en-US" sz="2000" kern="100" dirty="0">
                <a:latin typeface="+mj-ea"/>
                <a:ea typeface="+mj-ea"/>
                <a:cs typeface="Times New Roman" panose="02020603050405020304" pitchFamily="18" charset="0"/>
              </a:rPr>
              <a:t>。</a:t>
            </a:r>
            <a:endParaRPr lang="en-US" altLang="zh-CN" sz="2000" kern="100" dirty="0">
              <a:latin typeface="+mj-ea"/>
              <a:ea typeface="+mj-ea"/>
              <a:cs typeface="Times New Roman" panose="02020603050405020304" pitchFamily="18" charset="0"/>
            </a:endParaRPr>
          </a:p>
          <a:p>
            <a:pPr algn="just">
              <a:lnSpc>
                <a:spcPct val="150000"/>
              </a:lnSpc>
            </a:pPr>
            <a:endParaRPr lang="en-US" altLang="zh-CN" sz="2000" kern="100" dirty="0">
              <a:latin typeface="+mj-ea"/>
              <a:cs typeface="Times New Roman" panose="02020603050405020304" pitchFamily="18" charset="0"/>
            </a:endParaRPr>
          </a:p>
          <a:p>
            <a:pPr algn="just">
              <a:lnSpc>
                <a:spcPct val="150000"/>
              </a:lnSpc>
            </a:pPr>
            <a:r>
              <a:rPr lang="zh-CN" altLang="zh-CN" sz="2000" kern="100" dirty="0">
                <a:latin typeface="+mj-ea"/>
                <a:cs typeface="Times New Roman" panose="02020603050405020304" pitchFamily="18" charset="0"/>
              </a:rPr>
              <a:t>背景写作</a:t>
            </a:r>
            <a:r>
              <a:rPr lang="zh-CN" altLang="en-US" sz="2000" kern="100" dirty="0">
                <a:latin typeface="+mj-ea"/>
                <a:cs typeface="Times New Roman" panose="02020603050405020304" pitchFamily="18" charset="0"/>
              </a:rPr>
              <a:t>的</a:t>
            </a:r>
            <a:r>
              <a:rPr lang="zh-CN" altLang="zh-CN" sz="2000" kern="100" dirty="0">
                <a:latin typeface="+mj-ea"/>
                <a:cs typeface="Times New Roman" panose="02020603050405020304" pitchFamily="18" charset="0"/>
              </a:rPr>
              <a:t>典型问题：</a:t>
            </a:r>
            <a:endParaRPr lang="en-US" altLang="zh-CN" sz="2000" kern="100" dirty="0">
              <a:latin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未清晰说明解决该问题对企业、行业发展的重要性，或者是支撑力度较弱，如缺乏数据支撑。</a:t>
            </a:r>
          </a:p>
          <a:p>
            <a:pPr marL="285750" indent="-285750" algn="just">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对实践问题的陈述较为模糊，与研究问题的对应性不够。</a:t>
            </a:r>
            <a:endParaRPr lang="en-US" altLang="zh-CN" sz="2000"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2323414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5E6E40-0954-4A3F-A603-47E861AFE06C}"/>
              </a:ext>
            </a:extLst>
          </p:cNvPr>
          <p:cNvSpPr/>
          <p:nvPr/>
        </p:nvSpPr>
        <p:spPr>
          <a:xfrm>
            <a:off x="391885" y="1036320"/>
            <a:ext cx="10893335" cy="5036122"/>
          </a:xfrm>
          <a:prstGeom prst="rect">
            <a:avLst/>
          </a:prstGeom>
        </p:spPr>
        <p:txBody>
          <a:bodyPr wrap="square">
            <a:spAutoFit/>
          </a:bodyPr>
          <a:lstStyle/>
          <a:p>
            <a:pPr algn="just">
              <a:lnSpc>
                <a:spcPct val="150000"/>
              </a:lnSpc>
            </a:pPr>
            <a:r>
              <a:rPr lang="zh-CN" altLang="zh-CN" b="1" kern="100" dirty="0">
                <a:latin typeface="+mj-ea"/>
                <a:ea typeface="+mj-ea"/>
                <a:cs typeface="Times New Roman" panose="02020603050405020304" pitchFamily="18" charset="0"/>
              </a:rPr>
              <a:t>研究问题与研究目标</a:t>
            </a:r>
          </a:p>
          <a:p>
            <a:pPr algn="just">
              <a:lnSpc>
                <a:spcPct val="150000"/>
              </a:lnSpc>
            </a:pPr>
            <a:r>
              <a:rPr lang="en-US" altLang="zh-CN" b="1" kern="100" dirty="0">
                <a:latin typeface="+mj-ea"/>
                <a:ea typeface="+mj-ea"/>
                <a:cs typeface="Times New Roman" panose="02020603050405020304" pitchFamily="18" charset="0"/>
              </a:rPr>
              <a:t>1</a:t>
            </a:r>
            <a:r>
              <a:rPr lang="zh-CN" altLang="zh-CN" b="1" kern="100" dirty="0">
                <a:latin typeface="+mj-ea"/>
                <a:ea typeface="+mj-ea"/>
                <a:cs typeface="Times New Roman" panose="02020603050405020304" pitchFamily="18" charset="0"/>
              </a:rPr>
              <a:t>）研究不足</a:t>
            </a:r>
          </a:p>
          <a:p>
            <a:pPr algn="just">
              <a:lnSpc>
                <a:spcPct val="150000"/>
              </a:lnSpc>
            </a:pPr>
            <a:r>
              <a:rPr lang="zh-CN" altLang="zh-CN" kern="100" dirty="0">
                <a:latin typeface="+mj-ea"/>
                <a:ea typeface="+mj-ea"/>
                <a:cs typeface="Times New Roman" panose="02020603050405020304" pitchFamily="18" charset="0"/>
              </a:rPr>
              <a:t>研究不足表达中常用句式：</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已有理论尚无法有效指导实践；</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目前针对</a:t>
            </a:r>
            <a:r>
              <a:rPr lang="en-US" altLang="zh-CN" kern="100" dirty="0">
                <a:latin typeface="+mj-ea"/>
                <a:ea typeface="+mj-ea"/>
                <a:cs typeface="Times New Roman" panose="02020603050405020304" pitchFamily="18" charset="0"/>
              </a:rPr>
              <a:t>A</a:t>
            </a:r>
            <a:r>
              <a:rPr lang="zh-CN" altLang="zh-CN" kern="100" dirty="0">
                <a:latin typeface="+mj-ea"/>
                <a:ea typeface="+mj-ea"/>
                <a:cs typeface="Times New Roman" panose="02020603050405020304" pitchFamily="18" charset="0"/>
              </a:rPr>
              <a:t>问题的研究还较为匮乏，对</a:t>
            </a:r>
            <a:r>
              <a:rPr lang="en-US" altLang="zh-CN" kern="100" dirty="0">
                <a:latin typeface="+mj-ea"/>
                <a:ea typeface="+mj-ea"/>
                <a:cs typeface="Times New Roman" panose="02020603050405020304" pitchFamily="18" charset="0"/>
              </a:rPr>
              <a:t>A</a:t>
            </a:r>
            <a:r>
              <a:rPr lang="zh-CN" altLang="zh-CN" kern="100" dirty="0">
                <a:latin typeface="+mj-ea"/>
                <a:ea typeface="+mj-ea"/>
                <a:cs typeface="Times New Roman" panose="02020603050405020304" pitchFamily="18" charset="0"/>
              </a:rPr>
              <a:t>问题的规律性认知不足；</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当前研究在某问题方面积累了丰富的研究成果，但主要针对</a:t>
            </a:r>
            <a:r>
              <a:rPr lang="en-US" altLang="zh-CN" kern="100" dirty="0">
                <a:latin typeface="+mj-ea"/>
                <a:ea typeface="+mj-ea"/>
                <a:cs typeface="Times New Roman" panose="02020603050405020304" pitchFamily="18" charset="0"/>
              </a:rPr>
              <a:t>A</a:t>
            </a:r>
            <a:r>
              <a:rPr lang="zh-CN" altLang="zh-CN" kern="100" dirty="0">
                <a:latin typeface="+mj-ea"/>
                <a:ea typeface="+mj-ea"/>
                <a:cs typeface="Times New Roman" panose="02020603050405020304" pitchFamily="18" charset="0"/>
              </a:rPr>
              <a:t>问题方面，对</a:t>
            </a:r>
            <a:r>
              <a:rPr lang="en-US" altLang="zh-CN" kern="100" dirty="0">
                <a:latin typeface="+mj-ea"/>
                <a:ea typeface="+mj-ea"/>
                <a:cs typeface="Times New Roman" panose="02020603050405020304" pitchFamily="18" charset="0"/>
              </a:rPr>
              <a:t>B</a:t>
            </a:r>
            <a:r>
              <a:rPr lang="zh-CN" altLang="zh-CN" kern="100" dirty="0">
                <a:latin typeface="+mj-ea"/>
                <a:ea typeface="+mj-ea"/>
                <a:cs typeface="Times New Roman" panose="02020603050405020304" pitchFamily="18" charset="0"/>
              </a:rPr>
              <a:t>问题的研究还缺乏有效的理论支撑；</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对</a:t>
            </a:r>
            <a:r>
              <a:rPr lang="en-US" altLang="zh-CN" kern="100" dirty="0">
                <a:latin typeface="+mj-ea"/>
                <a:ea typeface="+mj-ea"/>
                <a:cs typeface="Times New Roman" panose="02020603050405020304" pitchFamily="18" charset="0"/>
              </a:rPr>
              <a:t>A</a:t>
            </a:r>
            <a:r>
              <a:rPr lang="zh-CN" altLang="zh-CN" kern="100" dirty="0">
                <a:latin typeface="+mj-ea"/>
                <a:ea typeface="+mj-ea"/>
                <a:cs typeface="Times New Roman" panose="02020603050405020304" pitchFamily="18" charset="0"/>
              </a:rPr>
              <a:t>问题的实践尚缺乏针对性的研究。</a:t>
            </a:r>
          </a:p>
          <a:p>
            <a:pPr algn="just">
              <a:lnSpc>
                <a:spcPct val="150000"/>
              </a:lnSpc>
            </a:pPr>
            <a:r>
              <a:rPr lang="zh-CN" altLang="zh-CN" kern="100" dirty="0">
                <a:latin typeface="+mj-ea"/>
                <a:ea typeface="+mj-ea"/>
                <a:cs typeface="Times New Roman" panose="02020603050405020304" pitchFamily="18" charset="0"/>
              </a:rPr>
              <a:t>研究不足确定和呈现中，常有以下问题：</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缺少研究不足这部分陈述。常与实践问题相互混淆，呈现的是实践的不足，而不是研究不足。</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提供的综述的内容不能有效支撑研究不足的提出。</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呈现的研究不足与拟提出的解决方案的对应性不强，难以通过研究予以弥补。或者是研究不足过于宽泛。</a:t>
            </a:r>
          </a:p>
        </p:txBody>
      </p:sp>
      <p:sp>
        <p:nvSpPr>
          <p:cNvPr id="3" name="标题 1">
            <a:extLst>
              <a:ext uri="{FF2B5EF4-FFF2-40B4-BE49-F238E27FC236}">
                <a16:creationId xmlns:a16="http://schemas.microsoft.com/office/drawing/2014/main" id="{7DE370BF-4FFC-DF48-ACFE-9B645678AA1E}"/>
              </a:ext>
            </a:extLst>
          </p:cNvPr>
          <p:cNvSpPr txBox="1">
            <a:spLocks/>
          </p:cNvSpPr>
          <p:nvPr/>
        </p:nvSpPr>
        <p:spPr>
          <a:xfrm>
            <a:off x="1745673" y="403860"/>
            <a:ext cx="942524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Tree>
    <p:extLst>
      <p:ext uri="{BB962C8B-B14F-4D97-AF65-F5344CB8AC3E}">
        <p14:creationId xmlns:p14="http://schemas.microsoft.com/office/powerpoint/2010/main" val="3861613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370114" y="1073564"/>
            <a:ext cx="10816046" cy="3277116"/>
          </a:xfrm>
          <a:prstGeom prst="rect">
            <a:avLst/>
          </a:prstGeom>
        </p:spPr>
        <p:txBody>
          <a:bodyPr wrap="square">
            <a:spAutoFit/>
          </a:bodyPr>
          <a:lstStyle/>
          <a:p>
            <a:pPr>
              <a:lnSpc>
                <a:spcPct val="150000"/>
              </a:lnSpc>
            </a:pPr>
            <a:r>
              <a:rPr lang="zh-CN" altLang="zh-CN" sz="2000" b="1" kern="100" dirty="0">
                <a:latin typeface="+mj-ea"/>
                <a:ea typeface="+mj-ea"/>
                <a:cs typeface="Times New Roman" panose="02020603050405020304" pitchFamily="18" charset="0"/>
              </a:rPr>
              <a:t>研究不足、研究问题和研究目标之间存在紧密的逻辑关系。</a:t>
            </a:r>
            <a:endParaRPr lang="en-US" altLang="zh-CN" sz="2000" b="1" kern="100" dirty="0">
              <a:latin typeface="+mj-ea"/>
              <a:ea typeface="+mj-ea"/>
              <a:cs typeface="Times New Roman" panose="02020603050405020304" pitchFamily="18" charset="0"/>
            </a:endParaRPr>
          </a:p>
          <a:p>
            <a:pPr>
              <a:lnSpc>
                <a:spcPct val="150000"/>
              </a:lnSpc>
            </a:pPr>
            <a:r>
              <a:rPr lang="zh-CN" altLang="zh-CN" sz="2000" kern="100" dirty="0">
                <a:latin typeface="+mj-ea"/>
                <a:ea typeface="+mj-ea"/>
                <a:cs typeface="Times New Roman" panose="02020603050405020304" pitchFamily="18" charset="0"/>
              </a:rPr>
              <a:t>研究不足表达的常用句式：</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已有理论尚无法有效指导实践；</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目前针对</a:t>
            </a:r>
            <a:r>
              <a:rPr lang="en-US" altLang="zh-CN" sz="2000" kern="100" dirty="0">
                <a:latin typeface="+mj-ea"/>
                <a:ea typeface="+mj-ea"/>
                <a:cs typeface="Times New Roman" panose="02020603050405020304" pitchFamily="18" charset="0"/>
              </a:rPr>
              <a:t>A</a:t>
            </a:r>
            <a:r>
              <a:rPr lang="zh-CN" altLang="zh-CN" sz="2000" kern="100" dirty="0">
                <a:latin typeface="+mj-ea"/>
                <a:ea typeface="+mj-ea"/>
                <a:cs typeface="Times New Roman" panose="02020603050405020304" pitchFamily="18" charset="0"/>
              </a:rPr>
              <a:t>问题的研究还较为匮乏，对</a:t>
            </a:r>
            <a:r>
              <a:rPr lang="en-US" altLang="zh-CN" sz="2000" kern="100" dirty="0">
                <a:latin typeface="+mj-ea"/>
                <a:ea typeface="+mj-ea"/>
                <a:cs typeface="Times New Roman" panose="02020603050405020304" pitchFamily="18" charset="0"/>
              </a:rPr>
              <a:t>A</a:t>
            </a:r>
            <a:r>
              <a:rPr lang="zh-CN" altLang="zh-CN" sz="2000" kern="100" dirty="0">
                <a:latin typeface="+mj-ea"/>
                <a:ea typeface="+mj-ea"/>
                <a:cs typeface="Times New Roman" panose="02020603050405020304" pitchFamily="18" charset="0"/>
              </a:rPr>
              <a:t>问题的规律性认知不足；</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当前研究在某问题方面积累了丰富的研究成果，但主要针对</a:t>
            </a:r>
            <a:r>
              <a:rPr lang="en-US" altLang="zh-CN" sz="2000" kern="100" dirty="0">
                <a:latin typeface="+mj-ea"/>
                <a:ea typeface="+mj-ea"/>
                <a:cs typeface="Times New Roman" panose="02020603050405020304" pitchFamily="18" charset="0"/>
              </a:rPr>
              <a:t>A</a:t>
            </a:r>
            <a:r>
              <a:rPr lang="zh-CN" altLang="zh-CN" sz="2000" kern="100" dirty="0">
                <a:latin typeface="+mj-ea"/>
                <a:ea typeface="+mj-ea"/>
                <a:cs typeface="Times New Roman" panose="02020603050405020304" pitchFamily="18" charset="0"/>
              </a:rPr>
              <a:t>问题方面，对</a:t>
            </a:r>
            <a:r>
              <a:rPr lang="en-US" altLang="zh-CN" sz="2000" kern="100" dirty="0">
                <a:latin typeface="+mj-ea"/>
                <a:ea typeface="+mj-ea"/>
                <a:cs typeface="Times New Roman" panose="02020603050405020304" pitchFamily="18" charset="0"/>
              </a:rPr>
              <a:t>B</a:t>
            </a:r>
            <a:r>
              <a:rPr lang="zh-CN" altLang="zh-CN" sz="2000" kern="100" dirty="0">
                <a:latin typeface="+mj-ea"/>
                <a:ea typeface="+mj-ea"/>
                <a:cs typeface="Times New Roman" panose="02020603050405020304" pitchFamily="18" charset="0"/>
              </a:rPr>
              <a:t>问题的研究还缺乏有效的理论支撑；</a:t>
            </a:r>
            <a:endParaRPr lang="en-US" altLang="zh-CN" sz="2000" kern="100" dirty="0">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zh-CN" sz="2000" kern="100" dirty="0">
                <a:latin typeface="+mj-ea"/>
                <a:ea typeface="+mj-ea"/>
                <a:cs typeface="Times New Roman" panose="02020603050405020304" pitchFamily="18" charset="0"/>
              </a:rPr>
              <a:t>对</a:t>
            </a:r>
            <a:r>
              <a:rPr lang="en-US" altLang="zh-CN" sz="2000" kern="100" dirty="0">
                <a:latin typeface="+mj-ea"/>
                <a:ea typeface="+mj-ea"/>
                <a:cs typeface="Times New Roman" panose="02020603050405020304" pitchFamily="18" charset="0"/>
              </a:rPr>
              <a:t>A</a:t>
            </a:r>
            <a:r>
              <a:rPr lang="zh-CN" altLang="zh-CN" sz="2000" kern="100" dirty="0">
                <a:latin typeface="+mj-ea"/>
                <a:ea typeface="+mj-ea"/>
                <a:cs typeface="Times New Roman" panose="02020603050405020304" pitchFamily="18" charset="0"/>
              </a:rPr>
              <a:t>问题的实践尚缺乏针对性的研究。</a:t>
            </a:r>
          </a:p>
        </p:txBody>
      </p:sp>
    </p:spTree>
    <p:extLst>
      <p:ext uri="{BB962C8B-B14F-4D97-AF65-F5344CB8AC3E}">
        <p14:creationId xmlns:p14="http://schemas.microsoft.com/office/powerpoint/2010/main" val="173916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359228" y="1127994"/>
            <a:ext cx="10826932" cy="2353786"/>
          </a:xfrm>
          <a:prstGeom prst="rect">
            <a:avLst/>
          </a:prstGeom>
        </p:spPr>
        <p:txBody>
          <a:bodyPr wrap="square">
            <a:spAutoFit/>
          </a:bodyPr>
          <a:lstStyle/>
          <a:p>
            <a:pPr>
              <a:lnSpc>
                <a:spcPct val="150000"/>
              </a:lnSpc>
            </a:pPr>
            <a:r>
              <a:rPr lang="zh-CN" altLang="zh-CN" sz="2000" b="1" dirty="0">
                <a:latin typeface="+mj-ea"/>
                <a:ea typeface="+mj-ea"/>
              </a:rPr>
              <a:t>研究不足</a:t>
            </a:r>
            <a:r>
              <a:rPr lang="zh-CN" altLang="zh-CN" sz="2000" dirty="0">
                <a:latin typeface="+mj-ea"/>
                <a:ea typeface="+mj-ea"/>
              </a:rPr>
              <a:t>常有以下问题：</a:t>
            </a:r>
          </a:p>
          <a:p>
            <a:pPr marL="285750" indent="-285750">
              <a:lnSpc>
                <a:spcPct val="150000"/>
              </a:lnSpc>
              <a:buFont typeface="Arial" panose="020B0604020202020204" pitchFamily="34" charset="0"/>
              <a:buChar char="•"/>
            </a:pPr>
            <a:r>
              <a:rPr lang="zh-CN" altLang="zh-CN" sz="2000" dirty="0">
                <a:latin typeface="+mj-ea"/>
                <a:ea typeface="+mj-ea"/>
              </a:rPr>
              <a:t>缺少研究不足这部分陈述。常与实践问题相互混淆，呈现的是实践问题</a:t>
            </a:r>
            <a:r>
              <a:rPr lang="zh-CN" altLang="zh-CN" sz="2000" kern="100" dirty="0">
                <a:latin typeface="+mj-ea"/>
                <a:cs typeface="Times New Roman" panose="02020603050405020304" pitchFamily="18" charset="0"/>
              </a:rPr>
              <a:t>，而不是研究不足</a:t>
            </a:r>
            <a:r>
              <a:rPr lang="zh-CN" altLang="zh-CN" sz="2000" dirty="0">
                <a:latin typeface="+mj-ea"/>
                <a:ea typeface="+mj-ea"/>
              </a:rPr>
              <a:t>。</a:t>
            </a:r>
          </a:p>
          <a:p>
            <a:pPr marL="285750" indent="-285750">
              <a:lnSpc>
                <a:spcPct val="150000"/>
              </a:lnSpc>
              <a:buFont typeface="Arial" panose="020B0604020202020204" pitchFamily="34" charset="0"/>
              <a:buChar char="•"/>
            </a:pPr>
            <a:r>
              <a:rPr lang="zh-CN" altLang="zh-CN" sz="2000" dirty="0">
                <a:latin typeface="+mj-ea"/>
                <a:ea typeface="+mj-ea"/>
              </a:rPr>
              <a:t>提供的综述的内容不能有效支撑研究不足的提出。</a:t>
            </a:r>
          </a:p>
          <a:p>
            <a:pPr marL="285750" indent="-285750">
              <a:lnSpc>
                <a:spcPct val="150000"/>
              </a:lnSpc>
              <a:buFont typeface="Arial" panose="020B0604020202020204" pitchFamily="34" charset="0"/>
              <a:buChar char="•"/>
            </a:pPr>
            <a:r>
              <a:rPr lang="zh-CN" altLang="zh-CN" sz="2000" dirty="0">
                <a:latin typeface="+mj-ea"/>
                <a:ea typeface="+mj-ea"/>
              </a:rPr>
              <a:t>呈现的研究不足与拟提出的解决方案的对应性不强，难以通过研究予以弥补，或者是研究不足过于宽泛。</a:t>
            </a:r>
            <a:endParaRPr lang="zh-CN" altLang="zh-CN" sz="2000" kern="100" dirty="0">
              <a:latin typeface="+mj-ea"/>
              <a:ea typeface="+mj-ea"/>
              <a:cs typeface="Times New Roman" panose="02020603050405020304" pitchFamily="18" charset="0"/>
            </a:endParaRPr>
          </a:p>
        </p:txBody>
      </p:sp>
      <p:sp>
        <p:nvSpPr>
          <p:cNvPr id="4" name="矩形 3">
            <a:extLst>
              <a:ext uri="{FF2B5EF4-FFF2-40B4-BE49-F238E27FC236}">
                <a16:creationId xmlns:a16="http://schemas.microsoft.com/office/drawing/2014/main" id="{53F1D57B-6C4B-4237-B4E8-E42C1F0F8D7A}"/>
              </a:ext>
            </a:extLst>
          </p:cNvPr>
          <p:cNvSpPr/>
          <p:nvPr/>
        </p:nvSpPr>
        <p:spPr>
          <a:xfrm>
            <a:off x="359228" y="3963063"/>
            <a:ext cx="11244943" cy="2353786"/>
          </a:xfrm>
          <a:prstGeom prst="rect">
            <a:avLst/>
          </a:prstGeom>
          <a:solidFill>
            <a:schemeClr val="accent6">
              <a:lumMod val="20000"/>
              <a:lumOff val="80000"/>
            </a:schemeClr>
          </a:solidFill>
        </p:spPr>
        <p:txBody>
          <a:bodyPr wrap="square">
            <a:spAutoFit/>
          </a:bodyPr>
          <a:lstStyle/>
          <a:p>
            <a:pPr>
              <a:lnSpc>
                <a:spcPct val="150000"/>
              </a:lnSpc>
            </a:pPr>
            <a:r>
              <a:rPr lang="zh-CN" altLang="zh-CN" sz="2000" dirty="0">
                <a:solidFill>
                  <a:srgbClr val="000000"/>
                </a:solidFill>
                <a:latin typeface="+mj-ea"/>
                <a:ea typeface="+mj-ea"/>
                <a:cs typeface="Times New Roman" panose="02020603050405020304" pitchFamily="18" charset="0"/>
              </a:rPr>
              <a:t>某研究在综述度量风险相关性的方法（如混合模糊系统动力学模型、设计结构矩阵等）后，提出“现有的方法在使用中仍存在一定缺点和局限性”“仍无法较好地处理专家判断的主观性问题”两个研究不足。前一个研究不足过于宽泛，应当明确缺点和局限性；后一个研究不足包含的内容太宽，“专家判断的主观性问题”是一个很普遍性的现象和问题，一方面难以提出充分的证据来说明这是一个突出的研究问题，另一方面，这种研究不足也不容易被进一步的研究所弥补。</a:t>
            </a:r>
            <a:endParaRPr lang="zh-CN" altLang="en-US" sz="2000" dirty="0">
              <a:solidFill>
                <a:srgbClr val="000000"/>
              </a:solidFill>
              <a:latin typeface="+mj-ea"/>
              <a:ea typeface="+mj-ea"/>
              <a:cs typeface="Times New Roman" panose="02020603050405020304" pitchFamily="18" charset="0"/>
            </a:endParaRPr>
          </a:p>
        </p:txBody>
      </p:sp>
    </p:spTree>
    <p:extLst>
      <p:ext uri="{BB962C8B-B14F-4D97-AF65-F5344CB8AC3E}">
        <p14:creationId xmlns:p14="http://schemas.microsoft.com/office/powerpoint/2010/main" val="1448123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468086" y="1061494"/>
            <a:ext cx="10718074" cy="1430456"/>
          </a:xfrm>
          <a:prstGeom prst="rect">
            <a:avLst/>
          </a:prstGeom>
        </p:spPr>
        <p:txBody>
          <a:bodyPr wrap="square">
            <a:spAutoFit/>
          </a:bodyPr>
          <a:lstStyle/>
          <a:p>
            <a:pPr>
              <a:lnSpc>
                <a:spcPct val="150000"/>
              </a:lnSpc>
            </a:pPr>
            <a:r>
              <a:rPr lang="zh-CN" altLang="zh-CN" sz="2000" b="1" dirty="0">
                <a:latin typeface="+mj-ea"/>
                <a:ea typeface="+mj-ea"/>
              </a:rPr>
              <a:t>研究问题</a:t>
            </a:r>
            <a:r>
              <a:rPr lang="zh-CN" altLang="en-US" sz="2000" b="1" dirty="0">
                <a:latin typeface="+mj-ea"/>
                <a:ea typeface="+mj-ea"/>
              </a:rPr>
              <a:t>：</a:t>
            </a:r>
            <a:r>
              <a:rPr lang="zh-CN" altLang="zh-CN" sz="2000" dirty="0">
                <a:latin typeface="+mj-ea"/>
                <a:ea typeface="+mj-ea"/>
              </a:rPr>
              <a:t>研究问题通常采用问句的形式进行描述。</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通常包括是什么（</a:t>
            </a:r>
            <a:r>
              <a:rPr lang="en-US" altLang="zh-CN" sz="2000" dirty="0">
                <a:latin typeface="+mj-ea"/>
                <a:ea typeface="+mj-ea"/>
              </a:rPr>
              <a:t>what</a:t>
            </a:r>
            <a:r>
              <a:rPr lang="zh-CN" altLang="zh-CN" sz="2000" dirty="0">
                <a:latin typeface="+mj-ea"/>
                <a:ea typeface="+mj-ea"/>
              </a:rPr>
              <a:t>）、为什么（</a:t>
            </a:r>
            <a:r>
              <a:rPr lang="en-US" altLang="zh-CN" sz="2000" dirty="0">
                <a:latin typeface="+mj-ea"/>
                <a:ea typeface="+mj-ea"/>
              </a:rPr>
              <a:t>why</a:t>
            </a:r>
            <a:r>
              <a:rPr lang="zh-CN" altLang="zh-CN" sz="2000" dirty="0">
                <a:latin typeface="+mj-ea"/>
                <a:ea typeface="+mj-ea"/>
              </a:rPr>
              <a:t>）、如何（</a:t>
            </a:r>
            <a:r>
              <a:rPr lang="en-US" altLang="zh-CN" sz="2000" dirty="0">
                <a:latin typeface="+mj-ea"/>
                <a:ea typeface="+mj-ea"/>
              </a:rPr>
              <a:t>how to</a:t>
            </a:r>
            <a:r>
              <a:rPr lang="zh-CN" altLang="zh-CN" sz="2000" dirty="0">
                <a:latin typeface="+mj-ea"/>
                <a:ea typeface="+mj-ea"/>
              </a:rPr>
              <a:t>）等问题形式。</a:t>
            </a:r>
          </a:p>
          <a:p>
            <a:pPr>
              <a:lnSpc>
                <a:spcPct val="150000"/>
              </a:lnSpc>
            </a:pPr>
            <a:endParaRPr lang="zh-CN" altLang="zh-CN" sz="2000" kern="100" dirty="0">
              <a:latin typeface="+mj-ea"/>
              <a:ea typeface="+mj-ea"/>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FD16C55C-4E89-4D7D-8E7B-65B53A0789E7}"/>
              </a:ext>
            </a:extLst>
          </p:cNvPr>
          <p:cNvGraphicFramePr>
            <a:graphicFrameLocks noGrp="1"/>
          </p:cNvGraphicFramePr>
          <p:nvPr>
            <p:extLst>
              <p:ext uri="{D42A27DB-BD31-4B8C-83A1-F6EECF244321}">
                <p14:modId xmlns:p14="http://schemas.microsoft.com/office/powerpoint/2010/main" val="204215920"/>
              </p:ext>
            </p:extLst>
          </p:nvPr>
        </p:nvGraphicFramePr>
        <p:xfrm>
          <a:off x="351122" y="2673271"/>
          <a:ext cx="11625944" cy="3780869"/>
        </p:xfrm>
        <a:graphic>
          <a:graphicData uri="http://schemas.openxmlformats.org/drawingml/2006/table">
            <a:tbl>
              <a:tblPr firstRow="1" bandRow="1">
                <a:tableStyleId>{5C22544A-7EE6-4342-B048-85BDC9FD1C3A}</a:tableStyleId>
              </a:tblPr>
              <a:tblGrid>
                <a:gridCol w="2035629">
                  <a:extLst>
                    <a:ext uri="{9D8B030D-6E8A-4147-A177-3AD203B41FA5}">
                      <a16:colId xmlns:a16="http://schemas.microsoft.com/office/drawing/2014/main" val="1860098216"/>
                    </a:ext>
                  </a:extLst>
                </a:gridCol>
                <a:gridCol w="5330628">
                  <a:extLst>
                    <a:ext uri="{9D8B030D-6E8A-4147-A177-3AD203B41FA5}">
                      <a16:colId xmlns:a16="http://schemas.microsoft.com/office/drawing/2014/main" val="588225866"/>
                    </a:ext>
                  </a:extLst>
                </a:gridCol>
                <a:gridCol w="4259687">
                  <a:extLst>
                    <a:ext uri="{9D8B030D-6E8A-4147-A177-3AD203B41FA5}">
                      <a16:colId xmlns:a16="http://schemas.microsoft.com/office/drawing/2014/main" val="3767634572"/>
                    </a:ext>
                  </a:extLst>
                </a:gridCol>
              </a:tblGrid>
              <a:tr h="324928">
                <a:tc>
                  <a:txBody>
                    <a:bodyPr/>
                    <a:lstStyle/>
                    <a:p>
                      <a:pPr algn="ctr">
                        <a:spcAft>
                          <a:spcPts val="0"/>
                        </a:spcAft>
                      </a:pPr>
                      <a:r>
                        <a:rPr lang="zh-CN" sz="1200" kern="100">
                          <a:effectLst/>
                        </a:rPr>
                        <a:t>研究主题</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ctr">
                        <a:spcAft>
                          <a:spcPts val="0"/>
                        </a:spcAft>
                      </a:pPr>
                      <a:r>
                        <a:rPr lang="zh-CN" sz="1200" kern="100" dirty="0">
                          <a:effectLst/>
                        </a:rPr>
                        <a:t>研究不足</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ctr">
                        <a:spcAft>
                          <a:spcPts val="0"/>
                        </a:spcAft>
                      </a:pPr>
                      <a:r>
                        <a:rPr lang="zh-CN" sz="1200" kern="100">
                          <a:effectLst/>
                        </a:rPr>
                        <a:t>研究问题</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extLst>
                  <a:ext uri="{0D108BD9-81ED-4DB2-BD59-A6C34878D82A}">
                    <a16:rowId xmlns:a16="http://schemas.microsoft.com/office/drawing/2014/main" val="2025541778"/>
                  </a:ext>
                </a:extLst>
              </a:tr>
              <a:tr h="682188">
                <a:tc>
                  <a:txBody>
                    <a:bodyPr/>
                    <a:lstStyle/>
                    <a:p>
                      <a:pPr algn="just">
                        <a:spcAft>
                          <a:spcPts val="0"/>
                        </a:spcAft>
                      </a:pPr>
                      <a:r>
                        <a:rPr lang="zh-CN" sz="1200" kern="100">
                          <a:effectLst/>
                        </a:rPr>
                        <a:t>考虑风险影响的建设项目成本估算方法研究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a:effectLst/>
                        </a:rPr>
                        <a:t>目前的文献研究更多只单独关注如何预测成本或进行成本风险评估，较少将成本风险考虑到早期成本估算中</a:t>
                      </a:r>
                      <a:endParaRPr lang="zh-CN" sz="1600" kern="100">
                        <a:effectLst/>
                      </a:endParaRPr>
                    </a:p>
                    <a:p>
                      <a:pPr algn="just">
                        <a:spcAft>
                          <a:spcPts val="0"/>
                        </a:spcAft>
                      </a:pPr>
                      <a:r>
                        <a:rPr lang="zh-CN" sz="1200" kern="100">
                          <a:effectLst/>
                        </a:rPr>
                        <a:t>较少有研究同时对建设项目早期信息有限和项目执行过程中的风险分析进行讨论</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a:effectLst/>
                        </a:rPr>
                        <a:t>如何在早期信息有限的情形下改进成本估算的准确性？</a:t>
                      </a:r>
                      <a:endParaRPr lang="zh-CN" sz="1600" kern="100">
                        <a:effectLst/>
                      </a:endParaRPr>
                    </a:p>
                    <a:p>
                      <a:pPr algn="just">
                        <a:spcAft>
                          <a:spcPts val="0"/>
                        </a:spcAft>
                      </a:pPr>
                      <a:r>
                        <a:rPr lang="zh-CN" sz="1200" kern="100">
                          <a:effectLst/>
                        </a:rPr>
                        <a:t>如何在早期成本估算中考虑风险的影响？</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extLst>
                  <a:ext uri="{0D108BD9-81ED-4DB2-BD59-A6C34878D82A}">
                    <a16:rowId xmlns:a16="http://schemas.microsoft.com/office/drawing/2014/main" val="561825911"/>
                  </a:ext>
                </a:extLst>
              </a:tr>
              <a:tr h="392628">
                <a:tc>
                  <a:txBody>
                    <a:bodyPr/>
                    <a:lstStyle/>
                    <a:p>
                      <a:pPr algn="just">
                        <a:spcAft>
                          <a:spcPts val="0"/>
                        </a:spcAft>
                      </a:pPr>
                      <a:r>
                        <a:rPr lang="zh-CN" sz="1200" kern="100">
                          <a:effectLst/>
                        </a:rPr>
                        <a:t>基于</a:t>
                      </a:r>
                      <a:r>
                        <a:rPr lang="en-US" sz="1200" kern="100">
                          <a:effectLst/>
                        </a:rPr>
                        <a:t>NK</a:t>
                      </a:r>
                      <a:r>
                        <a:rPr lang="zh-CN" sz="1200" kern="100">
                          <a:effectLst/>
                        </a:rPr>
                        <a:t>模型的工程总承包项目风险相关性研究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dirty="0">
                          <a:effectLst/>
                        </a:rPr>
                        <a:t>现有的方法未能较好地度量以多米诺骨牌效应定义的风险相关性。</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a:effectLst/>
                        </a:rPr>
                        <a:t>如何有效刻画以多米诺骨牌效应定义的风险相关性？</a:t>
                      </a:r>
                      <a:endParaRPr lang="zh-CN" sz="1600" kern="100">
                        <a:effectLst/>
                      </a:endParaRPr>
                    </a:p>
                    <a:p>
                      <a:pPr algn="just">
                        <a:spcAft>
                          <a:spcPts val="0"/>
                        </a:spcAft>
                      </a:pPr>
                      <a:r>
                        <a:rPr lang="zh-CN" sz="1200" kern="100">
                          <a:effectLst/>
                        </a:rPr>
                        <a:t>如何根据已识别出的风险，构建风险相关性度量模型？</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extLst>
                  <a:ext uri="{0D108BD9-81ED-4DB2-BD59-A6C34878D82A}">
                    <a16:rowId xmlns:a16="http://schemas.microsoft.com/office/drawing/2014/main" val="4275039585"/>
                  </a:ext>
                </a:extLst>
              </a:tr>
              <a:tr h="577686">
                <a:tc>
                  <a:txBody>
                    <a:bodyPr/>
                    <a:lstStyle/>
                    <a:p>
                      <a:pPr algn="just">
                        <a:spcAft>
                          <a:spcPts val="0"/>
                        </a:spcAft>
                      </a:pPr>
                      <a:r>
                        <a:rPr lang="zh-CN" sz="1200" kern="100">
                          <a:effectLst/>
                        </a:rPr>
                        <a:t>基于动态风险绩效指数的项目完工状态预测</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a:effectLst/>
                        </a:rPr>
                        <a:t>没有考虑风险绩效指数（风险评估）动态性与关联性</a:t>
                      </a:r>
                      <a:endParaRPr lang="zh-CN" sz="1600" kern="100">
                        <a:effectLst/>
                      </a:endParaRPr>
                    </a:p>
                    <a:p>
                      <a:pPr algn="just">
                        <a:spcAft>
                          <a:spcPts val="0"/>
                        </a:spcAft>
                      </a:pPr>
                      <a:r>
                        <a:rPr lang="zh-CN" sz="1200" kern="100">
                          <a:effectLst/>
                        </a:rPr>
                        <a:t>没有考虑三个绩效指数（成本绩效指数、进度绩效指数、风险绩效指数）权重之间的动态关系</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a:effectLst/>
                        </a:rPr>
                        <a:t>如何在计算项目风险绩效指数时体现动态性与关联性？</a:t>
                      </a:r>
                      <a:endParaRPr lang="zh-CN" sz="1600" kern="100">
                        <a:effectLst/>
                      </a:endParaRPr>
                    </a:p>
                    <a:p>
                      <a:pPr algn="just">
                        <a:spcAft>
                          <a:spcPts val="0"/>
                        </a:spcAft>
                      </a:pPr>
                      <a:r>
                        <a:rPr lang="zh-CN" sz="1200" kern="100">
                          <a:effectLst/>
                        </a:rPr>
                        <a:t>如何依据三个绩效指数重要性计算动态权重改进项目完工预测模型？</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extLst>
                  <a:ext uri="{0D108BD9-81ED-4DB2-BD59-A6C34878D82A}">
                    <a16:rowId xmlns:a16="http://schemas.microsoft.com/office/drawing/2014/main" val="662857885"/>
                  </a:ext>
                </a:extLst>
              </a:tr>
              <a:tr h="373034">
                <a:tc>
                  <a:txBody>
                    <a:bodyPr/>
                    <a:lstStyle/>
                    <a:p>
                      <a:pPr algn="just">
                        <a:spcAft>
                          <a:spcPts val="0"/>
                        </a:spcAft>
                      </a:pPr>
                      <a:r>
                        <a:rPr lang="zh-CN" sz="1200" kern="100">
                          <a:effectLst/>
                        </a:rPr>
                        <a:t>考虑风险应对策略的项目储备费估算</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dirty="0">
                          <a:effectLst/>
                        </a:rPr>
                        <a:t>项目储备费估算中仅考虑风险的特点，忽略了实施风险应对策略后对风险概率及其损失程度的影响</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a:effectLst/>
                        </a:rPr>
                        <a:t>如何考虑风险应对策略构建估算储备费的模型？</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extLst>
                  <a:ext uri="{0D108BD9-81ED-4DB2-BD59-A6C34878D82A}">
                    <a16:rowId xmlns:a16="http://schemas.microsoft.com/office/drawing/2014/main" val="4233717684"/>
                  </a:ext>
                </a:extLst>
              </a:tr>
              <a:tr h="1078501">
                <a:tc>
                  <a:txBody>
                    <a:bodyPr/>
                    <a:lstStyle/>
                    <a:p>
                      <a:pPr algn="just">
                        <a:spcAft>
                          <a:spcPts val="0"/>
                        </a:spcAft>
                      </a:pPr>
                      <a:r>
                        <a:rPr lang="zh-CN" sz="1200" kern="100">
                          <a:effectLst/>
                        </a:rPr>
                        <a:t>带有多禁止时间窗的工程项目工期</a:t>
                      </a:r>
                      <a:r>
                        <a:rPr lang="en-US" sz="1200" kern="100">
                          <a:effectLst/>
                        </a:rPr>
                        <a:t>-</a:t>
                      </a:r>
                      <a:r>
                        <a:rPr lang="zh-CN" sz="1200" kern="100">
                          <a:effectLst/>
                        </a:rPr>
                        <a:t>成本优化研究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dirty="0">
                          <a:effectLst/>
                        </a:rPr>
                        <a:t>关于活动时间约束最普遍的是广义优先关系约束，缺乏对多禁止时间窗的研究</a:t>
                      </a:r>
                      <a:endParaRPr lang="zh-CN" sz="1600" kern="100" dirty="0">
                        <a:effectLst/>
                      </a:endParaRPr>
                    </a:p>
                    <a:p>
                      <a:pPr algn="just">
                        <a:spcAft>
                          <a:spcPts val="0"/>
                        </a:spcAft>
                      </a:pPr>
                      <a:r>
                        <a:rPr lang="zh-CN" sz="1200" kern="100" dirty="0">
                          <a:effectLst/>
                        </a:rPr>
                        <a:t>在活动遇到不可执行的时间窗口时，缺少根据目标对该活动是否拆分进行决策的研究</a:t>
                      </a:r>
                      <a:endParaRPr lang="zh-CN" sz="1600" kern="100" dirty="0">
                        <a:effectLst/>
                      </a:endParaRPr>
                    </a:p>
                    <a:p>
                      <a:pPr algn="just">
                        <a:spcAft>
                          <a:spcPts val="0"/>
                        </a:spcAft>
                      </a:pPr>
                      <a:r>
                        <a:rPr lang="zh-CN" sz="1200" kern="100" dirty="0">
                          <a:effectLst/>
                        </a:rPr>
                        <a:t>缺少结合项目实施前的基准调度和实施过程中的反应性调度的研究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tc>
                <a:tc>
                  <a:txBody>
                    <a:bodyPr/>
                    <a:lstStyle/>
                    <a:p>
                      <a:pPr algn="just">
                        <a:spcAft>
                          <a:spcPts val="0"/>
                        </a:spcAft>
                      </a:pPr>
                      <a:r>
                        <a:rPr lang="zh-CN" sz="1200" kern="100" dirty="0">
                          <a:effectLst/>
                        </a:rPr>
                        <a:t>如何在调度模型中对多禁止时间窗约束以及特殊活动拆分的决策进行刻画？</a:t>
                      </a:r>
                      <a:endParaRPr lang="zh-CN" sz="1600" kern="100" dirty="0">
                        <a:effectLst/>
                      </a:endParaRPr>
                    </a:p>
                    <a:p>
                      <a:pPr algn="just">
                        <a:spcAft>
                          <a:spcPts val="0"/>
                        </a:spcAft>
                      </a:pPr>
                      <a:r>
                        <a:rPr lang="zh-CN" sz="1200" kern="100" dirty="0">
                          <a:effectLst/>
                        </a:rPr>
                        <a:t>针对带有多禁止时间窗的项目调度问题如何构建基准调度和反应性调度模型？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tc>
                <a:extLst>
                  <a:ext uri="{0D108BD9-81ED-4DB2-BD59-A6C34878D82A}">
                    <a16:rowId xmlns:a16="http://schemas.microsoft.com/office/drawing/2014/main" val="3331390877"/>
                  </a:ext>
                </a:extLst>
              </a:tr>
            </a:tbl>
          </a:graphicData>
        </a:graphic>
      </p:graphicFrame>
    </p:spTree>
    <p:extLst>
      <p:ext uri="{BB962C8B-B14F-4D97-AF65-F5344CB8AC3E}">
        <p14:creationId xmlns:p14="http://schemas.microsoft.com/office/powerpoint/2010/main" val="1849954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468086" y="1061494"/>
            <a:ext cx="10718074" cy="2353786"/>
          </a:xfrm>
          <a:prstGeom prst="rect">
            <a:avLst/>
          </a:prstGeom>
        </p:spPr>
        <p:txBody>
          <a:bodyPr wrap="square">
            <a:spAutoFit/>
          </a:bodyPr>
          <a:lstStyle/>
          <a:p>
            <a:pPr>
              <a:lnSpc>
                <a:spcPct val="150000"/>
              </a:lnSpc>
            </a:pPr>
            <a:r>
              <a:rPr lang="zh-CN" altLang="zh-CN" sz="2000" b="1" dirty="0">
                <a:latin typeface="+mj-ea"/>
                <a:ea typeface="+mj-ea"/>
              </a:rPr>
              <a:t>研究目标</a:t>
            </a:r>
            <a:r>
              <a:rPr lang="zh-CN" altLang="en-US" sz="2000" b="1" dirty="0">
                <a:latin typeface="+mj-ea"/>
                <a:ea typeface="+mj-ea"/>
              </a:rPr>
              <a:t>：</a:t>
            </a:r>
            <a:r>
              <a:rPr lang="zh-CN" altLang="zh-CN" sz="2000" dirty="0">
                <a:latin typeface="+mj-ea"/>
                <a:ea typeface="+mj-ea"/>
              </a:rPr>
              <a:t>研究计划实现状态的描述。</a:t>
            </a:r>
            <a:endParaRPr lang="en-US" altLang="zh-CN" sz="2000" dirty="0">
              <a:latin typeface="+mj-ea"/>
              <a:ea typeface="+mj-ea"/>
            </a:endParaRPr>
          </a:p>
          <a:p>
            <a:pPr>
              <a:lnSpc>
                <a:spcPct val="150000"/>
              </a:lnSpc>
            </a:pPr>
            <a:r>
              <a:rPr lang="zh-CN" altLang="zh-CN" sz="2000" dirty="0">
                <a:latin typeface="+mj-ea"/>
                <a:ea typeface="+mj-ea"/>
              </a:rPr>
              <a:t>针对问题研究、解决方案设计、解决方案评估都可以提出对应的研究目标：</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问题研究部分，常见的表达方式是挖掘（或识别、确认）问题的原因。</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解决方案设计部分，常见的表达方式是建立（或设计、提出）某解决方案。</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解决方案评估部分，常见的表达方式是评估解决方案的有效性。</a:t>
            </a:r>
            <a:endParaRPr lang="zh-CN" altLang="zh-CN" sz="2000" kern="100" dirty="0">
              <a:latin typeface="+mj-ea"/>
              <a:ea typeface="+mj-ea"/>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7FCAC38B-9BAA-4237-9B04-E1B754EFCAEE}"/>
              </a:ext>
            </a:extLst>
          </p:cNvPr>
          <p:cNvGraphicFramePr>
            <a:graphicFrameLocks noGrp="1"/>
          </p:cNvGraphicFramePr>
          <p:nvPr>
            <p:extLst/>
          </p:nvPr>
        </p:nvGraphicFramePr>
        <p:xfrm>
          <a:off x="468086" y="4530160"/>
          <a:ext cx="10186422" cy="1795528"/>
        </p:xfrm>
        <a:graphic>
          <a:graphicData uri="http://schemas.openxmlformats.org/drawingml/2006/table">
            <a:tbl>
              <a:tblPr firstRow="1" firstCol="1" bandRow="1">
                <a:tableStyleId>{5C22544A-7EE6-4342-B048-85BDC9FD1C3A}</a:tableStyleId>
              </a:tblPr>
              <a:tblGrid>
                <a:gridCol w="2141715">
                  <a:extLst>
                    <a:ext uri="{9D8B030D-6E8A-4147-A177-3AD203B41FA5}">
                      <a16:colId xmlns:a16="http://schemas.microsoft.com/office/drawing/2014/main" val="1908474549"/>
                    </a:ext>
                  </a:extLst>
                </a:gridCol>
                <a:gridCol w="8044707">
                  <a:extLst>
                    <a:ext uri="{9D8B030D-6E8A-4147-A177-3AD203B41FA5}">
                      <a16:colId xmlns:a16="http://schemas.microsoft.com/office/drawing/2014/main" val="3390750361"/>
                    </a:ext>
                  </a:extLst>
                </a:gridCol>
              </a:tblGrid>
              <a:tr h="0">
                <a:tc>
                  <a:txBody>
                    <a:bodyPr/>
                    <a:lstStyle/>
                    <a:p>
                      <a:pPr algn="ctr">
                        <a:lnSpc>
                          <a:spcPct val="125000"/>
                        </a:lnSpc>
                        <a:spcAft>
                          <a:spcPts val="0"/>
                        </a:spcAft>
                      </a:pPr>
                      <a:r>
                        <a:rPr lang="zh-CN" sz="2000" kern="100" spc="-30" dirty="0">
                          <a:effectLst/>
                          <a:latin typeface="+mj-ea"/>
                          <a:ea typeface="+mj-ea"/>
                        </a:rPr>
                        <a:t>三部分内容</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ctr">
                        <a:lnSpc>
                          <a:spcPct val="125000"/>
                        </a:lnSpc>
                        <a:spcAft>
                          <a:spcPts val="0"/>
                        </a:spcAft>
                      </a:pPr>
                      <a:r>
                        <a:rPr lang="zh-CN" sz="2000" kern="100" spc="-30" dirty="0">
                          <a:effectLst/>
                          <a:latin typeface="+mj-ea"/>
                          <a:ea typeface="+mj-ea"/>
                        </a:rPr>
                        <a:t>常见表达形式</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288777376"/>
                  </a:ext>
                </a:extLst>
              </a:tr>
              <a:tr h="0">
                <a:tc>
                  <a:txBody>
                    <a:bodyPr/>
                    <a:lstStyle/>
                    <a:p>
                      <a:pPr algn="just">
                        <a:lnSpc>
                          <a:spcPct val="125000"/>
                        </a:lnSpc>
                        <a:spcAft>
                          <a:spcPts val="0"/>
                        </a:spcAft>
                      </a:pPr>
                      <a:r>
                        <a:rPr lang="zh-CN" sz="2000" kern="100" spc="-30">
                          <a:effectLst/>
                          <a:latin typeface="+mj-ea"/>
                          <a:ea typeface="+mj-ea"/>
                        </a:rPr>
                        <a:t>问题研究</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spc="-30" dirty="0">
                          <a:effectLst/>
                          <a:latin typeface="+mj-ea"/>
                          <a:ea typeface="+mj-ea"/>
                        </a:rPr>
                        <a:t>挖掘（或识别、确认）问题的原因</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263339877"/>
                  </a:ext>
                </a:extLst>
              </a:tr>
              <a:tr h="0">
                <a:tc>
                  <a:txBody>
                    <a:bodyPr/>
                    <a:lstStyle/>
                    <a:p>
                      <a:pPr algn="l">
                        <a:lnSpc>
                          <a:spcPct val="125000"/>
                        </a:lnSpc>
                        <a:spcAft>
                          <a:spcPts val="0"/>
                        </a:spcAft>
                        <a:tabLst>
                          <a:tab pos="946150" algn="l"/>
                        </a:tabLst>
                      </a:pPr>
                      <a:r>
                        <a:rPr lang="zh-CN" sz="2000" kern="100">
                          <a:effectLst/>
                          <a:latin typeface="+mj-ea"/>
                          <a:ea typeface="+mj-ea"/>
                        </a:rPr>
                        <a:t>解决方案设计</a:t>
                      </a:r>
                      <a:endParaRPr lang="zh-CN" sz="2000" kern="100">
                        <a:effectLst/>
                        <a:latin typeface="+mj-ea"/>
                        <a:ea typeface="+mj-ea"/>
                        <a:cs typeface="Times New Roman" panose="02020603050405020304" pitchFamily="18" charset="0"/>
                      </a:endParaRPr>
                    </a:p>
                  </a:txBody>
                  <a:tcPr marL="68580" marR="68580" marT="0" marB="0"/>
                </a:tc>
                <a:tc>
                  <a:txBody>
                    <a:bodyPr/>
                    <a:lstStyle/>
                    <a:p>
                      <a:pPr algn="l">
                        <a:lnSpc>
                          <a:spcPct val="125000"/>
                        </a:lnSpc>
                        <a:spcAft>
                          <a:spcPts val="0"/>
                        </a:spcAft>
                        <a:tabLst>
                          <a:tab pos="946150" algn="l"/>
                        </a:tabLst>
                      </a:pPr>
                      <a:r>
                        <a:rPr lang="zh-CN" sz="2000" kern="100" dirty="0">
                          <a:effectLst/>
                          <a:latin typeface="+mj-ea"/>
                          <a:ea typeface="+mj-ea"/>
                        </a:rPr>
                        <a:t>建立（或设计、提出）解决方案，如提出某设计假设、提出</a:t>
                      </a:r>
                      <a:r>
                        <a:rPr lang="en-US" sz="2000" kern="100" dirty="0">
                          <a:effectLst/>
                          <a:latin typeface="+mj-ea"/>
                          <a:ea typeface="+mj-ea"/>
                        </a:rPr>
                        <a:t>/</a:t>
                      </a:r>
                      <a:r>
                        <a:rPr lang="zh-CN" sz="2000" kern="100" dirty="0">
                          <a:effectLst/>
                          <a:latin typeface="+mj-ea"/>
                          <a:ea typeface="+mj-ea"/>
                        </a:rPr>
                        <a:t>设计某解决方案、提出实施方案</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688561731"/>
                  </a:ext>
                </a:extLst>
              </a:tr>
              <a:tr h="0">
                <a:tc>
                  <a:txBody>
                    <a:bodyPr/>
                    <a:lstStyle/>
                    <a:p>
                      <a:pPr algn="just">
                        <a:lnSpc>
                          <a:spcPct val="125000"/>
                        </a:lnSpc>
                        <a:spcAft>
                          <a:spcPts val="0"/>
                        </a:spcAft>
                      </a:pPr>
                      <a:r>
                        <a:rPr lang="zh-CN" sz="2000" kern="100" spc="-30">
                          <a:effectLst/>
                          <a:latin typeface="+mj-ea"/>
                          <a:ea typeface="+mj-ea"/>
                        </a:rPr>
                        <a:t>解决方案评估</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spc="-30" dirty="0">
                          <a:effectLst/>
                          <a:latin typeface="+mj-ea"/>
                          <a:ea typeface="+mj-ea"/>
                        </a:rPr>
                        <a:t>评估解决方案的有效性</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151729828"/>
                  </a:ext>
                </a:extLst>
              </a:tr>
            </a:tbl>
          </a:graphicData>
        </a:graphic>
      </p:graphicFrame>
    </p:spTree>
    <p:extLst>
      <p:ext uri="{BB962C8B-B14F-4D97-AF65-F5344CB8AC3E}">
        <p14:creationId xmlns:p14="http://schemas.microsoft.com/office/powerpoint/2010/main" val="3284226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351061" y="1036320"/>
            <a:ext cx="11217729" cy="3277116"/>
          </a:xfrm>
          <a:prstGeom prst="rect">
            <a:avLst/>
          </a:prstGeom>
        </p:spPr>
        <p:txBody>
          <a:bodyPr wrap="square">
            <a:spAutoFit/>
          </a:bodyPr>
          <a:lstStyle/>
          <a:p>
            <a:pPr>
              <a:lnSpc>
                <a:spcPct val="150000"/>
              </a:lnSpc>
            </a:pPr>
            <a:r>
              <a:rPr lang="zh-CN" altLang="zh-CN" sz="2000" b="1" dirty="0">
                <a:latin typeface="+mj-ea"/>
                <a:ea typeface="+mj-ea"/>
              </a:rPr>
              <a:t>研究问题与研究目标之间存在以下区别：</a:t>
            </a:r>
          </a:p>
          <a:p>
            <a:pPr marL="342900" indent="-342900">
              <a:lnSpc>
                <a:spcPct val="150000"/>
              </a:lnSpc>
              <a:buFont typeface="Arial" panose="020B0604020202020204" pitchFamily="34" charset="0"/>
              <a:buChar char="•"/>
            </a:pPr>
            <a:r>
              <a:rPr lang="zh-CN" altLang="zh-CN" sz="2000" dirty="0">
                <a:latin typeface="+mj-ea"/>
                <a:ea typeface="+mj-ea"/>
              </a:rPr>
              <a:t>目标陈述主要采用动宾结构；问题提出采用问句形式。</a:t>
            </a:r>
          </a:p>
          <a:p>
            <a:pPr marL="342900" indent="-342900">
              <a:lnSpc>
                <a:spcPct val="150000"/>
              </a:lnSpc>
              <a:buFont typeface="Arial" panose="020B0604020202020204" pitchFamily="34" charset="0"/>
              <a:buChar char="•"/>
            </a:pPr>
            <a:r>
              <a:rPr lang="zh-CN" altLang="zh-CN" sz="2000" dirty="0">
                <a:latin typeface="+mj-ea"/>
                <a:ea typeface="+mj-ea"/>
              </a:rPr>
              <a:t>相对研究问题，研究目标更为具体，如在研究目标中，解决方案的方向通常已经确定。</a:t>
            </a:r>
          </a:p>
          <a:p>
            <a:pPr>
              <a:lnSpc>
                <a:spcPct val="150000"/>
              </a:lnSpc>
            </a:pPr>
            <a:r>
              <a:rPr lang="zh-CN" altLang="zh-CN" sz="2000" b="1" dirty="0">
                <a:latin typeface="+mj-ea"/>
                <a:ea typeface="+mj-ea"/>
              </a:rPr>
              <a:t>研究问题和研究目标陈述存在的问题</a:t>
            </a:r>
            <a:r>
              <a:rPr lang="zh-CN" altLang="en-US" sz="2000" b="1" dirty="0">
                <a:latin typeface="+mj-ea"/>
                <a:ea typeface="+mj-ea"/>
              </a:rPr>
              <a:t>：</a:t>
            </a:r>
            <a:endParaRPr lang="zh-CN"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缺少这部分。取而代之的是实践问题。</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问题描述准确性问题。描述准确性主要是指研究问题过大，研究问题与研究内容的不对应。</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呈现形式的问题。例如，没有采用问句的方式进行呈现。</a:t>
            </a:r>
          </a:p>
        </p:txBody>
      </p:sp>
      <p:sp>
        <p:nvSpPr>
          <p:cNvPr id="6" name="矩形 5">
            <a:extLst>
              <a:ext uri="{FF2B5EF4-FFF2-40B4-BE49-F238E27FC236}">
                <a16:creationId xmlns:a16="http://schemas.microsoft.com/office/drawing/2014/main" id="{88B63902-6340-43DE-A227-65D79523C4BC}"/>
              </a:ext>
            </a:extLst>
          </p:cNvPr>
          <p:cNvSpPr/>
          <p:nvPr/>
        </p:nvSpPr>
        <p:spPr>
          <a:xfrm>
            <a:off x="289655" y="4420632"/>
            <a:ext cx="11473543" cy="2127634"/>
          </a:xfrm>
          <a:prstGeom prst="rect">
            <a:avLst/>
          </a:prstGeom>
          <a:solidFill>
            <a:schemeClr val="accent6">
              <a:lumMod val="20000"/>
              <a:lumOff val="80000"/>
            </a:schemeClr>
          </a:solidFill>
        </p:spPr>
        <p:txBody>
          <a:bodyPr wrap="square">
            <a:spAutoFit/>
          </a:bodyPr>
          <a:lstStyle/>
          <a:p>
            <a:pPr>
              <a:lnSpc>
                <a:spcPct val="150000"/>
              </a:lnSpc>
            </a:pPr>
            <a:r>
              <a:rPr lang="zh-CN" altLang="zh-CN" dirty="0">
                <a:solidFill>
                  <a:srgbClr val="000000"/>
                </a:solidFill>
                <a:latin typeface="+mj-ea"/>
                <a:ea typeface="+mj-ea"/>
                <a:cs typeface="Times New Roman" panose="02020603050405020304" pitchFamily="18" charset="0"/>
              </a:rPr>
              <a:t>某研究提出“对以上所得优化的实际应用效果进行分析，再进行优化调整”“为</a:t>
            </a:r>
            <a:r>
              <a:rPr lang="en-US" altLang="zh-CN" dirty="0">
                <a:solidFill>
                  <a:srgbClr val="000000"/>
                </a:solidFill>
                <a:latin typeface="+mj-ea"/>
                <a:ea typeface="+mj-ea"/>
                <a:cs typeface="Times New Roman" panose="02020603050405020304" pitchFamily="18" charset="0"/>
              </a:rPr>
              <a:t>EPC</a:t>
            </a:r>
            <a:r>
              <a:rPr lang="zh-CN" altLang="zh-CN" dirty="0">
                <a:solidFill>
                  <a:srgbClr val="000000"/>
                </a:solidFill>
                <a:latin typeface="+mj-ea"/>
                <a:ea typeface="+mj-ea"/>
                <a:cs typeface="Times New Roman" panose="02020603050405020304" pitchFamily="18" charset="0"/>
              </a:rPr>
              <a:t>总承包模式下公共建筑项目管理探索多赢路径”等研究目标，该类目标不具体或者体现的并非研究目标，过于宽泛。某研究提出的研究目标之一是“提出规避</a:t>
            </a:r>
            <a:r>
              <a:rPr lang="en-US" altLang="zh-CN" dirty="0">
                <a:solidFill>
                  <a:srgbClr val="000000"/>
                </a:solidFill>
                <a:latin typeface="+mj-ea"/>
                <a:ea typeface="+mj-ea"/>
                <a:cs typeface="Times New Roman" panose="02020603050405020304" pitchFamily="18" charset="0"/>
              </a:rPr>
              <a:t>EPC</a:t>
            </a:r>
            <a:r>
              <a:rPr lang="zh-CN" altLang="zh-CN" dirty="0">
                <a:solidFill>
                  <a:srgbClr val="000000"/>
                </a:solidFill>
                <a:latin typeface="+mj-ea"/>
                <a:ea typeface="+mj-ea"/>
                <a:cs typeface="Times New Roman" panose="02020603050405020304" pitchFamily="18" charset="0"/>
              </a:rPr>
              <a:t>总承包模式公共建筑项目投标报价风险的可行方案”，该目标可修改为“提出</a:t>
            </a:r>
            <a:r>
              <a:rPr lang="en-US" altLang="zh-CN" dirty="0">
                <a:solidFill>
                  <a:srgbClr val="000000"/>
                </a:solidFill>
                <a:latin typeface="+mj-ea"/>
                <a:ea typeface="+mj-ea"/>
                <a:cs typeface="Times New Roman" panose="02020603050405020304" pitchFamily="18" charset="0"/>
              </a:rPr>
              <a:t>EPC</a:t>
            </a:r>
            <a:r>
              <a:rPr lang="zh-CN" altLang="zh-CN" dirty="0">
                <a:solidFill>
                  <a:srgbClr val="000000"/>
                </a:solidFill>
                <a:latin typeface="+mj-ea"/>
                <a:ea typeface="+mj-ea"/>
                <a:cs typeface="Times New Roman" panose="02020603050405020304" pitchFamily="18" charset="0"/>
              </a:rPr>
              <a:t>总承包模式公共建筑项目投标报价风险的应对措施”，“可行方案”一词相对口语化，“规避”一词只是风险应对措施的一种，还包括控制、转移、自留等、用“应对措施”一词可能会更准确。</a:t>
            </a:r>
            <a:endParaRPr lang="zh-CN" altLang="en-US" dirty="0">
              <a:solidFill>
                <a:srgbClr val="000000"/>
              </a:solidFill>
              <a:latin typeface="+mj-ea"/>
              <a:ea typeface="+mj-ea"/>
              <a:cs typeface="Times New Roman" panose="02020603050405020304" pitchFamily="18" charset="0"/>
            </a:endParaRPr>
          </a:p>
        </p:txBody>
      </p:sp>
    </p:spTree>
    <p:extLst>
      <p:ext uri="{BB962C8B-B14F-4D97-AF65-F5344CB8AC3E}">
        <p14:creationId xmlns:p14="http://schemas.microsoft.com/office/powerpoint/2010/main" val="1290251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绪论：研究内容</a:t>
            </a:r>
          </a:p>
        </p:txBody>
      </p:sp>
      <p:sp>
        <p:nvSpPr>
          <p:cNvPr id="3" name="矩形 2">
            <a:extLst>
              <a:ext uri="{FF2B5EF4-FFF2-40B4-BE49-F238E27FC236}">
                <a16:creationId xmlns:a16="http://schemas.microsoft.com/office/drawing/2014/main" id="{1A966626-E6A2-45AA-80BB-29BD5071EE1F}"/>
              </a:ext>
            </a:extLst>
          </p:cNvPr>
          <p:cNvSpPr/>
          <p:nvPr/>
        </p:nvSpPr>
        <p:spPr>
          <a:xfrm>
            <a:off x="351061" y="1036320"/>
            <a:ext cx="11217729" cy="2353786"/>
          </a:xfrm>
          <a:prstGeom prst="rect">
            <a:avLst/>
          </a:prstGeom>
        </p:spPr>
        <p:txBody>
          <a:bodyPr wrap="square">
            <a:spAutoFit/>
          </a:bodyPr>
          <a:lstStyle/>
          <a:p>
            <a:pPr>
              <a:lnSpc>
                <a:spcPct val="150000"/>
              </a:lnSpc>
            </a:pPr>
            <a:r>
              <a:rPr lang="zh-CN" altLang="zh-CN" sz="2000" b="1" dirty="0">
                <a:latin typeface="+mj-ea"/>
                <a:ea typeface="+mj-ea"/>
              </a:rPr>
              <a:t>研究范围界定主要是明确研究对象的边界范围</a:t>
            </a:r>
            <a:r>
              <a:rPr lang="zh-CN" altLang="zh-CN" sz="2000" dirty="0">
                <a:latin typeface="+mj-ea"/>
                <a:ea typeface="+mj-ea"/>
              </a:rPr>
              <a:t>。</a:t>
            </a:r>
            <a:endParaRPr lang="en-US" altLang="zh-CN" sz="2000" dirty="0">
              <a:latin typeface="+mj-ea"/>
              <a:ea typeface="+mj-ea"/>
            </a:endParaRPr>
          </a:p>
          <a:p>
            <a:pPr>
              <a:lnSpc>
                <a:spcPct val="150000"/>
              </a:lnSpc>
            </a:pPr>
            <a:r>
              <a:rPr lang="zh-CN" altLang="zh-CN" sz="2000" dirty="0">
                <a:latin typeface="+mj-ea"/>
                <a:ea typeface="+mj-ea"/>
              </a:rPr>
              <a:t>清晰的研究范围界定有助于明确本研究结论的适用范围，能实现更有效的研究范围管理。</a:t>
            </a:r>
          </a:p>
          <a:p>
            <a:pPr marL="342900" indent="-342900">
              <a:lnSpc>
                <a:spcPct val="150000"/>
              </a:lnSpc>
              <a:buFont typeface="Arial" panose="020B0604020202020204" pitchFamily="34" charset="0"/>
              <a:buChar char="•"/>
            </a:pPr>
            <a:r>
              <a:rPr lang="zh-CN" altLang="zh-CN" sz="2000" dirty="0">
                <a:latin typeface="+mj-ea"/>
                <a:ea typeface="+mj-ea"/>
              </a:rPr>
              <a:t>研究对象的上层系统情境。如研究合同管理，可以从业主角度界定，也可以从承包商角度，业主与承包商角度存在差异，</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问题所处的载体对象。载体对象主要是通过描述其特殊性，以及与其它问题载体的区别。</a:t>
            </a:r>
            <a:endParaRPr lang="zh-CN" altLang="zh-CN" sz="2000" b="1" dirty="0">
              <a:latin typeface="+mj-ea"/>
              <a:ea typeface="+mj-ea"/>
            </a:endParaRPr>
          </a:p>
        </p:txBody>
      </p:sp>
      <p:sp>
        <p:nvSpPr>
          <p:cNvPr id="6" name="矩形 5">
            <a:extLst>
              <a:ext uri="{FF2B5EF4-FFF2-40B4-BE49-F238E27FC236}">
                <a16:creationId xmlns:a16="http://schemas.microsoft.com/office/drawing/2014/main" id="{88B63902-6340-43DE-A227-65D79523C4BC}"/>
              </a:ext>
            </a:extLst>
          </p:cNvPr>
          <p:cNvSpPr/>
          <p:nvPr/>
        </p:nvSpPr>
        <p:spPr>
          <a:xfrm>
            <a:off x="351062" y="4022566"/>
            <a:ext cx="11320008" cy="2127634"/>
          </a:xfrm>
          <a:prstGeom prst="rect">
            <a:avLst/>
          </a:prstGeom>
          <a:solidFill>
            <a:schemeClr val="accent6">
              <a:lumMod val="20000"/>
              <a:lumOff val="80000"/>
            </a:schemeClr>
          </a:solidFill>
        </p:spPr>
        <p:txBody>
          <a:bodyPr wrap="square">
            <a:spAutoFit/>
          </a:bodyPr>
          <a:lstStyle/>
          <a:p>
            <a:pPr>
              <a:lnSpc>
                <a:spcPct val="150000"/>
              </a:lnSpc>
            </a:pPr>
            <a:r>
              <a:rPr lang="zh-CN" altLang="zh-CN" dirty="0">
                <a:latin typeface="+mj-ea"/>
                <a:ea typeface="+mj-ea"/>
              </a:rPr>
              <a:t>研究工程总承包，可以界定在房屋建筑和市政基础设施领域，主要是房屋建筑和市政基础设施项目与一般的工业项目（如污水处理厂）存在差异。例如，某研究界定其研究的工程总承包为在房屋建筑和市政基础设施领域，对设计、施工等阶段实行总承包，并对工程的质量、安全、工期和造价等全面负责的一种工程建设组织实施方式。在这类模式中，业主需要提供项目概况资料、初步设计资料、工程预期目标等文件，进行充分的项目前期工作，且承担部分风险和协调工作。</a:t>
            </a:r>
            <a:endParaRPr lang="zh-CN" altLang="en-US" sz="2000" dirty="0">
              <a:solidFill>
                <a:srgbClr val="000000"/>
              </a:solidFill>
              <a:latin typeface="+mj-ea"/>
              <a:ea typeface="+mj-ea"/>
              <a:cs typeface="Times New Roman" panose="02020603050405020304" pitchFamily="18" charset="0"/>
            </a:endParaRPr>
          </a:p>
        </p:txBody>
      </p:sp>
    </p:spTree>
    <p:extLst>
      <p:ext uri="{BB962C8B-B14F-4D97-AF65-F5344CB8AC3E}">
        <p14:creationId xmlns:p14="http://schemas.microsoft.com/office/powerpoint/2010/main" val="975602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绪论：研究内容</a:t>
            </a:r>
          </a:p>
        </p:txBody>
      </p:sp>
      <p:sp>
        <p:nvSpPr>
          <p:cNvPr id="3" name="矩形 2">
            <a:extLst>
              <a:ext uri="{FF2B5EF4-FFF2-40B4-BE49-F238E27FC236}">
                <a16:creationId xmlns:a16="http://schemas.microsoft.com/office/drawing/2014/main" id="{1A966626-E6A2-45AA-80BB-29BD5071EE1F}"/>
              </a:ext>
            </a:extLst>
          </p:cNvPr>
          <p:cNvSpPr/>
          <p:nvPr/>
        </p:nvSpPr>
        <p:spPr>
          <a:xfrm>
            <a:off x="351061" y="1036320"/>
            <a:ext cx="11217729" cy="4158959"/>
          </a:xfrm>
          <a:prstGeom prst="rect">
            <a:avLst/>
          </a:prstGeom>
        </p:spPr>
        <p:txBody>
          <a:bodyPr wrap="square">
            <a:spAutoFit/>
          </a:bodyPr>
          <a:lstStyle/>
          <a:p>
            <a:pPr>
              <a:lnSpc>
                <a:spcPct val="150000"/>
              </a:lnSpc>
            </a:pPr>
            <a:r>
              <a:rPr lang="zh-CN" altLang="zh-CN" sz="2000" b="1" dirty="0">
                <a:latin typeface="+mj-ea"/>
                <a:ea typeface="+mj-ea"/>
              </a:rPr>
              <a:t>研究内容陈述</a:t>
            </a:r>
            <a:r>
              <a:rPr lang="zh-CN" altLang="en-US" sz="2000" b="1" dirty="0">
                <a:latin typeface="+mj-ea"/>
                <a:ea typeface="+mj-ea"/>
              </a:rPr>
              <a:t>：</a:t>
            </a:r>
            <a:r>
              <a:rPr lang="zh-CN" altLang="zh-CN" sz="2000" dirty="0">
                <a:latin typeface="+mj-ea"/>
                <a:ea typeface="+mj-ea"/>
              </a:rPr>
              <a:t>研究内容与研究目标具有对应性。</a:t>
            </a:r>
          </a:p>
          <a:p>
            <a:pPr marL="342900" indent="-342900">
              <a:lnSpc>
                <a:spcPct val="150000"/>
              </a:lnSpc>
              <a:buFont typeface="Arial" panose="020B0604020202020204" pitchFamily="34" charset="0"/>
              <a:buChar char="•"/>
            </a:pPr>
            <a:r>
              <a:rPr lang="zh-CN" altLang="zh-CN" sz="2000" dirty="0">
                <a:latin typeface="+mj-ea"/>
                <a:ea typeface="+mj-ea"/>
              </a:rPr>
              <a:t>以实现研究目标为导向的安排研究内容</a:t>
            </a:r>
          </a:p>
          <a:p>
            <a:pPr>
              <a:lnSpc>
                <a:spcPct val="150000"/>
              </a:lnSpc>
            </a:pPr>
            <a:r>
              <a:rPr lang="zh-CN" altLang="zh-CN" sz="2000" dirty="0">
                <a:latin typeface="+mj-ea"/>
                <a:ea typeface="+mj-ea"/>
              </a:rPr>
              <a:t>通过研究内容的实施以实现研究目标，一般硕士学位论文由多个研究内容组成（如两个以上），每个研究内容常以独立的章节进行介绍。避免将研究内容表述成章节内容安排。</a:t>
            </a:r>
          </a:p>
          <a:p>
            <a:pPr marL="342900" indent="-342900">
              <a:lnSpc>
                <a:spcPct val="150000"/>
              </a:lnSpc>
              <a:buFont typeface="Arial" panose="020B0604020202020204" pitchFamily="34" charset="0"/>
              <a:buChar char="•"/>
            </a:pPr>
            <a:r>
              <a:rPr lang="zh-CN" altLang="zh-CN" sz="2000" dirty="0">
                <a:latin typeface="+mj-ea"/>
                <a:ea typeface="+mj-ea"/>
              </a:rPr>
              <a:t>研究内容之间的逻辑关系</a:t>
            </a:r>
          </a:p>
          <a:p>
            <a:pPr>
              <a:lnSpc>
                <a:spcPct val="150000"/>
              </a:lnSpc>
            </a:pPr>
            <a:r>
              <a:rPr lang="zh-CN" altLang="zh-CN" sz="2000" dirty="0">
                <a:latin typeface="+mj-ea"/>
                <a:ea typeface="+mj-ea"/>
              </a:rPr>
              <a:t>以输入、输出关系作为研究内容关系之间的逻辑连接，通常前一研究内容的结论作为后续研究内容的输入，也存在两个并列的研究内容，相互之间较为独立，针对同一研究内容进行相互验证。此外，一个研究内容也存在多个步骤，步骤之间存在紧密联系。</a:t>
            </a:r>
          </a:p>
          <a:p>
            <a:pPr>
              <a:lnSpc>
                <a:spcPct val="150000"/>
              </a:lnSpc>
            </a:pPr>
            <a:endParaRPr lang="en-US" altLang="zh-CN" b="1" dirty="0"/>
          </a:p>
        </p:txBody>
      </p:sp>
    </p:spTree>
    <p:extLst>
      <p:ext uri="{BB962C8B-B14F-4D97-AF65-F5344CB8AC3E}">
        <p14:creationId xmlns:p14="http://schemas.microsoft.com/office/powerpoint/2010/main" val="3081925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绪论：实践问题、研究不足、研究问题、研究目标</a:t>
            </a:r>
          </a:p>
        </p:txBody>
      </p:sp>
      <p:sp>
        <p:nvSpPr>
          <p:cNvPr id="3" name="矩形 2">
            <a:extLst>
              <a:ext uri="{FF2B5EF4-FFF2-40B4-BE49-F238E27FC236}">
                <a16:creationId xmlns:a16="http://schemas.microsoft.com/office/drawing/2014/main" id="{1A966626-E6A2-45AA-80BB-29BD5071EE1F}"/>
              </a:ext>
            </a:extLst>
          </p:cNvPr>
          <p:cNvSpPr/>
          <p:nvPr/>
        </p:nvSpPr>
        <p:spPr>
          <a:xfrm>
            <a:off x="351061" y="1036320"/>
            <a:ext cx="11217729" cy="3139321"/>
          </a:xfrm>
          <a:prstGeom prst="rect">
            <a:avLst/>
          </a:prstGeom>
        </p:spPr>
        <p:txBody>
          <a:bodyPr wrap="square">
            <a:spAutoFit/>
          </a:bodyPr>
          <a:lstStyle/>
          <a:p>
            <a:pPr>
              <a:lnSpc>
                <a:spcPct val="150000"/>
              </a:lnSpc>
            </a:pPr>
            <a:r>
              <a:rPr lang="zh-CN" altLang="zh-CN" sz="2000" b="1" dirty="0">
                <a:latin typeface="+mj-ea"/>
                <a:ea typeface="+mj-ea"/>
              </a:rPr>
              <a:t>研究方法与技术路线</a:t>
            </a:r>
            <a:endParaRPr lang="en-US" altLang="zh-CN" sz="2000" b="1"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技术路线是研究方案的精炼描述，常以图的形式呈现。可从目标要求、研究内容、研究方法与预期成果四个内容进行描述。</a:t>
            </a:r>
          </a:p>
          <a:p>
            <a:pPr marL="342900" indent="-342900">
              <a:lnSpc>
                <a:spcPct val="150000"/>
              </a:lnSpc>
              <a:buFont typeface="Arial" panose="020B0604020202020204" pitchFamily="34" charset="0"/>
              <a:buChar char="•"/>
            </a:pPr>
            <a:r>
              <a:rPr lang="zh-CN" altLang="zh-CN" sz="2000" dirty="0">
                <a:latin typeface="+mj-ea"/>
                <a:ea typeface="+mj-ea"/>
              </a:rPr>
              <a:t>研究方法是研究方案中的组成部分，特指所采用实现预期目标的研究方法。研究方法的类型通常比较固定，只是从已有的研究方法中选择最合适的。</a:t>
            </a:r>
            <a:endParaRPr lang="en-US" altLang="zh-CN" sz="2000" dirty="0">
              <a:latin typeface="+mj-ea"/>
              <a:ea typeface="+mj-ea"/>
            </a:endParaRPr>
          </a:p>
          <a:p>
            <a:pPr>
              <a:lnSpc>
                <a:spcPct val="150000"/>
              </a:lnSpc>
            </a:pPr>
            <a:endParaRPr lang="en-US" altLang="zh-CN" sz="2000" b="1" dirty="0">
              <a:latin typeface="+mj-ea"/>
              <a:ea typeface="+mj-ea"/>
            </a:endParaRPr>
          </a:p>
          <a:p>
            <a:endParaRPr lang="en-US" altLang="zh-CN" b="1" dirty="0"/>
          </a:p>
        </p:txBody>
      </p:sp>
    </p:spTree>
    <p:extLst>
      <p:ext uri="{BB962C8B-B14F-4D97-AF65-F5344CB8AC3E}">
        <p14:creationId xmlns:p14="http://schemas.microsoft.com/office/powerpoint/2010/main" val="4049468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31A6C-CA5C-4003-9AA6-E8D033EB4F7D}"/>
              </a:ext>
            </a:extLst>
          </p:cNvPr>
          <p:cNvSpPr txBox="1">
            <a:spLocks/>
          </p:cNvSpPr>
          <p:nvPr/>
        </p:nvSpPr>
        <p:spPr>
          <a:xfrm>
            <a:off x="1745673" y="403860"/>
            <a:ext cx="944048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绪论：理论意义与实践意义</a:t>
            </a:r>
          </a:p>
        </p:txBody>
      </p:sp>
      <p:sp>
        <p:nvSpPr>
          <p:cNvPr id="3" name="矩形 2">
            <a:extLst>
              <a:ext uri="{FF2B5EF4-FFF2-40B4-BE49-F238E27FC236}">
                <a16:creationId xmlns:a16="http://schemas.microsoft.com/office/drawing/2014/main" id="{1A966626-E6A2-45AA-80BB-29BD5071EE1F}"/>
              </a:ext>
            </a:extLst>
          </p:cNvPr>
          <p:cNvSpPr/>
          <p:nvPr/>
        </p:nvSpPr>
        <p:spPr>
          <a:xfrm>
            <a:off x="403860" y="1036320"/>
            <a:ext cx="10782300" cy="5123775"/>
          </a:xfrm>
          <a:prstGeom prst="rect">
            <a:avLst/>
          </a:prstGeom>
        </p:spPr>
        <p:txBody>
          <a:bodyPr wrap="square">
            <a:spAutoFit/>
          </a:bodyPr>
          <a:lstStyle/>
          <a:p>
            <a:pPr>
              <a:lnSpc>
                <a:spcPct val="150000"/>
              </a:lnSpc>
            </a:pPr>
            <a:r>
              <a:rPr lang="zh-CN" altLang="zh-CN" sz="2000" b="1" dirty="0">
                <a:latin typeface="+mj-ea"/>
                <a:ea typeface="+mj-ea"/>
              </a:rPr>
              <a:t>理论意义</a:t>
            </a:r>
            <a:r>
              <a:rPr lang="zh-CN" altLang="en-US" sz="2000" b="1" dirty="0">
                <a:latin typeface="+mj-ea"/>
                <a:ea typeface="+mj-ea"/>
              </a:rPr>
              <a:t>：</a:t>
            </a:r>
            <a:r>
              <a:rPr lang="zh-CN" altLang="zh-CN" sz="2000" dirty="0">
                <a:latin typeface="+mj-ea"/>
                <a:ea typeface="+mj-ea"/>
              </a:rPr>
              <a:t>从对知识贡献的角度，与研究不足、研究问题具有较好对应性。</a:t>
            </a:r>
            <a:endParaRPr lang="en-US" altLang="zh-CN" sz="2000" dirty="0">
              <a:latin typeface="+mj-ea"/>
              <a:ea typeface="+mj-ea"/>
            </a:endParaRPr>
          </a:p>
          <a:p>
            <a:pPr marL="342900" indent="-342900">
              <a:lnSpc>
                <a:spcPct val="150000"/>
              </a:lnSpc>
              <a:buFont typeface="Arial" panose="020B0604020202020204" pitchFamily="34" charset="0"/>
              <a:buChar char="•"/>
            </a:pPr>
            <a:r>
              <a:rPr lang="zh-CN" altLang="zh-CN" sz="2000" dirty="0">
                <a:latin typeface="+mj-ea"/>
                <a:ea typeface="+mj-ea"/>
              </a:rPr>
              <a:t>针对理论贡献，可以大致规划理论贡献的方向。</a:t>
            </a:r>
          </a:p>
          <a:p>
            <a:pPr marL="342900" indent="-342900">
              <a:lnSpc>
                <a:spcPct val="150000"/>
              </a:lnSpc>
              <a:buFont typeface="Arial" panose="020B0604020202020204" pitchFamily="34" charset="0"/>
              <a:buChar char="•"/>
            </a:pPr>
            <a:r>
              <a:rPr lang="zh-CN" altLang="zh-CN" sz="2000" dirty="0">
                <a:latin typeface="+mj-ea"/>
                <a:ea typeface="+mj-ea"/>
              </a:rPr>
              <a:t>根据研究不足，依次撰写。针对每一点研究不足，都可以针对性地撰写一条理论贡献。</a:t>
            </a:r>
          </a:p>
          <a:p>
            <a:pPr>
              <a:lnSpc>
                <a:spcPct val="150000"/>
              </a:lnSpc>
            </a:pPr>
            <a:r>
              <a:rPr lang="zh-CN" altLang="zh-CN" sz="2000" dirty="0">
                <a:latin typeface="+mj-ea"/>
                <a:ea typeface="+mj-ea"/>
              </a:rPr>
              <a:t>慎用“弥补空白”“首次”等词。对理论意义的描述要具体，避免太宽泛，如“推动供应链管理理论的进步”“完善模具供应链管理理论”等。</a:t>
            </a:r>
            <a:endParaRPr lang="en-US" altLang="zh-CN" sz="2000" dirty="0">
              <a:latin typeface="+mj-ea"/>
              <a:ea typeface="+mj-ea"/>
            </a:endParaRPr>
          </a:p>
          <a:p>
            <a:pPr>
              <a:lnSpc>
                <a:spcPct val="150000"/>
              </a:lnSpc>
            </a:pPr>
            <a:endParaRPr lang="zh-CN" altLang="zh-CN" sz="2000" dirty="0">
              <a:latin typeface="+mj-ea"/>
              <a:ea typeface="+mj-ea"/>
            </a:endParaRPr>
          </a:p>
          <a:p>
            <a:pPr>
              <a:lnSpc>
                <a:spcPct val="150000"/>
              </a:lnSpc>
            </a:pPr>
            <a:r>
              <a:rPr lang="zh-CN" altLang="zh-CN" sz="2000" b="1" dirty="0">
                <a:latin typeface="+mj-ea"/>
                <a:ea typeface="+mj-ea"/>
              </a:rPr>
              <a:t>实践意义</a:t>
            </a:r>
            <a:r>
              <a:rPr lang="zh-CN" altLang="en-US" sz="2000" b="1" dirty="0">
                <a:latin typeface="+mj-ea"/>
                <a:ea typeface="+mj-ea"/>
              </a:rPr>
              <a:t>：</a:t>
            </a:r>
            <a:r>
              <a:rPr lang="zh-CN" altLang="zh-CN" sz="2000" dirty="0">
                <a:latin typeface="+mj-ea"/>
                <a:ea typeface="+mj-ea"/>
              </a:rPr>
              <a:t>研究解决实践问题所带来的价值。实践意义可以从主体的角度、管理实践改进角度等进行说明。可以陈述为直接的实践意义，也可以是管理的启示意义。</a:t>
            </a:r>
          </a:p>
          <a:p>
            <a:pPr marL="342900" indent="-342900">
              <a:lnSpc>
                <a:spcPct val="150000"/>
              </a:lnSpc>
              <a:buFont typeface="Arial" panose="020B0604020202020204" pitchFamily="34" charset="0"/>
              <a:buChar char="•"/>
            </a:pPr>
            <a:r>
              <a:rPr lang="zh-CN" altLang="zh-CN" sz="2000" dirty="0">
                <a:latin typeface="+mj-ea"/>
                <a:ea typeface="+mj-ea"/>
              </a:rPr>
              <a:t>针对已有结论逐条提出实践建议，不宜出现参考文献和采用采用综述的写法。介绍不同主体如何使用研究结论。</a:t>
            </a:r>
          </a:p>
          <a:p>
            <a:pPr marL="342900" indent="-342900">
              <a:lnSpc>
                <a:spcPct val="150000"/>
              </a:lnSpc>
              <a:buFont typeface="Arial" panose="020B0604020202020204" pitchFamily="34" charset="0"/>
              <a:buChar char="•"/>
            </a:pPr>
            <a:r>
              <a:rPr lang="zh-CN" altLang="zh-CN" sz="2000" dirty="0">
                <a:latin typeface="+mj-ea"/>
                <a:ea typeface="+mj-ea"/>
              </a:rPr>
              <a:t>分析研究结论对已有问题解决的有效性，以及该有效性所产生的社会、经济价值。</a:t>
            </a:r>
            <a:endParaRPr lang="en-US" altLang="zh-CN" b="1" dirty="0"/>
          </a:p>
        </p:txBody>
      </p:sp>
    </p:spTree>
    <p:extLst>
      <p:ext uri="{BB962C8B-B14F-4D97-AF65-F5344CB8AC3E}">
        <p14:creationId xmlns:p14="http://schemas.microsoft.com/office/powerpoint/2010/main" val="23792083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05E6E40-0954-4A3F-A603-47E861AFE06C}"/>
              </a:ext>
            </a:extLst>
          </p:cNvPr>
          <p:cNvSpPr/>
          <p:nvPr/>
        </p:nvSpPr>
        <p:spPr>
          <a:xfrm>
            <a:off x="391885" y="1036320"/>
            <a:ext cx="10893335" cy="3789627"/>
          </a:xfrm>
          <a:prstGeom prst="rect">
            <a:avLst/>
          </a:prstGeom>
        </p:spPr>
        <p:txBody>
          <a:bodyPr wrap="square">
            <a:spAutoFit/>
          </a:bodyPr>
          <a:lstStyle/>
          <a:p>
            <a:pPr algn="just">
              <a:lnSpc>
                <a:spcPct val="150000"/>
              </a:lnSpc>
            </a:pPr>
            <a:r>
              <a:rPr lang="zh-CN" altLang="zh-CN" kern="100" dirty="0">
                <a:latin typeface="+mj-ea"/>
                <a:ea typeface="+mj-ea"/>
                <a:cs typeface="Times New Roman" panose="02020603050405020304" pitchFamily="18" charset="0"/>
              </a:rPr>
              <a:t>绪论中对开题报告内容有部分内容可以延用，但有以下注意点：</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时态问题。在开题报告中，设计假设是一种展望性的写法。在全文写作时，是对已经完成工作的写法，是一种回顾性写法。如果在全文写作中直接摘录开题报告的写法，就会存在时态不对应的问题。典型如开题报告是将要做什么，而全文写作是已经完成什么等。</a:t>
            </a: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研究不足、研究问题、研究目标、研究内容、技术路线等要素有进一步修改、细化的可能性。修改是研究问题和目标的调整，如早先确定的研究选题遇到了更大的可行性问题，要做相应的修改和调整。细化是在基础之上，确定了更具体、更细的一个关键问题进行研究。因此，要对此内容保持一定的开放性。以最有效地提出研究贡献与实践贡献为考虑因素；此外，也根据可行性（如数据可行性）等进行相应的修改和调整。</a:t>
            </a:r>
          </a:p>
        </p:txBody>
      </p:sp>
      <p:sp>
        <p:nvSpPr>
          <p:cNvPr id="3" name="标题 1">
            <a:extLst>
              <a:ext uri="{FF2B5EF4-FFF2-40B4-BE49-F238E27FC236}">
                <a16:creationId xmlns:a16="http://schemas.microsoft.com/office/drawing/2014/main" id="{9192DFD0-0473-CB41-957B-A81DC0CFA0F1}"/>
              </a:ext>
            </a:extLst>
          </p:cNvPr>
          <p:cNvSpPr txBox="1">
            <a:spLocks/>
          </p:cNvSpPr>
          <p:nvPr/>
        </p:nvSpPr>
        <p:spPr>
          <a:xfrm>
            <a:off x="1745673" y="403860"/>
            <a:ext cx="942524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绪论</a:t>
            </a:r>
          </a:p>
        </p:txBody>
      </p:sp>
    </p:spTree>
    <p:extLst>
      <p:ext uri="{BB962C8B-B14F-4D97-AF65-F5344CB8AC3E}">
        <p14:creationId xmlns:p14="http://schemas.microsoft.com/office/powerpoint/2010/main" val="42862260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7DA459-582E-4875-97CA-FFEC227CF6EE}"/>
              </a:ext>
            </a:extLst>
          </p:cNvPr>
          <p:cNvSpPr>
            <a:spLocks noGrp="1"/>
          </p:cNvSpPr>
          <p:nvPr>
            <p:ph type="title"/>
          </p:nvPr>
        </p:nvSpPr>
        <p:spPr>
          <a:xfrm>
            <a:off x="609600" y="503316"/>
            <a:ext cx="10972800" cy="1143000"/>
          </a:xfrm>
        </p:spPr>
        <p:txBody>
          <a:bodyPr/>
          <a:lstStyle/>
          <a:p>
            <a:r>
              <a:rPr lang="zh-CN" altLang="en-US" b="1" dirty="0">
                <a:latin typeface="微软雅黑" panose="020B0503020204020204" pitchFamily="34" charset="-122"/>
                <a:ea typeface="微软雅黑" panose="020B0503020204020204" pitchFamily="34" charset="-122"/>
              </a:rPr>
              <a:t>小结</a:t>
            </a:r>
          </a:p>
        </p:txBody>
      </p:sp>
      <p:sp>
        <p:nvSpPr>
          <p:cNvPr id="3" name="内容占位符 2">
            <a:extLst>
              <a:ext uri="{FF2B5EF4-FFF2-40B4-BE49-F238E27FC236}">
                <a16:creationId xmlns:a16="http://schemas.microsoft.com/office/drawing/2014/main" id="{7B133B08-690A-47F3-AB13-7CE43E7A7699}"/>
              </a:ext>
            </a:extLst>
          </p:cNvPr>
          <p:cNvSpPr>
            <a:spLocks noGrp="1"/>
          </p:cNvSpPr>
          <p:nvPr>
            <p:ph idx="1"/>
          </p:nvPr>
        </p:nvSpPr>
        <p:spPr>
          <a:xfrm>
            <a:off x="609600" y="1600202"/>
            <a:ext cx="10972800" cy="4495798"/>
          </a:xfrm>
          <a:ln>
            <a:solidFill>
              <a:schemeClr val="accent1"/>
            </a:solidFill>
          </a:ln>
        </p:spPr>
        <p:txBody>
          <a:bodyPr>
            <a:noAutofit/>
          </a:bodyPr>
          <a:lstStyle/>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题目</a:t>
            </a:r>
            <a:endParaRPr lang="en-US" altLang="zh-CN" b="1" dirty="0">
              <a:solidFill>
                <a:srgbClr val="7030A0"/>
              </a:solidFill>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情境</a:t>
            </a:r>
            <a:endParaRPr lang="en-US" altLang="zh-CN" sz="2000" dirty="0">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问题</a:t>
            </a:r>
            <a:endParaRPr lang="en-US" altLang="zh-CN" sz="2000" dirty="0">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解决方案特色</a:t>
            </a:r>
            <a:endParaRPr lang="en-US" altLang="zh-CN" sz="2000" dirty="0">
              <a:latin typeface="等线 Light" panose="02010600030101010101" pitchFamily="2" charset="-122"/>
              <a:ea typeface="等线 Light" panose="02010600030101010101" pitchFamily="2" charset="-122"/>
            </a:endParaRPr>
          </a:p>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摘要</a:t>
            </a:r>
            <a:endParaRPr lang="en-US" altLang="zh-CN" b="1" dirty="0">
              <a:solidFill>
                <a:srgbClr val="7030A0"/>
              </a:solidFill>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要素完整：背景、目标、研究内容、研究方案、结论、意义</a:t>
            </a:r>
            <a:endParaRPr lang="en-US" altLang="zh-CN" sz="2000" dirty="0">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三部分</a:t>
            </a:r>
            <a:r>
              <a:rPr lang="en-US" altLang="zh-CN" sz="2000" dirty="0">
                <a:latin typeface="等线 Light" panose="02010600030101010101" pitchFamily="2" charset="-122"/>
                <a:ea typeface="等线 Light" panose="02010600030101010101" pitchFamily="2" charset="-122"/>
              </a:rPr>
              <a:t>/</a:t>
            </a:r>
            <a:r>
              <a:rPr lang="zh-CN" altLang="en-US" sz="2000" dirty="0">
                <a:latin typeface="等线 Light" panose="02010600030101010101" pitchFamily="2" charset="-122"/>
                <a:ea typeface="等线 Light" panose="02010600030101010101" pitchFamily="2" charset="-122"/>
              </a:rPr>
              <a:t>段落：背景与目标；研究内容与研究方案；结论和意义</a:t>
            </a:r>
            <a:endParaRPr lang="en-US" altLang="zh-CN" sz="2000" dirty="0">
              <a:latin typeface="等线 Light" panose="02010600030101010101" pitchFamily="2" charset="-122"/>
              <a:ea typeface="等线 Light" panose="02010600030101010101" pitchFamily="2" charset="-122"/>
            </a:endParaRPr>
          </a:p>
          <a:p>
            <a:pPr marL="514350" indent="-514350">
              <a:lnSpc>
                <a:spcPct val="100000"/>
              </a:lnSpc>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章节安排</a:t>
            </a:r>
            <a:endParaRPr lang="en-US" altLang="zh-CN" b="1" dirty="0">
              <a:solidFill>
                <a:srgbClr val="7030A0"/>
              </a:solidFill>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完整性</a:t>
            </a:r>
            <a:endParaRPr lang="en-US" altLang="zh-CN" sz="2000" dirty="0">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逻辑性</a:t>
            </a:r>
            <a:endParaRPr lang="en-US" altLang="zh-CN" sz="2000" dirty="0">
              <a:latin typeface="等线 Light" panose="02010600030101010101" pitchFamily="2" charset="-122"/>
              <a:ea typeface="等线 Light" panose="02010600030101010101" pitchFamily="2" charset="-122"/>
            </a:endParaRPr>
          </a:p>
          <a:p>
            <a:pPr marL="857250" lvl="1" indent="-457200">
              <a:lnSpc>
                <a:spcPct val="100000"/>
              </a:lnSpc>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灵活性</a:t>
            </a:r>
            <a:endParaRPr lang="en-US" altLang="zh-CN" sz="2000"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11100637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5967</Words>
  <Application>Microsoft Office PowerPoint</Application>
  <PresentationFormat>宽屏</PresentationFormat>
  <Paragraphs>402</Paragraphs>
  <Slides>38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等线</vt:lpstr>
      <vt:lpstr>等线 Light</vt:lpstr>
      <vt:lpstr>宋体</vt:lpstr>
      <vt:lpstr>微软雅黑</vt:lpstr>
      <vt:lpstr>Arial</vt:lpstr>
      <vt:lpstr>Calibri</vt:lpstr>
      <vt:lpstr>Times New Roman</vt:lpstr>
      <vt:lpstr>Wingdings</vt:lpstr>
      <vt:lpstr>Office 主题​​</vt:lpstr>
      <vt:lpstr>章节安排</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58</cp:revision>
  <dcterms:created xsi:type="dcterms:W3CDTF">2023-07-21T07:43:39Z</dcterms:created>
  <dcterms:modified xsi:type="dcterms:W3CDTF">2025-02-28T02:02:23Z</dcterms:modified>
</cp:coreProperties>
</file>