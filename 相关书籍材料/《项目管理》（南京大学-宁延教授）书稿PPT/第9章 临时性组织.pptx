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2.xml" ContentType="application/vnd.openxmlformats-officedocument.them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2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3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4.xml" ContentType="application/vnd.openxmlformats-officedocument.presentationml.notesSlide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5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6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7.xml" ContentType="application/vnd.openxmlformats-officedocument.presentationml.notesSlide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8.xml" ContentType="application/vnd.openxmlformats-officedocument.presentationml.notesSlide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9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10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11.xml" ContentType="application/vnd.openxmlformats-officedocument.presentationml.notesSlide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12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13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14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notesSlides/notesSlide15.xml" ContentType="application/vnd.openxmlformats-officedocument.presentationml.notesSlide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notesSlides/notesSlide16.xml" ContentType="application/vnd.openxmlformats-officedocument.presentationml.notesSlide+xml"/>
  <Override PartName="/ppt/tags/tag128.xml" ContentType="application/vnd.openxmlformats-officedocument.presentationml.tags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8" r:id="rId2"/>
    <p:sldId id="262" r:id="rId3"/>
    <p:sldId id="263" r:id="rId4"/>
    <p:sldId id="282" r:id="rId5"/>
    <p:sldId id="283" r:id="rId6"/>
    <p:sldId id="284" r:id="rId7"/>
    <p:sldId id="285" r:id="rId8"/>
    <p:sldId id="286" r:id="rId9"/>
    <p:sldId id="287" r:id="rId10"/>
    <p:sldId id="299" r:id="rId11"/>
    <p:sldId id="302" r:id="rId12"/>
    <p:sldId id="294" r:id="rId13"/>
    <p:sldId id="304" r:id="rId14"/>
    <p:sldId id="290" r:id="rId15"/>
    <p:sldId id="295" r:id="rId16"/>
    <p:sldId id="291" r:id="rId17"/>
    <p:sldId id="292" r:id="rId18"/>
    <p:sldId id="298" r:id="rId19"/>
    <p:sldId id="281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54"/>
    <a:srgbClr val="0000FF"/>
    <a:srgbClr val="CAF8FE"/>
    <a:srgbClr val="ACC8F2"/>
    <a:srgbClr val="CAD4E0"/>
    <a:srgbClr val="E2FBFE"/>
    <a:srgbClr val="F2F5F8"/>
    <a:srgbClr val="DCDCDC"/>
    <a:srgbClr val="FF7474"/>
    <a:srgbClr val="63A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1" autoAdjust="0"/>
    <p:restoredTop sz="77585" autoAdjust="0"/>
  </p:normalViewPr>
  <p:slideViewPr>
    <p:cSldViewPr snapToGrid="0" showGuides="1">
      <p:cViewPr varScale="1">
        <p:scale>
          <a:sx n="59" d="100"/>
          <a:sy n="59" d="100"/>
        </p:scale>
        <p:origin x="2506" y="45"/>
      </p:cViewPr>
      <p:guideLst>
        <p:guide orient="horz" pos="2195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6c5e2e04bbef42de" providerId="LiveId" clId="{F0A9504B-795F-4E58-A1ED-73D3FDF2CF45}"/>
    <pc:docChg chg="delSld modSld">
      <pc:chgData name="" userId="6c5e2e04bbef42de" providerId="LiveId" clId="{F0A9504B-795F-4E58-A1ED-73D3FDF2CF45}" dt="2025-08-23T05:31:20.622" v="4" actId="2696"/>
      <pc:docMkLst>
        <pc:docMk/>
      </pc:docMkLst>
      <pc:sldChg chg="modSp">
        <pc:chgData name="" userId="6c5e2e04bbef42de" providerId="LiveId" clId="{F0A9504B-795F-4E58-A1ED-73D3FDF2CF45}" dt="2025-08-23T05:31:07.926" v="1" actId="20577"/>
        <pc:sldMkLst>
          <pc:docMk/>
          <pc:sldMk cId="0" sldId="258"/>
        </pc:sldMkLst>
        <pc:spChg chg="mod">
          <ac:chgData name="" userId="6c5e2e04bbef42de" providerId="LiveId" clId="{F0A9504B-795F-4E58-A1ED-73D3FDF2CF45}" dt="2025-08-23T05:31:07.926" v="1" actId="20577"/>
          <ac:spMkLst>
            <pc:docMk/>
            <pc:sldMk cId="0" sldId="258"/>
            <ac:spMk id="6" creationId="{00000000-0000-0000-0000-000000000000}"/>
          </ac:spMkLst>
        </pc:spChg>
      </pc:sldChg>
      <pc:sldChg chg="del">
        <pc:chgData name="" userId="6c5e2e04bbef42de" providerId="LiveId" clId="{F0A9504B-795F-4E58-A1ED-73D3FDF2CF45}" dt="2025-08-23T05:31:20.622" v="4" actId="2696"/>
        <pc:sldMkLst>
          <pc:docMk/>
          <pc:sldMk cId="1828944727" sldId="300"/>
        </pc:sldMkLst>
      </pc:sldChg>
      <pc:sldChg chg="del">
        <pc:chgData name="" userId="6c5e2e04bbef42de" providerId="LiveId" clId="{F0A9504B-795F-4E58-A1ED-73D3FDF2CF45}" dt="2025-08-23T05:31:19.778" v="3" actId="2696"/>
        <pc:sldMkLst>
          <pc:docMk/>
          <pc:sldMk cId="1141369935" sldId="301"/>
        </pc:sldMkLst>
      </pc:sldChg>
      <pc:sldChg chg="del">
        <pc:chgData name="" userId="6c5e2e04bbef42de" providerId="LiveId" clId="{F0A9504B-795F-4E58-A1ED-73D3FDF2CF45}" dt="2025-08-23T05:31:16.874" v="2" actId="2696"/>
        <pc:sldMkLst>
          <pc:docMk/>
          <pc:sldMk cId="2738799045" sldId="30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（物理对象、流程</a:t>
            </a:r>
            <a:r>
              <a:rPr lang="en-US" altLang="zh-CN" dirty="0"/>
              <a:t>/</a:t>
            </a:r>
            <a:r>
              <a:rPr lang="zh-CN" altLang="en-US" dirty="0"/>
              <a:t>系统、状态</a:t>
            </a:r>
            <a:r>
              <a:rPr lang="en-US" altLang="zh-CN" dirty="0"/>
              <a:t>/</a:t>
            </a:r>
            <a:r>
              <a:rPr lang="zh-CN" altLang="en-US" dirty="0"/>
              <a:t>情境、知识</a:t>
            </a:r>
            <a:r>
              <a:rPr lang="en-US" altLang="zh-CN" dirty="0"/>
              <a:t>/</a:t>
            </a:r>
            <a:r>
              <a:rPr lang="zh-CN" altLang="en-US" dirty="0"/>
              <a:t>能力等）。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12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22E91-7296-2276-FCA1-AC826E21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CCBEB4-7BD3-9833-9C7E-64752DB75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4E01BA-BF1F-F0EF-874D-0D800108CA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spc="300" dirty="0"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5EC19F-068C-2A58-99A5-F42E63129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901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0AB4-08F3-E083-8F55-F2EE641E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C9FFB5-DC37-BC38-7605-E37509E70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B4F182-AA11-C498-8302-1A7AF128F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000" b="0" spc="300" dirty="0">
              <a:solidFill>
                <a:srgbClr val="FF0000"/>
              </a:solidFill>
              <a:uFillTx/>
              <a:latin typeface="+mn-ea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B8C103-F646-F5CA-9A7B-BAABB49D9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915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F1DF6-7292-D495-5FED-006CA092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94402BB-2F8A-4257-838C-F5FDBE83C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B100495-90D5-D58A-5AAE-1D95D32C2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1200" b="0" spc="300" dirty="0">
              <a:solidFill>
                <a:srgbClr val="FF0000"/>
              </a:solidFill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A2DE00-3A43-C433-A4E1-73EDED335D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2160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057D6-0460-B524-770E-F7F9A55A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291B28-3387-2446-3667-0AD67259C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E04D16-3299-0EAB-27B0-8F3720D5D5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000" dirty="0">
              <a:latin typeface="等线 Light" panose="02010600030101010101" pitchFamily="2" charset="-122"/>
              <a:ea typeface="等线 Light" panose="0201060003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B7BB5-2E9A-FA46-5A19-FEC48A875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59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91991-D294-F8F6-A242-A2CB591E6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283610-1CFC-0B91-DB1D-89127E9B2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FDE7A7-6A81-1D0C-0055-E34D7042B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FE2F0D-586A-9F4F-A382-E596FC9F8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429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CFCC4-2CA7-9C5F-B93E-C6843DB22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C987EB-2859-A55A-D404-81B589593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90D3954-5E01-51B7-36CA-BDD06D316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000" dirty="0"/>
          </a:p>
          <a:p>
            <a:endParaRPr lang="zh-CN" altLang="en-US" sz="1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69A593-C077-EB89-3A9A-EA71A89271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599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0B787-4464-9ACA-270C-C3D9E517B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EC04660-3094-1C85-276C-0968860E9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80E7F7-EBF1-A962-13B3-94E9E84C35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FDF2C7-A857-9D4F-8EA2-D7808EDB0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546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3F13B-5ADE-EF0C-5C24-4F222537B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889145F-52C4-A684-9E58-E997EE69C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857F85-6B6D-F58D-30BB-AADC1ACC7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D04DDA-9043-4A54-85B8-5E21FBCF2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763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C5540-6366-F168-F1CF-23F7C28F4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A403DE-848C-5CA6-021E-A63E4FE61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207BC9-4EC1-B209-F49C-79AFF00D2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44E559-E861-F9B8-8DC4-340B40C52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622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BB1E3-76F4-6E5D-51FC-A4D94C192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9F1BED-A498-3B09-61A2-1B0C1411A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EB74C5-57BC-BEBC-0B9D-D4823CDB6A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9EE6FD-9F3B-BA73-6EBB-8900D1F25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862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825EC-13A0-C99B-50F3-BA8629A67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327193-1D92-65BF-9525-E7A32B0D1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5E9702-D402-5943-90F6-366E05287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F4802-D462-14A1-47B8-D0F73ABE64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935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30F6B-83E8-E240-57B2-18B4E7840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4BC721-53AE-4CCB-07BD-BD1B72148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8CF16D1-4CB7-65CD-0DB4-EA96EB110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E7ED4F-D197-B4AF-4704-FB3DEB907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9399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2591B-F687-7C80-3435-BB02CA19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3AACC6-E0B5-6B6E-171D-D0BF830CB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F89072-A0CF-ECDB-182F-6C7282CD4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3B31F7-A148-89DE-DF7A-5E2718747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934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F1CA2-785C-B5B6-3E82-8A98BBD1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07B13E-B279-DC75-88AF-9F7DDDAF7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6FC7AB-873F-6A01-A278-0E329AA7E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525C18-4853-2524-052E-8698046C6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2159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D2B9A-9778-309E-A529-24122A889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F5DD550-6967-B43B-559F-FA8723D93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5EB4EC-CE6C-9639-76ED-95241A034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78C94D-EC47-FADF-0A5D-14F44B748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35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image" Target="../media/image8.png"/><Relationship Id="rId4" Type="http://schemas.openxmlformats.org/officeDocument/2006/relationships/tags" Target="../tags/tag14.xml"/><Relationship Id="rId9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9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1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7" name="图片 6" descr="建筑_画板 1 副本 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2262505" y="3307080"/>
            <a:ext cx="6789600" cy="3120355"/>
          </a:xfrm>
          <a:prstGeom prst="rect">
            <a:avLst/>
          </a:prstGeom>
        </p:spPr>
      </p:pic>
      <p:pic>
        <p:nvPicPr>
          <p:cNvPr id="8" name="图片 7" descr="建筑_画板 1 副本 6"/>
          <p:cNvPicPr>
            <a:picLocks noChangeAspect="1"/>
          </p:cNvPicPr>
          <p:nvPr userDrawn="1"/>
        </p:nvPicPr>
        <p:blipFill>
          <a:blip r:embed="rId7">
            <a:alphaModFix amt="90000"/>
          </a:blip>
          <a:stretch>
            <a:fillRect/>
          </a:stretch>
        </p:blipFill>
        <p:spPr>
          <a:xfrm>
            <a:off x="4217670" y="3754755"/>
            <a:ext cx="7974000" cy="267257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底图-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9" name="图片 8" descr="建筑_画板 1 副本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121015" y="2319655"/>
            <a:ext cx="4525200" cy="4261649"/>
          </a:xfrm>
          <a:prstGeom prst="rect">
            <a:avLst/>
          </a:prstGeom>
        </p:spPr>
      </p:pic>
      <p:pic>
        <p:nvPicPr>
          <p:cNvPr id="10" name="图片 9" descr="建筑_画板 1 副本 10"/>
          <p:cNvPicPr>
            <a:picLocks noChangeAspect="1"/>
          </p:cNvPicPr>
          <p:nvPr userDrawn="1"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-760095" y="3352165"/>
            <a:ext cx="9288000" cy="311298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159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7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9800" y="5633085"/>
            <a:ext cx="13791600" cy="14114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2025/8/23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5" hasCustomPrompt="1"/>
            <p:custDataLst>
              <p:tags r:id="rId1"/>
            </p:custDataLst>
          </p:nvPr>
        </p:nvSpPr>
        <p:spPr>
          <a:xfrm rot="5400000">
            <a:off x="1526540" y="2623820"/>
            <a:ext cx="5486400" cy="13436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6500" b="1" i="0" u="none" strike="noStrike" kern="1200" cap="none" spc="0" normalizeH="0" baseline="0" noProof="1">
                <a:ln>
                  <a:gradFill>
                    <a:gsLst>
                      <a:gs pos="19000">
                        <a:schemeClr val="accent1">
                          <a:alpha val="0"/>
                        </a:schemeClr>
                      </a:gs>
                      <a:gs pos="74000">
                        <a:schemeClr val="accent1">
                          <a:alpha val="35000"/>
                        </a:schemeClr>
                      </a:gs>
                    </a:gsLst>
                    <a:lin ang="16200000" scaled="0"/>
                  </a:gradFill>
                </a:ln>
                <a:noFill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 err="1">
                <a:sym typeface="+mn-ea"/>
              </a:rPr>
              <a:t>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4" hasCustomPrompt="1"/>
            <p:custDataLst>
              <p:tags r:id="rId2"/>
            </p:custDataLst>
          </p:nvPr>
        </p:nvSpPr>
        <p:spPr>
          <a:xfrm>
            <a:off x="3275330" y="579755"/>
            <a:ext cx="1428750" cy="4603115"/>
          </a:xfrm>
          <a:prstGeom prst="rect">
            <a:avLst/>
          </a:prstGeom>
          <a:noFill/>
        </p:spPr>
        <p:txBody>
          <a:bodyPr vert="eaVert" wrap="square" lIns="91440" tIns="45720" rIns="91440" bIns="4572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1000" normalizeH="0" baseline="0" noProof="1">
                <a:solidFill>
                  <a:schemeClr val="accent1"/>
                </a:solidFill>
                <a:uFillTx/>
                <a:latin typeface="+mj-ea"/>
                <a:ea typeface="+mj-ea"/>
                <a:cs typeface="微软雅黑" panose="020B0503020204020204" charset="-122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4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3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tags" Target="../tags/tag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75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10" Type="http://schemas.openxmlformats.org/officeDocument/2006/relationships/image" Target="../media/image11.png"/><Relationship Id="rId4" Type="http://schemas.openxmlformats.org/officeDocument/2006/relationships/tags" Target="../tags/tag76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7" Type="http://schemas.openxmlformats.org/officeDocument/2006/relationships/image" Target="../media/image13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image" Target="../media/image12.png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8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7" Type="http://schemas.openxmlformats.org/officeDocument/2006/relationships/image" Target="../media/image12.png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8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7" Type="http://schemas.openxmlformats.org/officeDocument/2006/relationships/image" Target="../media/image12.png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9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7" Type="http://schemas.openxmlformats.org/officeDocument/2006/relationships/image" Target="../media/image12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9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97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99.xml"/><Relationship Id="rId4" Type="http://schemas.openxmlformats.org/officeDocument/2006/relationships/tags" Target="../tags/tag9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5" Type="http://schemas.openxmlformats.org/officeDocument/2006/relationships/image" Target="../media/image14.png"/><Relationship Id="rId4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notesSlide" Target="../notesSlides/notesSl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4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4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4" Type="http://schemas.openxmlformats.org/officeDocument/2006/relationships/notesSlide" Target="../notesSlides/notesSlid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4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8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481580" y="1852295"/>
            <a:ext cx="72288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60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第</a:t>
            </a:r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9</a:t>
            </a:r>
            <a:r>
              <a:rPr lang="zh-CN" altLang="en-US" sz="60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  <a:sym typeface="+mn-ea"/>
              </a:rPr>
              <a:t>章 临时性组织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5203825" y="4308475"/>
            <a:ext cx="1784350" cy="8744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贺晓霞</a:t>
            </a:r>
            <a:endParaRPr kumimoji="1" lang="en-US" altLang="zh-CN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kumimoji="1"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2025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年</a:t>
            </a:r>
            <a:r>
              <a:rPr kumimoji="1" lang="en-US" altLang="zh-CN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8</a:t>
            </a:r>
            <a:r>
              <a:rPr kumimoji="1"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sym typeface="+mn-ea"/>
              </a:rPr>
              <a:t>月</a:t>
            </a:r>
          </a:p>
        </p:txBody>
      </p:sp>
      <p:pic>
        <p:nvPicPr>
          <p:cNvPr id="14" name="图片 13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5" name="图片 14" descr="底图-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 descr="未标题-2_画板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-97790" y="0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1598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4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15983"/>
                </a:gs>
                <a:gs pos="0">
                  <a:srgbClr val="515983">
                    <a:alpha val="51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100000">
                  <a:srgbClr val="5F85C3"/>
                </a:gs>
                <a:gs pos="0">
                  <a:srgbClr val="51598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9" name="图片 38" descr="建筑-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922280" y="345757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第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章 临时性组织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92EA1E-609D-0AD8-1154-F3EB104E3898}"/>
              </a:ext>
            </a:extLst>
          </p:cNvPr>
          <p:cNvSpPr/>
          <p:nvPr/>
        </p:nvSpPr>
        <p:spPr>
          <a:xfrm>
            <a:off x="381961" y="963969"/>
            <a:ext cx="1532238" cy="478515"/>
          </a:xfrm>
          <a:prstGeom prst="rect">
            <a:avLst/>
          </a:prstGeom>
          <a:solidFill>
            <a:srgbClr val="60A50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章节框架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726D9B7-6721-9BBA-BA40-34C5895C4F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000" y="927099"/>
            <a:ext cx="8726551" cy="58691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20E9D1CB-E303-C5AD-7A73-D02B3D369846}"/>
              </a:ext>
            </a:extLst>
          </p:cNvPr>
          <p:cNvSpPr/>
          <p:nvPr/>
        </p:nvSpPr>
        <p:spPr>
          <a:xfrm>
            <a:off x="2365436" y="3198783"/>
            <a:ext cx="1600200" cy="983690"/>
          </a:xfrm>
          <a:prstGeom prst="ellipse">
            <a:avLst/>
          </a:prstGeom>
          <a:solidFill>
            <a:srgbClr val="F2EA5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建筑-10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11895" y="368772"/>
            <a:ext cx="520236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9.1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临时性组织概述</a:t>
            </a: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670548" y="1139467"/>
            <a:ext cx="8813631" cy="415498"/>
          </a:xfrm>
          <a:prstGeom prst="rect">
            <a:avLst/>
          </a:prstGeom>
          <a:noFill/>
        </p:spPr>
        <p:txBody>
          <a:bodyPr wrap="none" bIns="0" rtlCol="0" anchor="ctr" anchorCtr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Lundin</a:t>
            </a:r>
            <a:r>
              <a:rPr lang="zh-CN" altLang="en-US" sz="2400" spc="300" dirty="0">
                <a:uFillTx/>
                <a:latin typeface="+mn-ea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Soderholm</a:t>
            </a:r>
            <a:r>
              <a:rPr lang="zh-CN" altLang="en-US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1995</a:t>
            </a:r>
            <a:r>
              <a:rPr lang="zh-CN" altLang="en-US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400" spc="300" dirty="0">
                <a:uFillTx/>
                <a:latin typeface="+mn-ea"/>
                <a:cs typeface="Times New Roman" panose="02020603050405020304" pitchFamily="18" charset="0"/>
                <a:sym typeface="+mn-ea"/>
              </a:rPr>
              <a:t>提出</a:t>
            </a:r>
            <a:r>
              <a:rPr lang="zh-CN" altLang="en-US" sz="2400" spc="300" dirty="0">
                <a:highlight>
                  <a:srgbClr val="FFFF00"/>
                </a:highlight>
                <a:uFillTx/>
                <a:latin typeface="+mn-ea"/>
                <a:cs typeface="Times New Roman" panose="02020603050405020304" pitchFamily="18" charset="0"/>
                <a:sym typeface="+mn-ea"/>
              </a:rPr>
              <a:t>临时性组织</a:t>
            </a:r>
            <a:r>
              <a:rPr lang="zh-CN" altLang="en-US" sz="2400" spc="300" dirty="0">
                <a:uFillTx/>
                <a:latin typeface="+mn-ea"/>
                <a:cs typeface="Times New Roman" panose="02020603050405020304" pitchFamily="18" charset="0"/>
                <a:sym typeface="+mn-ea"/>
              </a:rPr>
              <a:t>的特征：</a:t>
            </a: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C42403EE-10C2-E443-2B0F-AB6EA168C0CB}"/>
              </a:ext>
            </a:extLst>
          </p:cNvPr>
          <p:cNvSpPr/>
          <p:nvPr/>
        </p:nvSpPr>
        <p:spPr>
          <a:xfrm>
            <a:off x="1705161" y="2395028"/>
            <a:ext cx="2993815" cy="2001393"/>
          </a:xfrm>
          <a:prstGeom prst="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+mn-ea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C383811-1F6C-1618-AAF7-5D18DF5FCDCE}"/>
              </a:ext>
            </a:extLst>
          </p:cNvPr>
          <p:cNvSpPr/>
          <p:nvPr/>
        </p:nvSpPr>
        <p:spPr>
          <a:xfrm>
            <a:off x="2419748" y="3203774"/>
            <a:ext cx="1564640" cy="96181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+mn-ea"/>
              </a:rPr>
              <a:t>时间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03A230-87C3-3B79-E9F2-F60E4B5B8D9D}"/>
              </a:ext>
            </a:extLst>
          </p:cNvPr>
          <p:cNvSpPr txBox="1"/>
          <p:nvPr/>
        </p:nvSpPr>
        <p:spPr>
          <a:xfrm>
            <a:off x="2698176" y="1897055"/>
            <a:ext cx="93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300" dirty="0">
                <a:latin typeface="+mn-ea"/>
                <a:cs typeface="Times New Roman" panose="02020603050405020304" pitchFamily="18" charset="0"/>
              </a:rPr>
              <a:t>任务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E048898-F1AC-DC05-AD48-408FB749DF17}"/>
              </a:ext>
            </a:extLst>
          </p:cNvPr>
          <p:cNvSpPr txBox="1"/>
          <p:nvPr/>
        </p:nvSpPr>
        <p:spPr>
          <a:xfrm>
            <a:off x="862241" y="4165587"/>
            <a:ext cx="93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 spc="3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b="0" dirty="0">
                <a:latin typeface="+mn-ea"/>
                <a:ea typeface="+mn-ea"/>
              </a:rPr>
              <a:t>团队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15FBB7-3F8D-F93C-418B-4019B3D2EC4D}"/>
              </a:ext>
            </a:extLst>
          </p:cNvPr>
          <p:cNvSpPr txBox="1"/>
          <p:nvPr/>
        </p:nvSpPr>
        <p:spPr>
          <a:xfrm>
            <a:off x="4698975" y="4151156"/>
            <a:ext cx="93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 spc="30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b="0" dirty="0">
                <a:latin typeface="+mn-ea"/>
                <a:ea typeface="+mn-ea"/>
              </a:rPr>
              <a:t>转变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27A5111-A7EE-51EA-C057-B70E4DC4F562}"/>
              </a:ext>
            </a:extLst>
          </p:cNvPr>
          <p:cNvSpPr txBox="1"/>
          <p:nvPr/>
        </p:nvSpPr>
        <p:spPr>
          <a:xfrm>
            <a:off x="862241" y="5105149"/>
            <a:ext cx="10710166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转变：指临时性组织的目标是改变或实现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特定对象</a:t>
            </a:r>
            <a:r>
              <a:rPr lang="zh-CN" altLang="en-US" sz="2400" dirty="0">
                <a:latin typeface="+mn-ea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11988-6323-AA78-4B33-83306FB39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AF1BCB2-4B36-F06C-63CC-46166529052D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建筑-10">
            <a:extLst>
              <a:ext uri="{FF2B5EF4-FFF2-40B4-BE49-F238E27FC236}">
                <a16:creationId xmlns:a16="http://schemas.microsoft.com/office/drawing/2014/main" id="{067275E9-2A3E-A94A-57D9-56422C1CF8C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D865AB4-B1DE-ED90-F1B3-90EC93BA6EC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18984" y="317500"/>
            <a:ext cx="520236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9.1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临时性组织概述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3F9DD07-5A7D-EA31-5871-32F1EA9261B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778239" y="1221939"/>
            <a:ext cx="5701934" cy="415498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400" spc="300" dirty="0">
                <a:uFillTx/>
                <a:latin typeface="+mn-ea"/>
                <a:cs typeface="Times New Roman" panose="02020603050405020304" pitchFamily="18" charset="0"/>
                <a:sym typeface="+mn-ea"/>
              </a:rPr>
              <a:t>第二个里程碑是</a:t>
            </a:r>
            <a:r>
              <a:rPr lang="en-US" altLang="zh-CN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Engwall</a:t>
            </a:r>
            <a:r>
              <a:rPr lang="zh-CN" altLang="en-US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2003</a:t>
            </a:r>
            <a:r>
              <a:rPr lang="zh-CN" altLang="en-US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）：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AC90A76-2ACD-AA0F-B563-D584B1F29DA2}"/>
              </a:ext>
            </a:extLst>
          </p:cNvPr>
          <p:cNvSpPr txBox="1"/>
          <p:nvPr/>
        </p:nvSpPr>
        <p:spPr>
          <a:xfrm>
            <a:off x="6355255" y="1249620"/>
            <a:ext cx="3537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+mn-ea"/>
              </a:rPr>
              <a:t>临时性组织的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情境维度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5C70D6-6825-075D-6CF6-F93E4831EACA}"/>
              </a:ext>
            </a:extLst>
          </p:cNvPr>
          <p:cNvSpPr txBox="1"/>
          <p:nvPr/>
        </p:nvSpPr>
        <p:spPr>
          <a:xfrm>
            <a:off x="4949464" y="2051762"/>
            <a:ext cx="66140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《</a:t>
            </a:r>
            <a:r>
              <a:rPr lang="zh-CN" altLang="en-US" sz="2400" dirty="0"/>
              <a:t>没有一个项目是孤岛：连接项目与历史和情境</a:t>
            </a:r>
            <a:r>
              <a:rPr lang="en-US" altLang="zh-CN" sz="2400" dirty="0"/>
              <a:t>》</a:t>
            </a:r>
            <a:endParaRPr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756356-C4A3-95EC-477B-39519D39ED67}"/>
              </a:ext>
            </a:extLst>
          </p:cNvPr>
          <p:cNvSpPr txBox="1"/>
          <p:nvPr/>
        </p:nvSpPr>
        <p:spPr>
          <a:xfrm>
            <a:off x="778239" y="3001601"/>
            <a:ext cx="10635522" cy="2252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除了项目管理体系外，</a:t>
            </a:r>
            <a:r>
              <a:rPr lang="zh-CN" altLang="en-US" sz="2400" dirty="0">
                <a:highlight>
                  <a:srgbClr val="FFFF00"/>
                </a:highlight>
                <a:latin typeface="+mn-ea"/>
              </a:rPr>
              <a:t>项目管理受时间和组织维度的情境影响</a:t>
            </a:r>
            <a:r>
              <a:rPr lang="zh-CN" altLang="en-US" sz="2400" dirty="0">
                <a:latin typeface="+mn-ea"/>
              </a:rPr>
              <a:t>。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时间维度</a:t>
            </a:r>
            <a:r>
              <a:rPr lang="zh-CN" altLang="en-US" sz="2400" dirty="0">
                <a:latin typeface="+mn-ea"/>
              </a:rPr>
              <a:t>指过去、现在和未来相互联系；</a:t>
            </a:r>
            <a:endParaRPr lang="en-US" altLang="zh-CN" sz="2400" dirty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组织维度情境</a:t>
            </a:r>
            <a:r>
              <a:rPr lang="zh-CN" altLang="en-US" sz="2400" dirty="0">
                <a:latin typeface="+mn-ea"/>
              </a:rPr>
              <a:t>需要考虑项目所处情境的社会规范、价值观、惯例，以及情境中并行的其他事件等</a:t>
            </a:r>
            <a:r>
              <a:rPr lang="zh-CN" altLang="en-US" sz="2400" b="1" dirty="0">
                <a:latin typeface="+mn-ea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2354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7807A-0D2B-0AA3-D41B-417539400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D0705D8-FD12-EB5D-BCCA-BFDD9D7D5C4B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建筑-10">
            <a:extLst>
              <a:ext uri="{FF2B5EF4-FFF2-40B4-BE49-F238E27FC236}">
                <a16:creationId xmlns:a16="http://schemas.microsoft.com/office/drawing/2014/main" id="{71E9F0BE-A1F0-4834-4A37-4F70AB3C231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E404A0D-A5AA-0F68-1FE7-2F31C4C3C21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18984" y="317500"/>
            <a:ext cx="520236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9.1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临时性组织概述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23F2C8-C4F5-E12D-91FD-C1F5EB9DF3E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05227" y="1221981"/>
            <a:ext cx="11377535" cy="1097865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Bakker</a:t>
            </a:r>
            <a:r>
              <a:rPr lang="zh-CN" altLang="en-US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2010</a:t>
            </a:r>
            <a:r>
              <a:rPr lang="zh-CN" altLang="en-US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400" spc="300" dirty="0">
                <a:latin typeface="+mn-ea"/>
                <a:cs typeface="Times New Roman" panose="02020603050405020304" pitchFamily="18" charset="0"/>
                <a:sym typeface="+mn-ea"/>
              </a:rPr>
              <a:t>：</a:t>
            </a:r>
            <a:r>
              <a:rPr lang="zh-CN" altLang="en-US" sz="2400" spc="300" dirty="0">
                <a:uFillTx/>
                <a:latin typeface="+mn-ea"/>
                <a:cs typeface="Times New Roman" panose="02020603050405020304" pitchFamily="18" charset="0"/>
                <a:sym typeface="+mn-ea"/>
              </a:rPr>
              <a:t>临时性组织定义为</a:t>
            </a:r>
            <a:r>
              <a:rPr lang="zh-CN" altLang="en-US" sz="2400" spc="300" dirty="0">
                <a:solidFill>
                  <a:srgbClr val="FF0000"/>
                </a:solidFill>
                <a:uFillTx/>
                <a:latin typeface="+mn-ea"/>
                <a:cs typeface="Times New Roman" panose="02020603050405020304" pitchFamily="18" charset="0"/>
                <a:sym typeface="+mn-ea"/>
              </a:rPr>
              <a:t>针对一项复杂任务共同工作了一段有限时间的组织群体。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E48FB3-8765-5CE0-B886-5FD15E042A6A}"/>
              </a:ext>
            </a:extLst>
          </p:cNvPr>
          <p:cNvSpPr txBox="1"/>
          <p:nvPr/>
        </p:nvSpPr>
        <p:spPr>
          <a:xfrm>
            <a:off x="605227" y="2383571"/>
            <a:ext cx="10981545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临时性组织的时间、团队、任务、</a:t>
            </a:r>
            <a:r>
              <a:rPr lang="zh-CN" altLang="en-US" sz="2400" dirty="0">
                <a:highlight>
                  <a:srgbClr val="FFFF00"/>
                </a:highlight>
                <a:latin typeface="+mn-ea"/>
              </a:rPr>
              <a:t>情境维度</a:t>
            </a:r>
            <a:r>
              <a:rPr lang="zh-CN" altLang="en-US" sz="2400" dirty="0">
                <a:latin typeface="+mn-ea"/>
              </a:rPr>
              <a:t>的特征。（如表</a:t>
            </a:r>
            <a:r>
              <a:rPr lang="en-US" altLang="zh-CN" sz="2400" dirty="0">
                <a:latin typeface="+mn-ea"/>
              </a:rPr>
              <a:t>9-1</a:t>
            </a:r>
            <a:r>
              <a:rPr lang="zh-CN" altLang="en-US" sz="2400" dirty="0">
                <a:latin typeface="+mn-ea"/>
              </a:rPr>
              <a:t>）</a:t>
            </a: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1C19E30B-8770-CDCA-3725-B39E320B47F1}"/>
              </a:ext>
            </a:extLst>
          </p:cNvPr>
          <p:cNvSpPr/>
          <p:nvPr/>
        </p:nvSpPr>
        <p:spPr>
          <a:xfrm>
            <a:off x="3827721" y="3305468"/>
            <a:ext cx="2140688" cy="489097"/>
          </a:xfrm>
          <a:prstGeom prst="wedgeRectCallout">
            <a:avLst>
              <a:gd name="adj1" fmla="val 48084"/>
              <a:gd name="adj2" fmla="val -12010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企业层面情境</a:t>
            </a:r>
          </a:p>
        </p:txBody>
      </p:sp>
      <p:sp>
        <p:nvSpPr>
          <p:cNvPr id="5" name="对话气泡: 矩形 4">
            <a:extLst>
              <a:ext uri="{FF2B5EF4-FFF2-40B4-BE49-F238E27FC236}">
                <a16:creationId xmlns:a16="http://schemas.microsoft.com/office/drawing/2014/main" id="{33BA9862-A992-D189-BA48-F400075590FA}"/>
              </a:ext>
            </a:extLst>
          </p:cNvPr>
          <p:cNvSpPr/>
          <p:nvPr/>
        </p:nvSpPr>
        <p:spPr>
          <a:xfrm>
            <a:off x="6546111" y="3305469"/>
            <a:ext cx="2140688" cy="489097"/>
          </a:xfrm>
          <a:prstGeom prst="wedgeRectCallout">
            <a:avLst>
              <a:gd name="adj1" fmla="val -64499"/>
              <a:gd name="adj2" fmla="val -12445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社会情境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4BDD0B-FAF2-EA3C-9779-47FF365A0D0C}"/>
              </a:ext>
            </a:extLst>
          </p:cNvPr>
          <p:cNvSpPr txBox="1"/>
          <p:nvPr/>
        </p:nvSpPr>
        <p:spPr>
          <a:xfrm>
            <a:off x="751368" y="4081795"/>
            <a:ext cx="6152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spc="3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Bakker</a:t>
            </a:r>
            <a:r>
              <a:rPr lang="zh-CN" altLang="en-US" sz="2400" spc="300" dirty="0">
                <a:latin typeface="+mn-ea"/>
                <a:cs typeface="Times New Roman" panose="02020603050405020304" pitchFamily="18" charset="0"/>
              </a:rPr>
              <a:t>等</a:t>
            </a:r>
            <a:r>
              <a:rPr lang="zh-CN" altLang="en-US" sz="2400" b="1" spc="3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spc="3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2016</a:t>
            </a:r>
            <a:r>
              <a:rPr lang="zh-CN" altLang="en-US" sz="2400" b="1" spc="3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BD240DD-F5E9-D380-71BF-DC47CCC074DF}"/>
              </a:ext>
            </a:extLst>
          </p:cNvPr>
          <p:cNvSpPr txBox="1"/>
          <p:nvPr/>
        </p:nvSpPr>
        <p:spPr>
          <a:xfrm>
            <a:off x="751367" y="4614898"/>
            <a:ext cx="11164186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作者提出临时性组织应当</a:t>
            </a:r>
            <a:r>
              <a:rPr lang="zh-CN" altLang="en-US" sz="2000" dirty="0">
                <a:highlight>
                  <a:srgbClr val="FFFF00"/>
                </a:highlight>
                <a:latin typeface="+mn-ea"/>
              </a:rPr>
              <a:t>关注过程</a:t>
            </a:r>
            <a:r>
              <a:rPr lang="zh-CN" altLang="en-US" sz="2000" dirty="0">
                <a:latin typeface="+mn-ea"/>
              </a:rPr>
              <a:t>、</a:t>
            </a:r>
            <a:r>
              <a:rPr lang="zh-CN" altLang="en-US" sz="2000" dirty="0">
                <a:highlight>
                  <a:srgbClr val="FFFF00"/>
                </a:highlight>
                <a:latin typeface="+mn-ea"/>
              </a:rPr>
              <a:t>形式和视角</a:t>
            </a:r>
            <a:r>
              <a:rPr lang="zh-CN" altLang="en-US" sz="2000" dirty="0">
                <a:latin typeface="+mn-ea"/>
              </a:rPr>
              <a:t>，并提出临时性组织研究的三大挑战和机遇。</a:t>
            </a:r>
          </a:p>
        </p:txBody>
      </p:sp>
      <p:sp>
        <p:nvSpPr>
          <p:cNvPr id="12" name="对话气泡: 矩形 11">
            <a:extLst>
              <a:ext uri="{FF2B5EF4-FFF2-40B4-BE49-F238E27FC236}">
                <a16:creationId xmlns:a16="http://schemas.microsoft.com/office/drawing/2014/main" id="{25712199-EBC7-05FD-E649-F67B0E7630C6}"/>
              </a:ext>
            </a:extLst>
          </p:cNvPr>
          <p:cNvSpPr/>
          <p:nvPr/>
        </p:nvSpPr>
        <p:spPr>
          <a:xfrm>
            <a:off x="605227" y="5527928"/>
            <a:ext cx="2328530" cy="656826"/>
          </a:xfrm>
          <a:prstGeom prst="wedgeRectCallout">
            <a:avLst>
              <a:gd name="adj1" fmla="val 108054"/>
              <a:gd name="adj2" fmla="val -10959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怎么理论化和应对时间和临时性</a:t>
            </a:r>
          </a:p>
        </p:txBody>
      </p:sp>
      <p:sp>
        <p:nvSpPr>
          <p:cNvPr id="13" name="对话气泡: 矩形 12">
            <a:extLst>
              <a:ext uri="{FF2B5EF4-FFF2-40B4-BE49-F238E27FC236}">
                <a16:creationId xmlns:a16="http://schemas.microsoft.com/office/drawing/2014/main" id="{82257031-2FF2-F492-5BEF-384DCCF85EA3}"/>
              </a:ext>
            </a:extLst>
          </p:cNvPr>
          <p:cNvSpPr/>
          <p:nvPr/>
        </p:nvSpPr>
        <p:spPr>
          <a:xfrm>
            <a:off x="3827721" y="5718551"/>
            <a:ext cx="3530010" cy="581807"/>
          </a:xfrm>
          <a:prstGeom prst="wedgeRectCallout">
            <a:avLst>
              <a:gd name="adj1" fmla="val -564"/>
              <a:gd name="adj2" fmla="val -156698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永久性和临时性的内涵及联系</a:t>
            </a:r>
          </a:p>
        </p:txBody>
      </p:sp>
      <p:sp>
        <p:nvSpPr>
          <p:cNvPr id="14" name="对话气泡: 矩形 13">
            <a:extLst>
              <a:ext uri="{FF2B5EF4-FFF2-40B4-BE49-F238E27FC236}">
                <a16:creationId xmlns:a16="http://schemas.microsoft.com/office/drawing/2014/main" id="{4E268C00-E608-A978-C2AB-E33F03CC3B30}"/>
              </a:ext>
            </a:extLst>
          </p:cNvPr>
          <p:cNvSpPr/>
          <p:nvPr/>
        </p:nvSpPr>
        <p:spPr>
          <a:xfrm>
            <a:off x="7949610" y="5460439"/>
            <a:ext cx="2537637" cy="581807"/>
          </a:xfrm>
          <a:prstGeom prst="wedgeRectCallout">
            <a:avLst>
              <a:gd name="adj1" fmla="val -124638"/>
              <a:gd name="adj2" fmla="val -11158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+mn-ea"/>
              </a:rPr>
              <a:t>实证研究临时性组织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801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5" grpId="0" animBg="1"/>
      <p:bldP spid="9" grpId="0"/>
      <p:bldP spid="11" grpId="0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7053-8002-7794-CBA2-7094BF22A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8EB4B30-81E2-A5CE-EC21-F0B751E7B77D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建筑-10">
            <a:extLst>
              <a:ext uri="{FF2B5EF4-FFF2-40B4-BE49-F238E27FC236}">
                <a16:creationId xmlns:a16="http://schemas.microsoft.com/office/drawing/2014/main" id="{697584AA-6FD0-88B6-D744-49EED6AF265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06479A5-A780-D1EB-FAF1-17BB8139525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18984" y="317500"/>
            <a:ext cx="520236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9.1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临时性组织概述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03AFD2C-B829-C796-72C5-245BC93CEE6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62992" y="2573147"/>
            <a:ext cx="11377535" cy="537648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400" b="1" spc="300" dirty="0" err="1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Hadida</a:t>
            </a:r>
            <a:r>
              <a:rPr lang="zh-CN" altLang="en-US" sz="2400" spc="300" dirty="0">
                <a:uFillTx/>
                <a:latin typeface="+mn-ea"/>
                <a:cs typeface="Times New Roman" panose="02020603050405020304" pitchFamily="18" charset="0"/>
                <a:sym typeface="+mn-ea"/>
              </a:rPr>
              <a:t>等</a:t>
            </a:r>
            <a:r>
              <a:rPr lang="zh-CN" altLang="en-US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2018</a:t>
            </a:r>
            <a:r>
              <a:rPr lang="zh-CN" altLang="en-US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400" spc="300" dirty="0">
                <a:uFillTx/>
                <a:latin typeface="+mn-ea"/>
                <a:cs typeface="Times New Roman" panose="02020603050405020304" pitchFamily="18" charset="0"/>
                <a:sym typeface="+mn-ea"/>
              </a:rPr>
              <a:t>：临时性营销组织</a:t>
            </a:r>
            <a:endParaRPr lang="zh-CN" altLang="en-US" sz="2400" spc="300" dirty="0">
              <a:solidFill>
                <a:srgbClr val="FF0000"/>
              </a:solidFill>
              <a:uFillTx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945293-6A08-26AC-1825-9B1E37DDED19}"/>
              </a:ext>
            </a:extLst>
          </p:cNvPr>
          <p:cNvSpPr txBox="1"/>
          <p:nvPr/>
        </p:nvSpPr>
        <p:spPr>
          <a:xfrm>
            <a:off x="662993" y="3580347"/>
            <a:ext cx="6152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spc="3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Ghazimatin</a:t>
            </a:r>
            <a:r>
              <a:rPr lang="zh-CN" altLang="en-US" sz="2400" spc="300" dirty="0">
                <a:latin typeface="+mn-ea"/>
                <a:cs typeface="Times New Roman" panose="02020603050405020304" pitchFamily="18" charset="0"/>
              </a:rPr>
              <a:t>等</a:t>
            </a:r>
            <a:r>
              <a:rPr lang="zh-CN" altLang="en-US" sz="2400" b="1" spc="3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spc="3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2021</a:t>
            </a:r>
            <a:r>
              <a:rPr lang="zh-CN" altLang="en-US" sz="2400" b="1" spc="3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spc="300" dirty="0">
                <a:latin typeface="+mn-ea"/>
                <a:cs typeface="Times New Roman" panose="02020603050405020304" pitchFamily="18" charset="0"/>
              </a:rPr>
              <a:t>：实证拓展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E38A82-D5DD-DE9F-D34B-6DFF27100225}"/>
              </a:ext>
            </a:extLst>
          </p:cNvPr>
          <p:cNvSpPr txBox="1"/>
          <p:nvPr/>
        </p:nvSpPr>
        <p:spPr>
          <a:xfrm>
            <a:off x="7638488" y="5151799"/>
            <a:ext cx="1190847" cy="461665"/>
          </a:xfrm>
          <a:prstGeom prst="rect">
            <a:avLst/>
          </a:prstGeom>
          <a:solidFill>
            <a:srgbClr val="F2EA54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zh-CN" altLang="en-US" dirty="0"/>
              <a:t>情境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7E3A895-45A2-48EA-5430-552D60FE26A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662992" y="1244536"/>
            <a:ext cx="10898143" cy="1014958"/>
          </a:xfrm>
          <a:prstGeom prst="rect">
            <a:avLst/>
          </a:prstGeom>
          <a:noFill/>
        </p:spPr>
        <p:txBody>
          <a:bodyPr wrap="square" bIns="0" rtlCol="0" anchor="ctr" anchorCtr="0">
            <a:spAutoFit/>
          </a:bodyPr>
          <a:lstStyle/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400" b="1" spc="300" dirty="0" err="1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HadidaBurke</a:t>
            </a:r>
            <a:r>
              <a:rPr lang="zh-CN" altLang="en-US" sz="2400" spc="300" dirty="0">
                <a:uFillTx/>
                <a:latin typeface="+mn-ea"/>
                <a:cs typeface="Times New Roman" panose="02020603050405020304" pitchFamily="18" charset="0"/>
                <a:sym typeface="+mn-ea"/>
              </a:rPr>
              <a:t>和</a:t>
            </a:r>
            <a:r>
              <a:rPr lang="en-US" altLang="zh-CN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Morley</a:t>
            </a:r>
            <a:r>
              <a:rPr lang="zh-CN" altLang="en-US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2016</a:t>
            </a:r>
            <a:r>
              <a:rPr lang="zh-CN" altLang="en-US" sz="2400" b="1" spc="300" dirty="0"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2400" spc="300" dirty="0">
                <a:uFillTx/>
                <a:latin typeface="+mn-ea"/>
                <a:cs typeface="Times New Roman" panose="02020603050405020304" pitchFamily="18" charset="0"/>
                <a:sym typeface="+mn-ea"/>
              </a:rPr>
              <a:t>：临时性组织综述</a:t>
            </a:r>
            <a:r>
              <a:rPr lang="zh-CN" altLang="en-US" sz="2000" spc="300" dirty="0">
                <a:uFillTx/>
                <a:latin typeface="+mn-ea"/>
                <a:cs typeface="Times New Roman" panose="02020603050405020304" pitchFamily="18" charset="0"/>
                <a:sym typeface="+mn-ea"/>
              </a:rPr>
              <a:t>（个人和团队层面、任务特征、临时性与永久性间的矛盾、网络与组织域、项目绩效）</a:t>
            </a:r>
            <a:endParaRPr lang="zh-CN" altLang="en-US" sz="2400" spc="300" dirty="0">
              <a:solidFill>
                <a:srgbClr val="FF0000"/>
              </a:solidFill>
              <a:uFillTx/>
              <a:latin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C63447-8181-150A-3061-2D72F7F210D3}"/>
              </a:ext>
            </a:extLst>
          </p:cNvPr>
          <p:cNvSpPr txBox="1"/>
          <p:nvPr/>
        </p:nvSpPr>
        <p:spPr>
          <a:xfrm>
            <a:off x="2770056" y="5151800"/>
            <a:ext cx="1196651" cy="461665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kern="0" dirty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时间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651EA0D-2A11-8167-233F-E8F7FF086574}"/>
              </a:ext>
            </a:extLst>
          </p:cNvPr>
          <p:cNvSpPr txBox="1"/>
          <p:nvPr/>
        </p:nvSpPr>
        <p:spPr>
          <a:xfrm>
            <a:off x="4371066" y="5151798"/>
            <a:ext cx="1196651" cy="461665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zh-CN" altLang="en-US" dirty="0"/>
              <a:t>任务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45A6CD-FE76-6649-239E-818B77D3F5BF}"/>
              </a:ext>
            </a:extLst>
          </p:cNvPr>
          <p:cNvSpPr txBox="1"/>
          <p:nvPr/>
        </p:nvSpPr>
        <p:spPr>
          <a:xfrm>
            <a:off x="6037478" y="5151797"/>
            <a:ext cx="1190847" cy="461665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zh-CN" altLang="en-US" dirty="0"/>
              <a:t>团队</a:t>
            </a:r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3E6893A9-97CF-CB1C-F152-3A591BF4BA11}"/>
              </a:ext>
            </a:extLst>
          </p:cNvPr>
          <p:cNvSpPr/>
          <p:nvPr/>
        </p:nvSpPr>
        <p:spPr>
          <a:xfrm>
            <a:off x="5796077" y="4147718"/>
            <a:ext cx="599846" cy="738836"/>
          </a:xfrm>
          <a:prstGeom prst="down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598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9" grpId="0"/>
      <p:bldP spid="6" grpId="0" animBg="1"/>
      <p:bldP spid="10" grpId="0"/>
      <p:bldP spid="16" grpId="0" animBg="1"/>
      <p:bldP spid="18" grpId="0" animBg="1"/>
      <p:bldP spid="21" grpId="0" animBg="1"/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6AE9-A12B-C906-19EB-1FDD73FA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79A0276-5702-5BBC-0A3A-DC9A37FF534A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建筑-10">
            <a:extLst>
              <a:ext uri="{FF2B5EF4-FFF2-40B4-BE49-F238E27FC236}">
                <a16:creationId xmlns:a16="http://schemas.microsoft.com/office/drawing/2014/main" id="{D80A63F1-CC0A-24F2-E76A-ACEF1A2851C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6DD668D-A8AD-87FF-FE13-FA352421E80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04807" y="360362"/>
            <a:ext cx="520236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9.2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临时性组织特征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393BFA-D18C-635F-02C3-34F576D0AC44}"/>
              </a:ext>
            </a:extLst>
          </p:cNvPr>
          <p:cNvSpPr txBox="1"/>
          <p:nvPr/>
        </p:nvSpPr>
        <p:spPr>
          <a:xfrm>
            <a:off x="709154" y="2181473"/>
            <a:ext cx="1196651" cy="461665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2400" kern="0" dirty="0">
                <a:effectLst/>
                <a:latin typeface="+mn-ea"/>
                <a:cs typeface="宋体" panose="02010600030101010101" pitchFamily="2" charset="-122"/>
              </a:rPr>
              <a:t>1.</a:t>
            </a:r>
            <a:r>
              <a:rPr lang="zh-CN" altLang="en-US" sz="2400" kern="0" dirty="0">
                <a:effectLst/>
                <a:latin typeface="+mn-ea"/>
                <a:cs typeface="宋体" panose="02010600030101010101" pitchFamily="2" charset="-122"/>
              </a:rPr>
              <a:t>时间</a:t>
            </a:r>
            <a:endParaRPr lang="zh-CN" altLang="en-US" sz="24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BCEF0EE-A599-26E0-D0CA-42BA35DAFC97}"/>
              </a:ext>
            </a:extLst>
          </p:cNvPr>
          <p:cNvSpPr txBox="1"/>
          <p:nvPr/>
        </p:nvSpPr>
        <p:spPr>
          <a:xfrm>
            <a:off x="709154" y="5154748"/>
            <a:ext cx="1196651" cy="461665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2.</a:t>
            </a:r>
            <a:r>
              <a:rPr lang="zh-CN" altLang="en-US" dirty="0">
                <a:latin typeface="+mn-ea"/>
                <a:ea typeface="+mn-ea"/>
              </a:rPr>
              <a:t>任务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CD737D9-48E2-750E-8346-2B28128D87C6}"/>
              </a:ext>
            </a:extLst>
          </p:cNvPr>
          <p:cNvSpPr/>
          <p:nvPr/>
        </p:nvSpPr>
        <p:spPr>
          <a:xfrm>
            <a:off x="2821172" y="1280677"/>
            <a:ext cx="7896798" cy="3667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rgbClr val="FF0000"/>
                </a:solidFill>
                <a:latin typeface="+mn-ea"/>
              </a:rPr>
              <a:t>有限性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：起止时间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93ABEB7-24DC-B4EE-88C9-B0C0EE7D36D9}"/>
              </a:ext>
            </a:extLst>
          </p:cNvPr>
          <p:cNvSpPr/>
          <p:nvPr/>
        </p:nvSpPr>
        <p:spPr>
          <a:xfrm>
            <a:off x="2821167" y="1920378"/>
            <a:ext cx="7896803" cy="3667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rgbClr val="FF0000"/>
                </a:solidFill>
                <a:latin typeface="+mn-ea"/>
              </a:rPr>
              <a:t>线性形式存在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：一次性、非循环；周期性；（短期？长期？）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5B6DF3E-BCA2-CB12-34F3-6A20D6694BC5}"/>
              </a:ext>
            </a:extLst>
          </p:cNvPr>
          <p:cNvSpPr/>
          <p:nvPr/>
        </p:nvSpPr>
        <p:spPr>
          <a:xfrm>
            <a:off x="2821169" y="2608880"/>
            <a:ext cx="7896803" cy="3667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rgbClr val="FF0000"/>
                </a:solidFill>
                <a:latin typeface="+mn-ea"/>
              </a:rPr>
              <a:t>将来完成时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：投射性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A69A654-8372-8835-DD06-932A5011E6C9}"/>
              </a:ext>
            </a:extLst>
          </p:cNvPr>
          <p:cNvSpPr/>
          <p:nvPr/>
        </p:nvSpPr>
        <p:spPr>
          <a:xfrm>
            <a:off x="2821169" y="3261684"/>
            <a:ext cx="7896803" cy="41879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rgbClr val="FF0000"/>
                </a:solidFill>
                <a:latin typeface="+mn-ea"/>
              </a:rPr>
              <a:t>时间压力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：时间长与短，不同时点影响团队状态、协同和资源分配</a:t>
            </a:r>
          </a:p>
        </p:txBody>
      </p: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6BB48018-6EE7-A678-9B53-0F7031D9AA83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1905805" y="1464061"/>
            <a:ext cx="915367" cy="94824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06F00060-575F-C08D-6A88-F6F4B9837AF7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1905805" y="2103762"/>
            <a:ext cx="915362" cy="3085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BAF07DB6-797F-A63A-6C46-0B8B8D63E22F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>
            <a:off x="1905805" y="2412306"/>
            <a:ext cx="915364" cy="37995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5B0AFDEF-D114-160A-56F6-5F3374960668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>
            <a:off x="1905805" y="2412306"/>
            <a:ext cx="915364" cy="10587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B73FAE4-59E8-47D8-8517-70653D3BA062}"/>
              </a:ext>
            </a:extLst>
          </p:cNvPr>
          <p:cNvSpPr/>
          <p:nvPr/>
        </p:nvSpPr>
        <p:spPr>
          <a:xfrm>
            <a:off x="2821168" y="4427722"/>
            <a:ext cx="7896802" cy="3667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rgbClr val="FF0000"/>
                </a:solidFill>
                <a:latin typeface="+mn-ea"/>
              </a:rPr>
              <a:t>独特性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：任务发展的不确定性、与环境交互，具有柔性和创造行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58E0186-D320-3711-9837-B3CEE89FFE8A}"/>
              </a:ext>
            </a:extLst>
          </p:cNvPr>
          <p:cNvSpPr/>
          <p:nvPr/>
        </p:nvSpPr>
        <p:spPr>
          <a:xfrm>
            <a:off x="2821166" y="5183026"/>
            <a:ext cx="7896802" cy="36676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rgbClr val="FF0000"/>
                </a:solidFill>
                <a:latin typeface="+mn-ea"/>
              </a:rPr>
              <a:t>有限性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：任务占用时间有限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0AB834C2-215D-E923-4593-8F618F7FE51F}"/>
              </a:ext>
            </a:extLst>
          </p:cNvPr>
          <p:cNvSpPr/>
          <p:nvPr/>
        </p:nvSpPr>
        <p:spPr>
          <a:xfrm>
            <a:off x="2821166" y="5867583"/>
            <a:ext cx="7896801" cy="42306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rgbClr val="FF0000"/>
                </a:solidFill>
                <a:latin typeface="+mn-ea"/>
              </a:rPr>
              <a:t>转换性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：改变或实现某状态，甚至影响参与主体行为或价值观的改变</a:t>
            </a: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45879E82-7378-6748-7905-6B291280AD7E}"/>
              </a:ext>
            </a:extLst>
          </p:cNvPr>
          <p:cNvCxnSpPr>
            <a:cxnSpLocks/>
            <a:stCxn id="5" idx="3"/>
            <a:endCxn id="27" idx="1"/>
          </p:cNvCxnSpPr>
          <p:nvPr/>
        </p:nvCxnSpPr>
        <p:spPr>
          <a:xfrm flipV="1">
            <a:off x="1905805" y="4611106"/>
            <a:ext cx="915363" cy="7744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167DA82C-3E7D-76D5-A52D-C5412B9B0E2A}"/>
              </a:ext>
            </a:extLst>
          </p:cNvPr>
          <p:cNvCxnSpPr>
            <a:cxnSpLocks/>
            <a:stCxn id="5" idx="3"/>
            <a:endCxn id="29" idx="1"/>
          </p:cNvCxnSpPr>
          <p:nvPr/>
        </p:nvCxnSpPr>
        <p:spPr>
          <a:xfrm flipV="1">
            <a:off x="1905805" y="5366410"/>
            <a:ext cx="915361" cy="191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90C70E0F-241C-025D-40D0-2B0B5BBBF90F}"/>
              </a:ext>
            </a:extLst>
          </p:cNvPr>
          <p:cNvCxnSpPr>
            <a:cxnSpLocks/>
            <a:stCxn id="5" idx="3"/>
            <a:endCxn id="30" idx="1"/>
          </p:cNvCxnSpPr>
          <p:nvPr/>
        </p:nvCxnSpPr>
        <p:spPr>
          <a:xfrm>
            <a:off x="1905805" y="5385581"/>
            <a:ext cx="915361" cy="69353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03922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9" grpId="0" animBg="1"/>
      <p:bldP spid="10" grpId="0" animBg="1"/>
      <p:bldP spid="11" grpId="0" animBg="1"/>
      <p:bldP spid="27" grpId="0" animBg="1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F6D0B-7C61-F8D5-5B6C-379FD6D0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7499ADB-4126-A5F7-AE18-4A6677351B0F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建筑-10">
            <a:extLst>
              <a:ext uri="{FF2B5EF4-FFF2-40B4-BE49-F238E27FC236}">
                <a16:creationId xmlns:a16="http://schemas.microsoft.com/office/drawing/2014/main" id="{3D184144-B06A-A954-6669-70D9EAD0700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CE7DE21-3F02-0968-CE00-AF8F89BBC4A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04807" y="360362"/>
            <a:ext cx="520236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9.2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临时性组织特征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2AD14F-CF3B-732C-F2D9-3C8C19D2390A}"/>
              </a:ext>
            </a:extLst>
          </p:cNvPr>
          <p:cNvSpPr txBox="1"/>
          <p:nvPr/>
        </p:nvSpPr>
        <p:spPr>
          <a:xfrm>
            <a:off x="714954" y="2804460"/>
            <a:ext cx="1190847" cy="461665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3.</a:t>
            </a:r>
            <a:r>
              <a:rPr lang="zh-CN" altLang="en-US" dirty="0">
                <a:latin typeface="+mn-ea"/>
                <a:ea typeface="+mn-ea"/>
              </a:rPr>
              <a:t>团队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D6BAB50-6D49-EF05-931C-CC43CED30BE8}"/>
              </a:ext>
            </a:extLst>
          </p:cNvPr>
          <p:cNvSpPr/>
          <p:nvPr/>
        </p:nvSpPr>
        <p:spPr>
          <a:xfrm>
            <a:off x="2828255" y="1932100"/>
            <a:ext cx="7719238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rgbClr val="FF0000"/>
                </a:solidFill>
                <a:latin typeface="+mn-ea"/>
              </a:rPr>
              <a:t>团队以任务为导向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：动态性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5E35E58-BD2F-7C36-6CDB-C023ABF6956A}"/>
              </a:ext>
            </a:extLst>
          </p:cNvPr>
          <p:cNvSpPr/>
          <p:nvPr/>
        </p:nvSpPr>
        <p:spPr>
          <a:xfrm>
            <a:off x="2828256" y="2721633"/>
            <a:ext cx="7719238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团队有事先明确的开始与结束时点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228A950-3FEA-448F-E00E-11A1057D923E}"/>
              </a:ext>
            </a:extLst>
          </p:cNvPr>
          <p:cNvSpPr/>
          <p:nvPr/>
        </p:nvSpPr>
        <p:spPr>
          <a:xfrm>
            <a:off x="2828256" y="3506663"/>
            <a:ext cx="7719237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rgbClr val="FF0000"/>
                </a:solidFill>
                <a:latin typeface="+mn-ea"/>
              </a:rPr>
              <a:t>团队依赖于其他组织环境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：项目结束返回永久性组织或其他组织</a:t>
            </a: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1936C4E7-2B30-2908-049E-1F843EEF9BA2}"/>
              </a:ext>
            </a:extLst>
          </p:cNvPr>
          <p:cNvCxnSpPr>
            <a:cxnSpLocks/>
            <a:stCxn id="6" idx="3"/>
            <a:endCxn id="2" idx="1"/>
          </p:cNvCxnSpPr>
          <p:nvPr/>
        </p:nvCxnSpPr>
        <p:spPr>
          <a:xfrm flipV="1">
            <a:off x="1905801" y="2141207"/>
            <a:ext cx="922454" cy="89408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36F3C191-310C-1AC9-077D-53978D5E7E11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 flipV="1">
            <a:off x="1905801" y="2930740"/>
            <a:ext cx="922455" cy="10455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95C46849-8758-3FFB-1566-A2A721C7D722}"/>
              </a:ext>
            </a:extLst>
          </p:cNvPr>
          <p:cNvCxnSpPr>
            <a:cxnSpLocks/>
            <a:stCxn id="6" idx="3"/>
            <a:endCxn id="13" idx="1"/>
          </p:cNvCxnSpPr>
          <p:nvPr/>
        </p:nvCxnSpPr>
        <p:spPr>
          <a:xfrm>
            <a:off x="1905801" y="3035293"/>
            <a:ext cx="922455" cy="6804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2A490F4-CAEB-8292-917B-42B36BB3F670}"/>
              </a:ext>
            </a:extLst>
          </p:cNvPr>
          <p:cNvSpPr/>
          <p:nvPr/>
        </p:nvSpPr>
        <p:spPr>
          <a:xfrm>
            <a:off x="2828255" y="4249400"/>
            <a:ext cx="7719237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n w="0"/>
                <a:solidFill>
                  <a:srgbClr val="FF0000"/>
                </a:solidFill>
                <a:latin typeface="+mn-ea"/>
              </a:rPr>
              <a:t>团队成员的项目化职业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：个人职业发展与项目成败紧密相关</a:t>
            </a: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0FC84E45-78A2-71C4-3657-5A1F1F8BE6D4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1905801" y="3035293"/>
            <a:ext cx="922454" cy="14232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27357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4B1BB-250A-6176-3994-9D08C8669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F675803-A204-25D8-77EA-232CE7E9AA13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建筑-10">
            <a:extLst>
              <a:ext uri="{FF2B5EF4-FFF2-40B4-BE49-F238E27FC236}">
                <a16:creationId xmlns:a16="http://schemas.microsoft.com/office/drawing/2014/main" id="{89A1AED1-05E2-A6FE-3531-B5C7ECAFD5E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D476280-09F0-650B-12DE-5022EEA2932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04807" y="360362"/>
            <a:ext cx="520236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临时性组织的情境嵌入性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8CE4851-531F-B6B8-3170-01BB19844F27}"/>
              </a:ext>
            </a:extLst>
          </p:cNvPr>
          <p:cNvCxnSpPr>
            <a:cxnSpLocks/>
          </p:cNvCxnSpPr>
          <p:nvPr/>
        </p:nvCxnSpPr>
        <p:spPr>
          <a:xfrm>
            <a:off x="5437145" y="4682588"/>
            <a:ext cx="310125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B68B2E0-1175-7C1B-346E-E1E22C7F4243}"/>
              </a:ext>
            </a:extLst>
          </p:cNvPr>
          <p:cNvCxnSpPr>
            <a:cxnSpLocks/>
          </p:cNvCxnSpPr>
          <p:nvPr/>
        </p:nvCxnSpPr>
        <p:spPr>
          <a:xfrm flipH="1">
            <a:off x="3306470" y="4682588"/>
            <a:ext cx="2130674" cy="135509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3689FFC-CED7-F390-3FBB-0F2DC9EC75A5}"/>
              </a:ext>
            </a:extLst>
          </p:cNvPr>
          <p:cNvCxnSpPr>
            <a:cxnSpLocks/>
          </p:cNvCxnSpPr>
          <p:nvPr/>
        </p:nvCxnSpPr>
        <p:spPr>
          <a:xfrm flipV="1">
            <a:off x="5437145" y="2573177"/>
            <a:ext cx="0" cy="210941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0EFA4CBC-4B59-0846-B918-0A2834DDE6F0}"/>
              </a:ext>
            </a:extLst>
          </p:cNvPr>
          <p:cNvSpPr/>
          <p:nvPr/>
        </p:nvSpPr>
        <p:spPr>
          <a:xfrm>
            <a:off x="3648069" y="2550842"/>
            <a:ext cx="1665762" cy="3974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社会情境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6F8B4B-442A-0CC8-621E-2A6D2C9B75B6}"/>
              </a:ext>
            </a:extLst>
          </p:cNvPr>
          <p:cNvSpPr/>
          <p:nvPr/>
        </p:nvSpPr>
        <p:spPr>
          <a:xfrm>
            <a:off x="3679235" y="5853267"/>
            <a:ext cx="1665762" cy="368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制度情境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AFB1B3-CF96-F0BD-D70A-83617E850AA3}"/>
              </a:ext>
            </a:extLst>
          </p:cNvPr>
          <p:cNvSpPr/>
          <p:nvPr/>
        </p:nvSpPr>
        <p:spPr>
          <a:xfrm>
            <a:off x="7347464" y="4270265"/>
            <a:ext cx="1411909" cy="3591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latin typeface="+mn-ea"/>
              </a:rPr>
              <a:t>时间情境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DAFD00E-1E00-23E8-0F37-1FC582D13CA5}"/>
              </a:ext>
            </a:extLst>
          </p:cNvPr>
          <p:cNvSpPr txBox="1"/>
          <p:nvPr/>
        </p:nvSpPr>
        <p:spPr>
          <a:xfrm>
            <a:off x="5529294" y="2556264"/>
            <a:ext cx="793898" cy="21209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生态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网络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企业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项目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个人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00BFF03-F244-ED88-1CE6-08B832719E61}"/>
              </a:ext>
            </a:extLst>
          </p:cNvPr>
          <p:cNvSpPr txBox="1"/>
          <p:nvPr/>
        </p:nvSpPr>
        <p:spPr>
          <a:xfrm>
            <a:off x="5548089" y="4587784"/>
            <a:ext cx="2679405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过去       现在</a:t>
            </a:r>
            <a:r>
              <a:rPr lang="en-US" altLang="zh-CN" dirty="0">
                <a:latin typeface="+mn-ea"/>
              </a:rPr>
              <a:t>      </a:t>
            </a:r>
            <a:r>
              <a:rPr lang="zh-CN" altLang="en-US" dirty="0">
                <a:latin typeface="+mn-ea"/>
              </a:rPr>
              <a:t>未来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CB2720C-EF05-E5B3-C53B-FA735585F843}"/>
              </a:ext>
            </a:extLst>
          </p:cNvPr>
          <p:cNvSpPr txBox="1"/>
          <p:nvPr/>
        </p:nvSpPr>
        <p:spPr>
          <a:xfrm>
            <a:off x="4000369" y="4375842"/>
            <a:ext cx="1279454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文化认知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0DED19F-9E8E-74E3-5924-9B1DE31A176A}"/>
              </a:ext>
            </a:extLst>
          </p:cNvPr>
          <p:cNvSpPr txBox="1"/>
          <p:nvPr/>
        </p:nvSpPr>
        <p:spPr>
          <a:xfrm>
            <a:off x="3360644" y="4761692"/>
            <a:ext cx="1279454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社会规范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78997DD-7C49-063D-C2B6-84DBA8471FBF}"/>
              </a:ext>
            </a:extLst>
          </p:cNvPr>
          <p:cNvSpPr txBox="1"/>
          <p:nvPr/>
        </p:nvSpPr>
        <p:spPr>
          <a:xfrm>
            <a:off x="3119246" y="5268819"/>
            <a:ext cx="881123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规制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7878C5-467E-D709-A173-CCD40DABF506}"/>
              </a:ext>
            </a:extLst>
          </p:cNvPr>
          <p:cNvSpPr txBox="1"/>
          <p:nvPr/>
        </p:nvSpPr>
        <p:spPr>
          <a:xfrm>
            <a:off x="652322" y="892055"/>
            <a:ext cx="11000787" cy="1688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dirty="0">
                <a:highlight>
                  <a:srgbClr val="FFFF00"/>
                </a:highlight>
              </a:rPr>
              <a:t>情境嵌入性</a:t>
            </a:r>
            <a:r>
              <a:rPr lang="zh-CN" altLang="en-US" sz="2400" dirty="0"/>
              <a:t>是指临时性组织行为是</a:t>
            </a:r>
            <a:r>
              <a:rPr lang="zh-CN" altLang="en-US" sz="2400" dirty="0">
                <a:solidFill>
                  <a:srgbClr val="FF0000"/>
                </a:solidFill>
              </a:rPr>
              <a:t>组织和情境的交互作用所形成</a:t>
            </a:r>
            <a:r>
              <a:rPr lang="zh-CN" altLang="en-US" sz="2400" dirty="0"/>
              <a:t>。嵌入并非是将情境剥离出来进行单独分析，而是将情境与临时性组织进行</a:t>
            </a:r>
            <a:r>
              <a:rPr lang="zh-CN" altLang="en-US" sz="2400" dirty="0">
                <a:solidFill>
                  <a:srgbClr val="FF0000"/>
                </a:solidFill>
              </a:rPr>
              <a:t>整体性分析</a:t>
            </a:r>
            <a:r>
              <a:rPr lang="zh-CN" altLang="en-US" sz="2400" dirty="0"/>
              <a:t>，两者构成有机整体。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3585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5FD5-D6EF-1733-B168-FB834068D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5560CBD-8E0D-3D76-3383-3916490EF9EB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9" name="图片 38" descr="建筑-10">
            <a:extLst>
              <a:ext uri="{FF2B5EF4-FFF2-40B4-BE49-F238E27FC236}">
                <a16:creationId xmlns:a16="http://schemas.microsoft.com/office/drawing/2014/main" id="{D75FFD0F-11D1-FF23-021C-441AEEE888DB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alphaModFix amt="54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8F09D78-152E-C102-EF11-A0B21AB54BC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04807" y="360362"/>
            <a:ext cx="5202366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临时性组织的情境嵌入性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F8A6E9E-5F17-777D-ECAF-D3B01D5FB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729326"/>
              </p:ext>
            </p:extLst>
          </p:nvPr>
        </p:nvGraphicFramePr>
        <p:xfrm>
          <a:off x="1296391" y="3480792"/>
          <a:ext cx="9277350" cy="212005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497213">
                  <a:extLst>
                    <a:ext uri="{9D8B030D-6E8A-4147-A177-3AD203B41FA5}">
                      <a16:colId xmlns:a16="http://schemas.microsoft.com/office/drawing/2014/main" val="2040524106"/>
                    </a:ext>
                  </a:extLst>
                </a:gridCol>
                <a:gridCol w="2621245">
                  <a:extLst>
                    <a:ext uri="{9D8B030D-6E8A-4147-A177-3AD203B41FA5}">
                      <a16:colId xmlns:a16="http://schemas.microsoft.com/office/drawing/2014/main" val="2986311136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4076062277"/>
                    </a:ext>
                  </a:extLst>
                </a:gridCol>
                <a:gridCol w="2635148">
                  <a:extLst>
                    <a:ext uri="{9D8B030D-6E8A-4147-A177-3AD203B41FA5}">
                      <a16:colId xmlns:a16="http://schemas.microsoft.com/office/drawing/2014/main" val="1675438878"/>
                    </a:ext>
                  </a:extLst>
                </a:gridCol>
              </a:tblGrid>
              <a:tr h="44271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+mn-ea"/>
                          <a:ea typeface="+mn-ea"/>
                        </a:rPr>
                        <a:t> </a:t>
                      </a:r>
                      <a:endParaRPr lang="zh-CN" altLang="en-US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1" kern="0" dirty="0">
                          <a:effectLst/>
                          <a:latin typeface="+mn-ea"/>
                          <a:ea typeface="+mn-ea"/>
                        </a:rPr>
                        <a:t>企业内</a:t>
                      </a:r>
                      <a:endParaRPr lang="zh-CN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1" kern="0" dirty="0">
                          <a:effectLst/>
                          <a:latin typeface="+mn-ea"/>
                          <a:ea typeface="+mn-ea"/>
                        </a:rPr>
                        <a:t>跨企业</a:t>
                      </a:r>
                      <a:endParaRPr lang="zh-CN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1" kern="0" dirty="0">
                          <a:effectLst/>
                          <a:latin typeface="+mn-ea"/>
                          <a:ea typeface="+mn-ea"/>
                        </a:rPr>
                        <a:t>项目网络</a:t>
                      </a:r>
                      <a:r>
                        <a:rPr lang="en-US" altLang="zh-CN" sz="2000" b="1" kern="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CN" altLang="en-US" sz="2000" b="1" kern="0" dirty="0">
                          <a:effectLst/>
                          <a:latin typeface="+mn-ea"/>
                          <a:ea typeface="+mn-ea"/>
                        </a:rPr>
                        <a:t>生态</a:t>
                      </a:r>
                      <a:endParaRPr lang="zh-CN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362799088"/>
                  </a:ext>
                </a:extLst>
              </a:tr>
              <a:tr h="490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1" kern="0" dirty="0">
                          <a:effectLst/>
                          <a:latin typeface="+mn-ea"/>
                          <a:ea typeface="+mn-ea"/>
                        </a:rPr>
                        <a:t>组织层级</a:t>
                      </a:r>
                      <a:endParaRPr lang="zh-CN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+mn-ea"/>
                          <a:ea typeface="+mn-ea"/>
                        </a:rPr>
                        <a:t>项目团队</a:t>
                      </a:r>
                      <a:endParaRPr lang="zh-CN" altLang="en-US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+mn-ea"/>
                          <a:ea typeface="+mn-ea"/>
                        </a:rPr>
                        <a:t>跨企业团队</a:t>
                      </a:r>
                      <a:endParaRPr lang="zh-CN" altLang="en-US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+mn-ea"/>
                          <a:ea typeface="+mn-ea"/>
                        </a:rPr>
                        <a:t>网络组织</a:t>
                      </a:r>
                      <a:endParaRPr lang="zh-CN" altLang="en-US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2830383663"/>
                  </a:ext>
                </a:extLst>
              </a:tr>
              <a:tr h="6961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1" kern="0" dirty="0">
                          <a:effectLst/>
                          <a:latin typeface="+mn-ea"/>
                          <a:ea typeface="+mn-ea"/>
                        </a:rPr>
                        <a:t>作用机制</a:t>
                      </a:r>
                      <a:endParaRPr lang="zh-CN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+mn-ea"/>
                          <a:ea typeface="+mn-ea"/>
                        </a:rPr>
                        <a:t>授权、监督、考核等</a:t>
                      </a:r>
                      <a:endParaRPr lang="zh-CN" altLang="en-US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+mn-ea"/>
                          <a:ea typeface="+mn-ea"/>
                        </a:rPr>
                        <a:t>合同、关系</a:t>
                      </a:r>
                      <a:endParaRPr lang="zh-CN" altLang="en-US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+mn-ea"/>
                          <a:ea typeface="+mn-ea"/>
                        </a:rPr>
                        <a:t>信息共享、声誉约束</a:t>
                      </a:r>
                      <a:endParaRPr lang="zh-CN" altLang="en-US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3476993317"/>
                  </a:ext>
                </a:extLst>
              </a:tr>
              <a:tr h="4905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1" kern="0" dirty="0">
                          <a:effectLst/>
                          <a:latin typeface="+mn-ea"/>
                          <a:ea typeface="+mn-ea"/>
                        </a:rPr>
                        <a:t>效果</a:t>
                      </a:r>
                      <a:endParaRPr lang="zh-CN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+mn-ea"/>
                          <a:ea typeface="+mn-ea"/>
                        </a:rPr>
                        <a:t>团队绩效</a:t>
                      </a:r>
                      <a:endParaRPr lang="zh-CN" altLang="en-US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+mn-ea"/>
                          <a:ea typeface="+mn-ea"/>
                        </a:rPr>
                        <a:t>合作绩效</a:t>
                      </a:r>
                      <a:endParaRPr lang="zh-CN" altLang="en-US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25000"/>
                        </a:lnSpc>
                        <a:buNone/>
                        <a:tabLst>
                          <a:tab pos="457200" algn="l"/>
                        </a:tabLst>
                      </a:pPr>
                      <a:r>
                        <a:rPr lang="zh-CN" altLang="en-US" sz="2000" b="0" kern="0" dirty="0">
                          <a:effectLst/>
                          <a:latin typeface="+mn-ea"/>
                          <a:ea typeface="+mn-ea"/>
                        </a:rPr>
                        <a:t>网络绩效</a:t>
                      </a:r>
                      <a:endParaRPr lang="zh-CN" altLang="en-US" sz="2000" b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anchor="ctr"/>
                </a:tc>
                <a:extLst>
                  <a:ext uri="{0D108BD9-81ED-4DB2-BD59-A6C34878D82A}">
                    <a16:rowId xmlns:a16="http://schemas.microsoft.com/office/drawing/2014/main" val="1491796050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0CDF8EAD-AFA4-0154-2E7D-CA7968C9B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5460" y="3028890"/>
            <a:ext cx="354494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宋体" panose="02010600030101010101" pitchFamily="2" charset="-122"/>
              </a:rPr>
              <a:t>表9-3 不同层级的对比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CB5B26-5269-DECA-D92A-B392E302FF7D}"/>
              </a:ext>
            </a:extLst>
          </p:cNvPr>
          <p:cNvSpPr txBox="1"/>
          <p:nvPr/>
        </p:nvSpPr>
        <p:spPr>
          <a:xfrm>
            <a:off x="978827" y="1178773"/>
            <a:ext cx="10234346" cy="1688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）社会情境的嵌入性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社会情境包括：①企业内；②跨企业团队；③项目网络和项目生态。各层级所依赖的作用机制存在差异，同时相互影响。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400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56B4B-4CBE-7DE1-175C-264DC485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DEF3E6F-FA5F-E7E8-2687-E91BDFEAFB7E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75AE3D-70B5-1760-1AF2-49AE3501C66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04807" y="360362"/>
            <a:ext cx="418911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临时性组织的情境嵌入性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D1449CA-A108-2E6A-B853-AD476156A094}"/>
              </a:ext>
            </a:extLst>
          </p:cNvPr>
          <p:cNvSpPr txBox="1"/>
          <p:nvPr/>
        </p:nvSpPr>
        <p:spPr>
          <a:xfrm>
            <a:off x="92004" y="3605293"/>
            <a:ext cx="1786162" cy="830997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9.3.1</a:t>
            </a:r>
          </a:p>
          <a:p>
            <a:r>
              <a:rPr lang="zh-CN" altLang="en-US" dirty="0">
                <a:latin typeface="+mn-ea"/>
                <a:ea typeface="+mn-ea"/>
              </a:rPr>
              <a:t>企业层面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CA1BF70-A0C1-A4DC-6B81-73CCD26D26F3}"/>
              </a:ext>
            </a:extLst>
          </p:cNvPr>
          <p:cNvSpPr/>
          <p:nvPr/>
        </p:nvSpPr>
        <p:spPr>
          <a:xfrm>
            <a:off x="2766327" y="3004887"/>
            <a:ext cx="1718592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1.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项目治理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ED0CF97-AB06-3CDD-B12F-D3E27E0786B3}"/>
              </a:ext>
            </a:extLst>
          </p:cNvPr>
          <p:cNvSpPr/>
          <p:nvPr/>
        </p:nvSpPr>
        <p:spPr>
          <a:xfrm>
            <a:off x="2659647" y="5916512"/>
            <a:ext cx="5548065" cy="49014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2.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企业内项目学习与创新：矛盾性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2822F9-808D-A505-2189-3499818007BB}"/>
              </a:ext>
            </a:extLst>
          </p:cNvPr>
          <p:cNvSpPr txBox="1"/>
          <p:nvPr/>
        </p:nvSpPr>
        <p:spPr>
          <a:xfrm>
            <a:off x="5134390" y="2008396"/>
            <a:ext cx="941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发展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E8D6F1-AEC9-9FF2-3D48-B0A0E112F669}"/>
              </a:ext>
            </a:extLst>
          </p:cNvPr>
          <p:cNvSpPr txBox="1"/>
          <p:nvPr/>
        </p:nvSpPr>
        <p:spPr>
          <a:xfrm>
            <a:off x="5091321" y="2604777"/>
            <a:ext cx="12391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理论基础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4FA53E5-4C6D-6236-5686-E76D68139E0B}"/>
              </a:ext>
            </a:extLst>
          </p:cNvPr>
          <p:cNvSpPr txBox="1"/>
          <p:nvPr/>
        </p:nvSpPr>
        <p:spPr>
          <a:xfrm>
            <a:off x="5091320" y="3260487"/>
            <a:ext cx="6010068" cy="2351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定义：</a:t>
            </a:r>
            <a:endParaRPr lang="en-US" altLang="zh-CN" sz="2000" dirty="0">
              <a:ln w="0"/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①</a:t>
            </a:r>
            <a:r>
              <a:rPr lang="zh-CN" altLang="en-US" sz="2000" dirty="0">
                <a:ln w="0"/>
                <a:solidFill>
                  <a:srgbClr val="0000FF"/>
                </a:solidFill>
                <a:latin typeface="+mn-ea"/>
              </a:rPr>
              <a:t>项目治理结构：</a:t>
            </a:r>
            <a:r>
              <a:rPr lang="zh-CN" altLang="en-US" sz="2000" dirty="0">
                <a:ln w="0"/>
                <a:latin typeface="+mn-ea"/>
              </a:rPr>
              <a:t>纵向（设置分层分级管理）           </a:t>
            </a:r>
            <a:r>
              <a:rPr lang="en-US" altLang="zh-CN" sz="2000" dirty="0">
                <a:ln w="0"/>
                <a:latin typeface="+mn-ea"/>
              </a:rPr>
              <a:t>       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n w="0"/>
                <a:solidFill>
                  <a:srgbClr val="0000FF"/>
                </a:solidFill>
                <a:latin typeface="+mn-ea"/>
              </a:rPr>
              <a:t>②项目治理机制：</a:t>
            </a:r>
            <a:r>
              <a:rPr lang="zh-CN" altLang="en-US" sz="2000" u="sng" dirty="0">
                <a:ln w="0"/>
                <a:latin typeface="+mn-ea"/>
              </a:rPr>
              <a:t>决策、资源、激励</a:t>
            </a:r>
            <a:r>
              <a:rPr lang="zh-CN" altLang="en-US" sz="2000" dirty="0">
                <a:ln w="0"/>
                <a:latin typeface="+mn-ea"/>
              </a:rPr>
              <a:t>；</a:t>
            </a:r>
            <a:r>
              <a:rPr lang="zh-CN" altLang="en-US" sz="2000" u="sng" dirty="0">
                <a:ln w="0"/>
                <a:latin typeface="+mn-ea"/>
              </a:rPr>
              <a:t>授权、评审、决策、监督</a:t>
            </a:r>
            <a:r>
              <a:rPr lang="zh-CN" altLang="en-US" sz="2000" dirty="0">
                <a:ln w="0"/>
                <a:latin typeface="+mn-ea"/>
              </a:rPr>
              <a:t>；</a:t>
            </a:r>
            <a:r>
              <a:rPr lang="zh-CN" altLang="en-US" sz="2000" u="sng" dirty="0">
                <a:ln w="0"/>
                <a:latin typeface="+mn-ea"/>
              </a:rPr>
              <a:t>问题升级机制</a:t>
            </a:r>
            <a:r>
              <a:rPr lang="zh-CN" altLang="en-US" sz="2000" dirty="0">
                <a:ln w="0"/>
                <a:latin typeface="+mn-ea"/>
              </a:rPr>
              <a:t>；</a:t>
            </a:r>
            <a:r>
              <a:rPr lang="zh-CN" altLang="en-US" sz="2000" u="sng" dirty="0">
                <a:ln w="0"/>
                <a:latin typeface="+mn-ea"/>
              </a:rPr>
              <a:t>赋能和储备资源</a:t>
            </a:r>
            <a:r>
              <a:rPr lang="en-US" altLang="zh-CN" sz="2000" u="sng" dirty="0">
                <a:ln w="0"/>
                <a:latin typeface="+mn-ea"/>
              </a:rPr>
              <a:t>     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n w="0"/>
                <a:solidFill>
                  <a:srgbClr val="0000FF"/>
                </a:solidFill>
                <a:latin typeface="+mn-ea"/>
              </a:rPr>
              <a:t>③人员能力</a:t>
            </a:r>
            <a:r>
              <a:rPr lang="zh-CN" altLang="en-US" sz="2000" dirty="0">
                <a:ln w="0"/>
                <a:latin typeface="+mn-ea"/>
              </a:rPr>
              <a:t>（匹配，发挥最大作用）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52EF5FE6-8C59-1E07-4E81-D915CBFBAF53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1878166" y="3213994"/>
            <a:ext cx="888161" cy="80679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70A6E969-74D1-892C-69E9-711F7294711B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1878166" y="4020792"/>
            <a:ext cx="781481" cy="21407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14FE2F84-7633-EC73-0052-342D2A99E5D5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 flipV="1">
            <a:off x="4484919" y="2208451"/>
            <a:ext cx="649471" cy="10055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A5B0FACB-C1A2-FBD7-0990-3E987EDADB8F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4484919" y="2804832"/>
            <a:ext cx="606402" cy="40916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C1F39EFF-1CC8-5F08-79FE-4B80385C9992}"/>
              </a:ext>
            </a:extLst>
          </p:cNvPr>
          <p:cNvCxnSpPr>
            <a:cxnSpLocks/>
            <a:stCxn id="3" idx="3"/>
            <a:endCxn id="14" idx="1"/>
          </p:cNvCxnSpPr>
          <p:nvPr/>
        </p:nvCxnSpPr>
        <p:spPr>
          <a:xfrm>
            <a:off x="4484919" y="3213994"/>
            <a:ext cx="606401" cy="12222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202998F-C10B-4BFB-6BD4-A0811CDF6619}"/>
              </a:ext>
            </a:extLst>
          </p:cNvPr>
          <p:cNvSpPr txBox="1"/>
          <p:nvPr/>
        </p:nvSpPr>
        <p:spPr>
          <a:xfrm>
            <a:off x="6330437" y="969697"/>
            <a:ext cx="4899406" cy="1422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/>
              <a:t>项目治理是企业为了保持项目的决策和执行与</a:t>
            </a:r>
            <a:r>
              <a:rPr lang="zh-CN" altLang="en-US" sz="2000" dirty="0">
                <a:highlight>
                  <a:srgbClr val="FFFF00"/>
                </a:highlight>
              </a:rPr>
              <a:t>企业发展目标一致</a:t>
            </a:r>
            <a:r>
              <a:rPr lang="zh-CN" altLang="en-US" sz="2000" dirty="0"/>
              <a:t>，体现在</a:t>
            </a:r>
            <a:r>
              <a:rPr lang="zh-CN" altLang="en-US" sz="2000" dirty="0">
                <a:highlight>
                  <a:srgbClr val="FFFF00"/>
                </a:highlight>
              </a:rPr>
              <a:t>结构、机制、人员能力</a:t>
            </a:r>
            <a:r>
              <a:rPr lang="zh-CN" altLang="en-US" sz="2000" dirty="0"/>
              <a:t>三者的结合。</a:t>
            </a:r>
          </a:p>
        </p:txBody>
      </p: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03326DAA-31C7-6F5C-6663-3D3CE7B885A9}"/>
              </a:ext>
            </a:extLst>
          </p:cNvPr>
          <p:cNvCxnSpPr>
            <a:cxnSpLocks/>
          </p:cNvCxnSpPr>
          <p:nvPr/>
        </p:nvCxnSpPr>
        <p:spPr>
          <a:xfrm flipV="1">
            <a:off x="5783861" y="2362196"/>
            <a:ext cx="2872533" cy="1243097"/>
          </a:xfrm>
          <a:prstGeom prst="bentConnector3">
            <a:avLst>
              <a:gd name="adj1" fmla="val 10023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3726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C6AC4-3991-571E-8E2A-1AF9B06F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C14D234-D819-95A0-6850-05EE83967A04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5DB5F7-5B5C-0C2A-ED0F-345CC43F9F3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04807" y="360362"/>
            <a:ext cx="418911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临时性组织的情境嵌入性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0E4EB074-6314-F2FD-D661-F780A3256740}"/>
              </a:ext>
            </a:extLst>
          </p:cNvPr>
          <p:cNvSpPr txBox="1"/>
          <p:nvPr/>
        </p:nvSpPr>
        <p:spPr>
          <a:xfrm>
            <a:off x="244924" y="1432769"/>
            <a:ext cx="1856507" cy="830997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9.3.2</a:t>
            </a:r>
          </a:p>
          <a:p>
            <a:r>
              <a:rPr lang="zh-CN" altLang="en-US" dirty="0">
                <a:latin typeface="+mn-ea"/>
                <a:ea typeface="+mn-ea"/>
              </a:rPr>
              <a:t>跨企业层面</a:t>
            </a:r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7996792D-C6A0-05CF-AB00-94648DECC486}"/>
              </a:ext>
            </a:extLst>
          </p:cNvPr>
          <p:cNvSpPr/>
          <p:nvPr/>
        </p:nvSpPr>
        <p:spPr>
          <a:xfrm>
            <a:off x="2380907" y="1634884"/>
            <a:ext cx="2053130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1.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跨企业项目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9D3E4B9-2C1A-6C8F-B6DD-FA5D25C861CF}"/>
              </a:ext>
            </a:extLst>
          </p:cNvPr>
          <p:cNvSpPr txBox="1"/>
          <p:nvPr/>
        </p:nvSpPr>
        <p:spPr>
          <a:xfrm>
            <a:off x="4804159" y="1208115"/>
            <a:ext cx="44382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业主组织（投资方）的跨企业组织</a:t>
            </a:r>
            <a:endParaRPr lang="zh-CN" altLang="en-US" sz="2000" dirty="0">
              <a:latin typeface="+mn-ea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48F4A0ED-16AE-097E-2376-868E5D48010D}"/>
              </a:ext>
            </a:extLst>
          </p:cNvPr>
          <p:cNvSpPr txBox="1"/>
          <p:nvPr/>
        </p:nvSpPr>
        <p:spPr>
          <a:xfrm>
            <a:off x="4820201" y="2091211"/>
            <a:ext cx="55572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交付组织的跨企业组织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66" name="连接符: 肘形 65">
            <a:extLst>
              <a:ext uri="{FF2B5EF4-FFF2-40B4-BE49-F238E27FC236}">
                <a16:creationId xmlns:a16="http://schemas.microsoft.com/office/drawing/2014/main" id="{1B0CD64F-4ABA-A9E5-043B-D5DD564A1D6E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 flipV="1">
            <a:off x="2101431" y="1843991"/>
            <a:ext cx="279476" cy="42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连接符: 肘形 67">
            <a:extLst>
              <a:ext uri="{FF2B5EF4-FFF2-40B4-BE49-F238E27FC236}">
                <a16:creationId xmlns:a16="http://schemas.microsoft.com/office/drawing/2014/main" id="{C9C9E1F1-DC7C-0EBA-492C-5BD2E06655EB}"/>
              </a:ext>
            </a:extLst>
          </p:cNvPr>
          <p:cNvCxnSpPr>
            <a:cxnSpLocks/>
            <a:stCxn id="61" idx="3"/>
          </p:cNvCxnSpPr>
          <p:nvPr/>
        </p:nvCxnSpPr>
        <p:spPr>
          <a:xfrm flipV="1">
            <a:off x="4434037" y="1443881"/>
            <a:ext cx="386164" cy="4001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EC09A8E8-CB4A-9884-CEF2-57D96AA388D6}"/>
              </a:ext>
            </a:extLst>
          </p:cNvPr>
          <p:cNvCxnSpPr>
            <a:cxnSpLocks/>
            <a:stCxn id="61" idx="3"/>
            <a:endCxn id="64" idx="1"/>
          </p:cNvCxnSpPr>
          <p:nvPr/>
        </p:nvCxnSpPr>
        <p:spPr>
          <a:xfrm>
            <a:off x="4434037" y="1843991"/>
            <a:ext cx="386164" cy="44727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E9C2ADB8-BC7B-6708-C9B8-4B4470CE78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347" y="2969989"/>
            <a:ext cx="5440145" cy="3382128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03FF2FD-C559-AA78-9202-17F41F4C6946}"/>
              </a:ext>
            </a:extLst>
          </p:cNvPr>
          <p:cNvSpPr txBox="1"/>
          <p:nvPr/>
        </p:nvSpPr>
        <p:spPr>
          <a:xfrm>
            <a:off x="6792662" y="3513734"/>
            <a:ext cx="4899406" cy="1881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/>
              <a:t>工程中跨企业合作遵循的原则：</a:t>
            </a:r>
            <a:endParaRPr lang="en-US" altLang="zh-CN" sz="2000" dirty="0"/>
          </a:p>
          <a:p>
            <a:pPr algn="just">
              <a:lnSpc>
                <a:spcPct val="150000"/>
              </a:lnSpc>
            </a:pPr>
            <a:r>
              <a:rPr lang="zh-CN" altLang="en-US" sz="2000" dirty="0"/>
              <a:t>①一切为</a:t>
            </a:r>
            <a:r>
              <a:rPr lang="zh-CN" altLang="en-US" sz="2000" dirty="0">
                <a:highlight>
                  <a:srgbClr val="FFFF00"/>
                </a:highlight>
              </a:rPr>
              <a:t>工程目标实现</a:t>
            </a:r>
            <a:r>
              <a:rPr lang="zh-CN" altLang="en-US" sz="2000" dirty="0"/>
              <a:t>为准则。</a:t>
            </a:r>
            <a:endParaRPr lang="en-US" altLang="zh-CN" sz="2000" dirty="0"/>
          </a:p>
          <a:p>
            <a:pPr algn="just">
              <a:lnSpc>
                <a:spcPct val="150000"/>
              </a:lnSpc>
            </a:pPr>
            <a:r>
              <a:rPr lang="zh-CN" altLang="en-US" sz="2000" dirty="0"/>
              <a:t>②</a:t>
            </a:r>
            <a:r>
              <a:rPr lang="zh-CN" altLang="en-US" sz="2000" dirty="0">
                <a:highlight>
                  <a:srgbClr val="FFFF00"/>
                </a:highlight>
              </a:rPr>
              <a:t>全生命周期视角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algn="just">
              <a:lnSpc>
                <a:spcPct val="150000"/>
              </a:lnSpc>
            </a:pPr>
            <a:r>
              <a:rPr lang="zh-CN" altLang="en-US" sz="2000" dirty="0"/>
              <a:t>③组织运作的</a:t>
            </a:r>
            <a:r>
              <a:rPr lang="zh-CN" altLang="en-US" sz="2000" dirty="0">
                <a:highlight>
                  <a:srgbClr val="FFFF00"/>
                </a:highlight>
              </a:rPr>
              <a:t>集成</a:t>
            </a:r>
            <a:r>
              <a:rPr lang="zh-CN" altLang="en-US" sz="2000" dirty="0"/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5111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0A83A-BD00-733E-128A-EFC42DB6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6B1E327-52FC-4128-E368-FBF6D7AF5244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39733D-1D2B-02B2-E3A6-2EBB12B0F10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04807" y="360362"/>
            <a:ext cx="418911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临时性组织的情境嵌入性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F3468BC-E9B7-0FB9-A6C4-45A5551DCE31}"/>
              </a:ext>
            </a:extLst>
          </p:cNvPr>
          <p:cNvSpPr txBox="1"/>
          <p:nvPr/>
        </p:nvSpPr>
        <p:spPr>
          <a:xfrm>
            <a:off x="116308" y="3042376"/>
            <a:ext cx="1856507" cy="830997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9.3.2</a:t>
            </a:r>
          </a:p>
          <a:p>
            <a:r>
              <a:rPr lang="zh-CN" altLang="en-US" dirty="0">
                <a:latin typeface="+mn-ea"/>
                <a:ea typeface="+mn-ea"/>
              </a:rPr>
              <a:t>跨企业层面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A6F0D911-E50E-B455-E9EF-814F7EBBECE8}"/>
              </a:ext>
            </a:extLst>
          </p:cNvPr>
          <p:cNvSpPr/>
          <p:nvPr/>
        </p:nvSpPr>
        <p:spPr>
          <a:xfrm>
            <a:off x="2423065" y="1091978"/>
            <a:ext cx="5607796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2.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跨企业项目治理：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正式治理和非正式治理</a:t>
            </a:r>
            <a:endParaRPr lang="zh-CN" altLang="en-US" sz="2400" dirty="0">
              <a:ln w="0"/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45A0AEB9-0ABA-D907-61EE-672A1E431A6C}"/>
              </a:ext>
            </a:extLst>
          </p:cNvPr>
          <p:cNvCxnSpPr>
            <a:cxnSpLocks/>
            <a:stCxn id="60" idx="3"/>
            <a:endCxn id="62" idx="1"/>
          </p:cNvCxnSpPr>
          <p:nvPr/>
        </p:nvCxnSpPr>
        <p:spPr>
          <a:xfrm flipV="1">
            <a:off x="1972815" y="1301085"/>
            <a:ext cx="450250" cy="215679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E0A042C0-FA2A-F84E-D802-A92B09609275}"/>
              </a:ext>
            </a:extLst>
          </p:cNvPr>
          <p:cNvSpPr/>
          <p:nvPr/>
        </p:nvSpPr>
        <p:spPr>
          <a:xfrm>
            <a:off x="2423065" y="5083701"/>
            <a:ext cx="2053130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3.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组合治理</a:t>
            </a: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A7715989-026E-037B-24EB-BE2D34B71176}"/>
              </a:ext>
            </a:extLst>
          </p:cNvPr>
          <p:cNvCxnSpPr>
            <a:cxnSpLocks/>
            <a:stCxn id="60" idx="3"/>
            <a:endCxn id="84" idx="1"/>
          </p:cNvCxnSpPr>
          <p:nvPr/>
        </p:nvCxnSpPr>
        <p:spPr>
          <a:xfrm>
            <a:off x="1972815" y="3457875"/>
            <a:ext cx="450250" cy="183493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C1EF3-9F3A-A3ED-E3FA-8A930C308C05}"/>
              </a:ext>
            </a:extLst>
          </p:cNvPr>
          <p:cNvSpPr txBox="1"/>
          <p:nvPr/>
        </p:nvSpPr>
        <p:spPr>
          <a:xfrm>
            <a:off x="4810266" y="4446797"/>
            <a:ext cx="6358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两方：交付组织项目团队承担双重角色</a:t>
            </a:r>
            <a:endParaRPr lang="zh-CN" altLang="en-US" sz="20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28DF602-5952-5230-645B-BE7EAAFDAFD1}"/>
              </a:ext>
            </a:extLst>
          </p:cNvPr>
          <p:cNvSpPr txBox="1"/>
          <p:nvPr/>
        </p:nvSpPr>
        <p:spPr>
          <a:xfrm>
            <a:off x="4810266" y="5102569"/>
            <a:ext cx="62448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三方：业主、总包和监理单位</a:t>
            </a:r>
            <a:endParaRPr lang="zh-CN" altLang="en-US" sz="20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3B7CFAE-028D-6594-0014-48F1D0F94F34}"/>
              </a:ext>
            </a:extLst>
          </p:cNvPr>
          <p:cNvSpPr txBox="1"/>
          <p:nvPr/>
        </p:nvSpPr>
        <p:spPr>
          <a:xfrm>
            <a:off x="4810266" y="5731862"/>
            <a:ext cx="63582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多方：多个主体、多方之间的组合治理</a:t>
            </a:r>
            <a:endParaRPr lang="zh-CN" altLang="en-US" sz="2000" dirty="0">
              <a:solidFill>
                <a:srgbClr val="0000FF"/>
              </a:solidFill>
              <a:latin typeface="+mn-ea"/>
            </a:endParaRPr>
          </a:p>
        </p:txBody>
      </p:sp>
      <p:cxnSp>
        <p:nvCxnSpPr>
          <p:cNvPr id="53" name="连接符: 肘形 52">
            <a:extLst>
              <a:ext uri="{FF2B5EF4-FFF2-40B4-BE49-F238E27FC236}">
                <a16:creationId xmlns:a16="http://schemas.microsoft.com/office/drawing/2014/main" id="{CAD9B46A-0FD0-2D4B-D0D3-B848B30B0D28}"/>
              </a:ext>
            </a:extLst>
          </p:cNvPr>
          <p:cNvCxnSpPr>
            <a:stCxn id="84" idx="3"/>
            <a:endCxn id="31" idx="1"/>
          </p:cNvCxnSpPr>
          <p:nvPr/>
        </p:nvCxnSpPr>
        <p:spPr>
          <a:xfrm flipV="1">
            <a:off x="4476195" y="4646852"/>
            <a:ext cx="334071" cy="6459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B18E00C2-3680-E0A1-209E-44A871EC6662}"/>
              </a:ext>
            </a:extLst>
          </p:cNvPr>
          <p:cNvCxnSpPr>
            <a:stCxn id="84" idx="3"/>
            <a:endCxn id="33" idx="1"/>
          </p:cNvCxnSpPr>
          <p:nvPr/>
        </p:nvCxnSpPr>
        <p:spPr>
          <a:xfrm>
            <a:off x="4476195" y="5292808"/>
            <a:ext cx="334071" cy="981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E8B4363E-D764-9298-2758-D1C0A44E21C1}"/>
              </a:ext>
            </a:extLst>
          </p:cNvPr>
          <p:cNvCxnSpPr>
            <a:stCxn id="84" idx="3"/>
            <a:endCxn id="35" idx="1"/>
          </p:cNvCxnSpPr>
          <p:nvPr/>
        </p:nvCxnSpPr>
        <p:spPr>
          <a:xfrm>
            <a:off x="4476195" y="5292808"/>
            <a:ext cx="334071" cy="6391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93C933A5-464C-BAB3-B9CC-5A17060E3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6556" y="4255046"/>
            <a:ext cx="2294493" cy="1986765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4E5A5A8-9E05-34C6-CCDE-241F082C5A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441" y="2256123"/>
            <a:ext cx="9527819" cy="1729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8658A8F-25E8-A3C1-EC79-0455EB7CE20F}"/>
              </a:ext>
            </a:extLst>
          </p:cNvPr>
          <p:cNvSpPr txBox="1"/>
          <p:nvPr/>
        </p:nvSpPr>
        <p:spPr>
          <a:xfrm>
            <a:off x="2512736" y="1637589"/>
            <a:ext cx="1472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highlight>
                  <a:srgbClr val="FFFF00"/>
                </a:highlight>
              </a:rPr>
              <a:t>交互作用：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9426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106D5-53D7-B6B8-D992-CB224637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>
            <a:extLst>
              <a:ext uri="{FF2B5EF4-FFF2-40B4-BE49-F238E27FC236}">
                <a16:creationId xmlns:a16="http://schemas.microsoft.com/office/drawing/2014/main" id="{1F0B8FE9-D073-AE31-4405-3568F9CB8926}"/>
              </a:ext>
            </a:extLst>
          </p:cNvPr>
          <p:cNvSpPr/>
          <p:nvPr/>
        </p:nvSpPr>
        <p:spPr>
          <a:xfrm>
            <a:off x="233157" y="1678780"/>
            <a:ext cx="11725686" cy="1978819"/>
          </a:xfrm>
          <a:prstGeom prst="rect">
            <a:avLst/>
          </a:prstGeom>
          <a:solidFill>
            <a:srgbClr val="F2F5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0B72E4-309E-BF7C-0866-226D576B9977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E77BEA-0E0F-54ED-65D5-4147A58CCD5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04807" y="360362"/>
            <a:ext cx="418911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临时性组织的情境嵌入性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0F394E5-C4E2-4DCB-DBBE-A0AC229F2824}"/>
              </a:ext>
            </a:extLst>
          </p:cNvPr>
          <p:cNvSpPr txBox="1"/>
          <p:nvPr/>
        </p:nvSpPr>
        <p:spPr>
          <a:xfrm>
            <a:off x="500573" y="2292492"/>
            <a:ext cx="2053206" cy="830997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9.3.3</a:t>
            </a:r>
          </a:p>
          <a:p>
            <a:r>
              <a:rPr lang="zh-CN" altLang="en-US" dirty="0">
                <a:latin typeface="+mn-ea"/>
                <a:ea typeface="+mn-ea"/>
              </a:rPr>
              <a:t>项目网络层面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7721B47-F55B-92BE-36C3-908C8EDF4444}"/>
              </a:ext>
            </a:extLst>
          </p:cNvPr>
          <p:cNvSpPr/>
          <p:nvPr/>
        </p:nvSpPr>
        <p:spPr>
          <a:xfrm>
            <a:off x="3174896" y="1901540"/>
            <a:ext cx="8445000" cy="36311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ln w="0"/>
                <a:solidFill>
                  <a:schemeClr val="tx1"/>
                </a:solidFill>
                <a:latin typeface="+mn-ea"/>
              </a:rPr>
              <a:t>1.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单一项目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：具有临时性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7A645FE-A54C-5DBC-EBEA-84200F02621E}"/>
              </a:ext>
            </a:extLst>
          </p:cNvPr>
          <p:cNvSpPr/>
          <p:nvPr/>
        </p:nvSpPr>
        <p:spPr>
          <a:xfrm>
            <a:off x="3174896" y="2760551"/>
            <a:ext cx="8445000" cy="732846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ln w="0"/>
                <a:solidFill>
                  <a:schemeClr val="tx1"/>
                </a:solidFill>
                <a:latin typeface="+mn-ea"/>
              </a:rPr>
              <a:t>2.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一系列连续或间断项目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：单个项目上呈现临时性；项目主体间持续或间断的关系</a:t>
            </a: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2986549C-299D-B752-7679-7E2A1BA287B6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553779" y="2083100"/>
            <a:ext cx="621117" cy="6248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003E6C99-1EF3-557C-8EB9-C817793A07CA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553779" y="2707991"/>
            <a:ext cx="621117" cy="4189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DC94116-E0E9-E9D2-37DB-27D2B772E34E}"/>
              </a:ext>
            </a:extLst>
          </p:cNvPr>
          <p:cNvSpPr txBox="1"/>
          <p:nvPr/>
        </p:nvSpPr>
        <p:spPr>
          <a:xfrm>
            <a:off x="1498600" y="975183"/>
            <a:ext cx="76771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网络依赖</a:t>
            </a:r>
            <a:r>
              <a:rPr lang="zh-CN" altLang="en-US" sz="20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信任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、信息共享和共同的问题解决等机制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(Uzzi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1997)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8CC63A0-2669-E429-7BC0-C7F28B367D2A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1527176" y="1342599"/>
            <a:ext cx="1337162" cy="94989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id="{4F19DD5F-BD36-1BA2-3710-105F8F42C193}"/>
              </a:ext>
            </a:extLst>
          </p:cNvPr>
          <p:cNvSpPr/>
          <p:nvPr/>
        </p:nvSpPr>
        <p:spPr>
          <a:xfrm>
            <a:off x="1650538" y="4120067"/>
            <a:ext cx="1329064" cy="42639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建设单位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9989D757-C408-4559-9839-E6FE13F129D6}"/>
              </a:ext>
            </a:extLst>
          </p:cNvPr>
          <p:cNvSpPr/>
          <p:nvPr/>
        </p:nvSpPr>
        <p:spPr>
          <a:xfrm>
            <a:off x="3158530" y="5605570"/>
            <a:ext cx="1272270" cy="41390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设计单位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701AC53-181B-AED9-2E51-71829FD41932}"/>
              </a:ext>
            </a:extLst>
          </p:cNvPr>
          <p:cNvSpPr/>
          <p:nvPr/>
        </p:nvSpPr>
        <p:spPr>
          <a:xfrm>
            <a:off x="3234056" y="4613833"/>
            <a:ext cx="1272270" cy="41390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勘察单位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1D2E3FEB-E66D-4045-93D8-16F2F34136F5}"/>
              </a:ext>
            </a:extLst>
          </p:cNvPr>
          <p:cNvSpPr/>
          <p:nvPr/>
        </p:nvSpPr>
        <p:spPr>
          <a:xfrm>
            <a:off x="216402" y="5605569"/>
            <a:ext cx="1272270" cy="41390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监理单位</a:t>
            </a: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8B32A3DE-A8CB-7F8A-9C16-18100B1BE3DD}"/>
              </a:ext>
            </a:extLst>
          </p:cNvPr>
          <p:cNvSpPr/>
          <p:nvPr/>
        </p:nvSpPr>
        <p:spPr>
          <a:xfrm>
            <a:off x="1734639" y="5907932"/>
            <a:ext cx="1272270" cy="3609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施工单位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053B1F4A-236B-C514-934D-C64AB11E5123}"/>
              </a:ext>
            </a:extLst>
          </p:cNvPr>
          <p:cNvSpPr/>
          <p:nvPr/>
        </p:nvSpPr>
        <p:spPr>
          <a:xfrm>
            <a:off x="1682635" y="4841964"/>
            <a:ext cx="1212965" cy="723900"/>
          </a:xfrm>
          <a:prstGeom prst="roundRect">
            <a:avLst/>
          </a:prstGeom>
          <a:solidFill>
            <a:srgbClr val="ACC8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单一项目</a:t>
            </a:r>
            <a:endParaRPr lang="en-US" altLang="zh-CN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（重大工程）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E0008EDD-9B13-6A26-2CB2-FB0AF3EB58FC}"/>
              </a:ext>
            </a:extLst>
          </p:cNvPr>
          <p:cNvSpPr/>
          <p:nvPr/>
        </p:nvSpPr>
        <p:spPr>
          <a:xfrm>
            <a:off x="234312" y="4501604"/>
            <a:ext cx="1064854" cy="70231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  <a:latin typeface="+mn-ea"/>
              </a:rPr>
              <a:t>材料供货商等</a:t>
            </a:r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1C4A35E3-0163-48A1-8643-15F09E104F2D}"/>
              </a:ext>
            </a:extLst>
          </p:cNvPr>
          <p:cNvSpPr/>
          <p:nvPr/>
        </p:nvSpPr>
        <p:spPr>
          <a:xfrm rot="5400000">
            <a:off x="2163223" y="4614572"/>
            <a:ext cx="218672" cy="1937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71E97C69-6D07-25B3-E065-1C26888D3305}"/>
              </a:ext>
            </a:extLst>
          </p:cNvPr>
          <p:cNvSpPr/>
          <p:nvPr/>
        </p:nvSpPr>
        <p:spPr>
          <a:xfrm rot="523548">
            <a:off x="1310597" y="4876598"/>
            <a:ext cx="218672" cy="1937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C1812C48-7090-2811-B9F4-A56BCDDD0511}"/>
              </a:ext>
            </a:extLst>
          </p:cNvPr>
          <p:cNvSpPr/>
          <p:nvPr/>
        </p:nvSpPr>
        <p:spPr>
          <a:xfrm rot="16200000">
            <a:off x="2260101" y="5636969"/>
            <a:ext cx="218672" cy="1937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3A7EC523-51E4-F82F-11FA-CE5F18286106}"/>
              </a:ext>
            </a:extLst>
          </p:cNvPr>
          <p:cNvSpPr/>
          <p:nvPr/>
        </p:nvSpPr>
        <p:spPr>
          <a:xfrm rot="19237169">
            <a:off x="1479326" y="5571394"/>
            <a:ext cx="218672" cy="1937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9" name="箭头: 右 48">
            <a:extLst>
              <a:ext uri="{FF2B5EF4-FFF2-40B4-BE49-F238E27FC236}">
                <a16:creationId xmlns:a16="http://schemas.microsoft.com/office/drawing/2014/main" id="{BD9484A3-498E-9E67-0466-A5C225CB73ED}"/>
              </a:ext>
            </a:extLst>
          </p:cNvPr>
          <p:cNvSpPr/>
          <p:nvPr/>
        </p:nvSpPr>
        <p:spPr>
          <a:xfrm rot="13818896">
            <a:off x="3049194" y="5467594"/>
            <a:ext cx="218672" cy="1937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48891876-9927-1EE4-9B7F-A4C807EB3CA7}"/>
              </a:ext>
            </a:extLst>
          </p:cNvPr>
          <p:cNvSpPr/>
          <p:nvPr/>
        </p:nvSpPr>
        <p:spPr>
          <a:xfrm rot="10027913">
            <a:off x="2955492" y="4800347"/>
            <a:ext cx="218672" cy="1937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D84FB17-4FC0-5D0C-9100-EDED4F106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1965" y="3661091"/>
            <a:ext cx="3667928" cy="3085645"/>
          </a:xfrm>
          <a:prstGeom prst="rect">
            <a:avLst/>
          </a:prstGeom>
        </p:spPr>
      </p:pic>
      <p:sp>
        <p:nvSpPr>
          <p:cNvPr id="52" name="AutoShape 6" descr="南水北调中线工程 - 快懂百科">
            <a:extLst>
              <a:ext uri="{FF2B5EF4-FFF2-40B4-BE49-F238E27FC236}">
                <a16:creationId xmlns:a16="http://schemas.microsoft.com/office/drawing/2014/main" id="{83FAED8A-BD75-9097-6FA4-1A44DDCCB3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5052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sz="2000">
              <a:latin typeface="+mn-ea"/>
            </a:endParaRP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70CA380-AEE9-7EC6-8AD7-DCA7E00EF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98346" y="3710158"/>
            <a:ext cx="2027210" cy="298353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1191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DF4C8-3634-B521-A4C4-3BB48A05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AF72FE1-050C-5E5E-4A93-E919EE17E290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FC8BCD-BB9E-5EFE-3318-66BDF8861D2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04807" y="360362"/>
            <a:ext cx="418911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临时性组织的情境嵌入性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C82A65ED-B88C-879B-6AE7-536D0BA06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7834" y="1265526"/>
            <a:ext cx="541282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表</a:t>
            </a:r>
            <a:r>
              <a:rPr kumimoji="0" lang="en-US" altLang="zh-CN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9-7 </a:t>
            </a:r>
            <a:r>
              <a:rPr kumimoji="0" lang="zh-CN" altLang="en-US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  <a:cs typeface="Times New Roman" panose="02020603050405020304" pitchFamily="18" charset="0"/>
              </a:rPr>
              <a:t>与项目网络相关的概念</a:t>
            </a:r>
            <a:endParaRPr kumimoji="0" lang="zh-CN" altLang="en-US" sz="120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145FB88-E601-D1C0-4A72-B80B95C9C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420948"/>
              </p:ext>
            </p:extLst>
          </p:nvPr>
        </p:nvGraphicFramePr>
        <p:xfrm>
          <a:off x="665683" y="1738313"/>
          <a:ext cx="10782603" cy="4408005"/>
        </p:xfrm>
        <a:graphic>
          <a:graphicData uri="http://schemas.openxmlformats.org/drawingml/2006/table">
            <a:tbl>
              <a:tblPr/>
              <a:tblGrid>
                <a:gridCol w="1550823">
                  <a:extLst>
                    <a:ext uri="{9D8B030D-6E8A-4147-A177-3AD203B41FA5}">
                      <a16:colId xmlns:a16="http://schemas.microsoft.com/office/drawing/2014/main" val="1144959544"/>
                    </a:ext>
                  </a:extLst>
                </a:gridCol>
                <a:gridCol w="6460410">
                  <a:extLst>
                    <a:ext uri="{9D8B030D-6E8A-4147-A177-3AD203B41FA5}">
                      <a16:colId xmlns:a16="http://schemas.microsoft.com/office/drawing/2014/main" val="2186286100"/>
                    </a:ext>
                  </a:extLst>
                </a:gridCol>
                <a:gridCol w="1325110">
                  <a:extLst>
                    <a:ext uri="{9D8B030D-6E8A-4147-A177-3AD203B41FA5}">
                      <a16:colId xmlns:a16="http://schemas.microsoft.com/office/drawing/2014/main" val="167152178"/>
                    </a:ext>
                  </a:extLst>
                </a:gridCol>
                <a:gridCol w="1446260">
                  <a:extLst>
                    <a:ext uri="{9D8B030D-6E8A-4147-A177-3AD203B41FA5}">
                      <a16:colId xmlns:a16="http://schemas.microsoft.com/office/drawing/2014/main" val="1853217806"/>
                    </a:ext>
                  </a:extLst>
                </a:gridCol>
              </a:tblGrid>
              <a:tr h="71501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概念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描述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分析单元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b="1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参考文献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111902"/>
                  </a:ext>
                </a:extLst>
              </a:tr>
              <a:tr h="352241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准公司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存在于总承包商和专业分包商之间的一个稳定的组织形式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连续性项目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Eccles (1982)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89742"/>
                  </a:ext>
                </a:extLst>
              </a:tr>
              <a:tr h="71501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项目网络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项目联盟（</a:t>
                      </a:r>
                      <a:r>
                        <a:rPr lang="en-US" altLang="zh-CN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coalitions</a:t>
                      </a: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）作为一个临时性组织来执行一个项目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单项目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Pryke (2004)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734040"/>
                  </a:ext>
                </a:extLst>
              </a:tr>
              <a:tr h="87142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潜伏性组织</a:t>
                      </a:r>
                      <a:endParaRPr lang="zh-CN" altLang="en-US" sz="280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一种组织形式，连结了持续关系中的关键主体，当有项目需求时，该关系转成活跃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连续性项目</a:t>
                      </a:r>
                      <a:endParaRPr lang="zh-CN" altLang="en-US" sz="280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Starkey</a:t>
                      </a: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等 </a:t>
                      </a:r>
                      <a:r>
                        <a:rPr lang="en-US" altLang="zh-CN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(2000)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362324"/>
                  </a:ext>
                </a:extLst>
              </a:tr>
              <a:tr h="715016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项目网络</a:t>
                      </a:r>
                      <a:endParaRPr lang="zh-CN" altLang="en-US" sz="280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不仅是临时性的形式，也以一种特定方式组合了临时性与永久性</a:t>
                      </a:r>
                      <a:endParaRPr lang="zh-CN" altLang="en-US" sz="280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单项目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Sydow (2016)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945760"/>
                  </a:ext>
                </a:extLst>
              </a:tr>
              <a:tr h="102783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项目网络组织</a:t>
                      </a:r>
                      <a:endParaRPr lang="zh-CN" altLang="en-US" sz="280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在一系列战略上协同的核心项目团队和弹性合作伙伴中，连接了法律上独立但运行上相互依赖的个人和组织。项目网络组织超越了单个项目</a:t>
                      </a:r>
                      <a:endParaRPr lang="zh-CN" alt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zh-CN" altLang="en-US" sz="18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连续性项目</a:t>
                      </a:r>
                      <a:endParaRPr lang="zh-CN" altLang="en-US" sz="280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800" kern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Manning (2017)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7033" marR="67033" marT="44688" marB="44688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98162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92480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78D08-DA03-273C-78F2-DEFB77AD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A2FA886-BC1E-95F1-E106-B4E7F339D70F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A9AD7A-9A5F-F0C9-1474-14275CB2F76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04807" y="360362"/>
            <a:ext cx="418911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9.3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临时性组织的情境嵌入性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4EB5D9D-2925-998E-F1E4-52B89F8E4165}"/>
              </a:ext>
            </a:extLst>
          </p:cNvPr>
          <p:cNvSpPr txBox="1"/>
          <p:nvPr/>
        </p:nvSpPr>
        <p:spPr>
          <a:xfrm>
            <a:off x="449481" y="3144216"/>
            <a:ext cx="2053206" cy="830997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9.3.4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项目生态层面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C493B86-0789-3D88-A0B5-D53C3923430D}"/>
              </a:ext>
            </a:extLst>
          </p:cNvPr>
          <p:cNvSpPr/>
          <p:nvPr/>
        </p:nvSpPr>
        <p:spPr>
          <a:xfrm>
            <a:off x="3137981" y="2254297"/>
            <a:ext cx="1712734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工程生态</a:t>
            </a:r>
            <a:endParaRPr lang="zh-CN" altLang="en-US" sz="2000" dirty="0">
              <a:ln w="0"/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BF14DB0-ADB8-6793-BEBE-D20484CCA677}"/>
              </a:ext>
            </a:extLst>
          </p:cNvPr>
          <p:cNvSpPr/>
          <p:nvPr/>
        </p:nvSpPr>
        <p:spPr>
          <a:xfrm>
            <a:off x="3136146" y="4120982"/>
            <a:ext cx="1712734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项目生态</a:t>
            </a:r>
            <a:endParaRPr lang="zh-CN" altLang="en-US" sz="2000" dirty="0">
              <a:ln w="0"/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C241B691-265C-988D-E661-BD3FBEEF87B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502687" y="2463404"/>
            <a:ext cx="635294" cy="109631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E8293FC8-74B2-0D89-1FDB-B68276EAE6B7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502687" y="3559715"/>
            <a:ext cx="633459" cy="77037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574585C7-FDA1-6248-8C86-840E735DE296}"/>
              </a:ext>
            </a:extLst>
          </p:cNvPr>
          <p:cNvSpPr txBox="1"/>
          <p:nvPr/>
        </p:nvSpPr>
        <p:spPr>
          <a:xfrm>
            <a:off x="5577275" y="1791793"/>
            <a:ext cx="43266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工程在空间维度的相互联系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FEB582-65D7-6316-4229-0A952C055C43}"/>
              </a:ext>
            </a:extLst>
          </p:cNvPr>
          <p:cNvSpPr txBox="1"/>
          <p:nvPr/>
        </p:nvSpPr>
        <p:spPr>
          <a:xfrm>
            <a:off x="5577276" y="2265745"/>
            <a:ext cx="4128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业主组织的资产整体效益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CF45C29-A576-824F-9EE0-06F37FF066DE}"/>
              </a:ext>
            </a:extLst>
          </p:cNvPr>
          <p:cNvSpPr txBox="1"/>
          <p:nvPr/>
        </p:nvSpPr>
        <p:spPr>
          <a:xfrm>
            <a:off x="5577276" y="2791265"/>
            <a:ext cx="4128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单个项目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96ED05AA-4BF8-CF6E-BCFA-B20EC17746B8}"/>
              </a:ext>
            </a:extLst>
          </p:cNvPr>
          <p:cNvCxnSpPr>
            <a:cxnSpLocks/>
            <a:stCxn id="3" idx="3"/>
            <a:endCxn id="10" idx="1"/>
          </p:cNvCxnSpPr>
          <p:nvPr/>
        </p:nvCxnSpPr>
        <p:spPr>
          <a:xfrm flipV="1">
            <a:off x="4850715" y="1991848"/>
            <a:ext cx="726560" cy="4715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F36E5AFD-E60D-0468-6F12-92C870E878C7}"/>
              </a:ext>
            </a:extLst>
          </p:cNvPr>
          <p:cNvCxnSpPr>
            <a:cxnSpLocks/>
            <a:stCxn id="3" idx="3"/>
            <a:endCxn id="11" idx="1"/>
          </p:cNvCxnSpPr>
          <p:nvPr/>
        </p:nvCxnSpPr>
        <p:spPr>
          <a:xfrm>
            <a:off x="4850715" y="2463404"/>
            <a:ext cx="726561" cy="23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8C75DF38-3236-E046-D325-F09C40D0DEAF}"/>
              </a:ext>
            </a:extLst>
          </p:cNvPr>
          <p:cNvCxnSpPr>
            <a:stCxn id="3" idx="3"/>
            <a:endCxn id="12" idx="1"/>
          </p:cNvCxnSpPr>
          <p:nvPr/>
        </p:nvCxnSpPr>
        <p:spPr>
          <a:xfrm>
            <a:off x="4850715" y="2463404"/>
            <a:ext cx="726561" cy="52791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4E1E9007-2225-7CEC-0934-B17A92A59ED1}"/>
              </a:ext>
            </a:extLst>
          </p:cNvPr>
          <p:cNvSpPr txBox="1"/>
          <p:nvPr/>
        </p:nvSpPr>
        <p:spPr>
          <a:xfrm>
            <a:off x="5575440" y="3386043"/>
            <a:ext cx="5823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项目与企业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A04AF5A-39C9-C777-7D81-76DC1B1354B7}"/>
              </a:ext>
            </a:extLst>
          </p:cNvPr>
          <p:cNvSpPr txBox="1"/>
          <p:nvPr/>
        </p:nvSpPr>
        <p:spPr>
          <a:xfrm>
            <a:off x="5575441" y="3859995"/>
            <a:ext cx="4128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与人际关系层面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CC8FA03-7468-C7D1-BF85-8D5048472235}"/>
              </a:ext>
            </a:extLst>
          </p:cNvPr>
          <p:cNvSpPr txBox="1"/>
          <p:nvPr/>
        </p:nvSpPr>
        <p:spPr>
          <a:xfrm>
            <a:off x="5575441" y="4385515"/>
            <a:ext cx="4128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当地性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7EDF464D-7FF0-2A39-C437-E2686E39573B}"/>
              </a:ext>
            </a:extLst>
          </p:cNvPr>
          <p:cNvCxnSpPr>
            <a:cxnSpLocks/>
            <a:stCxn id="6" idx="3"/>
            <a:endCxn id="30" idx="1"/>
          </p:cNvCxnSpPr>
          <p:nvPr/>
        </p:nvCxnSpPr>
        <p:spPr>
          <a:xfrm flipV="1">
            <a:off x="4848880" y="3586098"/>
            <a:ext cx="726560" cy="7439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C8274222-8F89-7EDE-E3FA-BB9CB61BBA35}"/>
              </a:ext>
            </a:extLst>
          </p:cNvPr>
          <p:cNvCxnSpPr>
            <a:cxnSpLocks/>
            <a:stCxn id="6" idx="3"/>
            <a:endCxn id="31" idx="1"/>
          </p:cNvCxnSpPr>
          <p:nvPr/>
        </p:nvCxnSpPr>
        <p:spPr>
          <a:xfrm flipV="1">
            <a:off x="4848880" y="4060050"/>
            <a:ext cx="726561" cy="27003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97D10D76-67BC-98DB-12B6-49F9ADAE7113}"/>
              </a:ext>
            </a:extLst>
          </p:cNvPr>
          <p:cNvCxnSpPr>
            <a:cxnSpLocks/>
            <a:stCxn id="6" idx="3"/>
            <a:endCxn id="32" idx="1"/>
          </p:cNvCxnSpPr>
          <p:nvPr/>
        </p:nvCxnSpPr>
        <p:spPr>
          <a:xfrm>
            <a:off x="4848880" y="4330089"/>
            <a:ext cx="726561" cy="25548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E091D7B-7D67-EB22-71EF-225711A7D6D1}"/>
              </a:ext>
            </a:extLst>
          </p:cNvPr>
          <p:cNvSpPr txBox="1"/>
          <p:nvPr/>
        </p:nvSpPr>
        <p:spPr>
          <a:xfrm>
            <a:off x="5575441" y="4911035"/>
            <a:ext cx="41289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企业集团网络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9E57DF84-16D6-0D69-4B39-4AF769681902}"/>
              </a:ext>
            </a:extLst>
          </p:cNvPr>
          <p:cNvCxnSpPr>
            <a:stCxn id="6" idx="3"/>
            <a:endCxn id="37" idx="1"/>
          </p:cNvCxnSpPr>
          <p:nvPr/>
        </p:nvCxnSpPr>
        <p:spPr>
          <a:xfrm>
            <a:off x="4848880" y="4330089"/>
            <a:ext cx="726561" cy="7810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32656F34-9CEC-6781-F54E-ED92F2B433E3}"/>
              </a:ext>
            </a:extLst>
          </p:cNvPr>
          <p:cNvSpPr/>
          <p:nvPr/>
        </p:nvSpPr>
        <p:spPr>
          <a:xfrm>
            <a:off x="3234742" y="1165507"/>
            <a:ext cx="1515541" cy="80722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F093B1A1-F6EB-9493-2B36-13BCA676C8A8}"/>
              </a:ext>
            </a:extLst>
          </p:cNvPr>
          <p:cNvSpPr/>
          <p:nvPr/>
        </p:nvSpPr>
        <p:spPr>
          <a:xfrm>
            <a:off x="3695969" y="1556494"/>
            <a:ext cx="593085" cy="360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单个工程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E2E3CB-3CB6-8E09-57AB-3A3A6FA85827}"/>
              </a:ext>
            </a:extLst>
          </p:cNvPr>
          <p:cNvSpPr txBox="1"/>
          <p:nvPr/>
        </p:nvSpPr>
        <p:spPr>
          <a:xfrm>
            <a:off x="3754536" y="1236288"/>
            <a:ext cx="8357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有机整体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A1DF4D8E-94F4-DA83-0C87-1D1C80D5A5EF}"/>
              </a:ext>
            </a:extLst>
          </p:cNvPr>
          <p:cNvSpPr/>
          <p:nvPr/>
        </p:nvSpPr>
        <p:spPr>
          <a:xfrm rot="16200000">
            <a:off x="3871600" y="1985840"/>
            <a:ext cx="245496" cy="255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856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2F299-D919-55B7-E671-D2D0B51A4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 84">
            <a:extLst>
              <a:ext uri="{FF2B5EF4-FFF2-40B4-BE49-F238E27FC236}">
                <a16:creationId xmlns:a16="http://schemas.microsoft.com/office/drawing/2014/main" id="{B52E2A19-72E2-BA27-4B90-86856BD89736}"/>
              </a:ext>
            </a:extLst>
          </p:cNvPr>
          <p:cNvSpPr/>
          <p:nvPr/>
        </p:nvSpPr>
        <p:spPr>
          <a:xfrm>
            <a:off x="233157" y="1268412"/>
            <a:ext cx="11725686" cy="5071428"/>
          </a:xfrm>
          <a:prstGeom prst="rect">
            <a:avLst/>
          </a:prstGeom>
          <a:solidFill>
            <a:srgbClr val="F2F5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EDA731-E746-A70E-61E8-253399DEDFB8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2A63118-EBE7-A6EE-5E1D-5A6B14978BE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04807" y="360362"/>
            <a:ext cx="418911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9.4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临时性组织的行为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8B1070-44C1-0887-AEE4-61D2492D2ABC}"/>
              </a:ext>
            </a:extLst>
          </p:cNvPr>
          <p:cNvSpPr txBox="1"/>
          <p:nvPr/>
        </p:nvSpPr>
        <p:spPr>
          <a:xfrm>
            <a:off x="617221" y="1842587"/>
            <a:ext cx="1584960" cy="830997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9.4.1</a:t>
            </a:r>
          </a:p>
          <a:p>
            <a:r>
              <a:rPr lang="zh-CN" altLang="en-US" dirty="0">
                <a:latin typeface="+mn-ea"/>
                <a:ea typeface="+mn-ea"/>
              </a:rPr>
              <a:t>组织协调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B9A052D-174F-6150-40A7-233E532C4DFB}"/>
              </a:ext>
            </a:extLst>
          </p:cNvPr>
          <p:cNvSpPr/>
          <p:nvPr/>
        </p:nvSpPr>
        <p:spPr>
          <a:xfrm>
            <a:off x="2865169" y="1491072"/>
            <a:ext cx="2612071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1.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基于角色的协调</a:t>
            </a:r>
            <a:endParaRPr lang="zh-CN" altLang="en-US" sz="2000" dirty="0">
              <a:ln w="0"/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FFB143A-9F63-7B6B-6252-D550B74D9747}"/>
              </a:ext>
            </a:extLst>
          </p:cNvPr>
          <p:cNvSpPr/>
          <p:nvPr/>
        </p:nvSpPr>
        <p:spPr>
          <a:xfrm>
            <a:off x="2865169" y="2425770"/>
            <a:ext cx="2612070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2.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应急组织的协调</a:t>
            </a:r>
            <a:endParaRPr lang="zh-CN" altLang="en-US" sz="2000" dirty="0">
              <a:ln w="0"/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D0F9374C-CDE2-9456-0C4F-F4A6E1A19CE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202181" y="1700179"/>
            <a:ext cx="662988" cy="55790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5170A6A4-49B6-BDC9-EC51-8E7D36FF18BB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2202181" y="2258086"/>
            <a:ext cx="662988" cy="3767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B404292-A654-C1B3-110C-5B76462EBAAD}"/>
              </a:ext>
            </a:extLst>
          </p:cNvPr>
          <p:cNvSpPr txBox="1"/>
          <p:nvPr/>
        </p:nvSpPr>
        <p:spPr>
          <a:xfrm>
            <a:off x="563882" y="4071244"/>
            <a:ext cx="1584960" cy="830997"/>
          </a:xfrm>
          <a:prstGeom prst="rect">
            <a:avLst/>
          </a:prstGeom>
          <a:solidFill>
            <a:srgbClr val="63A4F7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en-US" altLang="zh-CN" dirty="0">
                <a:latin typeface="+mn-ea"/>
                <a:ea typeface="+mn-ea"/>
              </a:rPr>
              <a:t>9.4.2</a:t>
            </a:r>
          </a:p>
          <a:p>
            <a:r>
              <a:rPr lang="zh-CN" altLang="en-US" dirty="0">
                <a:latin typeface="+mn-ea"/>
                <a:ea typeface="+mn-ea"/>
              </a:rPr>
              <a:t>计划行为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B2A2FDC0-6D9E-81DC-4FCA-93746DBFB7C7}"/>
              </a:ext>
            </a:extLst>
          </p:cNvPr>
          <p:cNvSpPr/>
          <p:nvPr/>
        </p:nvSpPr>
        <p:spPr>
          <a:xfrm>
            <a:off x="2865169" y="3480684"/>
            <a:ext cx="2612071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1.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隐藏之手的讨论</a:t>
            </a:r>
            <a:endParaRPr lang="zh-CN" altLang="en-US" sz="2000" dirty="0">
              <a:ln w="0"/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C3F29AD6-9C63-B4A9-7760-6464EB21982E}"/>
              </a:ext>
            </a:extLst>
          </p:cNvPr>
          <p:cNvSpPr/>
          <p:nvPr/>
        </p:nvSpPr>
        <p:spPr>
          <a:xfrm>
            <a:off x="2859843" y="5084192"/>
            <a:ext cx="3838891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临时性组织行为的讨论</a:t>
            </a:r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】</a:t>
            </a:r>
            <a:endParaRPr lang="zh-CN" altLang="en-US" sz="2000" dirty="0">
              <a:ln w="0"/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975589A5-A304-EFC0-15AE-B57891A6E237}"/>
              </a:ext>
            </a:extLst>
          </p:cNvPr>
          <p:cNvCxnSpPr>
            <a:cxnSpLocks/>
            <a:stCxn id="15" idx="3"/>
            <a:endCxn id="43" idx="1"/>
          </p:cNvCxnSpPr>
          <p:nvPr/>
        </p:nvCxnSpPr>
        <p:spPr>
          <a:xfrm flipV="1">
            <a:off x="2148842" y="3689791"/>
            <a:ext cx="716327" cy="7969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B3DDDA4A-86B0-312C-9CE2-3480E9B7C710}"/>
              </a:ext>
            </a:extLst>
          </p:cNvPr>
          <p:cNvCxnSpPr>
            <a:cxnSpLocks/>
            <a:stCxn id="15" idx="3"/>
            <a:endCxn id="44" idx="1"/>
          </p:cNvCxnSpPr>
          <p:nvPr/>
        </p:nvCxnSpPr>
        <p:spPr>
          <a:xfrm>
            <a:off x="2148842" y="4486743"/>
            <a:ext cx="711001" cy="8065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0D9BCA16-1222-A53A-A8B9-6B77ADA8CBAD}"/>
              </a:ext>
            </a:extLst>
          </p:cNvPr>
          <p:cNvSpPr txBox="1"/>
          <p:nvPr/>
        </p:nvSpPr>
        <p:spPr>
          <a:xfrm>
            <a:off x="5968755" y="2843984"/>
            <a:ext cx="36170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n w="0"/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）基于重大工程样本的检验</a:t>
            </a:r>
            <a:endParaRPr lang="zh-CN" altLang="en-US" sz="2000" dirty="0">
              <a:latin typeface="+mn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8EAE508-687B-263B-8340-AEE9B38BF82D}"/>
              </a:ext>
            </a:extLst>
          </p:cNvPr>
          <p:cNvSpPr txBox="1"/>
          <p:nvPr/>
        </p:nvSpPr>
        <p:spPr>
          <a:xfrm>
            <a:off x="5968755" y="3531331"/>
            <a:ext cx="56898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n w="0"/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）后续文章的辩论：逻辑上的问题、实证的缺陷、研究方法的缺陷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994167D1-55BE-0391-5E9C-F00A52CD39A1}"/>
              </a:ext>
            </a:extLst>
          </p:cNvPr>
          <p:cNvCxnSpPr>
            <a:stCxn id="43" idx="3"/>
            <a:endCxn id="52" idx="1"/>
          </p:cNvCxnSpPr>
          <p:nvPr/>
        </p:nvCxnSpPr>
        <p:spPr>
          <a:xfrm flipV="1">
            <a:off x="5477240" y="3044039"/>
            <a:ext cx="491515" cy="64575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6094879B-16D5-97E9-FEE7-FBB5FEC5CC8D}"/>
              </a:ext>
            </a:extLst>
          </p:cNvPr>
          <p:cNvCxnSpPr>
            <a:cxnSpLocks/>
            <a:stCxn id="43" idx="3"/>
            <a:endCxn id="53" idx="1"/>
          </p:cNvCxnSpPr>
          <p:nvPr/>
        </p:nvCxnSpPr>
        <p:spPr>
          <a:xfrm>
            <a:off x="5477240" y="3689791"/>
            <a:ext cx="491515" cy="19548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3D4C7887-FC0E-1B5A-A85F-7214A6F73F71}"/>
              </a:ext>
            </a:extLst>
          </p:cNvPr>
          <p:cNvSpPr txBox="1"/>
          <p:nvPr/>
        </p:nvSpPr>
        <p:spPr>
          <a:xfrm>
            <a:off x="7292340" y="4502131"/>
            <a:ext cx="35432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2000" dirty="0">
                <a:ln w="0"/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）行为的变动性</a:t>
            </a:r>
            <a:endParaRPr lang="zh-CN" altLang="en-US" sz="2000" dirty="0">
              <a:latin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E73B63C-A8AC-73FE-80F5-13367955954A}"/>
              </a:ext>
            </a:extLst>
          </p:cNvPr>
          <p:cNvSpPr txBox="1"/>
          <p:nvPr/>
        </p:nvSpPr>
        <p:spPr>
          <a:xfrm>
            <a:off x="7292338" y="5049508"/>
            <a:ext cx="35432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2000" dirty="0">
                <a:ln w="0"/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）行为的多样化特征</a:t>
            </a:r>
            <a:endParaRPr lang="zh-CN" altLang="en-US" sz="2000" dirty="0">
              <a:latin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041DD38-5C14-1FBF-4648-4A8A207D0DBC}"/>
              </a:ext>
            </a:extLst>
          </p:cNvPr>
          <p:cNvSpPr txBox="1"/>
          <p:nvPr/>
        </p:nvSpPr>
        <p:spPr>
          <a:xfrm>
            <a:off x="7292339" y="5589588"/>
            <a:ext cx="35432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sz="2000" dirty="0">
                <a:ln w="0"/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+mn-ea"/>
              </a:rPr>
              <a:t>）人员合作的问题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A833E218-5A68-6D8E-EBA8-E6C23598FFF8}"/>
              </a:ext>
            </a:extLst>
          </p:cNvPr>
          <p:cNvCxnSpPr>
            <a:cxnSpLocks/>
            <a:stCxn id="44" idx="3"/>
            <a:endCxn id="72" idx="1"/>
          </p:cNvCxnSpPr>
          <p:nvPr/>
        </p:nvCxnSpPr>
        <p:spPr>
          <a:xfrm flipV="1">
            <a:off x="6698734" y="4702186"/>
            <a:ext cx="593606" cy="5911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6BA96C66-AA21-A3C3-859E-97A6AFF9A660}"/>
              </a:ext>
            </a:extLst>
          </p:cNvPr>
          <p:cNvCxnSpPr>
            <a:cxnSpLocks/>
            <a:stCxn id="44" idx="3"/>
            <a:endCxn id="73" idx="1"/>
          </p:cNvCxnSpPr>
          <p:nvPr/>
        </p:nvCxnSpPr>
        <p:spPr>
          <a:xfrm flipV="1">
            <a:off x="6698734" y="5249563"/>
            <a:ext cx="593604" cy="437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8028E353-A9A1-B5F9-455C-A23477AA9005}"/>
              </a:ext>
            </a:extLst>
          </p:cNvPr>
          <p:cNvCxnSpPr>
            <a:cxnSpLocks/>
            <a:stCxn id="44" idx="3"/>
            <a:endCxn id="74" idx="1"/>
          </p:cNvCxnSpPr>
          <p:nvPr/>
        </p:nvCxnSpPr>
        <p:spPr>
          <a:xfrm>
            <a:off x="6698734" y="5293299"/>
            <a:ext cx="593605" cy="4963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048690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BC51A-D67F-2713-FA06-5712C441F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09054540-C32C-4423-6C7C-F79305346F20}"/>
              </a:ext>
            </a:extLst>
          </p:cNvPr>
          <p:cNvSpPr/>
          <p:nvPr/>
        </p:nvSpPr>
        <p:spPr>
          <a:xfrm>
            <a:off x="1" y="224790"/>
            <a:ext cx="12202160" cy="702310"/>
          </a:xfrm>
          <a:prstGeom prst="rect">
            <a:avLst/>
          </a:prstGeom>
          <a:gradFill>
            <a:gsLst>
              <a:gs pos="100000">
                <a:srgbClr val="5F85C3"/>
              </a:gs>
              <a:gs pos="0">
                <a:srgbClr val="51598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E176A8-4E1A-592E-EFBD-51EEEA60417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04807" y="360362"/>
            <a:ext cx="418911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9.4 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  <a:sym typeface="+mn-ea"/>
              </a:rPr>
              <a:t>临时性组织的行为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1315D2-180B-5370-0395-AB2A65D19555}"/>
              </a:ext>
            </a:extLst>
          </p:cNvPr>
          <p:cNvSpPr txBox="1"/>
          <p:nvPr/>
        </p:nvSpPr>
        <p:spPr>
          <a:xfrm>
            <a:off x="440813" y="3257490"/>
            <a:ext cx="1584960" cy="830997"/>
          </a:xfrm>
          <a:prstGeom prst="rect">
            <a:avLst/>
          </a:prstGeom>
          <a:solidFill>
            <a:srgbClr val="CAF8FE"/>
          </a:solidFill>
          <a:ln>
            <a:solidFill>
              <a:srgbClr val="CAF8FE"/>
            </a:solidFill>
          </a:ln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400" kern="0">
                <a:effectLst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defRPr>
            </a:lvl1pPr>
          </a:lstStyle>
          <a:p>
            <a:r>
              <a:rPr lang="zh-CN" altLang="en-US" dirty="0">
                <a:latin typeface="+mn-ea"/>
                <a:ea typeface="+mn-ea"/>
              </a:rPr>
              <a:t>项目化及其悖论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529962F-EFD8-6533-EE75-7406CAE93C9F}"/>
              </a:ext>
            </a:extLst>
          </p:cNvPr>
          <p:cNvSpPr/>
          <p:nvPr/>
        </p:nvSpPr>
        <p:spPr>
          <a:xfrm>
            <a:off x="2637119" y="1179013"/>
            <a:ext cx="2612071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1.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 项目化概述</a:t>
            </a:r>
            <a:endParaRPr lang="zh-CN" altLang="en-US" sz="2000" dirty="0">
              <a:ln w="0"/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E5512D5-81A2-D37B-B241-79638423C406}"/>
              </a:ext>
            </a:extLst>
          </p:cNvPr>
          <p:cNvSpPr/>
          <p:nvPr/>
        </p:nvSpPr>
        <p:spPr>
          <a:xfrm>
            <a:off x="2639926" y="2117265"/>
            <a:ext cx="3004290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2.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项目化的负面影响</a:t>
            </a:r>
            <a:endParaRPr lang="zh-CN" altLang="en-US" sz="2000" dirty="0">
              <a:ln w="0"/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6" name="连接符: 肘形 15">
            <a:extLst>
              <a:ext uri="{FF2B5EF4-FFF2-40B4-BE49-F238E27FC236}">
                <a16:creationId xmlns:a16="http://schemas.microsoft.com/office/drawing/2014/main" id="{07F0BFCB-10F1-A067-B84A-7250DFEE8587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025773" y="1388120"/>
            <a:ext cx="611346" cy="228486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F18D68B3-17EA-1C87-C544-9A7D8AEB5F37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2025773" y="2326372"/>
            <a:ext cx="614153" cy="134661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DA021EF5-C47F-5827-11F7-5C139F3C9952}"/>
              </a:ext>
            </a:extLst>
          </p:cNvPr>
          <p:cNvSpPr/>
          <p:nvPr/>
        </p:nvSpPr>
        <p:spPr>
          <a:xfrm>
            <a:off x="2637119" y="4487294"/>
            <a:ext cx="1144049" cy="41821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>
                <a:ln w="0"/>
                <a:solidFill>
                  <a:schemeClr val="tx1"/>
                </a:solidFill>
                <a:latin typeface="+mn-ea"/>
              </a:rPr>
              <a:t>3.</a:t>
            </a:r>
            <a:r>
              <a:rPr lang="zh-CN" altLang="en-US" sz="2000" b="1" dirty="0">
                <a:ln w="0"/>
                <a:solidFill>
                  <a:schemeClr val="tx1"/>
                </a:solidFill>
                <a:latin typeface="+mn-ea"/>
              </a:rPr>
              <a:t>悖论</a:t>
            </a:r>
            <a:endParaRPr lang="zh-CN" altLang="en-US" sz="2000" dirty="0">
              <a:ln w="0"/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76CC5F73-EF1F-5526-53C0-4E80C46A88A5}"/>
              </a:ext>
            </a:extLst>
          </p:cNvPr>
          <p:cNvCxnSpPr>
            <a:cxnSpLocks/>
            <a:stCxn id="2" idx="3"/>
            <a:endCxn id="43" idx="1"/>
          </p:cNvCxnSpPr>
          <p:nvPr/>
        </p:nvCxnSpPr>
        <p:spPr>
          <a:xfrm>
            <a:off x="2025773" y="3672989"/>
            <a:ext cx="611346" cy="10234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8ECBFDB2-11A8-946A-3F99-7DB8808B4D60}"/>
              </a:ext>
            </a:extLst>
          </p:cNvPr>
          <p:cNvSpPr txBox="1"/>
          <p:nvPr/>
        </p:nvSpPr>
        <p:spPr>
          <a:xfrm>
            <a:off x="4392514" y="3331269"/>
            <a:ext cx="3617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dirty="0">
                <a:ln w="0"/>
                <a:solidFill>
                  <a:schemeClr val="tx1"/>
                </a:solidFill>
                <a:latin typeface="+mn-ea"/>
              </a:rPr>
              <a:t>1</a:t>
            </a:r>
            <a:r>
              <a:rPr lang="zh-CN" altLang="en-US" dirty="0">
                <a:ln w="0"/>
                <a:solidFill>
                  <a:schemeClr val="tx1"/>
                </a:solidFill>
                <a:latin typeface="+mn-ea"/>
              </a:rPr>
              <a:t>）项目网络的悖论特征</a:t>
            </a:r>
            <a:endParaRPr lang="zh-CN" altLang="en-US" dirty="0">
              <a:latin typeface="+mn-ea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99AF666-33C8-8B9C-8BDF-C8CFACFE9494}"/>
              </a:ext>
            </a:extLst>
          </p:cNvPr>
          <p:cNvSpPr txBox="1"/>
          <p:nvPr/>
        </p:nvSpPr>
        <p:spPr>
          <a:xfrm>
            <a:off x="4392514" y="3809089"/>
            <a:ext cx="5689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dirty="0">
                <a:ln w="0"/>
                <a:solidFill>
                  <a:schemeClr val="tx1"/>
                </a:solidFill>
                <a:latin typeface="+mn-ea"/>
              </a:rPr>
              <a:t>2</a:t>
            </a:r>
            <a:r>
              <a:rPr lang="zh-CN" altLang="en-US" dirty="0">
                <a:ln w="0"/>
                <a:solidFill>
                  <a:schemeClr val="tx1"/>
                </a:solidFill>
                <a:latin typeface="+mn-ea"/>
              </a:rPr>
              <a:t>）敏捷软件开发项目管理的悖论</a:t>
            </a:r>
            <a:endParaRPr lang="zh-CN" altLang="en-US" dirty="0">
              <a:latin typeface="+mn-ea"/>
            </a:endParaRPr>
          </a:p>
        </p:txBody>
      </p:sp>
      <p:cxnSp>
        <p:nvCxnSpPr>
          <p:cNvPr id="67" name="连接符: 肘形 66">
            <a:extLst>
              <a:ext uri="{FF2B5EF4-FFF2-40B4-BE49-F238E27FC236}">
                <a16:creationId xmlns:a16="http://schemas.microsoft.com/office/drawing/2014/main" id="{A13A4E51-B910-1B15-A5AC-D22984957531}"/>
              </a:ext>
            </a:extLst>
          </p:cNvPr>
          <p:cNvCxnSpPr>
            <a:cxnSpLocks/>
            <a:stCxn id="43" idx="3"/>
            <a:endCxn id="52" idx="1"/>
          </p:cNvCxnSpPr>
          <p:nvPr/>
        </p:nvCxnSpPr>
        <p:spPr>
          <a:xfrm flipV="1">
            <a:off x="3781168" y="3515935"/>
            <a:ext cx="611346" cy="11804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85CA0948-98B8-EF67-1523-2BF7E5463798}"/>
              </a:ext>
            </a:extLst>
          </p:cNvPr>
          <p:cNvCxnSpPr>
            <a:cxnSpLocks/>
            <a:stCxn id="43" idx="3"/>
            <a:endCxn id="53" idx="1"/>
          </p:cNvCxnSpPr>
          <p:nvPr/>
        </p:nvCxnSpPr>
        <p:spPr>
          <a:xfrm flipV="1">
            <a:off x="3781168" y="3993755"/>
            <a:ext cx="611346" cy="7026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13F7525F-377F-2E4E-CC91-95FECFCDF3C3}"/>
              </a:ext>
            </a:extLst>
          </p:cNvPr>
          <p:cNvSpPr txBox="1"/>
          <p:nvPr/>
        </p:nvSpPr>
        <p:spPr>
          <a:xfrm>
            <a:off x="6189439" y="1794292"/>
            <a:ext cx="4577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solidFill>
                  <a:schemeClr val="tx1"/>
                </a:solidFill>
                <a:latin typeface="+mn-ea"/>
              </a:rPr>
              <a:t>以项目为情境的负面影响：腐败</a:t>
            </a:r>
            <a:endParaRPr lang="zh-CN" altLang="en-US" dirty="0">
              <a:latin typeface="+mn-ea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6F14882-B9D0-0812-7306-8FC25985A01B}"/>
              </a:ext>
            </a:extLst>
          </p:cNvPr>
          <p:cNvSpPr txBox="1"/>
          <p:nvPr/>
        </p:nvSpPr>
        <p:spPr>
          <a:xfrm>
            <a:off x="6189439" y="2581193"/>
            <a:ext cx="5079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latin typeface="+mn-ea"/>
              </a:rPr>
              <a:t>项目运作存在的负面影响：工作</a:t>
            </a:r>
            <a:r>
              <a:rPr lang="en-US" altLang="zh-CN" dirty="0">
                <a:ln w="0"/>
                <a:latin typeface="+mn-ea"/>
              </a:rPr>
              <a:t>-</a:t>
            </a:r>
            <a:r>
              <a:rPr lang="zh-CN" altLang="en-US" dirty="0">
                <a:ln w="0"/>
                <a:latin typeface="+mn-ea"/>
              </a:rPr>
              <a:t>家庭冲突</a:t>
            </a:r>
            <a:endParaRPr lang="zh-CN" altLang="en-US" dirty="0">
              <a:latin typeface="+mn-ea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2F40A208-2D3B-6EBF-4718-483E4EE7C946}"/>
              </a:ext>
            </a:extLst>
          </p:cNvPr>
          <p:cNvSpPr txBox="1"/>
          <p:nvPr/>
        </p:nvSpPr>
        <p:spPr>
          <a:xfrm>
            <a:off x="4392512" y="4378998"/>
            <a:ext cx="46773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dirty="0">
                <a:ln w="0"/>
                <a:solidFill>
                  <a:schemeClr val="tx1"/>
                </a:solidFill>
                <a:latin typeface="+mn-ea"/>
              </a:rPr>
              <a:t>3</a:t>
            </a:r>
            <a:r>
              <a:rPr lang="zh-CN" altLang="en-US" dirty="0">
                <a:ln w="0"/>
                <a:solidFill>
                  <a:schemeClr val="tx1"/>
                </a:solidFill>
                <a:latin typeface="+mn-ea"/>
              </a:rPr>
              <a:t>）临时性组织与永久组织之间存在的矛盾</a:t>
            </a:r>
            <a:endParaRPr lang="zh-CN" altLang="en-US" dirty="0">
              <a:latin typeface="+mn-ea"/>
            </a:endParaRPr>
          </a:p>
        </p:txBody>
      </p: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089F9923-3347-FE9C-196C-1EC257717E98}"/>
              </a:ext>
            </a:extLst>
          </p:cNvPr>
          <p:cNvCxnSpPr>
            <a:cxnSpLocks/>
            <a:stCxn id="6" idx="3"/>
            <a:endCxn id="72" idx="1"/>
          </p:cNvCxnSpPr>
          <p:nvPr/>
        </p:nvCxnSpPr>
        <p:spPr>
          <a:xfrm flipV="1">
            <a:off x="5644216" y="1978958"/>
            <a:ext cx="545223" cy="3474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11457307-E4A2-D050-B222-030CACC5B1DE}"/>
              </a:ext>
            </a:extLst>
          </p:cNvPr>
          <p:cNvCxnSpPr>
            <a:cxnSpLocks/>
            <a:stCxn id="6" idx="3"/>
            <a:endCxn id="73" idx="1"/>
          </p:cNvCxnSpPr>
          <p:nvPr/>
        </p:nvCxnSpPr>
        <p:spPr>
          <a:xfrm>
            <a:off x="5644216" y="2326372"/>
            <a:ext cx="545223" cy="4394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B58445C5-165D-1C22-FBC9-BB26841E97D8}"/>
              </a:ext>
            </a:extLst>
          </p:cNvPr>
          <p:cNvCxnSpPr>
            <a:cxnSpLocks/>
            <a:stCxn id="43" idx="3"/>
            <a:endCxn id="74" idx="1"/>
          </p:cNvCxnSpPr>
          <p:nvPr/>
        </p:nvCxnSpPr>
        <p:spPr>
          <a:xfrm flipV="1">
            <a:off x="3781168" y="4563664"/>
            <a:ext cx="611344" cy="1327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9CE847D2-AA18-20BE-E01A-1287FA1A3E7A}"/>
              </a:ext>
            </a:extLst>
          </p:cNvPr>
          <p:cNvSpPr txBox="1"/>
          <p:nvPr/>
        </p:nvSpPr>
        <p:spPr>
          <a:xfrm>
            <a:off x="4392513" y="5030526"/>
            <a:ext cx="15758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n w="0"/>
                <a:solidFill>
                  <a:schemeClr val="tx1"/>
                </a:solidFill>
                <a:latin typeface="+mn-ea"/>
              </a:rPr>
              <a:t>【</a:t>
            </a:r>
            <a:r>
              <a:rPr lang="zh-CN" altLang="en-US" dirty="0">
                <a:ln w="0"/>
                <a:solidFill>
                  <a:schemeClr val="tx1"/>
                </a:solidFill>
                <a:latin typeface="+mn-ea"/>
              </a:rPr>
              <a:t>关系治理悖论的讨论</a:t>
            </a:r>
            <a:r>
              <a:rPr lang="en-US" altLang="zh-CN" dirty="0">
                <a:ln w="0"/>
                <a:solidFill>
                  <a:schemeClr val="tx1"/>
                </a:solidFill>
                <a:latin typeface="+mn-ea"/>
              </a:rPr>
              <a:t>】 </a:t>
            </a:r>
            <a:endParaRPr lang="zh-CN" altLang="en-US" dirty="0">
              <a:latin typeface="+mn-e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DD5C922-205A-2F24-B0FC-2D120FD3E901}"/>
              </a:ext>
            </a:extLst>
          </p:cNvPr>
          <p:cNvSpPr txBox="1"/>
          <p:nvPr/>
        </p:nvSpPr>
        <p:spPr>
          <a:xfrm>
            <a:off x="4392512" y="6003262"/>
            <a:ext cx="1934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n w="0"/>
                <a:solidFill>
                  <a:schemeClr val="tx1"/>
                </a:solidFill>
                <a:latin typeface="+mn-ea"/>
              </a:rPr>
              <a:t>（</a:t>
            </a:r>
            <a:r>
              <a:rPr lang="en-US" altLang="zh-CN" dirty="0">
                <a:ln w="0"/>
                <a:solidFill>
                  <a:schemeClr val="tx1"/>
                </a:solidFill>
                <a:latin typeface="+mn-ea"/>
              </a:rPr>
              <a:t>4</a:t>
            </a:r>
            <a:r>
              <a:rPr lang="zh-CN" altLang="en-US" dirty="0">
                <a:ln w="0"/>
                <a:solidFill>
                  <a:schemeClr val="tx1"/>
                </a:solidFill>
                <a:latin typeface="+mn-ea"/>
              </a:rPr>
              <a:t>）项目运营化</a:t>
            </a:r>
            <a:endParaRPr lang="zh-CN" altLang="en-US" dirty="0">
              <a:latin typeface="+mn-ea"/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A55C9B55-DDF6-982A-D469-B2C32C5FEF6F}"/>
              </a:ext>
            </a:extLst>
          </p:cNvPr>
          <p:cNvCxnSpPr>
            <a:cxnSpLocks/>
            <a:stCxn id="43" idx="3"/>
            <a:endCxn id="17" idx="1"/>
          </p:cNvCxnSpPr>
          <p:nvPr/>
        </p:nvCxnSpPr>
        <p:spPr>
          <a:xfrm>
            <a:off x="3781168" y="4696401"/>
            <a:ext cx="611345" cy="65729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6C323B3A-DB6B-DF85-8A89-D03AFD68B7D7}"/>
              </a:ext>
            </a:extLst>
          </p:cNvPr>
          <p:cNvCxnSpPr>
            <a:cxnSpLocks/>
            <a:stCxn id="43" idx="3"/>
            <a:endCxn id="19" idx="1"/>
          </p:cNvCxnSpPr>
          <p:nvPr/>
        </p:nvCxnSpPr>
        <p:spPr>
          <a:xfrm>
            <a:off x="3781168" y="4696401"/>
            <a:ext cx="611344" cy="149152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80C47FA8-A96A-49A4-F825-BAA60FEC4FBE}"/>
              </a:ext>
            </a:extLst>
          </p:cNvPr>
          <p:cNvSpPr txBox="1"/>
          <p:nvPr/>
        </p:nvSpPr>
        <p:spPr>
          <a:xfrm>
            <a:off x="6452735" y="4978540"/>
            <a:ext cx="52342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n w="0"/>
                <a:solidFill>
                  <a:srgbClr val="0000FF"/>
                </a:solidFill>
                <a:latin typeface="+mn-ea"/>
              </a:rPr>
              <a:t>矛盾困境</a:t>
            </a:r>
            <a:r>
              <a:rPr lang="zh-CN" altLang="en-US" sz="1400" dirty="0">
                <a:ln w="0"/>
                <a:solidFill>
                  <a:schemeClr val="tx1"/>
                </a:solidFill>
                <a:latin typeface="+mn-ea"/>
              </a:rPr>
              <a:t>：信任与不信任同时存在；信任和不信任各具有优缺点</a:t>
            </a:r>
            <a:endParaRPr lang="zh-CN" altLang="en-US" sz="1400" dirty="0">
              <a:latin typeface="+mn-ea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93C52F6C-922B-8BB3-1E4C-8336BA31BDA8}"/>
              </a:ext>
            </a:extLst>
          </p:cNvPr>
          <p:cNvSpPr txBox="1"/>
          <p:nvPr/>
        </p:nvSpPr>
        <p:spPr>
          <a:xfrm>
            <a:off x="6452735" y="5363262"/>
            <a:ext cx="4064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n w="0"/>
                <a:solidFill>
                  <a:srgbClr val="0000FF"/>
                </a:solidFill>
                <a:latin typeface="+mn-ea"/>
              </a:rPr>
              <a:t>应对策略</a:t>
            </a:r>
            <a:r>
              <a:rPr lang="zh-CN" altLang="en-US" sz="1400" dirty="0">
                <a:ln w="0"/>
                <a:solidFill>
                  <a:schemeClr val="tx1"/>
                </a:solidFill>
                <a:latin typeface="+mn-ea"/>
              </a:rPr>
              <a:t>：寻找动态平衡</a:t>
            </a:r>
            <a:endParaRPr lang="zh-CN" altLang="en-US" sz="1400" dirty="0">
              <a:latin typeface="+mn-ea"/>
            </a:endParaRPr>
          </a:p>
        </p:txBody>
      </p:sp>
      <p:cxnSp>
        <p:nvCxnSpPr>
          <p:cNvPr id="100" name="连接符: 肘形 99">
            <a:extLst>
              <a:ext uri="{FF2B5EF4-FFF2-40B4-BE49-F238E27FC236}">
                <a16:creationId xmlns:a16="http://schemas.microsoft.com/office/drawing/2014/main" id="{F62188D7-3BF7-27BB-BE98-82E8C0621CF2}"/>
              </a:ext>
            </a:extLst>
          </p:cNvPr>
          <p:cNvCxnSpPr>
            <a:stCxn id="17" idx="3"/>
            <a:endCxn id="91" idx="1"/>
          </p:cNvCxnSpPr>
          <p:nvPr/>
        </p:nvCxnSpPr>
        <p:spPr>
          <a:xfrm flipV="1">
            <a:off x="5968315" y="5132429"/>
            <a:ext cx="484420" cy="22126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BC1FF9CA-4D6B-3565-72F1-D894C86039D2}"/>
              </a:ext>
            </a:extLst>
          </p:cNvPr>
          <p:cNvCxnSpPr>
            <a:stCxn id="17" idx="3"/>
            <a:endCxn id="92" idx="1"/>
          </p:cNvCxnSpPr>
          <p:nvPr/>
        </p:nvCxnSpPr>
        <p:spPr>
          <a:xfrm>
            <a:off x="5968315" y="5353692"/>
            <a:ext cx="484420" cy="16345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FDD779D-B38B-6370-1058-F0E1DA729CCF}"/>
              </a:ext>
            </a:extLst>
          </p:cNvPr>
          <p:cNvSpPr txBox="1"/>
          <p:nvPr/>
        </p:nvSpPr>
        <p:spPr>
          <a:xfrm>
            <a:off x="6827108" y="5880151"/>
            <a:ext cx="8068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n w="0"/>
                <a:solidFill>
                  <a:srgbClr val="0000FF"/>
                </a:solidFill>
                <a:latin typeface="+mn-ea"/>
              </a:rPr>
              <a:t>项目</a:t>
            </a:r>
            <a:endParaRPr lang="zh-CN" altLang="en-US" sz="1400" dirty="0">
              <a:latin typeface="+mn-ea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C38C5F7C-D416-5F2E-7B1A-47A8887756C2}"/>
              </a:ext>
            </a:extLst>
          </p:cNvPr>
          <p:cNvSpPr txBox="1"/>
          <p:nvPr/>
        </p:nvSpPr>
        <p:spPr>
          <a:xfrm>
            <a:off x="6827108" y="6247063"/>
            <a:ext cx="11824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n w="0"/>
                <a:solidFill>
                  <a:srgbClr val="0000FF"/>
                </a:solidFill>
                <a:latin typeface="+mn-ea"/>
              </a:rPr>
              <a:t>运营</a:t>
            </a:r>
            <a:endParaRPr lang="zh-CN" altLang="en-US" sz="1400" dirty="0">
              <a:latin typeface="+mn-ea"/>
            </a:endParaRPr>
          </a:p>
        </p:txBody>
      </p:sp>
      <p:cxnSp>
        <p:nvCxnSpPr>
          <p:cNvPr id="108" name="连接符: 肘形 107">
            <a:extLst>
              <a:ext uri="{FF2B5EF4-FFF2-40B4-BE49-F238E27FC236}">
                <a16:creationId xmlns:a16="http://schemas.microsoft.com/office/drawing/2014/main" id="{B500FEAF-A2EE-9360-18FA-7DD7489DAA93}"/>
              </a:ext>
            </a:extLst>
          </p:cNvPr>
          <p:cNvCxnSpPr>
            <a:cxnSpLocks/>
            <a:stCxn id="19" idx="3"/>
            <a:endCxn id="103" idx="1"/>
          </p:cNvCxnSpPr>
          <p:nvPr/>
        </p:nvCxnSpPr>
        <p:spPr>
          <a:xfrm flipV="1">
            <a:off x="6326659" y="6034040"/>
            <a:ext cx="500449" cy="1538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A5891DF9-9E77-F3EA-4B16-468C046C2642}"/>
              </a:ext>
            </a:extLst>
          </p:cNvPr>
          <p:cNvCxnSpPr>
            <a:stCxn id="19" idx="3"/>
            <a:endCxn id="104" idx="1"/>
          </p:cNvCxnSpPr>
          <p:nvPr/>
        </p:nvCxnSpPr>
        <p:spPr>
          <a:xfrm>
            <a:off x="6326659" y="6187928"/>
            <a:ext cx="500449" cy="2130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173909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李佳昊-仙林-飞艇航拍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9525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67525"/>
          </a:xfrm>
          <a:prstGeom prst="rect">
            <a:avLst/>
          </a:prstGeom>
          <a:gradFill>
            <a:gsLst>
              <a:gs pos="89000">
                <a:srgbClr val="BDCBDE">
                  <a:alpha val="36000"/>
                </a:srgbClr>
              </a:gs>
              <a:gs pos="0">
                <a:srgbClr val="5F85C3">
                  <a:alpha val="100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60705" y="3131843"/>
            <a:ext cx="8504714" cy="1006429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思源黑体 CN Normal" panose="020B0400000000000000" charset="-122"/>
              </a:rPr>
              <a:t>敬请批评指正，谢谢</a:t>
            </a:r>
            <a:endParaRPr lang="en-US" altLang="zh-CN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思源黑体 CN Normal" panose="020B0400000000000000" charset="-122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4919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U2ZDc0ZjNmMzdmMDBlNmUzZGQ5ODRkNDBiMjE1YzkifQ=="/>
  <p:tag name="KSO_WPP_MARK_KEY" val="3af471a3-1903-4892-9bf8-0083f46c5fa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854,&quot;width&quot;:19200}"/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h_h_a"/>
  <p:tag name="KSO_WM_UNIT_INDEX" val="3_1_1"/>
  <p:tag name="KSO_WM_UNIT_ID" val="diagram20228570_1*h_h_a*3_1_1"/>
  <p:tag name="KSO_WM_TEMPLATE_CATEGORY" val="diagram"/>
  <p:tag name="KSO_WM_TEMPLATE_INDEX" val="20228570"/>
  <p:tag name="KSO_WM_UNIT_LAYERLEVEL" val="1_1_1"/>
  <p:tag name="KSO_WM_TAG_VERSION" val="1.0"/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h_h_a"/>
  <p:tag name="KSO_WM_UNIT_INDEX" val="3_1_1"/>
  <p:tag name="KSO_WM_UNIT_ID" val="diagram20228570_1*h_h_a*3_1_1"/>
  <p:tag name="KSO_WM_TEMPLATE_CATEGORY" val="diagram"/>
  <p:tag name="KSO_WM_TEMPLATE_INDEX" val="20228570"/>
  <p:tag name="KSO_WM_UNIT_LAYERLEVEL" val="1_1_1"/>
  <p:tag name="KSO_WM_TAG_VERSION" val="1.0"/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h_h_a"/>
  <p:tag name="KSO_WM_UNIT_INDEX" val="3_1_1"/>
  <p:tag name="KSO_WM_UNIT_ID" val="diagram20228570_1*h_h_a*3_1_1"/>
  <p:tag name="KSO_WM_TEMPLATE_CATEGORY" val="diagram"/>
  <p:tag name="KSO_WM_TEMPLATE_INDEX" val="20228570"/>
  <p:tag name="KSO_WM_UNIT_LAYERLEVEL" val="1_1_1"/>
  <p:tag name="KSO_WM_TAG_VERSION" val="1.0"/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h_h_a"/>
  <p:tag name="KSO_WM_UNIT_INDEX" val="3_1_1"/>
  <p:tag name="KSO_WM_UNIT_ID" val="diagram20228570_1*h_h_a*3_1_1"/>
  <p:tag name="KSO_WM_TEMPLATE_CATEGORY" val="diagram"/>
  <p:tag name="KSO_WM_TEMPLATE_INDEX" val="20228570"/>
  <p:tag name="KSO_WM_UNIT_LAYERLEVEL" val="1_1_1"/>
  <p:tag name="KSO_WM_TAG_VERSION" val="1.0"/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h_h_a"/>
  <p:tag name="KSO_WM_UNIT_INDEX" val="3_1_1"/>
  <p:tag name="KSO_WM_UNIT_ID" val="diagram20228570_1*h_h_a*3_1_1"/>
  <p:tag name="KSO_WM_TEMPLATE_CATEGORY" val="diagram"/>
  <p:tag name="KSO_WM_TEMPLATE_INDEX" val="20228570"/>
  <p:tag name="KSO_WM_UNIT_LAYERLEVEL" val="1_1_1"/>
  <p:tag name="KSO_WM_TAG_VERSION" val="1.0"/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3687</TotalTime>
  <Words>1336</Words>
  <Application>Microsoft Office PowerPoint</Application>
  <PresentationFormat>宽屏</PresentationFormat>
  <Paragraphs>220</Paragraphs>
  <Slides>19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等线 Light</vt:lpstr>
      <vt:lpstr>黑体</vt:lpstr>
      <vt:lpstr>思源黑体 CN Normal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Yan Ning</cp:lastModifiedBy>
  <cp:revision>214</cp:revision>
  <dcterms:created xsi:type="dcterms:W3CDTF">2019-06-19T02:08:00Z</dcterms:created>
  <dcterms:modified xsi:type="dcterms:W3CDTF">2025-08-23T05:31:25Z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F2B3D51F99CC4BF790852F9914527691_13</vt:lpwstr>
  </property>
</Properties>
</file>